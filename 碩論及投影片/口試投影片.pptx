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5143500" cx="9144000"/>
  <p:notesSz cx="6858000" cy="9144000"/>
  <p:embeddedFontLst>
    <p:embeddedFont>
      <p:font typeface="Roboto Mon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余仲恩"/>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E205D6-CF57-4EEE-85BA-89C9C54A6AD1}">
  <a:tblStyle styleId="{32E205D6-CF57-4EEE-85BA-89C9C54A6AD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Mono-regular.fntdata"/><Relationship Id="rId47" Type="http://schemas.openxmlformats.org/officeDocument/2006/relationships/slide" Target="slides/slide40.xml"/><Relationship Id="rId49" Type="http://schemas.openxmlformats.org/officeDocument/2006/relationships/font" Target="fonts/RobotoMono-bold.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Mono-boldItalic.fntdata"/><Relationship Id="rId50" Type="http://schemas.openxmlformats.org/officeDocument/2006/relationships/font" Target="fonts/RobotoMono-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7-29T12:37:57.646">
    <p:pos x="6000" y="0"/>
    <p:text>隨更動改</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51c3c34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51c3c34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51c3c343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f51c3c343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13b6065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13b6065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Description</a:t>
            </a:r>
            <a:r>
              <a:rPr lang="zh-TW"/>
              <a:t>如何產生 V</a:t>
            </a:r>
            <a:endParaRPr/>
          </a:p>
          <a:p>
            <a:pPr indent="0" lvl="0" marL="0" rtl="0" algn="l">
              <a:spcBef>
                <a:spcPts val="0"/>
              </a:spcBef>
              <a:spcAft>
                <a:spcPts val="0"/>
              </a:spcAft>
              <a:buNone/>
            </a:pPr>
            <a:r>
              <a:rPr lang="zh-TW">
                <a:solidFill>
                  <a:schemeClr val="dk1"/>
                </a:solidFill>
              </a:rPr>
              <a:t>dataset的資訊(各dataset用自己的data train) V</a:t>
            </a:r>
            <a:br>
              <a:rPr lang="zh-TW">
                <a:solidFill>
                  <a:schemeClr val="dk1"/>
                </a:solidFill>
              </a:rPr>
            </a:br>
            <a:r>
              <a:rPr lang="zh-TW">
                <a:solidFill>
                  <a:schemeClr val="dk1"/>
                </a:solidFill>
              </a:rPr>
              <a:t>LLM的部分忘記寫了 prompt那些 V</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Prototypes跟h1有甚麼差 V</a:t>
            </a:r>
            <a:endParaRPr>
              <a:solidFill>
                <a:schemeClr val="dk1"/>
              </a:solidFill>
            </a:endParaRPr>
          </a:p>
          <a:p>
            <a:pPr indent="0" lvl="0" marL="0" rtl="0" algn="l">
              <a:spcBef>
                <a:spcPts val="0"/>
              </a:spcBef>
              <a:spcAft>
                <a:spcPts val="0"/>
              </a:spcAft>
              <a:buNone/>
            </a:pPr>
            <a:r>
              <a:rPr lang="zh-TW"/>
              <a:t>Multichunk要改(Multi部分) V</a:t>
            </a:r>
            <a:endParaRPr/>
          </a:p>
          <a:p>
            <a:pPr indent="0" lvl="0" marL="0" rtl="0" algn="l">
              <a:spcBef>
                <a:spcPts val="0"/>
              </a:spcBef>
              <a:spcAft>
                <a:spcPts val="0"/>
              </a:spcAft>
              <a:buNone/>
            </a:pPr>
            <a:r>
              <a:rPr lang="zh-TW">
                <a:solidFill>
                  <a:schemeClr val="dk1"/>
                </a:solidFill>
              </a:rPr>
              <a:t>調查PCA的eigen V</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LLM response embedding 加進去 TTP detection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Todo(p19):</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SVM要讓人看出來是2step</a:t>
            </a:r>
            <a:br>
              <a:rPr lang="zh-TW">
                <a:solidFill>
                  <a:schemeClr val="dk1"/>
                </a:solidFill>
              </a:rPr>
            </a:br>
            <a:r>
              <a:rPr lang="zh-TW">
                <a:solidFill>
                  <a:schemeClr val="dk1"/>
                </a:solidFill>
              </a:rPr>
              <a:t>Transformer內容要寫細</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Linear接下來的灰色都要寫詳細</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禮拜五前</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KELLECT4APT 趕緊train和test 想方設法</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中華sample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zh-TW"/>
              <a:t>Model圖重畫 (train, inference) 確認完開始跑。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加一個feature 在第五頁:</a:t>
            </a:r>
            <a:br>
              <a:rPr lang="zh-TW"/>
            </a:br>
            <a:r>
              <a:rPr lang="zh-TW"/>
              <a:t>目前只有semantic 但是我加上multichunk不就也有structure了嗎</a:t>
            </a:r>
            <a:br>
              <a:rPr lang="zh-TW"/>
            </a:b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13b606561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13b606561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TW">
                <a:solidFill>
                  <a:schemeClr val="dk1"/>
                </a:solidFill>
              </a:rPr>
              <a:t>溯源圖技術分析</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zh-TW">
                <a:solidFill>
                  <a:schemeClr val="dk1"/>
                </a:solidFill>
              </a:rPr>
              <a:t>探討文獻：</a:t>
            </a:r>
            <a:r>
              <a:rPr i="1" lang="zh-TW">
                <a:solidFill>
                  <a:schemeClr val="dk1"/>
                </a:solidFill>
              </a:rPr>
              <a:t>Provenance-based Intrusion Detection Systems A Survey</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探討文獻：</a:t>
            </a:r>
            <a:r>
              <a:rPr i="1" lang="zh-TW">
                <a:solidFill>
                  <a:schemeClr val="dk1"/>
                </a:solidFill>
              </a:rPr>
              <a:t>Threat Detection and Investigation with System-level Provenance Graphs_A Survey</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異常偵測技術分析</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zh-TW">
                <a:solidFill>
                  <a:schemeClr val="dk1"/>
                </a:solidFill>
              </a:rPr>
              <a:t>基於專家規則的偵測方法 (探討系統/文獻：</a:t>
            </a:r>
            <a:r>
              <a:rPr i="1" lang="zh-TW">
                <a:solidFill>
                  <a:schemeClr val="dk1"/>
                </a:solidFill>
              </a:rPr>
              <a:t>SLEUTH, HOLMES, POIROT</a:t>
            </a:r>
            <a:r>
              <a:rPr lang="zh-TW">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基於溯源圖結構的偵測方法 (探討系統/文獻：</a:t>
            </a:r>
            <a:r>
              <a:rPr i="1" lang="zh-TW">
                <a:solidFill>
                  <a:schemeClr val="dk1"/>
                </a:solidFill>
              </a:rPr>
              <a:t>StreamSpot, UNICORN</a:t>
            </a:r>
            <a:r>
              <a:rPr lang="zh-TW">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基於深度學習結構的偵測方法 (探討系統/文獻：</a:t>
            </a:r>
            <a:r>
              <a:rPr i="1" lang="zh-TW">
                <a:solidFill>
                  <a:schemeClr val="dk1"/>
                </a:solidFill>
              </a:rPr>
              <a:t>THREATRACE, FLASH, MAGIC</a:t>
            </a:r>
            <a:r>
              <a:rPr lang="zh-TW">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攻擊偵測技術分析</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zh-TW">
                <a:solidFill>
                  <a:schemeClr val="dk1"/>
                </a:solidFill>
              </a:rPr>
              <a:t>探討系統/文獻：</a:t>
            </a:r>
            <a:r>
              <a:rPr i="1" lang="zh-TW">
                <a:solidFill>
                  <a:schemeClr val="dk1"/>
                </a:solidFill>
              </a:rPr>
              <a:t>KAIROS,</a:t>
            </a:r>
            <a:r>
              <a:rPr i="1" lang="zh-TW">
                <a:solidFill>
                  <a:schemeClr val="dk1"/>
                </a:solidFill>
              </a:rPr>
              <a:t>AIRTAG,SLOT,TREC</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探討系統/文獻：</a:t>
            </a:r>
            <a:r>
              <a:rPr i="1" lang="zh-TW">
                <a:solidFill>
                  <a:schemeClr val="dk1"/>
                </a:solidFill>
              </a:rPr>
              <a:t>AIRTAG</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探討系統/文獻：</a:t>
            </a:r>
            <a:r>
              <a:rPr i="1" lang="zh-TW">
                <a:solidFill>
                  <a:schemeClr val="dk1"/>
                </a:solidFill>
              </a:rPr>
              <a:t>SLOT</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探討系統/文獻：</a:t>
            </a:r>
            <a:r>
              <a:rPr i="1" lang="zh-TW">
                <a:solidFill>
                  <a:schemeClr val="dk1"/>
                </a:solidFill>
              </a:rPr>
              <a:t>TREC</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資安日誌與指令嵌入模型之演進與分析</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zh-TW">
                <a:solidFill>
                  <a:schemeClr val="dk1"/>
                </a:solidFill>
              </a:rPr>
              <a:t>探討模型/文獻：</a:t>
            </a:r>
            <a:r>
              <a:rPr i="1" lang="zh-TW">
                <a:solidFill>
                  <a:schemeClr val="dk1"/>
                </a:solidFill>
              </a:rPr>
              <a:t>Log2Vec</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探討模型/文獻：</a:t>
            </a:r>
            <a:r>
              <a:rPr i="1" lang="zh-TW">
                <a:solidFill>
                  <a:schemeClr val="dk1"/>
                </a:solidFill>
              </a:rPr>
              <a:t>LogBERT</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探討模型/文獻：</a:t>
            </a:r>
            <a:r>
              <a:rPr i="1" lang="zh-TW">
                <a:solidFill>
                  <a:schemeClr val="dk1"/>
                </a:solidFill>
              </a:rPr>
              <a:t>CmdCaliper</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多主機關聯</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zh-TW">
                <a:solidFill>
                  <a:schemeClr val="dk1"/>
                </a:solidFill>
              </a:rPr>
              <a:t>探討問題與系統：跨主機偵測挑戰與 </a:t>
            </a:r>
            <a:r>
              <a:rPr i="1" lang="zh-TW">
                <a:solidFill>
                  <a:schemeClr val="dk1"/>
                </a:solidFill>
              </a:rPr>
              <a:t>KAIROS</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探討系統/文獻：</a:t>
            </a:r>
            <a:r>
              <a:rPr i="1" lang="zh-TW">
                <a:solidFill>
                  <a:schemeClr val="dk1"/>
                </a:solidFill>
              </a:rPr>
              <a:t>T-trace</a:t>
            </a:r>
            <a:endParaRPr i="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bfd4e603a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bfd4e603a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要提及同作者</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bfd4e603a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bfd4e603a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5e52c76d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5e52c76d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13b606561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f13b606561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zh-TW">
                <a:solidFill>
                  <a:schemeClr val="dk1"/>
                </a:solidFill>
              </a:rPr>
              <a:t>MLM:</a:t>
            </a:r>
            <a:r>
              <a:rPr lang="zh-TW">
                <a:solidFill>
                  <a:schemeClr val="dk1"/>
                </a:solidFill>
              </a:rPr>
              <a:t>masked language modeling </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大規模網頁文本 (Large-scale web text)</a:t>
            </a:r>
            <a:r>
              <a:rPr lang="zh-TW">
                <a:solidFill>
                  <a:schemeClr val="dk1"/>
                </a:solidFill>
              </a:rPr>
              <a:t>：經資安關聯性過濾的公開網頁抓取內容（佔最大宗，約 122 億）。</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原始基準資料集 (Original baseline dataset)</a:t>
            </a:r>
            <a:r>
              <a:rPr lang="zh-TW">
                <a:solidFill>
                  <a:schemeClr val="dk1"/>
                </a:solidFill>
              </a:rPr>
              <a:t>：第一代 SecureBERT 使用的預訓練語料（約 10.7 億）。</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種子語料庫 (Seed corpus)</a:t>
            </a:r>
            <a:r>
              <a:rPr lang="zh-TW">
                <a:solidFill>
                  <a:schemeClr val="dk1"/>
                </a:solidFill>
              </a:rPr>
              <a:t>：高品質的精選資安文章、威脅報告與技術部落格（約 2.5 億）。</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資安對話資料 (Cybersecurity dialogue data)</a:t>
            </a:r>
            <a:r>
              <a:rPr lang="zh-TW">
                <a:solidFill>
                  <a:schemeClr val="dk1"/>
                </a:solidFill>
              </a:rPr>
              <a:t>：分析師工作流程、技術問答與真實對話紀錄（約 5,600 萬）。</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推理型資料 (Reasoning-focused data)</a:t>
            </a:r>
            <a:r>
              <a:rPr lang="zh-TW">
                <a:solidFill>
                  <a:schemeClr val="dk1"/>
                </a:solidFill>
              </a:rPr>
              <a:t>：資安導向的問答與邏輯推理資料集（約 320 萬）。</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指令微調資料 (Instruction-tuning data)</a:t>
            </a:r>
            <a:r>
              <a:rPr lang="zh-TW">
                <a:solidFill>
                  <a:schemeClr val="dk1"/>
                </a:solidFill>
              </a:rPr>
              <a:t>：資安任務相關的教學與程序性文本（約 230 萬）。</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4ea95d34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4ea95d34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雖然不同 Campaign 之間的 TTP 標籤存在重疊，但由於每個 Campaign 來自不同的威脅行為者（Threat Actor）或是在不同的主機環境中執行，其</a:t>
            </a:r>
            <a:r>
              <a:rPr b="1" lang="zh-TW">
                <a:solidFill>
                  <a:schemeClr val="dk1"/>
                </a:solidFill>
              </a:rPr>
              <a:t>底層的實作細節（Implementation artifacts）如檔案路徑、指令參數及執行順序皆有顯著差異</a:t>
            </a:r>
            <a:r>
              <a:rPr lang="zh-TW">
                <a:solidFill>
                  <a:schemeClr val="dk1"/>
                </a:solidFill>
              </a:rPr>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13b606561_3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13b606561_3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solidFill>
                  <a:schemeClr val="dk1"/>
                </a:solidFill>
              </a:rPr>
              <a:t>可以試試看停用或啟用R3</a:t>
            </a:r>
            <a:br>
              <a:rPr b="1" lang="zh-TW">
                <a:solidFill>
                  <a:schemeClr val="dk1"/>
                </a:solidFill>
              </a:rPr>
            </a:br>
            <a:br>
              <a:rPr b="1" lang="zh-TW">
                <a:solidFill>
                  <a:schemeClr val="dk1"/>
                </a:solidFill>
              </a:rPr>
            </a:br>
            <a:r>
              <a:rPr b="1" lang="zh-TW">
                <a:solidFill>
                  <a:schemeClr val="dk1"/>
                </a:solidFill>
              </a:rPr>
              <a:t>系統角色</a:t>
            </a:r>
            <a:r>
              <a:rPr lang="zh-TW">
                <a:solidFill>
                  <a:schemeClr val="dk1"/>
                </a:solidFill>
              </a:rPr>
              <a:t>：Windows 行程知識庫 (Windows process knowledge base)。</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核心任務</a:t>
            </a:r>
            <a:r>
              <a:rPr lang="zh-TW">
                <a:solidFill>
                  <a:schemeClr val="dk1"/>
                </a:solidFill>
              </a:rPr>
              <a:t>：接收 Windows 執行檔路徑（如 </a:t>
            </a:r>
            <a:r>
              <a:rPr lang="zh-TW">
                <a:solidFill>
                  <a:srgbClr val="188038"/>
                </a:solidFill>
                <a:latin typeface="Roboto Mono"/>
                <a:ea typeface="Roboto Mono"/>
                <a:cs typeface="Roboto Mono"/>
                <a:sym typeface="Roboto Mono"/>
              </a:rPr>
              <a:t>C:\Windows\System32\cmd.exe</a:t>
            </a:r>
            <a:r>
              <a:rPr lang="zh-TW">
                <a:solidFill>
                  <a:schemeClr val="dk1"/>
                </a:solidFill>
              </a:rPr>
              <a:t>），結合公開文獻知識與檔案路徑的系統含義，輸出描述該程式標準行為的 JSON。</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四項強制規則 (Hard Rules)</a:t>
            </a:r>
            <a:r>
              <a:rPr lang="zh-TW">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zh-TW">
                <a:solidFill>
                  <a:schemeClr val="dk1"/>
                </a:solidFill>
              </a:rPr>
              <a:t>事實陳述</a:t>
            </a:r>
            <a:r>
              <a:rPr lang="zh-TW">
                <a:solidFill>
                  <a:schemeClr val="dk1"/>
                </a:solidFill>
              </a:rPr>
              <a:t>：僅描述廣泛記錄的知識與實際功能，遇未知程式則描述為通用使用者模式應用程式，嚴禁捏造。</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TW">
                <a:solidFill>
                  <a:schemeClr val="dk1"/>
                </a:solidFill>
              </a:rPr>
              <a:t>技術術語</a:t>
            </a:r>
            <a:r>
              <a:rPr lang="zh-TW">
                <a:solidFill>
                  <a:schemeClr val="dk1"/>
                </a:solidFill>
              </a:rPr>
              <a:t>：強制使用具體的技術詞彙（如「載入服務 DLL」、「直譯 .ps1 腳本」）。</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TW">
                <a:solidFill>
                  <a:schemeClr val="dk1"/>
                </a:solidFill>
              </a:rPr>
              <a:t>絕對中立</a:t>
            </a:r>
            <a:r>
              <a:rPr lang="zh-TW">
                <a:solidFill>
                  <a:schemeClr val="dk1"/>
                </a:solidFill>
              </a:rPr>
              <a:t>：禁用任何主觀、猜測或資安屬性強烈的詞彙（嚴禁使用：suspicious, malicious, benign, attack, legitimate, might 等）。</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TW">
                <a:solidFill>
                  <a:schemeClr val="dk1"/>
                </a:solidFill>
              </a:rPr>
              <a:t>純淨輸出</a:t>
            </a:r>
            <a:r>
              <a:rPr lang="zh-TW">
                <a:solidFill>
                  <a:schemeClr val="dk1"/>
                </a:solidFill>
              </a:rPr>
              <a:t>：必須輸出單一、有效的純 JSON 物件，嚴禁包含任何 Markdown 標記或說明文字。</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bd342b923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ebd342b923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bd342b923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bd342b92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3cb30a71c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3cb30a71c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sz="1200">
                <a:solidFill>
                  <a:schemeClr val="dk1"/>
                </a:solidFill>
              </a:rPr>
              <a:t>process length = (total event of this process)</a:t>
            </a:r>
            <a:br>
              <a:rPr lang="zh-TW" sz="1200">
                <a:solidFill>
                  <a:schemeClr val="dk1"/>
                </a:solidFill>
              </a:rPr>
            </a:br>
            <a:r>
              <a:rPr lang="zh-TW" sz="1200">
                <a:solidFill>
                  <a:schemeClr val="dk1"/>
                </a:solidFill>
              </a:rPr>
              <a:t>Out-Of-Vocabulary Rate = vocab 是 make_embedding.py 從訓練圖收的。部署到新 campaign 時,沒見過的 process 名 / 檔案路徑 / registry key / IP → OOV → 在 event 模式下這些事件被丟掉、OCSVM 根本沒判到它們。</a:t>
            </a:r>
            <a:endParaRPr sz="1200">
              <a:solidFill>
                <a:schemeClr val="dk1"/>
              </a:solidFill>
            </a:endParaRPr>
          </a:p>
          <a:p>
            <a:pPr indent="0" lvl="0" marL="0" rtl="0" algn="l">
              <a:lnSpc>
                <a:spcPct val="115000"/>
              </a:lnSpc>
              <a:spcBef>
                <a:spcPts val="1200"/>
              </a:spcBef>
              <a:spcAft>
                <a:spcPts val="0"/>
              </a:spcAft>
              <a:buNone/>
            </a:pPr>
            <a:r>
              <a:rPr lang="zh-TW">
                <a:solidFill>
                  <a:schemeClr val="dk1"/>
                </a:solidFill>
              </a:rPr>
              <a:t>在傳統的核方法 (如 RBF Kernel) 中，資料被映射到無限維空間中進行計算，這依賴於一個極度消耗資源的巨大核矩陣。</a:t>
            </a:r>
            <a:br>
              <a:rPr lang="zh-TW">
                <a:solidFill>
                  <a:schemeClr val="dk1"/>
                </a:solidFill>
              </a:rPr>
            </a:br>
            <a:r>
              <a:rPr lang="zh-TW">
                <a:solidFill>
                  <a:schemeClr val="dk1"/>
                </a:solidFill>
              </a:rPr>
              <a:t>Nystroem 近似法則是透過選定少數的 m 個基準點，將這個無限維的空間折疊、投影成一個只有 m 維的具體向量</a:t>
            </a:r>
            <a:endParaRPr>
              <a:solidFill>
                <a:schemeClr val="dk1"/>
              </a:solidFill>
            </a:endParaRPr>
          </a:p>
          <a:p>
            <a:pPr indent="0" lvl="0" marL="0" rtl="0" algn="l">
              <a:spcBef>
                <a:spcPts val="1200"/>
              </a:spcBef>
              <a:spcAft>
                <a:spcPts val="0"/>
              </a:spcAft>
              <a:buNone/>
            </a:pPr>
            <a:r>
              <a:rPr lang="zh-TW">
                <a:solidFill>
                  <a:schemeClr val="dk1"/>
                </a:solidFill>
              </a:rPr>
              <a:t>訓練資料中異常值比例的上界（Upper bound）</a:t>
            </a:r>
            <a:endParaRPr>
              <a:solidFill>
                <a:schemeClr val="dk1"/>
              </a:solidFill>
            </a:endParaRPr>
          </a:p>
          <a:p>
            <a:pPr indent="457200" lvl="0" marL="0" rtl="0" algn="l">
              <a:spcBef>
                <a:spcPts val="0"/>
              </a:spcBef>
              <a:spcAft>
                <a:spcPts val="0"/>
              </a:spcAft>
              <a:buNone/>
            </a:pPr>
            <a:r>
              <a:rPr lang="zh-TW">
                <a:solidFill>
                  <a:schemeClr val="dk1"/>
                </a:solidFill>
              </a:rPr>
              <a:t>最多有約 ν × 100% 的訓練樣本可以被模型視為異常（落在決策邊界外）。</a:t>
            </a:r>
            <a:endParaRPr>
              <a:solidFill>
                <a:schemeClr val="dk1"/>
              </a:solidFill>
            </a:endParaRPr>
          </a:p>
          <a:p>
            <a:pPr indent="0" lvl="0" marL="0" rtl="0" algn="l">
              <a:spcBef>
                <a:spcPts val="0"/>
              </a:spcBef>
              <a:spcAft>
                <a:spcPts val="0"/>
              </a:spcAft>
              <a:buNone/>
            </a:pPr>
            <a:r>
              <a:rPr lang="zh-TW">
                <a:solidFill>
                  <a:schemeClr val="dk1"/>
                </a:solidFill>
              </a:rPr>
              <a:t>支援向量比例的下界（Lower bound）</a:t>
            </a:r>
            <a:endParaRPr>
              <a:solidFill>
                <a:schemeClr val="dk1"/>
              </a:solidFill>
            </a:endParaRPr>
          </a:p>
          <a:p>
            <a:pPr indent="457200" lvl="0" marL="0" rtl="0" algn="l">
              <a:spcBef>
                <a:spcPts val="0"/>
              </a:spcBef>
              <a:spcAft>
                <a:spcPts val="0"/>
              </a:spcAft>
              <a:buNone/>
            </a:pPr>
            <a:r>
              <a:rPr lang="zh-TW">
                <a:solidFill>
                  <a:schemeClr val="dk1"/>
                </a:solidFill>
              </a:rPr>
              <a:t>至少有約 ν × 100% 的訓練樣本會成為 Support Vectors。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7c34cac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f7c34cac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sz="1200">
                <a:solidFill>
                  <a:schemeClr val="dk1"/>
                </a:solidFill>
              </a:rPr>
              <a:t>m = 1000</a:t>
            </a:r>
            <a:endParaRPr sz="1200">
              <a:solidFill>
                <a:schemeClr val="dk1"/>
              </a:solidFill>
            </a:endParaRPr>
          </a:p>
          <a:p>
            <a:pPr indent="0" lvl="0" marL="0" rtl="0" algn="l">
              <a:lnSpc>
                <a:spcPct val="115000"/>
              </a:lnSpc>
              <a:spcBef>
                <a:spcPts val="1200"/>
              </a:spcBef>
              <a:spcAft>
                <a:spcPts val="0"/>
              </a:spcAft>
              <a:buNone/>
            </a:pPr>
            <a:r>
              <a:rPr lang="zh-TW">
                <a:solidFill>
                  <a:schemeClr val="dk1"/>
                </a:solidFill>
              </a:rPr>
              <a:t>在傳統的核方法 (如 RBF Kernel) 中，資料被映射到無限維空間中進行計算，這依賴於一個極度消耗資源的巨大核矩陣。</a:t>
            </a:r>
            <a:br>
              <a:rPr lang="zh-TW">
                <a:solidFill>
                  <a:schemeClr val="dk1"/>
                </a:solidFill>
              </a:rPr>
            </a:br>
            <a:r>
              <a:rPr lang="zh-TW">
                <a:solidFill>
                  <a:schemeClr val="dk1"/>
                </a:solidFill>
              </a:rPr>
              <a:t>Nystroem 近似法則是透過選定少數的 m 個基準點，將這個無限維的空間折疊、投影成一個只有 m 維的具體向量</a:t>
            </a:r>
            <a:endParaRPr>
              <a:solidFill>
                <a:schemeClr val="dk1"/>
              </a:solidFill>
            </a:endParaRPr>
          </a:p>
          <a:p>
            <a:pPr indent="0" lvl="0" marL="0" rtl="0" algn="l">
              <a:spcBef>
                <a:spcPts val="1200"/>
              </a:spcBef>
              <a:spcAft>
                <a:spcPts val="0"/>
              </a:spcAft>
              <a:buNone/>
            </a:pPr>
            <a:r>
              <a:rPr lang="zh-TW">
                <a:solidFill>
                  <a:schemeClr val="dk1"/>
                </a:solidFill>
              </a:rPr>
              <a:t>訓練資料中異常值比例的上界（Upper bound）</a:t>
            </a:r>
            <a:endParaRPr>
              <a:solidFill>
                <a:schemeClr val="dk1"/>
              </a:solidFill>
            </a:endParaRPr>
          </a:p>
          <a:p>
            <a:pPr indent="457200" lvl="0" marL="0" rtl="0" algn="l">
              <a:spcBef>
                <a:spcPts val="0"/>
              </a:spcBef>
              <a:spcAft>
                <a:spcPts val="0"/>
              </a:spcAft>
              <a:buNone/>
            </a:pPr>
            <a:r>
              <a:rPr lang="zh-TW">
                <a:solidFill>
                  <a:schemeClr val="dk1"/>
                </a:solidFill>
              </a:rPr>
              <a:t>最多有約 ν × 100% 的訓練樣本可以被模型視為異常（落在決策邊界外）。</a:t>
            </a:r>
            <a:endParaRPr>
              <a:solidFill>
                <a:schemeClr val="dk1"/>
              </a:solidFill>
            </a:endParaRPr>
          </a:p>
          <a:p>
            <a:pPr indent="0" lvl="0" marL="0" rtl="0" algn="l">
              <a:spcBef>
                <a:spcPts val="0"/>
              </a:spcBef>
              <a:spcAft>
                <a:spcPts val="0"/>
              </a:spcAft>
              <a:buNone/>
            </a:pPr>
            <a:r>
              <a:rPr lang="zh-TW">
                <a:solidFill>
                  <a:schemeClr val="dk1"/>
                </a:solidFill>
              </a:rPr>
              <a:t>支援向量比例的下界（Lower bound）</a:t>
            </a:r>
            <a:endParaRPr>
              <a:solidFill>
                <a:schemeClr val="dk1"/>
              </a:solidFill>
            </a:endParaRPr>
          </a:p>
          <a:p>
            <a:pPr indent="457200" lvl="0" marL="0" rtl="0" algn="l">
              <a:spcBef>
                <a:spcPts val="0"/>
              </a:spcBef>
              <a:spcAft>
                <a:spcPts val="0"/>
              </a:spcAft>
              <a:buNone/>
            </a:pPr>
            <a:r>
              <a:rPr lang="zh-TW">
                <a:solidFill>
                  <a:schemeClr val="dk1"/>
                </a:solidFill>
              </a:rPr>
              <a:t>至少有約 ν × 100% 的訓練樣本會成為 Support Vectors。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54cab53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f54cab53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a:solidFill>
                  <a:schemeClr val="dk1"/>
                </a:solidFill>
              </a:rPr>
              <a:t>Linear[512,OUTPUT_SIZE ]這裡的 OUTPUT_SIZE 是標籤的總數量（包含各種 TTP 與 O 類別）。可以把這個矩陣想像成「每一種 TTP 的標準特徵模板」。</a:t>
            </a:r>
            <a:br>
              <a:rPr lang="zh-TW">
                <a:solidFill>
                  <a:schemeClr val="dk1"/>
                </a:solidFill>
              </a:rPr>
            </a:br>
            <a:r>
              <a:rPr lang="zh-TW">
                <a:solidFill>
                  <a:schemeClr val="dk1"/>
                </a:solidFill>
              </a:rPr>
              <a:t>在訓練的時候是訓練linear層裡面的權重，讓該有的特徵可以透過該特徵對應到</a:t>
            </a:r>
            <a:br>
              <a:rPr lang="zh-TW">
                <a:solidFill>
                  <a:schemeClr val="dk1"/>
                </a:solidFill>
              </a:rPr>
            </a:br>
            <a:r>
              <a:rPr lang="zh-TW">
                <a:solidFill>
                  <a:schemeClr val="dk1"/>
                </a:solidFill>
              </a:rPr>
              <a:t>Linear會輸出Emissions(每個TTP的分數)然後加上轉移分數(把Benign的分數墊高，因為我有發現模型把很多benign標成malicious)之後丟給CRF(Vitebi)計算全局(前一步累積的最高分 + 轉移分數 + 當下的發射分數)</a:t>
            </a:r>
            <a:endParaRPr>
              <a:solidFill>
                <a:schemeClr val="dk1"/>
              </a:solidFill>
            </a:endParaRPr>
          </a:p>
          <a:p>
            <a:pPr indent="0" lvl="0" marL="0" rtl="0" algn="l">
              <a:spcBef>
                <a:spcPts val="1200"/>
              </a:spcBef>
              <a:spcAft>
                <a:spcPts val="0"/>
              </a:spcAft>
              <a:buNone/>
            </a:pPr>
            <a:r>
              <a:rPr lang="zh-TW">
                <a:solidFill>
                  <a:schemeClr val="dk1"/>
                </a:solidFill>
              </a:rPr>
              <a:t>Graph-Self attention讓每個節點只與其前後 K 個時間步的節點進行注意力運算，大幅降低了計算複雜度，並保留了時序距離的特徵。 </a:t>
            </a:r>
            <a:endParaRPr>
              <a:solidFill>
                <a:schemeClr val="dk1"/>
              </a:solidFill>
            </a:endParaRPr>
          </a:p>
          <a:p>
            <a:pPr indent="0" lvl="0" marL="0" rtl="0" algn="l">
              <a:spcBef>
                <a:spcPts val="0"/>
              </a:spcBef>
              <a:spcAft>
                <a:spcPts val="0"/>
              </a:spcAft>
              <a:buNone/>
            </a:pPr>
            <a:r>
              <a:rPr lang="zh-TW">
                <a:solidFill>
                  <a:schemeClr val="dk1"/>
                </a:solidFill>
              </a:rPr>
              <a:t>為每一個 TTP 類別宣告了一個專屬的可學習向量（長度為 256 維）。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CRF(conditional random field)</a:t>
            </a:r>
            <a:br>
              <a:rPr lang="zh-TW">
                <a:solidFill>
                  <a:schemeClr val="dk1"/>
                </a:solidFill>
              </a:rPr>
            </a:br>
            <a:endParaRPr>
              <a:solidFill>
                <a:schemeClr val="dk1"/>
              </a:solidFill>
            </a:endParaRPr>
          </a:p>
          <a:p>
            <a:pPr indent="0" lvl="0" marL="0" rtl="0" algn="l">
              <a:spcBef>
                <a:spcPts val="0"/>
              </a:spcBef>
              <a:spcAft>
                <a:spcPts val="0"/>
              </a:spcAft>
              <a:buNone/>
            </a:pPr>
            <a:r>
              <a:rPr lang="zh-TW">
                <a:solidFill>
                  <a:schemeClr val="dk1"/>
                </a:solidFill>
              </a:rPr>
              <a:t>Loss = crf_loss(為了順序) + w(為了讓CRF和Focal平衡) * focal_loss(為了長尾)</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Loss = crf_loss + w * focal_loss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Todo:</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SVM要讓人看出來是2step</a:t>
            </a:r>
            <a:br>
              <a:rPr lang="zh-TW">
                <a:solidFill>
                  <a:schemeClr val="dk1"/>
                </a:solidFill>
              </a:rPr>
            </a:br>
            <a:r>
              <a:rPr lang="zh-TW">
                <a:solidFill>
                  <a:schemeClr val="dk1"/>
                </a:solidFill>
              </a:rPr>
              <a:t>Transformer內容要寫細</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Linear接下來的灰色都要寫詳細</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3cbb322e9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f3cbb322e9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sz="1200">
                <a:solidFill>
                  <a:schemeClr val="dk1"/>
                </a:solidFill>
              </a:rPr>
              <a:t>process length = (total event of this process)</a:t>
            </a:r>
            <a:br>
              <a:rPr lang="zh-TW" sz="1200">
                <a:solidFill>
                  <a:schemeClr val="dk1"/>
                </a:solidFill>
              </a:rPr>
            </a:br>
            <a:r>
              <a:rPr lang="zh-TW" sz="1200">
                <a:solidFill>
                  <a:schemeClr val="dk1"/>
                </a:solidFill>
              </a:rPr>
              <a:t>Out-Of-Vocabulary Rate = vocab 是 make_embedding.py 從訓練圖收的。部署到新 campaign 時,沒見過的 process 名 / 檔案路徑 / registry key / IP → OOV → 在 event 模式下這些事件被丟掉、OCSVM 根本沒判到它們。</a:t>
            </a:r>
            <a:endParaRPr sz="1200">
              <a:solidFill>
                <a:schemeClr val="dk1"/>
              </a:solidFill>
            </a:endParaRPr>
          </a:p>
          <a:p>
            <a:pPr indent="0" lvl="0" marL="0" rtl="0" algn="l">
              <a:lnSpc>
                <a:spcPct val="115000"/>
              </a:lnSpc>
              <a:spcBef>
                <a:spcPts val="1200"/>
              </a:spcBef>
              <a:spcAft>
                <a:spcPts val="0"/>
              </a:spcAft>
              <a:buNone/>
            </a:pPr>
            <a:r>
              <a:rPr lang="zh-TW">
                <a:solidFill>
                  <a:schemeClr val="dk1"/>
                </a:solidFill>
              </a:rPr>
              <a:t>在傳統的核方法 (如 RBF Kernel) 中，資料被映射到無限維空間中進行計算，這依賴於一個極度消耗資源的巨大核矩陣。</a:t>
            </a:r>
            <a:br>
              <a:rPr lang="zh-TW">
                <a:solidFill>
                  <a:schemeClr val="dk1"/>
                </a:solidFill>
              </a:rPr>
            </a:br>
            <a:r>
              <a:rPr lang="zh-TW">
                <a:solidFill>
                  <a:schemeClr val="dk1"/>
                </a:solidFill>
              </a:rPr>
              <a:t>Nystroem 近似法則是透過選定少數的 m 個基準點，將這個無限維的空間折疊、投影成一個只有 m 維的具體向量</a:t>
            </a:r>
            <a:endParaRPr>
              <a:solidFill>
                <a:schemeClr val="dk1"/>
              </a:solidFill>
            </a:endParaRPr>
          </a:p>
          <a:p>
            <a:pPr indent="0" lvl="0" marL="0" rtl="0" algn="l">
              <a:spcBef>
                <a:spcPts val="1200"/>
              </a:spcBef>
              <a:spcAft>
                <a:spcPts val="0"/>
              </a:spcAft>
              <a:buNone/>
            </a:pPr>
            <a:r>
              <a:rPr lang="zh-TW">
                <a:solidFill>
                  <a:schemeClr val="dk1"/>
                </a:solidFill>
              </a:rPr>
              <a:t>訓練資料中異常值比例的上界（Upper bound）</a:t>
            </a:r>
            <a:endParaRPr>
              <a:solidFill>
                <a:schemeClr val="dk1"/>
              </a:solidFill>
            </a:endParaRPr>
          </a:p>
          <a:p>
            <a:pPr indent="457200" lvl="0" marL="0" rtl="0" algn="l">
              <a:spcBef>
                <a:spcPts val="0"/>
              </a:spcBef>
              <a:spcAft>
                <a:spcPts val="0"/>
              </a:spcAft>
              <a:buNone/>
            </a:pPr>
            <a:r>
              <a:rPr lang="zh-TW">
                <a:solidFill>
                  <a:schemeClr val="dk1"/>
                </a:solidFill>
              </a:rPr>
              <a:t>最多有約 ν × 100% 的訓練樣本可以被模型視為異常（落在決策邊界外）。</a:t>
            </a:r>
            <a:endParaRPr>
              <a:solidFill>
                <a:schemeClr val="dk1"/>
              </a:solidFill>
            </a:endParaRPr>
          </a:p>
          <a:p>
            <a:pPr indent="0" lvl="0" marL="0" rtl="0" algn="l">
              <a:spcBef>
                <a:spcPts val="0"/>
              </a:spcBef>
              <a:spcAft>
                <a:spcPts val="0"/>
              </a:spcAft>
              <a:buNone/>
            </a:pPr>
            <a:r>
              <a:rPr lang="zh-TW">
                <a:solidFill>
                  <a:schemeClr val="dk1"/>
                </a:solidFill>
              </a:rPr>
              <a:t>支援向量比例的下界（Lower bound）</a:t>
            </a:r>
            <a:endParaRPr>
              <a:solidFill>
                <a:schemeClr val="dk1"/>
              </a:solidFill>
            </a:endParaRPr>
          </a:p>
          <a:p>
            <a:pPr indent="457200" lvl="0" marL="0" rtl="0" algn="l">
              <a:spcBef>
                <a:spcPts val="0"/>
              </a:spcBef>
              <a:spcAft>
                <a:spcPts val="0"/>
              </a:spcAft>
              <a:buNone/>
            </a:pPr>
            <a:r>
              <a:rPr lang="zh-TW">
                <a:solidFill>
                  <a:schemeClr val="dk1"/>
                </a:solidFill>
              </a:rPr>
              <a:t>至少有約 ν × 100% 的訓練樣本會成為 Support Vectors。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f3cbb322e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f3cbb322e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sz="1200">
                <a:solidFill>
                  <a:schemeClr val="dk1"/>
                </a:solidFill>
              </a:rPr>
              <a:t>process length = (total event of this process)</a:t>
            </a:r>
            <a:br>
              <a:rPr lang="zh-TW" sz="1200">
                <a:solidFill>
                  <a:schemeClr val="dk1"/>
                </a:solidFill>
              </a:rPr>
            </a:br>
            <a:r>
              <a:rPr lang="zh-TW" sz="1200">
                <a:solidFill>
                  <a:schemeClr val="dk1"/>
                </a:solidFill>
              </a:rPr>
              <a:t>Out-Of-Vocabulary Rate = vocab 是 make_embedding.py 從訓練圖收的。部署到新 campaign 時,沒見過的 process 名 / 檔案路徑 / registry key / IP → OOV → 在 event 模式下這些事件被丟掉、OCSVM 根本沒判到它們。</a:t>
            </a:r>
            <a:endParaRPr sz="1200">
              <a:solidFill>
                <a:schemeClr val="dk1"/>
              </a:solidFill>
            </a:endParaRPr>
          </a:p>
          <a:p>
            <a:pPr indent="0" lvl="0" marL="0" rtl="0" algn="l">
              <a:lnSpc>
                <a:spcPct val="115000"/>
              </a:lnSpc>
              <a:spcBef>
                <a:spcPts val="1200"/>
              </a:spcBef>
              <a:spcAft>
                <a:spcPts val="0"/>
              </a:spcAft>
              <a:buNone/>
            </a:pPr>
            <a:r>
              <a:rPr lang="zh-TW">
                <a:solidFill>
                  <a:schemeClr val="dk1"/>
                </a:solidFill>
              </a:rPr>
              <a:t>在傳統的核方法 (如 RBF Kernel) 中，資料被映射到無限維空間中進行計算，這依賴於一個極度消耗資源的巨大核矩陣。</a:t>
            </a:r>
            <a:br>
              <a:rPr lang="zh-TW">
                <a:solidFill>
                  <a:schemeClr val="dk1"/>
                </a:solidFill>
              </a:rPr>
            </a:br>
            <a:r>
              <a:rPr lang="zh-TW">
                <a:solidFill>
                  <a:schemeClr val="dk1"/>
                </a:solidFill>
              </a:rPr>
              <a:t>Nystroem 近似法則是透過選定少數的 m 個基準點，將這個無限維的空間折疊、投影成一個只有 m 維的具體向量</a:t>
            </a:r>
            <a:endParaRPr>
              <a:solidFill>
                <a:schemeClr val="dk1"/>
              </a:solidFill>
            </a:endParaRPr>
          </a:p>
          <a:p>
            <a:pPr indent="0" lvl="0" marL="0" rtl="0" algn="l">
              <a:spcBef>
                <a:spcPts val="1200"/>
              </a:spcBef>
              <a:spcAft>
                <a:spcPts val="0"/>
              </a:spcAft>
              <a:buNone/>
            </a:pPr>
            <a:r>
              <a:rPr lang="zh-TW">
                <a:solidFill>
                  <a:schemeClr val="dk1"/>
                </a:solidFill>
              </a:rPr>
              <a:t>訓練資料中異常值比例的上界（Upper bound）</a:t>
            </a:r>
            <a:endParaRPr>
              <a:solidFill>
                <a:schemeClr val="dk1"/>
              </a:solidFill>
            </a:endParaRPr>
          </a:p>
          <a:p>
            <a:pPr indent="457200" lvl="0" marL="0" rtl="0" algn="l">
              <a:spcBef>
                <a:spcPts val="0"/>
              </a:spcBef>
              <a:spcAft>
                <a:spcPts val="0"/>
              </a:spcAft>
              <a:buNone/>
            </a:pPr>
            <a:r>
              <a:rPr lang="zh-TW">
                <a:solidFill>
                  <a:schemeClr val="dk1"/>
                </a:solidFill>
              </a:rPr>
              <a:t>最多有約 ν × 100% 的訓練樣本可以被模型視為異常（落在決策邊界外）。</a:t>
            </a:r>
            <a:endParaRPr>
              <a:solidFill>
                <a:schemeClr val="dk1"/>
              </a:solidFill>
            </a:endParaRPr>
          </a:p>
          <a:p>
            <a:pPr indent="0" lvl="0" marL="0" rtl="0" algn="l">
              <a:spcBef>
                <a:spcPts val="0"/>
              </a:spcBef>
              <a:spcAft>
                <a:spcPts val="0"/>
              </a:spcAft>
              <a:buNone/>
            </a:pPr>
            <a:r>
              <a:rPr lang="zh-TW">
                <a:solidFill>
                  <a:schemeClr val="dk1"/>
                </a:solidFill>
              </a:rPr>
              <a:t>支援向量比例的下界（Lower bound）</a:t>
            </a:r>
            <a:endParaRPr>
              <a:solidFill>
                <a:schemeClr val="dk1"/>
              </a:solidFill>
            </a:endParaRPr>
          </a:p>
          <a:p>
            <a:pPr indent="457200" lvl="0" marL="0" rtl="0" algn="l">
              <a:spcBef>
                <a:spcPts val="0"/>
              </a:spcBef>
              <a:spcAft>
                <a:spcPts val="0"/>
              </a:spcAft>
              <a:buNone/>
            </a:pPr>
            <a:r>
              <a:rPr lang="zh-TW">
                <a:solidFill>
                  <a:schemeClr val="dk1"/>
                </a:solidFill>
              </a:rPr>
              <a:t>至少有約 ν × 100% 的訓練樣本會成為 Support Vectors。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f3cb30a71c_3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f3cb30a71c_3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sz="1200">
                <a:solidFill>
                  <a:schemeClr val="dk1"/>
                </a:solidFill>
              </a:rPr>
              <a:t>m = 1000</a:t>
            </a:r>
            <a:endParaRPr sz="1200">
              <a:solidFill>
                <a:schemeClr val="dk1"/>
              </a:solidFill>
            </a:endParaRPr>
          </a:p>
          <a:p>
            <a:pPr indent="0" lvl="0" marL="0" rtl="0" algn="l">
              <a:lnSpc>
                <a:spcPct val="115000"/>
              </a:lnSpc>
              <a:spcBef>
                <a:spcPts val="1200"/>
              </a:spcBef>
              <a:spcAft>
                <a:spcPts val="0"/>
              </a:spcAft>
              <a:buNone/>
            </a:pPr>
            <a:r>
              <a:rPr lang="zh-TW">
                <a:solidFill>
                  <a:schemeClr val="dk1"/>
                </a:solidFill>
              </a:rPr>
              <a:t>在傳統的核方法 (如 RBF Kernel) 中，資料被映射到無限維空間中進行計算，這依賴於一個極度消耗資源的巨大核矩陣。</a:t>
            </a:r>
            <a:br>
              <a:rPr lang="zh-TW">
                <a:solidFill>
                  <a:schemeClr val="dk1"/>
                </a:solidFill>
              </a:rPr>
            </a:br>
            <a:r>
              <a:rPr lang="zh-TW">
                <a:solidFill>
                  <a:schemeClr val="dk1"/>
                </a:solidFill>
              </a:rPr>
              <a:t>Nystroem 近似法則是透過選定少數的 m 個基準點，將這個無限維的空間折疊、投影成一個只有 m 維的具體向量</a:t>
            </a:r>
            <a:endParaRPr>
              <a:solidFill>
                <a:schemeClr val="dk1"/>
              </a:solidFill>
            </a:endParaRPr>
          </a:p>
          <a:p>
            <a:pPr indent="0" lvl="0" marL="0" rtl="0" algn="l">
              <a:spcBef>
                <a:spcPts val="1200"/>
              </a:spcBef>
              <a:spcAft>
                <a:spcPts val="0"/>
              </a:spcAft>
              <a:buNone/>
            </a:pPr>
            <a:r>
              <a:rPr lang="zh-TW">
                <a:solidFill>
                  <a:schemeClr val="dk1"/>
                </a:solidFill>
              </a:rPr>
              <a:t>訓練資料中異常值比例的上界（Upper bound）</a:t>
            </a:r>
            <a:endParaRPr>
              <a:solidFill>
                <a:schemeClr val="dk1"/>
              </a:solidFill>
            </a:endParaRPr>
          </a:p>
          <a:p>
            <a:pPr indent="457200" lvl="0" marL="0" rtl="0" algn="l">
              <a:spcBef>
                <a:spcPts val="0"/>
              </a:spcBef>
              <a:spcAft>
                <a:spcPts val="0"/>
              </a:spcAft>
              <a:buNone/>
            </a:pPr>
            <a:r>
              <a:rPr lang="zh-TW">
                <a:solidFill>
                  <a:schemeClr val="dk1"/>
                </a:solidFill>
              </a:rPr>
              <a:t>最多有約 ν × 100% 的訓練樣本可以被模型視為異常（落在決策邊界外）。</a:t>
            </a:r>
            <a:endParaRPr>
              <a:solidFill>
                <a:schemeClr val="dk1"/>
              </a:solidFill>
            </a:endParaRPr>
          </a:p>
          <a:p>
            <a:pPr indent="0" lvl="0" marL="0" rtl="0" algn="l">
              <a:spcBef>
                <a:spcPts val="0"/>
              </a:spcBef>
              <a:spcAft>
                <a:spcPts val="0"/>
              </a:spcAft>
              <a:buNone/>
            </a:pPr>
            <a:r>
              <a:rPr lang="zh-TW">
                <a:solidFill>
                  <a:schemeClr val="dk1"/>
                </a:solidFill>
              </a:rPr>
              <a:t>支援向量比例的下界（Lower bound）</a:t>
            </a:r>
            <a:endParaRPr>
              <a:solidFill>
                <a:schemeClr val="dk1"/>
              </a:solidFill>
            </a:endParaRPr>
          </a:p>
          <a:p>
            <a:pPr indent="457200" lvl="0" marL="0" rtl="0" algn="l">
              <a:spcBef>
                <a:spcPts val="0"/>
              </a:spcBef>
              <a:spcAft>
                <a:spcPts val="0"/>
              </a:spcAft>
              <a:buNone/>
            </a:pPr>
            <a:r>
              <a:rPr lang="zh-TW">
                <a:solidFill>
                  <a:schemeClr val="dk1"/>
                </a:solidFill>
              </a:rPr>
              <a:t>至少有約 ν × 100% 的訓練樣本會成為 Support Vectors。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f4ea95d3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f4ea95d3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因為casino每個隊伍有4個機器，而且有140隊，平均一隊產生833,808行log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f16f31c16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f16f31c16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4ea95d346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f4ea95d346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f3cb30a71c_3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f3cb30a71c_3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51c3c343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f51c3c343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都是sub-technique</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把我的作法與原作證據做一個印證。</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f51c3c343c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f51c3c343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都是sub-technique</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把我的作法與原作證據做一個印證。</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f7e0b1343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f7e0b1343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SFM</a:t>
            </a:r>
            <a:r>
              <a:rPr lang="zh-TW"/>
              <a:t>模型太小無法適應few-shot資料型態</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f6676773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f6676773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f13b606561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f13b606561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f58a147e2b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f58a147e2b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SOAR（Security Orchestration, Automation, and Response，資安協作自動化應變）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f58a147e2b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f58a147e2b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f58a147e2b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f58a147e2b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f58a147e2b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f58a147e2b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58a147e2b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f58a147e2b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f58a147e2b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f58a147e2b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f96b84d28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f96b84d28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f5f1ea2b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f5f1ea2b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f51c3c343c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f51c3c343c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f3cb30a71c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f3cb30a71c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zh-TW">
                <a:solidFill>
                  <a:schemeClr val="dk1"/>
                </a:solidFill>
              </a:rPr>
              <a:t>T1562.001 </a:t>
            </a:r>
            <a:r>
              <a:rPr lang="zh-TW">
                <a:solidFill>
                  <a:schemeClr val="dk1"/>
                </a:solidFill>
              </a:rPr>
              <a:t>v18 被重新編號整併為 </a:t>
            </a:r>
            <a:r>
              <a:rPr b="1" lang="zh-TW">
                <a:solidFill>
                  <a:schemeClr val="dk1"/>
                </a:solidFill>
              </a:rPr>
              <a:t>T1685 – Disable or Modify Tools</a:t>
            </a:r>
            <a:r>
              <a:rPr lang="zh-TW">
                <a:solidFill>
                  <a:schemeClr val="dk1"/>
                </a:solidFill>
              </a:rPr>
              <a:t> v19</a:t>
            </a:r>
            <a:endParaRPr>
              <a:solidFill>
                <a:schemeClr val="dk1"/>
              </a:solidFill>
            </a:endParaRPr>
          </a:p>
          <a:p>
            <a:pPr indent="0" lvl="0" marL="0" rtl="0" algn="l">
              <a:spcBef>
                <a:spcPts val="0"/>
              </a:spcBef>
              <a:spcAft>
                <a:spcPts val="0"/>
              </a:spcAft>
              <a:buNone/>
            </a:pPr>
            <a:r>
              <a:rPr lang="zh-TW">
                <a:solidFill>
                  <a:schemeClr val="dk1"/>
                </a:solidFill>
              </a:rPr>
              <a:t>LinasInste.exe -&gt; Installer.exe (Trojan)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T1562.001 需要把「找到防護工具」與「停用它」這兩個因果相關但不一定緊鄰的事件連起來看，SFM 的 BiGRU-CRF 只看原始序列、沒有跨事件的圖結構上下文融合，容易漏掉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f95124ea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f95124ea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f54cab53e5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f54cab53e5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zh-TW">
                <a:solidFill>
                  <a:schemeClr val="dk1"/>
                </a:solidFill>
              </a:rPr>
              <a:t>Linear[512,OUTPUT_SIZE ]這裡的 OUTPUT_SIZE 是標籤的總數量（包含各種 TTP 與 O 類別）。可以把這個矩陣想像成「每一種 TTP 的標準特徵模板」。</a:t>
            </a:r>
            <a:br>
              <a:rPr lang="zh-TW">
                <a:solidFill>
                  <a:schemeClr val="dk1"/>
                </a:solidFill>
              </a:rPr>
            </a:br>
            <a:r>
              <a:rPr lang="zh-TW">
                <a:solidFill>
                  <a:schemeClr val="dk1"/>
                </a:solidFill>
              </a:rPr>
              <a:t>在訓練的時候是訓練linear層裡面的權重，讓該有的特徵可以透過該特徵對應到</a:t>
            </a:r>
            <a:br>
              <a:rPr lang="zh-TW">
                <a:solidFill>
                  <a:schemeClr val="dk1"/>
                </a:solidFill>
              </a:rPr>
            </a:br>
            <a:r>
              <a:rPr lang="zh-TW">
                <a:solidFill>
                  <a:schemeClr val="dk1"/>
                </a:solidFill>
              </a:rPr>
              <a:t>Linear會輸出Emissions(每個TTP的分數)然後加上轉移分數(把Benign的分數墊高，因為我有發現模型把很多benign標成malicious)之後丟給CRF(Vitebi)計算全局(前一步累積的最高分 + 轉移分數 + 當下的發射分數)</a:t>
            </a:r>
            <a:endParaRPr>
              <a:solidFill>
                <a:schemeClr val="dk1"/>
              </a:solidFill>
            </a:endParaRPr>
          </a:p>
          <a:p>
            <a:pPr indent="0" lvl="0" marL="0" rtl="0" algn="l">
              <a:spcBef>
                <a:spcPts val="1200"/>
              </a:spcBef>
              <a:spcAft>
                <a:spcPts val="0"/>
              </a:spcAft>
              <a:buNone/>
            </a:pPr>
            <a:r>
              <a:rPr lang="zh-TW">
                <a:solidFill>
                  <a:schemeClr val="dk1"/>
                </a:solidFill>
              </a:rPr>
              <a:t>Graph-Self attention讓每個節點只與其前後 K 個時間步的節點進行注意力運算，大幅降低了計算複雜度，並保留了時序距離的特徵。 </a:t>
            </a:r>
            <a:endParaRPr>
              <a:solidFill>
                <a:schemeClr val="dk1"/>
              </a:solidFill>
            </a:endParaRPr>
          </a:p>
          <a:p>
            <a:pPr indent="0" lvl="0" marL="0" rtl="0" algn="l">
              <a:spcBef>
                <a:spcPts val="0"/>
              </a:spcBef>
              <a:spcAft>
                <a:spcPts val="0"/>
              </a:spcAft>
              <a:buNone/>
            </a:pPr>
            <a:r>
              <a:rPr lang="zh-TW">
                <a:solidFill>
                  <a:schemeClr val="dk1"/>
                </a:solidFill>
              </a:rPr>
              <a:t>為每一個 TTP 類別宣告了一個專屬的可學習向量（長度為 256 維）。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CRF(conditional random field)</a:t>
            </a:r>
            <a:br>
              <a:rPr lang="zh-TW">
                <a:solidFill>
                  <a:schemeClr val="dk1"/>
                </a:solidFill>
              </a:rPr>
            </a:br>
            <a:endParaRPr>
              <a:solidFill>
                <a:schemeClr val="dk1"/>
              </a:solidFill>
            </a:endParaRPr>
          </a:p>
          <a:p>
            <a:pPr indent="0" lvl="0" marL="0" rtl="0" algn="l">
              <a:spcBef>
                <a:spcPts val="0"/>
              </a:spcBef>
              <a:spcAft>
                <a:spcPts val="0"/>
              </a:spcAft>
              <a:buNone/>
            </a:pPr>
            <a:r>
              <a:rPr lang="zh-TW">
                <a:solidFill>
                  <a:schemeClr val="dk1"/>
                </a:solidFill>
              </a:rPr>
              <a:t>Loss = crf_loss(為了順序) + w(為了讓CRF和Focal平衡) * focal_loss(為了長尾)</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Loss = crf_loss + w * focal_loss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Todo:</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SVM要讓人看出來是2step</a:t>
            </a:r>
            <a:br>
              <a:rPr lang="zh-TW">
                <a:solidFill>
                  <a:schemeClr val="dk1"/>
                </a:solidFill>
              </a:rPr>
            </a:br>
            <a:r>
              <a:rPr lang="zh-TW">
                <a:solidFill>
                  <a:schemeClr val="dk1"/>
                </a:solidFill>
              </a:rPr>
              <a:t>Transformer內容要寫細</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Linear接下來的灰色都要寫詳細</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ebfd4e603a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ebfd4e603a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hyperlink" Target="https://www.kellect.org/#/kellect-4-aptdatase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61550" y="466725"/>
            <a:ext cx="8820900" cy="205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zh-TW" sz="4200"/>
              <a:t>結合大語言模型與資安領域預訓練模型應用於深度學習之威脅偵測系統</a:t>
            </a:r>
            <a:endParaRPr sz="4200"/>
          </a:p>
        </p:txBody>
      </p:sp>
      <p:sp>
        <p:nvSpPr>
          <p:cNvPr id="55" name="Google Shape;55;p13"/>
          <p:cNvSpPr txBox="1"/>
          <p:nvPr>
            <p:ph idx="1" type="subTitle"/>
          </p:nvPr>
        </p:nvSpPr>
        <p:spPr>
          <a:xfrm>
            <a:off x="2441850" y="2928725"/>
            <a:ext cx="4260300" cy="104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800">
                <a:solidFill>
                  <a:schemeClr val="dk1"/>
                </a:solidFill>
              </a:rPr>
              <a:t>報告人</a:t>
            </a:r>
            <a:r>
              <a:rPr lang="zh-TW" sz="1800">
                <a:solidFill>
                  <a:schemeClr val="dk1"/>
                </a:solidFill>
              </a:rPr>
              <a:t>：</a:t>
            </a:r>
            <a:r>
              <a:rPr lang="zh-TW" sz="1800">
                <a:solidFill>
                  <a:schemeClr val="dk1"/>
                </a:solidFill>
              </a:rPr>
              <a:t>余仲恩</a:t>
            </a:r>
            <a:br>
              <a:rPr lang="zh-TW" sz="1800">
                <a:solidFill>
                  <a:schemeClr val="dk1"/>
                </a:solidFill>
              </a:rPr>
            </a:br>
            <a:r>
              <a:rPr lang="zh-TW" sz="1800">
                <a:solidFill>
                  <a:schemeClr val="dk1"/>
                </a:solidFill>
              </a:rPr>
              <a:t>口試日期：7/30</a:t>
            </a:r>
            <a:endParaRPr sz="1800">
              <a:solidFill>
                <a:schemeClr val="dk1"/>
              </a:solidFill>
            </a:endParaRPr>
          </a:p>
          <a:p>
            <a:pPr indent="0" lvl="0" marL="0" rtl="0" algn="l">
              <a:spcBef>
                <a:spcPts val="0"/>
              </a:spcBef>
              <a:spcAft>
                <a:spcPts val="0"/>
              </a:spcAft>
              <a:buNone/>
            </a:pPr>
            <a:r>
              <a:rPr lang="zh-TW" sz="1800">
                <a:solidFill>
                  <a:schemeClr val="dk1"/>
                </a:solidFill>
              </a:rPr>
              <a:t>指導教授</a:t>
            </a:r>
            <a:r>
              <a:rPr lang="zh-TW" sz="1800">
                <a:solidFill>
                  <a:schemeClr val="dk1"/>
                </a:solidFill>
              </a:rPr>
              <a:t>：</a:t>
            </a:r>
            <a:r>
              <a:rPr lang="zh-TW" sz="1800">
                <a:solidFill>
                  <a:schemeClr val="dk1"/>
                </a:solidFill>
              </a:rPr>
              <a:t>黃意婷博士</a:t>
            </a:r>
            <a:endParaRPr sz="1800">
              <a:solidFill>
                <a:schemeClr val="dk1"/>
              </a:solidFill>
            </a:endParaRPr>
          </a:p>
        </p:txBody>
      </p:sp>
      <p:sp>
        <p:nvSpPr>
          <p:cNvPr id="56" name="Google Shape;56;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57" name="Google Shape;57;p13"/>
          <p:cNvSpPr txBox="1"/>
          <p:nvPr/>
        </p:nvSpPr>
        <p:spPr>
          <a:xfrm>
            <a:off x="0" y="4743300"/>
            <a:ext cx="309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latin typeface="DFKai-SB"/>
                <a:ea typeface="DFKai-SB"/>
                <a:cs typeface="DFKai-SB"/>
                <a:sym typeface="DFKai-SB"/>
              </a:rPr>
              <a:t>台科大</a:t>
            </a:r>
            <a:r>
              <a:rPr lang="zh-TW">
                <a:latin typeface="DFKai-SB"/>
                <a:ea typeface="DFKai-SB"/>
                <a:cs typeface="DFKai-SB"/>
                <a:sym typeface="DFKai-SB"/>
              </a:rPr>
              <a:t>先進網路技術與服務實驗室</a:t>
            </a:r>
            <a:endParaRPr>
              <a:latin typeface="DFKai-SB"/>
              <a:ea typeface="DFKai-SB"/>
              <a:cs typeface="DFKai-SB"/>
              <a:sym typeface="DFKai-SB"/>
            </a:endParaRPr>
          </a:p>
        </p:txBody>
      </p:sp>
      <p:sp>
        <p:nvSpPr>
          <p:cNvPr id="58" name="Google Shape;58;p13"/>
          <p:cNvSpPr txBox="1"/>
          <p:nvPr/>
        </p:nvSpPr>
        <p:spPr>
          <a:xfrm>
            <a:off x="23776" y="4572875"/>
            <a:ext cx="309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000">
                <a:solidFill>
                  <a:schemeClr val="dk1"/>
                </a:solidFill>
                <a:latin typeface="Times New Roman"/>
                <a:ea typeface="Times New Roman"/>
                <a:cs typeface="Times New Roman"/>
                <a:sym typeface="Times New Roman"/>
              </a:rPr>
              <a:t>Advanced Network Technologies and Services Lab.</a:t>
            </a:r>
            <a:endParaRPr sz="10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目錄</a:t>
            </a:r>
            <a:endParaRPr/>
          </a:p>
        </p:txBody>
      </p:sp>
      <p:sp>
        <p:nvSpPr>
          <p:cNvPr id="64" name="Google Shape;64;p1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研究背景</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研究目的</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研究貢獻</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文獻探討</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研究方法</a:t>
            </a:r>
            <a:endParaRPr>
              <a:solidFill>
                <a:schemeClr val="dk1"/>
              </a:solidFill>
            </a:endParaRPr>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66" name="Google Shape;66;p14"/>
          <p:cNvSpPr txBox="1"/>
          <p:nvPr/>
        </p:nvSpPr>
        <p:spPr>
          <a:xfrm>
            <a:off x="4572000" y="1152475"/>
            <a:ext cx="4034700" cy="237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zh-TW" sz="1800">
                <a:solidFill>
                  <a:schemeClr val="dk1"/>
                </a:solidFill>
              </a:rPr>
              <a:t>RQ1:Anomaly Detection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RQ2</a:t>
            </a:r>
            <a:r>
              <a:rPr lang="zh-TW" sz="1800">
                <a:solidFill>
                  <a:schemeClr val="dk1"/>
                </a:solidFill>
              </a:rPr>
              <a:t>:TTP Detection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RQ3</a:t>
            </a:r>
            <a:r>
              <a:rPr lang="zh-TW" sz="1800">
                <a:solidFill>
                  <a:schemeClr val="dk1"/>
                </a:solidFill>
              </a:rPr>
              <a:t>:中華資安病毒樣本分析</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Case Study - 中華資安病毒樣本</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結論</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後續工作與未來展望</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參考文獻</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18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研究背景</a:t>
            </a:r>
            <a:endParaRPr/>
          </a:p>
        </p:txBody>
      </p:sp>
      <p:sp>
        <p:nvSpPr>
          <p:cNvPr id="72" name="Google Shape;72;p15"/>
          <p:cNvSpPr txBox="1"/>
          <p:nvPr>
            <p:ph idx="1" type="body"/>
          </p:nvPr>
        </p:nvSpPr>
        <p:spPr>
          <a:xfrm>
            <a:off x="129375" y="715600"/>
            <a:ext cx="8892000" cy="1113000"/>
          </a:xfrm>
          <a:prstGeom prst="rect">
            <a:avLst/>
          </a:prstGeom>
        </p:spPr>
        <p:txBody>
          <a:bodyPr anchorCtr="0" anchor="t" bIns="91425" lIns="91425" spcFirstLastPara="1" rIns="91425" wrap="square" tIns="91425">
            <a:normAutofit/>
          </a:bodyPr>
          <a:lstStyle/>
          <a:p>
            <a:pPr indent="457200" lvl="0" marL="0" rtl="0" algn="l">
              <a:spcBef>
                <a:spcPts val="0"/>
              </a:spcBef>
              <a:spcAft>
                <a:spcPts val="1200"/>
              </a:spcAft>
              <a:buNone/>
            </a:pPr>
            <a:r>
              <a:rPr lang="zh-TW" sz="1200">
                <a:solidFill>
                  <a:schemeClr val="dk1"/>
                </a:solidFill>
              </a:rPr>
              <a:t>隨著進階持續性威脅的攻擊手法日益複雜，現有的溯源圖偵測系統（如 SLOT 與 Kairos）在惡意行為偵測上雖具備一定成效，但仍面臨技術瓶頸。為突破現有框架的限制，本研究提出一個結合大型語言模型 (LLM) 與資安專用預訓練模型 SecureBERT 2.0 的新型威脅偵測架構。透過將系統審計日誌 (Audit Log) 轉化為具備上下文資訊的自然語言敘述，並利用 SecureBERT 2.0 萃取深層的語意特徵向量 (Embeddings)，以建立具備深度語意理解能力的自動化威脅防禦機制。 </a:t>
            </a:r>
            <a:endParaRPr sz="1200">
              <a:solidFill>
                <a:schemeClr val="dk1"/>
              </a:solidFill>
            </a:endParaRPr>
          </a:p>
        </p:txBody>
      </p:sp>
      <p:sp>
        <p:nvSpPr>
          <p:cNvPr id="73" name="Google Shape;7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74" name="Google Shape;74;p15"/>
          <p:cNvSpPr txBox="1"/>
          <p:nvPr>
            <p:ph idx="1" type="body"/>
          </p:nvPr>
        </p:nvSpPr>
        <p:spPr>
          <a:xfrm>
            <a:off x="61350" y="2129288"/>
            <a:ext cx="9021300" cy="1163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zh-TW" sz="1200">
                <a:solidFill>
                  <a:schemeClr val="dk1"/>
                </a:solidFill>
              </a:rPr>
              <a:t>異常偵測 (Anomaly Detection)：</a:t>
            </a:r>
            <a:r>
              <a:rPr lang="zh-TW" sz="1200">
                <a:solidFill>
                  <a:schemeClr val="dk1"/>
                </a:solidFill>
              </a:rPr>
              <a:t> 利用深層語意特徵學習系統常規模式，從大量日誌中初步過濾並精準識別出潛在的異常行為。</a:t>
            </a:r>
            <a:endParaRPr sz="1200">
              <a:solidFill>
                <a:schemeClr val="dk1"/>
              </a:solidFill>
            </a:endParaRPr>
          </a:p>
          <a:p>
            <a:pPr indent="-304800" lvl="0" marL="457200" rtl="0" algn="l">
              <a:spcBef>
                <a:spcPts val="0"/>
              </a:spcBef>
              <a:spcAft>
                <a:spcPts val="0"/>
              </a:spcAft>
              <a:buClr>
                <a:schemeClr val="dk1"/>
              </a:buClr>
              <a:buSzPts val="1200"/>
              <a:buChar char="●"/>
            </a:pPr>
            <a:r>
              <a:rPr b="1" lang="zh-TW" sz="1200">
                <a:solidFill>
                  <a:schemeClr val="dk1"/>
                </a:solidFill>
              </a:rPr>
              <a:t>TTP 偵測 (TTP Detection)：</a:t>
            </a:r>
            <a:r>
              <a:rPr lang="zh-TW" sz="1200">
                <a:solidFill>
                  <a:schemeClr val="dk1"/>
                </a:solidFill>
              </a:rPr>
              <a:t> 將識別出的惡意行為與高階攻擊語意連結，精準對應至具體的攻擊戰術與技術以解釋攻擊手法。</a:t>
            </a:r>
            <a:endParaRPr sz="1200">
              <a:solidFill>
                <a:schemeClr val="dk1"/>
              </a:solidFill>
            </a:endParaRPr>
          </a:p>
          <a:p>
            <a:pPr indent="-304800" lvl="0" marL="457200" rtl="0" algn="l">
              <a:spcBef>
                <a:spcPts val="0"/>
              </a:spcBef>
              <a:spcAft>
                <a:spcPts val="0"/>
              </a:spcAft>
              <a:buClr>
                <a:schemeClr val="dk1"/>
              </a:buClr>
              <a:buSzPts val="1200"/>
              <a:buChar char="●"/>
            </a:pPr>
            <a:r>
              <a:rPr b="1" lang="zh-TW" sz="1200">
                <a:solidFill>
                  <a:schemeClr val="dk1"/>
                </a:solidFill>
              </a:rPr>
              <a:t>入侵偵測 (Intrusion Detection)：</a:t>
            </a:r>
            <a:r>
              <a:rPr lang="zh-TW" sz="1200">
                <a:solidFill>
                  <a:schemeClr val="dk1"/>
                </a:solidFill>
              </a:rPr>
              <a:t> 針對潛在異常進行深度特徵分類與驗證，確保僅在面臨真實威脅時才觸發警報。</a:t>
            </a:r>
            <a:endParaRPr b="1" sz="1200">
              <a:solidFill>
                <a:schemeClr val="dk1"/>
              </a:solidFill>
            </a:endParaRPr>
          </a:p>
        </p:txBody>
      </p:sp>
      <p:sp>
        <p:nvSpPr>
          <p:cNvPr id="75" name="Google Shape;75;p15"/>
          <p:cNvSpPr txBox="1"/>
          <p:nvPr>
            <p:ph type="title"/>
          </p:nvPr>
        </p:nvSpPr>
        <p:spPr>
          <a:xfrm>
            <a:off x="311700" y="1637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研究</a:t>
            </a:r>
            <a:r>
              <a:rPr lang="zh-TW"/>
              <a:t>目的</a:t>
            </a:r>
            <a:endParaRPr/>
          </a:p>
        </p:txBody>
      </p:sp>
      <p:sp>
        <p:nvSpPr>
          <p:cNvPr id="76" name="Google Shape;76;p15"/>
          <p:cNvSpPr txBox="1"/>
          <p:nvPr>
            <p:ph idx="1" type="body"/>
          </p:nvPr>
        </p:nvSpPr>
        <p:spPr>
          <a:xfrm>
            <a:off x="64725" y="3638775"/>
            <a:ext cx="9021300" cy="13635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zh-TW" sz="1200">
                <a:solidFill>
                  <a:schemeClr val="dk1"/>
                </a:solidFill>
              </a:rPr>
              <a:t>提出基於語意增強的異常偵測機制：</a:t>
            </a:r>
            <a:r>
              <a:rPr lang="zh-TW" sz="1200">
                <a:solidFill>
                  <a:schemeClr val="dk1"/>
                </a:solidFill>
              </a:rPr>
              <a:t> 結合 LLM 與 SecureBERT 2.0 賦予系統深度的語意理解能力，有效達成初步的精準流量過濾。</a:t>
            </a:r>
            <a:endParaRPr sz="1200">
              <a:solidFill>
                <a:schemeClr val="dk1"/>
              </a:solidFill>
            </a:endParaRPr>
          </a:p>
          <a:p>
            <a:pPr indent="-304800" lvl="0" marL="457200" rtl="0" algn="l">
              <a:spcBef>
                <a:spcPts val="0"/>
              </a:spcBef>
              <a:spcAft>
                <a:spcPts val="0"/>
              </a:spcAft>
              <a:buClr>
                <a:schemeClr val="dk1"/>
              </a:buClr>
              <a:buSzPts val="1200"/>
              <a:buChar char="●"/>
            </a:pPr>
            <a:r>
              <a:rPr b="1" lang="zh-TW" sz="1200">
                <a:solidFill>
                  <a:schemeClr val="dk1"/>
                </a:solidFill>
              </a:rPr>
              <a:t>具備預測進階持續性威脅攻擊的能力：</a:t>
            </a:r>
            <a:r>
              <a:rPr lang="zh-TW" sz="1200">
                <a:solidFill>
                  <a:schemeClr val="dk1"/>
                </a:solidFill>
              </a:rPr>
              <a:t> 系統能將異常精確映射至 MITRE ATT&amp;CK 框架，大幅減輕資安鑑識人員的分析負擔。</a:t>
            </a:r>
            <a:endParaRPr sz="1200">
              <a:solidFill>
                <a:schemeClr val="dk1"/>
              </a:solidFill>
            </a:endParaRPr>
          </a:p>
          <a:p>
            <a:pPr indent="-304800" lvl="0" marL="457200" rtl="0" algn="l">
              <a:spcBef>
                <a:spcPts val="0"/>
              </a:spcBef>
              <a:spcAft>
                <a:spcPts val="0"/>
              </a:spcAft>
              <a:buClr>
                <a:schemeClr val="dk1"/>
              </a:buClr>
              <a:buSzPts val="1200"/>
              <a:buChar char="●"/>
            </a:pPr>
            <a:r>
              <a:rPr b="1" lang="zh-TW" sz="1200">
                <a:solidFill>
                  <a:schemeClr val="dk1"/>
                </a:solidFill>
              </a:rPr>
              <a:t>實現低誤報率的入侵偵測與警報系統：</a:t>
            </a:r>
            <a:r>
              <a:rPr lang="zh-TW" sz="1200">
                <a:solidFill>
                  <a:schemeClr val="dk1"/>
                </a:solidFill>
              </a:rPr>
              <a:t> 透過漸進式的深度驗證機制確認真實攻擊，提供高可信度且極低誤報率的防護資訊。</a:t>
            </a:r>
            <a:endParaRPr b="1" sz="1200">
              <a:solidFill>
                <a:schemeClr val="dk1"/>
              </a:solidFill>
            </a:endParaRPr>
          </a:p>
        </p:txBody>
      </p:sp>
      <p:sp>
        <p:nvSpPr>
          <p:cNvPr id="77" name="Google Shape;77;p15"/>
          <p:cNvSpPr txBox="1"/>
          <p:nvPr>
            <p:ph type="title"/>
          </p:nvPr>
        </p:nvSpPr>
        <p:spPr>
          <a:xfrm>
            <a:off x="311700" y="321371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研究</a:t>
            </a:r>
            <a:r>
              <a:rPr lang="zh-TW"/>
              <a:t>貢獻</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289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文獻探討</a:t>
            </a:r>
            <a:endParaRPr/>
          </a:p>
        </p:txBody>
      </p:sp>
      <p:sp>
        <p:nvSpPr>
          <p:cNvPr id="83" name="Google Shape;8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zh-TW">
                <a:solidFill>
                  <a:schemeClr val="dk1"/>
                </a:solidFill>
              </a:rPr>
              <a:t>溯源圖技術分析</a:t>
            </a:r>
            <a:endParaRPr b="1">
              <a:solidFill>
                <a:schemeClr val="dk1"/>
              </a:solidFill>
            </a:endParaRPr>
          </a:p>
          <a:p>
            <a:pPr indent="-342900" lvl="0" marL="457200" rtl="0" algn="l">
              <a:spcBef>
                <a:spcPts val="0"/>
              </a:spcBef>
              <a:spcAft>
                <a:spcPts val="0"/>
              </a:spcAft>
              <a:buClr>
                <a:schemeClr val="dk1"/>
              </a:buClr>
              <a:buSzPts val="1800"/>
              <a:buChar char="●"/>
            </a:pPr>
            <a:r>
              <a:rPr b="1" lang="zh-TW">
                <a:solidFill>
                  <a:schemeClr val="dk1"/>
                </a:solidFill>
              </a:rPr>
              <a:t>異常偵測技術分析</a:t>
            </a:r>
            <a:endParaRPr b="1">
              <a:solidFill>
                <a:schemeClr val="dk1"/>
              </a:solidFill>
            </a:endParaRPr>
          </a:p>
          <a:p>
            <a:pPr indent="-342900" lvl="1" marL="914400" rtl="0" algn="l">
              <a:spcBef>
                <a:spcPts val="0"/>
              </a:spcBef>
              <a:spcAft>
                <a:spcPts val="0"/>
              </a:spcAft>
              <a:buClr>
                <a:schemeClr val="dk1"/>
              </a:buClr>
              <a:buSzPts val="1800"/>
              <a:buChar char="○"/>
            </a:pPr>
            <a:r>
              <a:rPr lang="zh-TW" sz="1800">
                <a:solidFill>
                  <a:schemeClr val="dk1"/>
                </a:solidFill>
              </a:rPr>
              <a:t>基於專家規則的偵測方法 (</a:t>
            </a:r>
            <a:r>
              <a:rPr i="1" lang="zh-TW">
                <a:solidFill>
                  <a:schemeClr val="dk1"/>
                </a:solidFill>
              </a:rPr>
              <a:t>SLEUTH</a:t>
            </a:r>
            <a:r>
              <a:rPr i="1" lang="zh-TW" sz="1000">
                <a:solidFill>
                  <a:schemeClr val="dk1"/>
                </a:solidFill>
              </a:rPr>
              <a:t>(2017)</a:t>
            </a:r>
            <a:r>
              <a:rPr i="1" lang="zh-TW">
                <a:solidFill>
                  <a:schemeClr val="dk1"/>
                </a:solidFill>
              </a:rPr>
              <a:t>, HOLMES</a:t>
            </a:r>
            <a:r>
              <a:rPr i="1" lang="zh-TW" sz="1000">
                <a:solidFill>
                  <a:schemeClr val="dk1"/>
                </a:solidFill>
              </a:rPr>
              <a:t>(2019)</a:t>
            </a:r>
            <a:r>
              <a:rPr i="1" lang="zh-TW">
                <a:solidFill>
                  <a:schemeClr val="dk1"/>
                </a:solidFill>
              </a:rPr>
              <a:t>, POIROT</a:t>
            </a:r>
            <a:r>
              <a:rPr i="1" lang="zh-TW" sz="1000">
                <a:solidFill>
                  <a:schemeClr val="dk1"/>
                </a:solidFill>
              </a:rPr>
              <a:t>(2019)</a:t>
            </a:r>
            <a:r>
              <a:rPr lang="zh-TW" sz="1800">
                <a:solidFill>
                  <a:schemeClr val="dk1"/>
                </a:solidFill>
              </a:rPr>
              <a:t>)</a:t>
            </a:r>
            <a:endParaRPr sz="1800">
              <a:solidFill>
                <a:schemeClr val="dk1"/>
              </a:solidFill>
            </a:endParaRPr>
          </a:p>
          <a:p>
            <a:pPr indent="-342900" lvl="1" marL="914400" rtl="0" algn="l">
              <a:spcBef>
                <a:spcPts val="0"/>
              </a:spcBef>
              <a:spcAft>
                <a:spcPts val="0"/>
              </a:spcAft>
              <a:buClr>
                <a:schemeClr val="dk1"/>
              </a:buClr>
              <a:buSzPts val="1800"/>
              <a:buChar char="○"/>
            </a:pPr>
            <a:r>
              <a:rPr lang="zh-TW" sz="1800">
                <a:solidFill>
                  <a:schemeClr val="dk1"/>
                </a:solidFill>
              </a:rPr>
              <a:t>基於溯源圖結構的偵測方法(</a:t>
            </a:r>
            <a:r>
              <a:rPr i="1" lang="zh-TW">
                <a:solidFill>
                  <a:schemeClr val="dk1"/>
                </a:solidFill>
              </a:rPr>
              <a:t>StreamSpot</a:t>
            </a:r>
            <a:r>
              <a:rPr i="1" lang="zh-TW" sz="1000">
                <a:solidFill>
                  <a:schemeClr val="dk1"/>
                </a:solidFill>
              </a:rPr>
              <a:t>(2016)</a:t>
            </a:r>
            <a:r>
              <a:rPr i="1" lang="zh-TW">
                <a:solidFill>
                  <a:schemeClr val="dk1"/>
                </a:solidFill>
              </a:rPr>
              <a:t>, UNICORN</a:t>
            </a:r>
            <a:r>
              <a:rPr i="1" lang="zh-TW" sz="1000">
                <a:solidFill>
                  <a:schemeClr val="dk1"/>
                </a:solidFill>
              </a:rPr>
              <a:t>(2020)</a:t>
            </a:r>
            <a:r>
              <a:rPr lang="zh-TW" sz="1800">
                <a:solidFill>
                  <a:schemeClr val="dk1"/>
                </a:solidFill>
              </a:rPr>
              <a:t>)</a:t>
            </a:r>
            <a:endParaRPr sz="1800">
              <a:solidFill>
                <a:schemeClr val="dk1"/>
              </a:solidFill>
            </a:endParaRPr>
          </a:p>
          <a:p>
            <a:pPr indent="-342900" lvl="1" marL="914400" rtl="0" algn="l">
              <a:spcBef>
                <a:spcPts val="0"/>
              </a:spcBef>
              <a:spcAft>
                <a:spcPts val="0"/>
              </a:spcAft>
              <a:buClr>
                <a:schemeClr val="dk1"/>
              </a:buClr>
              <a:buSzPts val="1800"/>
              <a:buChar char="○"/>
            </a:pPr>
            <a:r>
              <a:rPr lang="zh-TW" sz="1800">
                <a:solidFill>
                  <a:schemeClr val="dk1"/>
                </a:solidFill>
              </a:rPr>
              <a:t>基於深度學習結構的偵測方法(</a:t>
            </a:r>
            <a:r>
              <a:rPr i="1" lang="zh-TW">
                <a:solidFill>
                  <a:schemeClr val="dk1"/>
                </a:solidFill>
              </a:rPr>
              <a:t>THREATRACE</a:t>
            </a:r>
            <a:r>
              <a:rPr i="1" lang="zh-TW" sz="1000">
                <a:solidFill>
                  <a:schemeClr val="dk1"/>
                </a:solidFill>
              </a:rPr>
              <a:t>(2022)</a:t>
            </a:r>
            <a:r>
              <a:rPr i="1" lang="zh-TW">
                <a:solidFill>
                  <a:schemeClr val="dk1"/>
                </a:solidFill>
              </a:rPr>
              <a:t>, FLASH</a:t>
            </a:r>
            <a:r>
              <a:rPr i="1" lang="zh-TW" sz="1000">
                <a:solidFill>
                  <a:schemeClr val="dk1"/>
                </a:solidFill>
              </a:rPr>
              <a:t>(2024)</a:t>
            </a:r>
            <a:r>
              <a:rPr i="1" lang="zh-TW">
                <a:solidFill>
                  <a:schemeClr val="dk1"/>
                </a:solidFill>
              </a:rPr>
              <a:t>, MAGIC</a:t>
            </a:r>
            <a:r>
              <a:rPr i="1" lang="zh-TW" sz="1000">
                <a:solidFill>
                  <a:schemeClr val="dk1"/>
                </a:solidFill>
              </a:rPr>
              <a:t>(2024)</a:t>
            </a:r>
            <a:r>
              <a:rPr lang="zh-TW" sz="1800">
                <a:solidFill>
                  <a:schemeClr val="dk1"/>
                </a:solidFill>
              </a:rPr>
              <a:t>)</a:t>
            </a:r>
            <a:endParaRPr sz="1800">
              <a:solidFill>
                <a:schemeClr val="dk1"/>
              </a:solidFill>
            </a:endParaRPr>
          </a:p>
          <a:p>
            <a:pPr indent="-342900" lvl="0" marL="457200" rtl="0" algn="l">
              <a:spcBef>
                <a:spcPts val="0"/>
              </a:spcBef>
              <a:spcAft>
                <a:spcPts val="0"/>
              </a:spcAft>
              <a:buClr>
                <a:schemeClr val="dk1"/>
              </a:buClr>
              <a:buSzPts val="1800"/>
              <a:buChar char="●"/>
            </a:pPr>
            <a:r>
              <a:rPr b="1" lang="zh-TW">
                <a:solidFill>
                  <a:schemeClr val="dk1"/>
                </a:solidFill>
              </a:rPr>
              <a:t>攻擊偵測技術分析</a:t>
            </a:r>
            <a:r>
              <a:rPr lang="zh-TW">
                <a:solidFill>
                  <a:schemeClr val="dk1"/>
                </a:solidFill>
              </a:rPr>
              <a:t>(</a:t>
            </a:r>
            <a:r>
              <a:rPr i="1" lang="zh-TW" sz="1400">
                <a:solidFill>
                  <a:schemeClr val="dk1"/>
                </a:solidFill>
              </a:rPr>
              <a:t>AIRTAG</a:t>
            </a:r>
            <a:r>
              <a:rPr i="1" lang="zh-TW" sz="1000">
                <a:solidFill>
                  <a:schemeClr val="dk1"/>
                </a:solidFill>
              </a:rPr>
              <a:t>(2023)</a:t>
            </a:r>
            <a:r>
              <a:rPr i="1" lang="zh-TW" sz="1400">
                <a:solidFill>
                  <a:schemeClr val="dk1"/>
                </a:solidFill>
              </a:rPr>
              <a:t>,KAIROS</a:t>
            </a:r>
            <a:r>
              <a:rPr i="1" lang="zh-TW" sz="1000">
                <a:solidFill>
                  <a:schemeClr val="dk1"/>
                </a:solidFill>
              </a:rPr>
              <a:t>(2024)</a:t>
            </a:r>
            <a:r>
              <a:rPr i="1" lang="zh-TW" sz="1400">
                <a:solidFill>
                  <a:schemeClr val="dk1"/>
                </a:solidFill>
              </a:rPr>
              <a:t>,TREC</a:t>
            </a:r>
            <a:r>
              <a:rPr i="1" lang="zh-TW" sz="1000">
                <a:solidFill>
                  <a:schemeClr val="dk1"/>
                </a:solidFill>
              </a:rPr>
              <a:t>(2024),</a:t>
            </a:r>
            <a:r>
              <a:rPr i="1" lang="zh-TW" sz="1400">
                <a:solidFill>
                  <a:schemeClr val="dk1"/>
                </a:solidFill>
              </a:rPr>
              <a:t>SLOT</a:t>
            </a:r>
            <a:r>
              <a:rPr i="1" lang="zh-TW" sz="1000">
                <a:solidFill>
                  <a:schemeClr val="dk1"/>
                </a:solidFill>
              </a:rPr>
              <a:t>(2025)</a:t>
            </a:r>
            <a:r>
              <a:rPr i="1" lang="zh-TW" sz="1400">
                <a:solidFill>
                  <a:schemeClr val="dk1"/>
                </a:solidFill>
              </a:rPr>
              <a:t>,ZOOMER</a:t>
            </a:r>
            <a:r>
              <a:rPr i="1" lang="zh-TW" sz="1000">
                <a:solidFill>
                  <a:schemeClr val="dk1"/>
                </a:solidFill>
              </a:rPr>
              <a:t>(2025)</a:t>
            </a:r>
            <a:r>
              <a:rPr lang="zh-TW">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b="1" lang="zh-TW">
                <a:solidFill>
                  <a:schemeClr val="dk1"/>
                </a:solidFill>
              </a:rPr>
              <a:t>資安日誌與指令嵌入模型之演進與分析</a:t>
            </a:r>
            <a:r>
              <a:rPr lang="zh-TW">
                <a:solidFill>
                  <a:schemeClr val="dk1"/>
                </a:solidFill>
              </a:rPr>
              <a:t>(</a:t>
            </a:r>
            <a:r>
              <a:rPr i="1" lang="zh-TW" sz="1400">
                <a:solidFill>
                  <a:schemeClr val="dk1"/>
                </a:solidFill>
              </a:rPr>
              <a:t>Log2Vec</a:t>
            </a:r>
            <a:r>
              <a:rPr i="1" lang="zh-TW" sz="1000">
                <a:solidFill>
                  <a:schemeClr val="dk1"/>
                </a:solidFill>
              </a:rPr>
              <a:t>(2019)</a:t>
            </a:r>
            <a:r>
              <a:rPr i="1" lang="zh-TW" sz="1400">
                <a:solidFill>
                  <a:schemeClr val="dk1"/>
                </a:solidFill>
              </a:rPr>
              <a:t>,LogBERT</a:t>
            </a:r>
            <a:r>
              <a:rPr i="1" lang="zh-TW" sz="1000">
                <a:solidFill>
                  <a:schemeClr val="dk1"/>
                </a:solidFill>
              </a:rPr>
              <a:t>(2021)</a:t>
            </a:r>
            <a:r>
              <a:rPr i="1" lang="zh-TW" sz="1400">
                <a:solidFill>
                  <a:schemeClr val="dk1"/>
                </a:solidFill>
              </a:rPr>
              <a:t>,CmdCaliper</a:t>
            </a:r>
            <a:r>
              <a:rPr i="1" lang="zh-TW" sz="1000">
                <a:solidFill>
                  <a:schemeClr val="dk1"/>
                </a:solidFill>
              </a:rPr>
              <a:t>(2024)</a:t>
            </a:r>
            <a:r>
              <a:rPr i="1" lang="zh-TW" sz="1400">
                <a:solidFill>
                  <a:schemeClr val="dk1"/>
                </a:solidFill>
              </a:rPr>
              <a:t>,SecureBert2.0</a:t>
            </a:r>
            <a:r>
              <a:rPr i="1" lang="zh-TW" sz="1000">
                <a:solidFill>
                  <a:schemeClr val="dk1"/>
                </a:solidFill>
              </a:rPr>
              <a:t>(2025)</a:t>
            </a:r>
            <a:r>
              <a:rPr lang="zh-TW">
                <a:solidFill>
                  <a:schemeClr val="dk1"/>
                </a:solidFill>
              </a:rPr>
              <a:t>)</a:t>
            </a:r>
            <a:endParaRPr>
              <a:solidFill>
                <a:schemeClr val="dk1"/>
              </a:solidFill>
            </a:endParaRPr>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21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文獻探討 - </a:t>
            </a:r>
            <a:r>
              <a:rPr lang="zh-TW"/>
              <a:t>TREC</a:t>
            </a:r>
            <a:endParaRPr/>
          </a:p>
        </p:txBody>
      </p:sp>
      <p:sp>
        <p:nvSpPr>
          <p:cNvPr id="90" name="Google Shape;9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91" name="Google Shape;91;p17"/>
          <p:cNvSpPr txBox="1"/>
          <p:nvPr/>
        </p:nvSpPr>
        <p:spPr>
          <a:xfrm>
            <a:off x="190300" y="614845"/>
            <a:ext cx="3960000" cy="3990900"/>
          </a:xfrm>
          <a:prstGeom prst="rect">
            <a:avLst/>
          </a:prstGeom>
          <a:noFill/>
          <a:ln>
            <a:noFill/>
          </a:ln>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Clr>
                <a:srgbClr val="000000"/>
              </a:buClr>
              <a:buSzPct val="100000"/>
              <a:buChar char="●"/>
            </a:pPr>
            <a:r>
              <a:rPr lang="zh-TW" sz="1800">
                <a:solidFill>
                  <a:srgbClr val="000000"/>
                </a:solidFill>
              </a:rPr>
              <a:t>The provenance graph construction module</a:t>
            </a:r>
            <a:endParaRPr sz="1800">
              <a:solidFill>
                <a:srgbClr val="000000"/>
              </a:solidFill>
            </a:endParaRPr>
          </a:p>
          <a:p>
            <a:pPr indent="-304165" lvl="1" marL="914400" rtl="0" algn="l">
              <a:lnSpc>
                <a:spcPct val="115000"/>
              </a:lnSpc>
              <a:spcBef>
                <a:spcPts val="0"/>
              </a:spcBef>
              <a:spcAft>
                <a:spcPts val="0"/>
              </a:spcAft>
              <a:buClr>
                <a:srgbClr val="000000"/>
              </a:buClr>
              <a:buSzPct val="100000"/>
              <a:buChar char="○"/>
            </a:pPr>
            <a:r>
              <a:rPr lang="zh-TW">
                <a:solidFill>
                  <a:srgbClr val="000000"/>
                </a:solidFill>
              </a:rPr>
              <a:t>持續收集底層的系統核心事件，並將這些事件編排建構成一張完整的Provenance Graph</a:t>
            </a:r>
            <a:endParaRPr>
              <a:solidFill>
                <a:srgbClr val="000000"/>
              </a:solidFill>
            </a:endParaRPr>
          </a:p>
          <a:p>
            <a:pPr indent="-325755" lvl="0" marL="457200" rtl="0" algn="l">
              <a:lnSpc>
                <a:spcPct val="115000"/>
              </a:lnSpc>
              <a:spcBef>
                <a:spcPts val="0"/>
              </a:spcBef>
              <a:spcAft>
                <a:spcPts val="0"/>
              </a:spcAft>
              <a:buClr>
                <a:srgbClr val="000000"/>
              </a:buClr>
              <a:buSzPct val="100000"/>
              <a:buChar char="●"/>
            </a:pPr>
            <a:r>
              <a:rPr lang="zh-TW" sz="1800">
                <a:solidFill>
                  <a:srgbClr val="000000"/>
                </a:solidFill>
              </a:rPr>
              <a:t>The NOI detection and sub-graph sampling module</a:t>
            </a:r>
            <a:endParaRPr sz="1800">
              <a:solidFill>
                <a:srgbClr val="000000"/>
              </a:solidFill>
            </a:endParaRPr>
          </a:p>
          <a:p>
            <a:pPr indent="-304165" lvl="1" marL="914400" rtl="0" algn="l">
              <a:lnSpc>
                <a:spcPct val="115000"/>
              </a:lnSpc>
              <a:spcBef>
                <a:spcPts val="0"/>
              </a:spcBef>
              <a:spcAft>
                <a:spcPts val="0"/>
              </a:spcAft>
              <a:buClr>
                <a:srgbClr val="000000"/>
              </a:buClr>
              <a:buSzPct val="100000"/>
              <a:buChar char="○"/>
            </a:pPr>
            <a:r>
              <a:rPr lang="zh-TW">
                <a:solidFill>
                  <a:srgbClr val="000000"/>
                </a:solidFill>
              </a:rPr>
              <a:t>套用異常偵測模型，在無監督的情況下，找出圖中潛在的惡意節點然後套用「子圖採樣演算法 (Subgraph sampling algorithm)」</a:t>
            </a:r>
            <a:endParaRPr>
              <a:solidFill>
                <a:srgbClr val="000000"/>
              </a:solidFill>
            </a:endParaRPr>
          </a:p>
          <a:p>
            <a:pPr indent="-325755" lvl="0" marL="457200" rtl="0" algn="l">
              <a:lnSpc>
                <a:spcPct val="115000"/>
              </a:lnSpc>
              <a:spcBef>
                <a:spcPts val="0"/>
              </a:spcBef>
              <a:spcAft>
                <a:spcPts val="0"/>
              </a:spcAft>
              <a:buClr>
                <a:srgbClr val="000000"/>
              </a:buClr>
              <a:buSzPct val="100000"/>
              <a:buChar char="●"/>
            </a:pPr>
            <a:r>
              <a:rPr lang="zh-TW" sz="1800">
                <a:solidFill>
                  <a:srgbClr val="000000"/>
                </a:solidFill>
              </a:rPr>
              <a:t>The technique subgraph representation module</a:t>
            </a:r>
            <a:endParaRPr sz="1800">
              <a:solidFill>
                <a:srgbClr val="000000"/>
              </a:solidFill>
            </a:endParaRPr>
          </a:p>
          <a:p>
            <a:pPr indent="-304165" lvl="1" marL="914400" rtl="0" algn="l">
              <a:lnSpc>
                <a:spcPct val="115000"/>
              </a:lnSpc>
              <a:spcBef>
                <a:spcPts val="0"/>
              </a:spcBef>
              <a:spcAft>
                <a:spcPts val="0"/>
              </a:spcAft>
              <a:buClr>
                <a:srgbClr val="000000"/>
              </a:buClr>
              <a:buSzPct val="100000"/>
              <a:buChar char="○"/>
            </a:pPr>
            <a:r>
              <a:rPr lang="zh-TW">
                <a:solidFill>
                  <a:srgbClr val="000000"/>
                </a:solidFill>
              </a:rPr>
              <a:t>運用「異質圖嵌入技術 (Heterogeneous graph embedding)」，將剛切出來的技術子圖（TSG）編碼轉換成一段特徵向量 。</a:t>
            </a:r>
            <a:endParaRPr>
              <a:solidFill>
                <a:srgbClr val="000000"/>
              </a:solidFill>
            </a:endParaRPr>
          </a:p>
          <a:p>
            <a:pPr indent="-325755" lvl="0" marL="457200" rtl="0" algn="l">
              <a:lnSpc>
                <a:spcPct val="115000"/>
              </a:lnSpc>
              <a:spcBef>
                <a:spcPts val="0"/>
              </a:spcBef>
              <a:spcAft>
                <a:spcPts val="0"/>
              </a:spcAft>
              <a:buClr>
                <a:srgbClr val="000000"/>
              </a:buClr>
              <a:buSzPct val="100000"/>
              <a:buChar char="●"/>
            </a:pPr>
            <a:r>
              <a:rPr lang="zh-TW" sz="1800">
                <a:solidFill>
                  <a:srgbClr val="000000"/>
                </a:solidFill>
              </a:rPr>
              <a:t>The APT technique recognition module</a:t>
            </a:r>
            <a:endParaRPr sz="1800">
              <a:solidFill>
                <a:srgbClr val="000000"/>
              </a:solidFill>
            </a:endParaRPr>
          </a:p>
          <a:p>
            <a:pPr indent="-304165" lvl="1" marL="914400" rtl="0" algn="l">
              <a:lnSpc>
                <a:spcPct val="115000"/>
              </a:lnSpc>
              <a:spcBef>
                <a:spcPts val="0"/>
              </a:spcBef>
              <a:spcAft>
                <a:spcPts val="0"/>
              </a:spcAft>
              <a:buClr>
                <a:srgbClr val="000000"/>
              </a:buClr>
              <a:buSzPct val="100000"/>
              <a:buChar char="○"/>
            </a:pPr>
            <a:r>
              <a:rPr lang="zh-TW">
                <a:solidFill>
                  <a:srgbClr val="000000"/>
                </a:solidFill>
              </a:rPr>
              <a:t>判斷該技術子圖屬於哪一種 APT 技術 。</a:t>
            </a:r>
            <a:endParaRPr>
              <a:solidFill>
                <a:srgbClr val="000000"/>
              </a:solidFill>
            </a:endParaRPr>
          </a:p>
        </p:txBody>
      </p:sp>
      <p:pic>
        <p:nvPicPr>
          <p:cNvPr id="92" name="Google Shape;92;p17"/>
          <p:cNvPicPr preferRelativeResize="0"/>
          <p:nvPr/>
        </p:nvPicPr>
        <p:blipFill>
          <a:blip r:embed="rId3">
            <a:alphaModFix/>
          </a:blip>
          <a:stretch>
            <a:fillRect/>
          </a:stretch>
        </p:blipFill>
        <p:spPr>
          <a:xfrm>
            <a:off x="4294250" y="755745"/>
            <a:ext cx="4659451" cy="3346376"/>
          </a:xfrm>
          <a:prstGeom prst="rect">
            <a:avLst/>
          </a:prstGeom>
          <a:noFill/>
          <a:ln cap="flat" cmpd="sng" w="9525">
            <a:solidFill>
              <a:srgbClr val="595959"/>
            </a:solidFill>
            <a:prstDash val="solid"/>
            <a:round/>
            <a:headEnd len="sm" w="sm" type="none"/>
            <a:tailEnd len="sm" w="sm" type="none"/>
          </a:ln>
        </p:spPr>
      </p:pic>
      <p:sp>
        <p:nvSpPr>
          <p:cNvPr id="93" name="Google Shape;93;p17"/>
          <p:cNvSpPr txBox="1"/>
          <p:nvPr/>
        </p:nvSpPr>
        <p:spPr>
          <a:xfrm>
            <a:off x="0" y="4502722"/>
            <a:ext cx="9144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t>M. Lv, H. Gao, X. Qiu, </a:t>
            </a:r>
            <a:r>
              <a:rPr lang="zh-TW" sz="1200">
                <a:highlight>
                  <a:srgbClr val="FFFF00"/>
                </a:highlight>
              </a:rPr>
              <a:t>T. Chen</a:t>
            </a:r>
            <a:r>
              <a:rPr lang="zh-TW" sz="1200"/>
              <a:t>, T. Zhu, and J. Chen, “TREC: Apt tactic / technique recognition via few-shot provenance subgraph learning,” in Proceedings of the 2024 ACM SIGSAC Conference on Computer and Communications Security (CCS), 2024.</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21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文獻探討 - </a:t>
            </a:r>
            <a:r>
              <a:rPr lang="zh-TW"/>
              <a:t>Zoomer</a:t>
            </a:r>
            <a:endParaRPr/>
          </a:p>
        </p:txBody>
      </p:sp>
      <p:sp>
        <p:nvSpPr>
          <p:cNvPr id="99" name="Google Shape;9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00" name="Google Shape;100;p18"/>
          <p:cNvPicPr preferRelativeResize="0"/>
          <p:nvPr/>
        </p:nvPicPr>
        <p:blipFill>
          <a:blip r:embed="rId3">
            <a:alphaModFix/>
          </a:blip>
          <a:stretch>
            <a:fillRect/>
          </a:stretch>
        </p:blipFill>
        <p:spPr>
          <a:xfrm>
            <a:off x="800337" y="901812"/>
            <a:ext cx="7543326" cy="3339875"/>
          </a:xfrm>
          <a:prstGeom prst="rect">
            <a:avLst/>
          </a:prstGeom>
          <a:noFill/>
          <a:ln cap="flat" cmpd="sng" w="9525">
            <a:solidFill>
              <a:srgbClr val="595959"/>
            </a:solidFill>
            <a:prstDash val="solid"/>
            <a:round/>
            <a:headEnd len="sm" w="sm" type="none"/>
            <a:tailEnd len="sm" w="sm" type="none"/>
          </a:ln>
        </p:spPr>
      </p:pic>
      <p:sp>
        <p:nvSpPr>
          <p:cNvPr id="101" name="Google Shape;101;p18"/>
          <p:cNvSpPr/>
          <p:nvPr/>
        </p:nvSpPr>
        <p:spPr>
          <a:xfrm>
            <a:off x="2595311" y="1239436"/>
            <a:ext cx="1719000" cy="105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8"/>
          <p:cNvSpPr txBox="1"/>
          <p:nvPr/>
        </p:nvSpPr>
        <p:spPr>
          <a:xfrm>
            <a:off x="0" y="4441225"/>
            <a:ext cx="914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X. Qiu, M. Lv, </a:t>
            </a:r>
            <a:r>
              <a:rPr lang="zh-TW">
                <a:highlight>
                  <a:schemeClr val="accent6"/>
                </a:highlight>
              </a:rPr>
              <a:t>T. Chen</a:t>
            </a:r>
            <a:r>
              <a:rPr lang="zh-TW"/>
              <a:t>, T. Zhu, Q. Song, and Z. Zhu, “ZOOMER: An apt ttp recognition system via deep &amp; wide provenance graph learning,” IEEE Transactions on Dependable and Secure Computing, 2025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文獻探討 - </a:t>
            </a:r>
            <a:r>
              <a:rPr lang="zh-TW"/>
              <a:t>SFM</a:t>
            </a:r>
            <a:endParaRPr/>
          </a:p>
        </p:txBody>
      </p:sp>
      <p:sp>
        <p:nvSpPr>
          <p:cNvPr id="108" name="Google Shape;108;p19"/>
          <p:cNvSpPr txBox="1"/>
          <p:nvPr>
            <p:ph idx="1" type="body"/>
          </p:nvPr>
        </p:nvSpPr>
        <p:spPr>
          <a:xfrm>
            <a:off x="311700" y="2314961"/>
            <a:ext cx="8520600" cy="2049300"/>
          </a:xfrm>
          <a:prstGeom prst="rect">
            <a:avLst/>
          </a:prstGeom>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chemeClr val="dk1"/>
              </a:buClr>
              <a:buSzPts val="1600"/>
              <a:buChar char="●"/>
            </a:pPr>
            <a:r>
              <a:rPr lang="zh-TW" sz="1600">
                <a:solidFill>
                  <a:schemeClr val="dk1"/>
                </a:solidFill>
              </a:rPr>
              <a:t>解決資料不平衡與映射技術：透過異常偵測過濾掉大量的正常事件來克服資料不平衡的挑戰，並將找出的可疑行為映射至 MITRE ATT&amp;CK 框架以精準識別攻擊模式。</a:t>
            </a:r>
            <a:br>
              <a:rPr lang="zh-TW"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zh-TW" sz="1600">
                <a:solidFill>
                  <a:schemeClr val="dk1"/>
                </a:solidFill>
              </a:rPr>
              <a:t> 圖形編輯距離 (GED) 攻擊歸因：透過計算圖形編輯距離，系統能將捕捉到的攻擊行為與已知的 APT 活動圖形進行相似度比對，進而準確地辨識並歸因出威脅來源。 </a:t>
            </a:r>
            <a:endParaRPr sz="1600">
              <a:solidFill>
                <a:schemeClr val="dk1"/>
              </a:solidFill>
            </a:endParaRPr>
          </a:p>
        </p:txBody>
      </p:sp>
      <p:sp>
        <p:nvSpPr>
          <p:cNvPr id="109" name="Google Shape;10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110" name="Google Shape;110;p19"/>
          <p:cNvSpPr/>
          <p:nvPr/>
        </p:nvSpPr>
        <p:spPr>
          <a:xfrm>
            <a:off x="1977725" y="1204425"/>
            <a:ext cx="1325100" cy="458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Event Embedding</a:t>
            </a:r>
            <a:endParaRPr/>
          </a:p>
        </p:txBody>
      </p:sp>
      <p:sp>
        <p:nvSpPr>
          <p:cNvPr id="111" name="Google Shape;111;p19"/>
          <p:cNvSpPr/>
          <p:nvPr/>
        </p:nvSpPr>
        <p:spPr>
          <a:xfrm>
            <a:off x="423723" y="1204425"/>
            <a:ext cx="1195800" cy="45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Event Logs</a:t>
            </a:r>
            <a:endParaRPr/>
          </a:p>
        </p:txBody>
      </p:sp>
      <p:cxnSp>
        <p:nvCxnSpPr>
          <p:cNvPr id="112" name="Google Shape;112;p19"/>
          <p:cNvCxnSpPr>
            <a:stCxn id="111" idx="3"/>
            <a:endCxn id="110" idx="1"/>
          </p:cNvCxnSpPr>
          <p:nvPr/>
        </p:nvCxnSpPr>
        <p:spPr>
          <a:xfrm>
            <a:off x="1619523" y="1433475"/>
            <a:ext cx="358200" cy="0"/>
          </a:xfrm>
          <a:prstGeom prst="straightConnector1">
            <a:avLst/>
          </a:prstGeom>
          <a:noFill/>
          <a:ln cap="flat" cmpd="sng" w="9525">
            <a:solidFill>
              <a:schemeClr val="dk2"/>
            </a:solidFill>
            <a:prstDash val="solid"/>
            <a:round/>
            <a:headEnd len="med" w="med" type="none"/>
            <a:tailEnd len="med" w="med" type="triangle"/>
          </a:ln>
        </p:spPr>
      </p:cxnSp>
      <p:sp>
        <p:nvSpPr>
          <p:cNvPr id="113" name="Google Shape;113;p19"/>
          <p:cNvSpPr/>
          <p:nvPr/>
        </p:nvSpPr>
        <p:spPr>
          <a:xfrm>
            <a:off x="3661025" y="1204425"/>
            <a:ext cx="1195800" cy="458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Anomaly Detection</a:t>
            </a:r>
            <a:endParaRPr/>
          </a:p>
        </p:txBody>
      </p:sp>
      <p:cxnSp>
        <p:nvCxnSpPr>
          <p:cNvPr id="114" name="Google Shape;114;p19"/>
          <p:cNvCxnSpPr>
            <a:stCxn id="110" idx="3"/>
            <a:endCxn id="113" idx="1"/>
          </p:cNvCxnSpPr>
          <p:nvPr/>
        </p:nvCxnSpPr>
        <p:spPr>
          <a:xfrm>
            <a:off x="3302825" y="1433475"/>
            <a:ext cx="358200" cy="0"/>
          </a:xfrm>
          <a:prstGeom prst="straightConnector1">
            <a:avLst/>
          </a:prstGeom>
          <a:noFill/>
          <a:ln cap="flat" cmpd="sng" w="9525">
            <a:solidFill>
              <a:schemeClr val="dk2"/>
            </a:solidFill>
            <a:prstDash val="solid"/>
            <a:round/>
            <a:headEnd len="med" w="med" type="none"/>
            <a:tailEnd len="med" w="med" type="triangle"/>
          </a:ln>
        </p:spPr>
      </p:cxnSp>
      <p:sp>
        <p:nvSpPr>
          <p:cNvPr id="115" name="Google Shape;115;p19"/>
          <p:cNvSpPr/>
          <p:nvPr/>
        </p:nvSpPr>
        <p:spPr>
          <a:xfrm>
            <a:off x="5215025" y="1204425"/>
            <a:ext cx="1114200" cy="458100"/>
          </a:xfrm>
          <a:prstGeom prst="rect">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TTP detection</a:t>
            </a:r>
            <a:endParaRPr/>
          </a:p>
        </p:txBody>
      </p:sp>
      <p:cxnSp>
        <p:nvCxnSpPr>
          <p:cNvPr id="116" name="Google Shape;116;p19"/>
          <p:cNvCxnSpPr>
            <a:stCxn id="113" idx="3"/>
            <a:endCxn id="115" idx="1"/>
          </p:cNvCxnSpPr>
          <p:nvPr/>
        </p:nvCxnSpPr>
        <p:spPr>
          <a:xfrm>
            <a:off x="4856825" y="1433475"/>
            <a:ext cx="358200" cy="0"/>
          </a:xfrm>
          <a:prstGeom prst="straightConnector1">
            <a:avLst/>
          </a:prstGeom>
          <a:noFill/>
          <a:ln cap="flat" cmpd="sng" w="9525">
            <a:solidFill>
              <a:schemeClr val="dk2"/>
            </a:solidFill>
            <a:prstDash val="solid"/>
            <a:round/>
            <a:headEnd len="med" w="med" type="none"/>
            <a:tailEnd len="med" w="med" type="triangle"/>
          </a:ln>
        </p:spPr>
      </p:cxnSp>
      <p:cxnSp>
        <p:nvCxnSpPr>
          <p:cNvPr id="117" name="Google Shape;117;p19"/>
          <p:cNvCxnSpPr>
            <a:stCxn id="115" idx="3"/>
            <a:endCxn id="118" idx="1"/>
          </p:cNvCxnSpPr>
          <p:nvPr/>
        </p:nvCxnSpPr>
        <p:spPr>
          <a:xfrm>
            <a:off x="6329225" y="1433475"/>
            <a:ext cx="439800" cy="0"/>
          </a:xfrm>
          <a:prstGeom prst="straightConnector1">
            <a:avLst/>
          </a:prstGeom>
          <a:noFill/>
          <a:ln cap="flat" cmpd="sng" w="9525">
            <a:solidFill>
              <a:schemeClr val="dk2"/>
            </a:solidFill>
            <a:prstDash val="solid"/>
            <a:round/>
            <a:headEnd len="med" w="med" type="none"/>
            <a:tailEnd len="med" w="med" type="triangle"/>
          </a:ln>
        </p:spPr>
      </p:cxnSp>
      <p:sp>
        <p:nvSpPr>
          <p:cNvPr id="118" name="Google Shape;118;p19"/>
          <p:cNvSpPr/>
          <p:nvPr/>
        </p:nvSpPr>
        <p:spPr>
          <a:xfrm>
            <a:off x="6769025" y="1147125"/>
            <a:ext cx="1465200" cy="5727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APT Capaign Matching</a:t>
            </a:r>
            <a:endParaRPr/>
          </a:p>
        </p:txBody>
      </p:sp>
      <p:sp>
        <p:nvSpPr>
          <p:cNvPr id="119" name="Google Shape;119;p19"/>
          <p:cNvSpPr txBox="1"/>
          <p:nvPr/>
        </p:nvSpPr>
        <p:spPr>
          <a:xfrm>
            <a:off x="1066025" y="1849213"/>
            <a:ext cx="1465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600">
                <a:solidFill>
                  <a:schemeClr val="dk1"/>
                </a:solidFill>
              </a:rPr>
              <a:t>SecureBert</a:t>
            </a:r>
            <a:endParaRPr sz="1600"/>
          </a:p>
        </p:txBody>
      </p:sp>
      <p:sp>
        <p:nvSpPr>
          <p:cNvPr id="120" name="Google Shape;120;p19"/>
          <p:cNvSpPr txBox="1"/>
          <p:nvPr/>
        </p:nvSpPr>
        <p:spPr>
          <a:xfrm>
            <a:off x="3596375" y="1849213"/>
            <a:ext cx="1325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600">
                <a:solidFill>
                  <a:schemeClr val="dk1"/>
                </a:solidFill>
              </a:rPr>
              <a:t>rbf OCSVM</a:t>
            </a:r>
            <a:endParaRPr sz="1600"/>
          </a:p>
        </p:txBody>
      </p:sp>
      <p:sp>
        <p:nvSpPr>
          <p:cNvPr id="121" name="Google Shape;121;p19"/>
          <p:cNvSpPr txBox="1"/>
          <p:nvPr/>
        </p:nvSpPr>
        <p:spPr>
          <a:xfrm>
            <a:off x="5109575" y="1849225"/>
            <a:ext cx="1325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600">
                <a:solidFill>
                  <a:schemeClr val="dk1"/>
                </a:solidFill>
              </a:rPr>
              <a:t>BiGRU</a:t>
            </a:r>
            <a:endParaRPr sz="1600"/>
          </a:p>
        </p:txBody>
      </p:sp>
      <p:sp>
        <p:nvSpPr>
          <p:cNvPr id="122" name="Google Shape;122;p19"/>
          <p:cNvSpPr txBox="1"/>
          <p:nvPr/>
        </p:nvSpPr>
        <p:spPr>
          <a:xfrm>
            <a:off x="6456575" y="1849213"/>
            <a:ext cx="2090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600"/>
              <a:t>Graph Edit Distance</a:t>
            </a:r>
            <a:endParaRPr sz="1600"/>
          </a:p>
        </p:txBody>
      </p:sp>
      <p:sp>
        <p:nvSpPr>
          <p:cNvPr id="123" name="Google Shape;123;p19"/>
          <p:cNvSpPr txBox="1"/>
          <p:nvPr/>
        </p:nvSpPr>
        <p:spPr>
          <a:xfrm>
            <a:off x="0" y="4329518"/>
            <a:ext cx="914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Y.-T. Huang, Y.-R. Guo, G.-W. Wong, and M. C. Chen, “A cascade approach for apt campaign attribution in system event logs: Technique hunting and subgraph matching,” in 2024 IEEE International Conference on Communications (ICC), 2024.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169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文獻探討 - </a:t>
            </a:r>
            <a:r>
              <a:rPr lang="zh-TW"/>
              <a:t>SecureBert2.0</a:t>
            </a:r>
            <a:endParaRPr/>
          </a:p>
        </p:txBody>
      </p:sp>
      <p:sp>
        <p:nvSpPr>
          <p:cNvPr id="129" name="Google Shape;129;p20"/>
          <p:cNvSpPr txBox="1"/>
          <p:nvPr>
            <p:ph idx="1" type="body"/>
          </p:nvPr>
        </p:nvSpPr>
        <p:spPr>
          <a:xfrm>
            <a:off x="125400" y="742550"/>
            <a:ext cx="8893200" cy="175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TW" sz="1600">
                <a:solidFill>
                  <a:schemeClr val="dk1"/>
                </a:solidFill>
              </a:rPr>
              <a:t>架構升級</a:t>
            </a:r>
            <a:r>
              <a:rPr lang="zh-TW" sz="1600">
                <a:solidFill>
                  <a:schemeClr val="dk1"/>
                </a:solidFill>
              </a:rPr>
              <a:t>：基於 ModernBERT（Encoder-only），具備長文本處理與階層式處理程式碼的能力。</a:t>
            </a:r>
            <a:endParaRPr sz="1600">
              <a:solidFill>
                <a:schemeClr val="dk1"/>
              </a:solidFill>
            </a:endParaRPr>
          </a:p>
          <a:p>
            <a:pPr indent="0" lvl="0" marL="0" rtl="0" algn="l">
              <a:spcBef>
                <a:spcPts val="1200"/>
              </a:spcBef>
              <a:spcAft>
                <a:spcPts val="0"/>
              </a:spcAft>
              <a:buClr>
                <a:schemeClr val="dk1"/>
              </a:buClr>
              <a:buSzPts val="1100"/>
              <a:buFont typeface="Arial"/>
              <a:buNone/>
            </a:pPr>
            <a:r>
              <a:rPr b="1" lang="zh-TW" sz="1600">
                <a:solidFill>
                  <a:schemeClr val="dk1"/>
                </a:solidFill>
              </a:rPr>
              <a:t>訓練資料</a:t>
            </a:r>
            <a:r>
              <a:rPr lang="zh-TW" sz="1600">
                <a:solidFill>
                  <a:schemeClr val="dk1"/>
                </a:solidFill>
              </a:rPr>
              <a:t>：結合 136 億文字標記與 5,300 萬程式碼標記，具備雙模態理解力。</a:t>
            </a:r>
            <a:endParaRPr sz="1600">
              <a:solidFill>
                <a:schemeClr val="dk1"/>
              </a:solidFill>
            </a:endParaRPr>
          </a:p>
          <a:p>
            <a:pPr indent="0" lvl="0" marL="0" rtl="0" algn="l">
              <a:spcBef>
                <a:spcPts val="1200"/>
              </a:spcBef>
              <a:spcAft>
                <a:spcPts val="0"/>
              </a:spcAft>
              <a:buNone/>
            </a:pPr>
            <a:r>
              <a:rPr b="1" lang="zh-TW" sz="1600">
                <a:solidFill>
                  <a:schemeClr val="dk1"/>
                </a:solidFill>
              </a:rPr>
              <a:t>訓練策略</a:t>
            </a:r>
            <a:r>
              <a:rPr lang="zh-TW" sz="1600">
                <a:solidFill>
                  <a:schemeClr val="dk1"/>
                </a:solidFill>
              </a:rPr>
              <a:t>：採用遮蔽語言模型 (MLM)，特別針對資安專用名詞與程式碼進行訓練。</a:t>
            </a:r>
            <a:endParaRPr sz="1600">
              <a:solidFill>
                <a:schemeClr val="dk1"/>
              </a:solidFill>
            </a:endParaRPr>
          </a:p>
          <a:p>
            <a:pPr indent="0" lvl="0" marL="0" rtl="0" algn="l">
              <a:spcBef>
                <a:spcPts val="1200"/>
              </a:spcBef>
              <a:spcAft>
                <a:spcPts val="1200"/>
              </a:spcAft>
              <a:buNone/>
            </a:pPr>
            <a:r>
              <a:rPr b="1" lang="zh-TW" sz="1600">
                <a:solidFill>
                  <a:schemeClr val="dk1"/>
                </a:solidFill>
              </a:rPr>
              <a:t>Benchmark : </a:t>
            </a:r>
            <a:r>
              <a:rPr lang="zh-TW" sz="1600">
                <a:solidFill>
                  <a:schemeClr val="dk1"/>
                </a:solidFill>
              </a:rPr>
              <a:t>Attack BERT, all-MiniLM-L6-v2, 以及其他hugging face的優良模型</a:t>
            </a:r>
            <a:endParaRPr sz="1600">
              <a:solidFill>
                <a:schemeClr val="dk1"/>
              </a:solidFill>
            </a:endParaRPr>
          </a:p>
        </p:txBody>
      </p:sp>
      <p:sp>
        <p:nvSpPr>
          <p:cNvPr id="130" name="Google Shape;13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31" name="Google Shape;131;p20"/>
          <p:cNvPicPr preferRelativeResize="0"/>
          <p:nvPr/>
        </p:nvPicPr>
        <p:blipFill>
          <a:blip r:embed="rId3">
            <a:alphaModFix/>
          </a:blip>
          <a:stretch>
            <a:fillRect/>
          </a:stretch>
        </p:blipFill>
        <p:spPr>
          <a:xfrm>
            <a:off x="828675" y="2501300"/>
            <a:ext cx="7486650" cy="1857375"/>
          </a:xfrm>
          <a:prstGeom prst="rect">
            <a:avLst/>
          </a:prstGeom>
          <a:noFill/>
          <a:ln cap="flat" cmpd="sng" w="9525">
            <a:solidFill>
              <a:schemeClr val="dk2"/>
            </a:solidFill>
            <a:prstDash val="solid"/>
            <a:round/>
            <a:headEnd len="sm" w="sm" type="none"/>
            <a:tailEnd len="sm" w="sm" type="none"/>
          </a:ln>
        </p:spPr>
      </p:pic>
      <p:sp>
        <p:nvSpPr>
          <p:cNvPr id="132" name="Google Shape;132;p20"/>
          <p:cNvSpPr txBox="1"/>
          <p:nvPr/>
        </p:nvSpPr>
        <p:spPr>
          <a:xfrm>
            <a:off x="0" y="4445203"/>
            <a:ext cx="914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E. Aghaei, S. Jain, P. Arun, and A. Sambamoorthy, “Securebert 2.0: Advanced language model for cybersecurity,” arXiv, 2025.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199700" y="202750"/>
            <a:ext cx="8691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研究方法 - TTP detection 的 訓練設定</a:t>
            </a:r>
            <a:endParaRPr/>
          </a:p>
        </p:txBody>
      </p:sp>
      <p:sp>
        <p:nvSpPr>
          <p:cNvPr id="138" name="Google Shape;138;p21"/>
          <p:cNvSpPr txBox="1"/>
          <p:nvPr>
            <p:ph idx="1" type="body"/>
          </p:nvPr>
        </p:nvSpPr>
        <p:spPr>
          <a:xfrm>
            <a:off x="168050" y="716700"/>
            <a:ext cx="4623300" cy="1632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zh-TW" sz="1600">
                <a:solidFill>
                  <a:schemeClr val="dk1"/>
                </a:solidFill>
              </a:rPr>
              <a:t>用LLM對node產生敘述-&gt;用securebert2.0轉成embedding-&gt;PCA降維</a:t>
            </a: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把原始的node和relation用SecureBert2.0轉成embedding-&gt;PCA降維</a:t>
            </a: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以上兩者串接為最終embedding</a:t>
            </a:r>
            <a:endParaRPr sz="1600">
              <a:solidFill>
                <a:schemeClr val="dk1"/>
              </a:solidFill>
            </a:endParaRPr>
          </a:p>
        </p:txBody>
      </p:sp>
      <p:pic>
        <p:nvPicPr>
          <p:cNvPr id="139" name="Google Shape;139;p21"/>
          <p:cNvPicPr preferRelativeResize="0"/>
          <p:nvPr/>
        </p:nvPicPr>
        <p:blipFill>
          <a:blip r:embed="rId3">
            <a:alphaModFix/>
          </a:blip>
          <a:stretch>
            <a:fillRect/>
          </a:stretch>
        </p:blipFill>
        <p:spPr>
          <a:xfrm>
            <a:off x="9812471" y="3452450"/>
            <a:ext cx="5268749" cy="1612225"/>
          </a:xfrm>
          <a:prstGeom prst="rect">
            <a:avLst/>
          </a:prstGeom>
          <a:noFill/>
          <a:ln cap="flat" cmpd="sng" w="9525">
            <a:solidFill>
              <a:schemeClr val="dk2"/>
            </a:solidFill>
            <a:prstDash val="solid"/>
            <a:round/>
            <a:headEnd len="sm" w="sm" type="none"/>
            <a:tailEnd len="sm" w="sm" type="none"/>
          </a:ln>
        </p:spPr>
      </p:pic>
      <p:sp>
        <p:nvSpPr>
          <p:cNvPr id="140" name="Google Shape;140;p21"/>
          <p:cNvSpPr txBox="1"/>
          <p:nvPr/>
        </p:nvSpPr>
        <p:spPr>
          <a:xfrm>
            <a:off x="4944781" y="732050"/>
            <a:ext cx="4057200" cy="1417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sz="1800">
                <a:solidFill>
                  <a:schemeClr val="dk1"/>
                </a:solidFill>
              </a:rPr>
              <a:t>Total abilities : 16900</a:t>
            </a:r>
            <a:br>
              <a:rPr lang="zh-TW" sz="1800">
                <a:solidFill>
                  <a:schemeClr val="dk1"/>
                </a:solidFill>
              </a:rPr>
            </a:br>
            <a:r>
              <a:rPr lang="zh-TW" sz="1800">
                <a:solidFill>
                  <a:schemeClr val="dk1"/>
                </a:solidFill>
              </a:rPr>
              <a:t>Total Events: 7,949,998 events</a:t>
            </a:r>
            <a:br>
              <a:rPr lang="zh-TW" sz="1800">
                <a:solidFill>
                  <a:schemeClr val="dk1"/>
                </a:solidFill>
              </a:rPr>
            </a:br>
            <a:r>
              <a:rPr lang="zh-TW" sz="1800">
                <a:solidFill>
                  <a:schemeClr val="dk1"/>
                </a:solidFill>
              </a:rPr>
              <a:t>Benign : 4,146,957 events (52.16%)</a:t>
            </a:r>
            <a:br>
              <a:rPr lang="zh-TW" sz="1800">
                <a:solidFill>
                  <a:schemeClr val="dk1"/>
                </a:solidFill>
              </a:rPr>
            </a:br>
            <a:r>
              <a:rPr lang="zh-TW" sz="1800">
                <a:solidFill>
                  <a:schemeClr val="dk1"/>
                </a:solidFill>
              </a:rPr>
              <a:t>Malicious : 3,803,041 events(47.84%)</a:t>
            </a:r>
            <a:endParaRPr sz="1800"/>
          </a:p>
        </p:txBody>
      </p:sp>
      <p:sp>
        <p:nvSpPr>
          <p:cNvPr id="141" name="Google Shape;141;p21"/>
          <p:cNvSpPr txBox="1"/>
          <p:nvPr/>
        </p:nvSpPr>
        <p:spPr>
          <a:xfrm>
            <a:off x="199700" y="2997122"/>
            <a:ext cx="1151700" cy="400200"/>
          </a:xfrm>
          <a:prstGeom prst="rect">
            <a:avLst/>
          </a:prstGeom>
          <a:noFill/>
          <a:ln cap="flat" cmpd="sng" w="9525">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src node</a:t>
            </a:r>
            <a:endParaRPr/>
          </a:p>
        </p:txBody>
      </p:sp>
      <p:sp>
        <p:nvSpPr>
          <p:cNvPr id="142" name="Google Shape;142;p21"/>
          <p:cNvSpPr txBox="1"/>
          <p:nvPr/>
        </p:nvSpPr>
        <p:spPr>
          <a:xfrm>
            <a:off x="199700" y="4059672"/>
            <a:ext cx="1151700" cy="4002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dst node</a:t>
            </a:r>
            <a:endParaRPr/>
          </a:p>
        </p:txBody>
      </p:sp>
      <p:sp>
        <p:nvSpPr>
          <p:cNvPr id="143" name="Google Shape;143;p21"/>
          <p:cNvSpPr txBox="1"/>
          <p:nvPr/>
        </p:nvSpPr>
        <p:spPr>
          <a:xfrm>
            <a:off x="199700" y="3528409"/>
            <a:ext cx="1151700" cy="400200"/>
          </a:xfrm>
          <a:prstGeom prst="rect">
            <a:avLst/>
          </a:prstGeom>
          <a:noFill/>
          <a:ln cap="flat" cmpd="sng" w="9525">
            <a:solidFill>
              <a:srgbClr val="1155CC"/>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relation</a:t>
            </a:r>
            <a:endParaRPr/>
          </a:p>
        </p:txBody>
      </p:sp>
      <p:sp>
        <p:nvSpPr>
          <p:cNvPr id="144" name="Google Shape;144;p21"/>
          <p:cNvSpPr txBox="1"/>
          <p:nvPr/>
        </p:nvSpPr>
        <p:spPr>
          <a:xfrm>
            <a:off x="1566500" y="3004650"/>
            <a:ext cx="7695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LLM</a:t>
            </a:r>
            <a:endParaRPr/>
          </a:p>
        </p:txBody>
      </p:sp>
      <p:cxnSp>
        <p:nvCxnSpPr>
          <p:cNvPr id="145" name="Google Shape;145;p21"/>
          <p:cNvCxnSpPr>
            <a:stCxn id="141" idx="3"/>
            <a:endCxn id="144" idx="1"/>
          </p:cNvCxnSpPr>
          <p:nvPr/>
        </p:nvCxnSpPr>
        <p:spPr>
          <a:xfrm>
            <a:off x="1351400" y="3197222"/>
            <a:ext cx="215100" cy="7500"/>
          </a:xfrm>
          <a:prstGeom prst="straightConnector1">
            <a:avLst/>
          </a:prstGeom>
          <a:noFill/>
          <a:ln cap="flat" cmpd="sng" w="9525">
            <a:solidFill>
              <a:schemeClr val="dk2"/>
            </a:solidFill>
            <a:prstDash val="solid"/>
            <a:round/>
            <a:headEnd len="med" w="med" type="none"/>
            <a:tailEnd len="med" w="med" type="triangle"/>
          </a:ln>
        </p:spPr>
      </p:cxnSp>
      <p:sp>
        <p:nvSpPr>
          <p:cNvPr id="146" name="Google Shape;146;p21"/>
          <p:cNvSpPr txBox="1"/>
          <p:nvPr/>
        </p:nvSpPr>
        <p:spPr>
          <a:xfrm>
            <a:off x="1584954" y="4058450"/>
            <a:ext cx="7326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LLM</a:t>
            </a:r>
            <a:endParaRPr/>
          </a:p>
        </p:txBody>
      </p:sp>
      <p:cxnSp>
        <p:nvCxnSpPr>
          <p:cNvPr id="147" name="Google Shape;147;p21"/>
          <p:cNvCxnSpPr>
            <a:stCxn id="142" idx="3"/>
            <a:endCxn id="146" idx="1"/>
          </p:cNvCxnSpPr>
          <p:nvPr/>
        </p:nvCxnSpPr>
        <p:spPr>
          <a:xfrm flipH="1" rot="10800000">
            <a:off x="1351400" y="4258572"/>
            <a:ext cx="233700" cy="120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p21"/>
          <p:cNvCxnSpPr>
            <a:stCxn id="144" idx="3"/>
            <a:endCxn id="149" idx="1"/>
          </p:cNvCxnSpPr>
          <p:nvPr/>
        </p:nvCxnSpPr>
        <p:spPr>
          <a:xfrm flipH="1" rot="10800000">
            <a:off x="2336000" y="3202950"/>
            <a:ext cx="246300" cy="1800"/>
          </a:xfrm>
          <a:prstGeom prst="straightConnector1">
            <a:avLst/>
          </a:prstGeom>
          <a:noFill/>
          <a:ln cap="flat" cmpd="sng" w="9525">
            <a:solidFill>
              <a:schemeClr val="dk1"/>
            </a:solidFill>
            <a:prstDash val="solid"/>
            <a:round/>
            <a:headEnd len="med" w="med" type="none"/>
            <a:tailEnd len="med" w="med" type="triangle"/>
          </a:ln>
        </p:spPr>
      </p:cxnSp>
      <p:sp>
        <p:nvSpPr>
          <p:cNvPr id="149" name="Google Shape;149;p21"/>
          <p:cNvSpPr txBox="1"/>
          <p:nvPr/>
        </p:nvSpPr>
        <p:spPr>
          <a:xfrm>
            <a:off x="2582239" y="3002863"/>
            <a:ext cx="14997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SecureBert 2.0</a:t>
            </a:r>
            <a:endParaRPr>
              <a:solidFill>
                <a:schemeClr val="dk1"/>
              </a:solidFill>
            </a:endParaRPr>
          </a:p>
        </p:txBody>
      </p:sp>
      <p:cxnSp>
        <p:nvCxnSpPr>
          <p:cNvPr id="150" name="Google Shape;150;p21"/>
          <p:cNvCxnSpPr>
            <a:stCxn id="146" idx="3"/>
            <a:endCxn id="151" idx="1"/>
          </p:cNvCxnSpPr>
          <p:nvPr/>
        </p:nvCxnSpPr>
        <p:spPr>
          <a:xfrm>
            <a:off x="2317554" y="4258550"/>
            <a:ext cx="264600" cy="0"/>
          </a:xfrm>
          <a:prstGeom prst="straightConnector1">
            <a:avLst/>
          </a:prstGeom>
          <a:noFill/>
          <a:ln cap="flat" cmpd="sng" w="9525">
            <a:solidFill>
              <a:schemeClr val="dk1"/>
            </a:solidFill>
            <a:prstDash val="solid"/>
            <a:round/>
            <a:headEnd len="med" w="med" type="none"/>
            <a:tailEnd len="med" w="med" type="triangle"/>
          </a:ln>
        </p:spPr>
      </p:cxnSp>
      <p:cxnSp>
        <p:nvCxnSpPr>
          <p:cNvPr id="152" name="Google Shape;152;p21"/>
          <p:cNvCxnSpPr>
            <a:endCxn id="153" idx="1"/>
          </p:cNvCxnSpPr>
          <p:nvPr/>
        </p:nvCxnSpPr>
        <p:spPr>
          <a:xfrm>
            <a:off x="6940383" y="2656175"/>
            <a:ext cx="693300" cy="1200"/>
          </a:xfrm>
          <a:prstGeom prst="straightConnector1">
            <a:avLst/>
          </a:prstGeom>
          <a:noFill/>
          <a:ln cap="flat" cmpd="sng" w="9525">
            <a:solidFill>
              <a:schemeClr val="dk2"/>
            </a:solidFill>
            <a:prstDash val="solid"/>
            <a:round/>
            <a:headEnd len="med" w="med" type="none"/>
            <a:tailEnd len="med" w="med" type="triangle"/>
          </a:ln>
        </p:spPr>
      </p:cxnSp>
      <p:sp>
        <p:nvSpPr>
          <p:cNvPr id="154" name="Google Shape;154;p21"/>
          <p:cNvSpPr txBox="1"/>
          <p:nvPr/>
        </p:nvSpPr>
        <p:spPr>
          <a:xfrm>
            <a:off x="4393036" y="2457275"/>
            <a:ext cx="8115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PCA</a:t>
            </a:r>
            <a:endParaRPr>
              <a:solidFill>
                <a:schemeClr val="dk1"/>
              </a:solidFill>
            </a:endParaRPr>
          </a:p>
        </p:txBody>
      </p:sp>
      <p:sp>
        <p:nvSpPr>
          <p:cNvPr id="153" name="Google Shape;153;p21"/>
          <p:cNvSpPr txBox="1"/>
          <p:nvPr/>
        </p:nvSpPr>
        <p:spPr>
          <a:xfrm>
            <a:off x="7633683" y="2457275"/>
            <a:ext cx="1368300" cy="400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Concate</a:t>
            </a:r>
            <a:endParaRPr/>
          </a:p>
        </p:txBody>
      </p:sp>
      <p:cxnSp>
        <p:nvCxnSpPr>
          <p:cNvPr id="155" name="Google Shape;155;p21"/>
          <p:cNvCxnSpPr>
            <a:stCxn id="156" idx="3"/>
            <a:endCxn id="153" idx="1"/>
          </p:cNvCxnSpPr>
          <p:nvPr/>
        </p:nvCxnSpPr>
        <p:spPr>
          <a:xfrm>
            <a:off x="7493883" y="2657375"/>
            <a:ext cx="139800" cy="0"/>
          </a:xfrm>
          <a:prstGeom prst="straightConnector1">
            <a:avLst/>
          </a:prstGeom>
          <a:noFill/>
          <a:ln cap="flat" cmpd="sng" w="9525">
            <a:solidFill>
              <a:schemeClr val="dk2"/>
            </a:solidFill>
            <a:prstDash val="solid"/>
            <a:round/>
            <a:headEnd len="med" w="med" type="none"/>
            <a:tailEnd len="med" w="med" type="triangle"/>
          </a:ln>
        </p:spPr>
      </p:cxnSp>
      <p:cxnSp>
        <p:nvCxnSpPr>
          <p:cNvPr id="157" name="Google Shape;157;p21"/>
          <p:cNvCxnSpPr>
            <a:endCxn id="153" idx="1"/>
          </p:cNvCxnSpPr>
          <p:nvPr/>
        </p:nvCxnSpPr>
        <p:spPr>
          <a:xfrm flipH="1" rot="10800000">
            <a:off x="6940383" y="2657375"/>
            <a:ext cx="693300" cy="537000"/>
          </a:xfrm>
          <a:prstGeom prst="straightConnector1">
            <a:avLst/>
          </a:prstGeom>
          <a:noFill/>
          <a:ln cap="flat" cmpd="sng" w="9525">
            <a:solidFill>
              <a:schemeClr val="dk2"/>
            </a:solidFill>
            <a:prstDash val="solid"/>
            <a:round/>
            <a:headEnd len="med" w="med" type="none"/>
            <a:tailEnd len="med" w="med" type="triangle"/>
          </a:ln>
        </p:spPr>
      </p:cxnSp>
      <p:cxnSp>
        <p:nvCxnSpPr>
          <p:cNvPr id="158" name="Google Shape;158;p21"/>
          <p:cNvCxnSpPr>
            <a:stCxn id="153" idx="2"/>
            <a:endCxn id="159" idx="0"/>
          </p:cNvCxnSpPr>
          <p:nvPr/>
        </p:nvCxnSpPr>
        <p:spPr>
          <a:xfrm flipH="1">
            <a:off x="8311233" y="2857475"/>
            <a:ext cx="6600" cy="605700"/>
          </a:xfrm>
          <a:prstGeom prst="straightConnector1">
            <a:avLst/>
          </a:prstGeom>
          <a:noFill/>
          <a:ln cap="flat" cmpd="sng" w="9525">
            <a:solidFill>
              <a:schemeClr val="dk2"/>
            </a:solidFill>
            <a:prstDash val="solid"/>
            <a:round/>
            <a:headEnd len="med" w="med" type="none"/>
            <a:tailEnd len="med" w="med" type="triangle"/>
          </a:ln>
        </p:spPr>
      </p:cxnSp>
      <p:sp>
        <p:nvSpPr>
          <p:cNvPr id="160" name="Google Shape;16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pSp>
        <p:nvGrpSpPr>
          <p:cNvPr id="161" name="Google Shape;161;p21"/>
          <p:cNvGrpSpPr/>
          <p:nvPr/>
        </p:nvGrpSpPr>
        <p:grpSpPr>
          <a:xfrm>
            <a:off x="7627021" y="3463211"/>
            <a:ext cx="1685786" cy="765075"/>
            <a:chOff x="7627021" y="3463211"/>
            <a:chExt cx="1685786" cy="765075"/>
          </a:xfrm>
        </p:grpSpPr>
        <p:sp>
          <p:nvSpPr>
            <p:cNvPr id="159" name="Google Shape;159;p21"/>
            <p:cNvSpPr txBox="1"/>
            <p:nvPr/>
          </p:nvSpPr>
          <p:spPr>
            <a:xfrm>
              <a:off x="7627021" y="3463211"/>
              <a:ext cx="1368300" cy="648000"/>
            </a:xfrm>
            <a:prstGeom prst="rect">
              <a:avLst/>
            </a:prstGeom>
            <a:solidFill>
              <a:srgbClr val="F9CB9C"/>
            </a:solidFill>
            <a:ln cap="flat" cmpd="sng" w="9525">
              <a:solidFill>
                <a:srgbClr val="99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Event</a:t>
              </a:r>
              <a:br>
                <a:rPr lang="zh-TW">
                  <a:solidFill>
                    <a:schemeClr val="dk1"/>
                  </a:solidFill>
                </a:rPr>
              </a:br>
              <a:r>
                <a:rPr lang="zh-TW">
                  <a:solidFill>
                    <a:schemeClr val="dk1"/>
                  </a:solidFill>
                </a:rPr>
                <a:t>Embedding</a:t>
              </a:r>
              <a:endParaRPr/>
            </a:p>
          </p:txBody>
        </p:sp>
        <p:sp>
          <p:nvSpPr>
            <p:cNvPr id="162" name="Google Shape;162;p21"/>
            <p:cNvSpPr txBox="1"/>
            <p:nvPr/>
          </p:nvSpPr>
          <p:spPr>
            <a:xfrm>
              <a:off x="8399307" y="3858986"/>
              <a:ext cx="9135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200">
                  <a:solidFill>
                    <a:schemeClr val="dk1"/>
                  </a:solidFill>
                </a:rPr>
                <a:t>784</a:t>
              </a:r>
              <a:endParaRPr sz="1200"/>
            </a:p>
          </p:txBody>
        </p:sp>
      </p:grpSp>
      <p:sp>
        <p:nvSpPr>
          <p:cNvPr id="151" name="Google Shape;151;p21"/>
          <p:cNvSpPr txBox="1"/>
          <p:nvPr/>
        </p:nvSpPr>
        <p:spPr>
          <a:xfrm>
            <a:off x="2582239" y="4058450"/>
            <a:ext cx="14997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SecureBert 2.0</a:t>
            </a:r>
            <a:endParaRPr>
              <a:solidFill>
                <a:schemeClr val="dk1"/>
              </a:solidFill>
            </a:endParaRPr>
          </a:p>
        </p:txBody>
      </p:sp>
      <p:grpSp>
        <p:nvGrpSpPr>
          <p:cNvPr id="163" name="Google Shape;163;p21"/>
          <p:cNvGrpSpPr/>
          <p:nvPr/>
        </p:nvGrpSpPr>
        <p:grpSpPr>
          <a:xfrm>
            <a:off x="5569598" y="3002875"/>
            <a:ext cx="1699042" cy="518789"/>
            <a:chOff x="3768209" y="2997125"/>
            <a:chExt cx="1699042" cy="518789"/>
          </a:xfrm>
        </p:grpSpPr>
        <p:sp>
          <p:nvSpPr>
            <p:cNvPr id="164" name="Google Shape;164;p21"/>
            <p:cNvSpPr txBox="1"/>
            <p:nvPr/>
          </p:nvSpPr>
          <p:spPr>
            <a:xfrm>
              <a:off x="3768209" y="2997125"/>
              <a:ext cx="1368300" cy="400200"/>
            </a:xfrm>
            <a:prstGeom prst="rect">
              <a:avLst/>
            </a:prstGeom>
            <a:noFill/>
            <a:ln cap="flat" cmpd="sng" w="9525">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Embedding</a:t>
              </a:r>
              <a:endParaRPr/>
            </a:p>
          </p:txBody>
        </p:sp>
        <p:sp>
          <p:nvSpPr>
            <p:cNvPr id="165" name="Google Shape;165;p21"/>
            <p:cNvSpPr txBox="1"/>
            <p:nvPr/>
          </p:nvSpPr>
          <p:spPr>
            <a:xfrm>
              <a:off x="4553752" y="3146614"/>
              <a:ext cx="9135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200">
                  <a:solidFill>
                    <a:schemeClr val="dk1"/>
                  </a:solidFill>
                </a:rPr>
                <a:t>128</a:t>
              </a:r>
              <a:endParaRPr sz="1200"/>
            </a:p>
          </p:txBody>
        </p:sp>
      </p:grpSp>
      <p:grpSp>
        <p:nvGrpSpPr>
          <p:cNvPr id="166" name="Google Shape;166;p21"/>
          <p:cNvGrpSpPr/>
          <p:nvPr/>
        </p:nvGrpSpPr>
        <p:grpSpPr>
          <a:xfrm>
            <a:off x="5569573" y="4059663"/>
            <a:ext cx="1699042" cy="521523"/>
            <a:chOff x="3768209" y="4058463"/>
            <a:chExt cx="1699042" cy="521523"/>
          </a:xfrm>
        </p:grpSpPr>
        <p:sp>
          <p:nvSpPr>
            <p:cNvPr id="167" name="Google Shape;167;p21"/>
            <p:cNvSpPr txBox="1"/>
            <p:nvPr/>
          </p:nvSpPr>
          <p:spPr>
            <a:xfrm>
              <a:off x="3768209" y="4058463"/>
              <a:ext cx="1368300" cy="4002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Embedding</a:t>
              </a:r>
              <a:endParaRPr/>
            </a:p>
          </p:txBody>
        </p:sp>
        <p:sp>
          <p:nvSpPr>
            <p:cNvPr id="168" name="Google Shape;168;p21"/>
            <p:cNvSpPr txBox="1"/>
            <p:nvPr/>
          </p:nvSpPr>
          <p:spPr>
            <a:xfrm>
              <a:off x="4553752" y="4210686"/>
              <a:ext cx="9135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200">
                  <a:solidFill>
                    <a:schemeClr val="dk1"/>
                  </a:solidFill>
                </a:rPr>
                <a:t>128</a:t>
              </a:r>
              <a:endParaRPr sz="1200"/>
            </a:p>
          </p:txBody>
        </p:sp>
      </p:grpSp>
      <p:cxnSp>
        <p:nvCxnSpPr>
          <p:cNvPr id="169" name="Google Shape;169;p21"/>
          <p:cNvCxnSpPr>
            <a:stCxn id="149" idx="3"/>
            <a:endCxn id="170" idx="1"/>
          </p:cNvCxnSpPr>
          <p:nvPr/>
        </p:nvCxnSpPr>
        <p:spPr>
          <a:xfrm flipH="1" rot="10800000">
            <a:off x="4081939" y="3201763"/>
            <a:ext cx="325800" cy="1200"/>
          </a:xfrm>
          <a:prstGeom prst="straightConnector1">
            <a:avLst/>
          </a:prstGeom>
          <a:noFill/>
          <a:ln cap="flat" cmpd="sng" w="9525">
            <a:solidFill>
              <a:schemeClr val="dk1"/>
            </a:solidFill>
            <a:prstDash val="solid"/>
            <a:round/>
            <a:headEnd len="med" w="med" type="none"/>
            <a:tailEnd len="med" w="med" type="triangle"/>
          </a:ln>
        </p:spPr>
      </p:cxnSp>
      <p:cxnSp>
        <p:nvCxnSpPr>
          <p:cNvPr id="171" name="Google Shape;171;p21"/>
          <p:cNvCxnSpPr>
            <a:stCxn id="151" idx="3"/>
            <a:endCxn id="172" idx="1"/>
          </p:cNvCxnSpPr>
          <p:nvPr/>
        </p:nvCxnSpPr>
        <p:spPr>
          <a:xfrm flipH="1" rot="10800000">
            <a:off x="4081939" y="4254050"/>
            <a:ext cx="317700" cy="4500"/>
          </a:xfrm>
          <a:prstGeom prst="straightConnector1">
            <a:avLst/>
          </a:prstGeom>
          <a:noFill/>
          <a:ln cap="flat" cmpd="sng" w="9525">
            <a:solidFill>
              <a:schemeClr val="dk1"/>
            </a:solidFill>
            <a:prstDash val="solid"/>
            <a:round/>
            <a:headEnd len="med" w="med" type="none"/>
            <a:tailEnd len="med" w="med" type="triangle"/>
          </a:ln>
        </p:spPr>
      </p:cxnSp>
      <p:sp>
        <p:nvSpPr>
          <p:cNvPr id="173" name="Google Shape;173;p21"/>
          <p:cNvSpPr txBox="1"/>
          <p:nvPr/>
        </p:nvSpPr>
        <p:spPr>
          <a:xfrm>
            <a:off x="2580289" y="3534850"/>
            <a:ext cx="14997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SecureBert 2.0</a:t>
            </a:r>
            <a:endParaRPr>
              <a:solidFill>
                <a:schemeClr val="dk1"/>
              </a:solidFill>
            </a:endParaRPr>
          </a:p>
        </p:txBody>
      </p:sp>
      <p:cxnSp>
        <p:nvCxnSpPr>
          <p:cNvPr id="174" name="Google Shape;174;p21"/>
          <p:cNvCxnSpPr>
            <a:stCxn id="143" idx="3"/>
            <a:endCxn id="173" idx="1"/>
          </p:cNvCxnSpPr>
          <p:nvPr/>
        </p:nvCxnSpPr>
        <p:spPr>
          <a:xfrm>
            <a:off x="1351400" y="3728509"/>
            <a:ext cx="1228800" cy="6300"/>
          </a:xfrm>
          <a:prstGeom prst="straightConnector1">
            <a:avLst/>
          </a:prstGeom>
          <a:noFill/>
          <a:ln cap="flat" cmpd="sng" w="9525">
            <a:solidFill>
              <a:schemeClr val="dk2"/>
            </a:solidFill>
            <a:prstDash val="solid"/>
            <a:round/>
            <a:headEnd len="med" w="med" type="none"/>
            <a:tailEnd len="med" w="med" type="triangle"/>
          </a:ln>
        </p:spPr>
      </p:cxnSp>
      <p:grpSp>
        <p:nvGrpSpPr>
          <p:cNvPr id="175" name="Google Shape;175;p21"/>
          <p:cNvGrpSpPr/>
          <p:nvPr/>
        </p:nvGrpSpPr>
        <p:grpSpPr>
          <a:xfrm>
            <a:off x="5565673" y="3530794"/>
            <a:ext cx="1706825" cy="512793"/>
            <a:chOff x="3768209" y="3540906"/>
            <a:chExt cx="1706825" cy="512793"/>
          </a:xfrm>
        </p:grpSpPr>
        <p:sp>
          <p:nvSpPr>
            <p:cNvPr id="176" name="Google Shape;176;p21"/>
            <p:cNvSpPr txBox="1"/>
            <p:nvPr/>
          </p:nvSpPr>
          <p:spPr>
            <a:xfrm>
              <a:off x="3768209" y="3540906"/>
              <a:ext cx="1368300" cy="400200"/>
            </a:xfrm>
            <a:prstGeom prst="rect">
              <a:avLst/>
            </a:prstGeom>
            <a:noFill/>
            <a:ln cap="flat" cmpd="sng" w="9525">
              <a:solidFill>
                <a:srgbClr val="1155CC"/>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Embedding</a:t>
              </a:r>
              <a:endParaRPr>
                <a:solidFill>
                  <a:schemeClr val="dk1"/>
                </a:solidFill>
              </a:endParaRPr>
            </a:p>
          </p:txBody>
        </p:sp>
        <p:sp>
          <p:nvSpPr>
            <p:cNvPr id="177" name="Google Shape;177;p21"/>
            <p:cNvSpPr txBox="1"/>
            <p:nvPr/>
          </p:nvSpPr>
          <p:spPr>
            <a:xfrm>
              <a:off x="4561534" y="3684400"/>
              <a:ext cx="9135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200">
                  <a:solidFill>
                    <a:schemeClr val="dk1"/>
                  </a:solidFill>
                </a:rPr>
                <a:t>16</a:t>
              </a:r>
              <a:endParaRPr sz="1200"/>
            </a:p>
          </p:txBody>
        </p:sp>
      </p:grpSp>
      <p:cxnSp>
        <p:nvCxnSpPr>
          <p:cNvPr id="178" name="Google Shape;178;p21"/>
          <p:cNvCxnSpPr>
            <a:stCxn id="173" idx="3"/>
            <a:endCxn id="179" idx="1"/>
          </p:cNvCxnSpPr>
          <p:nvPr/>
        </p:nvCxnSpPr>
        <p:spPr>
          <a:xfrm flipH="1" rot="10800000">
            <a:off x="4079989" y="3730750"/>
            <a:ext cx="319800" cy="4200"/>
          </a:xfrm>
          <a:prstGeom prst="straightConnector1">
            <a:avLst/>
          </a:prstGeom>
          <a:noFill/>
          <a:ln cap="flat" cmpd="sng" w="9525">
            <a:solidFill>
              <a:schemeClr val="dk1"/>
            </a:solidFill>
            <a:prstDash val="solid"/>
            <a:round/>
            <a:headEnd len="med" w="med" type="none"/>
            <a:tailEnd len="med" w="med" type="triangle"/>
          </a:ln>
        </p:spPr>
      </p:cxnSp>
      <p:sp>
        <p:nvSpPr>
          <p:cNvPr id="180" name="Google Shape;180;p21"/>
          <p:cNvSpPr txBox="1"/>
          <p:nvPr/>
        </p:nvSpPr>
        <p:spPr>
          <a:xfrm>
            <a:off x="2582226" y="2457263"/>
            <a:ext cx="14997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SecureBert 2.0</a:t>
            </a:r>
            <a:endParaRPr>
              <a:solidFill>
                <a:schemeClr val="dk1"/>
              </a:solidFill>
            </a:endParaRPr>
          </a:p>
        </p:txBody>
      </p:sp>
      <p:sp>
        <p:nvSpPr>
          <p:cNvPr id="181" name="Google Shape;181;p21"/>
          <p:cNvSpPr txBox="1"/>
          <p:nvPr/>
        </p:nvSpPr>
        <p:spPr>
          <a:xfrm>
            <a:off x="2580301" y="4582050"/>
            <a:ext cx="14997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SecureBert 2.0</a:t>
            </a:r>
            <a:endParaRPr>
              <a:solidFill>
                <a:schemeClr val="dk1"/>
              </a:solidFill>
            </a:endParaRPr>
          </a:p>
        </p:txBody>
      </p:sp>
      <p:cxnSp>
        <p:nvCxnSpPr>
          <p:cNvPr id="182" name="Google Shape;182;p21"/>
          <p:cNvCxnSpPr>
            <a:stCxn id="141" idx="0"/>
            <a:endCxn id="180" idx="1"/>
          </p:cNvCxnSpPr>
          <p:nvPr/>
        </p:nvCxnSpPr>
        <p:spPr>
          <a:xfrm rot="-5400000">
            <a:off x="1508900" y="1923872"/>
            <a:ext cx="339900" cy="1806600"/>
          </a:xfrm>
          <a:prstGeom prst="bentConnector2">
            <a:avLst/>
          </a:prstGeom>
          <a:noFill/>
          <a:ln cap="flat" cmpd="sng" w="9525">
            <a:solidFill>
              <a:schemeClr val="dk2"/>
            </a:solidFill>
            <a:prstDash val="solid"/>
            <a:round/>
            <a:headEnd len="med" w="med" type="none"/>
            <a:tailEnd len="med" w="med" type="triangle"/>
          </a:ln>
        </p:spPr>
      </p:cxnSp>
      <p:cxnSp>
        <p:nvCxnSpPr>
          <p:cNvPr id="183" name="Google Shape;183;p21"/>
          <p:cNvCxnSpPr>
            <a:stCxn id="142" idx="2"/>
            <a:endCxn id="181" idx="1"/>
          </p:cNvCxnSpPr>
          <p:nvPr/>
        </p:nvCxnSpPr>
        <p:spPr>
          <a:xfrm flipH="1" rot="-5400000">
            <a:off x="1516850" y="3718572"/>
            <a:ext cx="322200" cy="1804800"/>
          </a:xfrm>
          <a:prstGeom prst="bentConnector2">
            <a:avLst/>
          </a:prstGeom>
          <a:noFill/>
          <a:ln cap="flat" cmpd="sng" w="9525">
            <a:solidFill>
              <a:schemeClr val="dk2"/>
            </a:solidFill>
            <a:prstDash val="solid"/>
            <a:round/>
            <a:headEnd len="med" w="med" type="none"/>
            <a:tailEnd len="med" w="med" type="triangle"/>
          </a:ln>
        </p:spPr>
      </p:cxnSp>
      <p:sp>
        <p:nvSpPr>
          <p:cNvPr id="170" name="Google Shape;170;p21"/>
          <p:cNvSpPr txBox="1"/>
          <p:nvPr/>
        </p:nvSpPr>
        <p:spPr>
          <a:xfrm>
            <a:off x="4407711" y="3001713"/>
            <a:ext cx="8115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PCA</a:t>
            </a:r>
            <a:endParaRPr>
              <a:solidFill>
                <a:schemeClr val="dk1"/>
              </a:solidFill>
            </a:endParaRPr>
          </a:p>
        </p:txBody>
      </p:sp>
      <p:sp>
        <p:nvSpPr>
          <p:cNvPr id="179" name="Google Shape;179;p21"/>
          <p:cNvSpPr txBox="1"/>
          <p:nvPr/>
        </p:nvSpPr>
        <p:spPr>
          <a:xfrm>
            <a:off x="4399661" y="3530650"/>
            <a:ext cx="8115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PCA</a:t>
            </a:r>
            <a:endParaRPr>
              <a:solidFill>
                <a:schemeClr val="dk1"/>
              </a:solidFill>
            </a:endParaRPr>
          </a:p>
        </p:txBody>
      </p:sp>
      <p:sp>
        <p:nvSpPr>
          <p:cNvPr id="172" name="Google Shape;172;p21"/>
          <p:cNvSpPr txBox="1"/>
          <p:nvPr/>
        </p:nvSpPr>
        <p:spPr>
          <a:xfrm>
            <a:off x="4399661" y="4053988"/>
            <a:ext cx="8115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PCA</a:t>
            </a:r>
            <a:endParaRPr>
              <a:solidFill>
                <a:schemeClr val="dk1"/>
              </a:solidFill>
            </a:endParaRPr>
          </a:p>
        </p:txBody>
      </p:sp>
      <p:sp>
        <p:nvSpPr>
          <p:cNvPr id="184" name="Google Shape;184;p21"/>
          <p:cNvSpPr txBox="1"/>
          <p:nvPr/>
        </p:nvSpPr>
        <p:spPr>
          <a:xfrm>
            <a:off x="4407711" y="4577350"/>
            <a:ext cx="8115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PCA</a:t>
            </a:r>
            <a:endParaRPr>
              <a:solidFill>
                <a:schemeClr val="dk1"/>
              </a:solidFill>
            </a:endParaRPr>
          </a:p>
        </p:txBody>
      </p:sp>
      <p:cxnSp>
        <p:nvCxnSpPr>
          <p:cNvPr id="185" name="Google Shape;185;p21"/>
          <p:cNvCxnSpPr>
            <a:stCxn id="181" idx="3"/>
            <a:endCxn id="184" idx="1"/>
          </p:cNvCxnSpPr>
          <p:nvPr/>
        </p:nvCxnSpPr>
        <p:spPr>
          <a:xfrm flipH="1" rot="10800000">
            <a:off x="4080001" y="4777350"/>
            <a:ext cx="327600" cy="4800"/>
          </a:xfrm>
          <a:prstGeom prst="straightConnector1">
            <a:avLst/>
          </a:prstGeom>
          <a:noFill/>
          <a:ln cap="flat" cmpd="sng" w="9525">
            <a:solidFill>
              <a:schemeClr val="dk1"/>
            </a:solidFill>
            <a:prstDash val="solid"/>
            <a:round/>
            <a:headEnd len="med" w="med" type="none"/>
            <a:tailEnd len="med" w="med" type="triangle"/>
          </a:ln>
        </p:spPr>
      </p:cxnSp>
      <p:cxnSp>
        <p:nvCxnSpPr>
          <p:cNvPr id="186" name="Google Shape;186;p21"/>
          <p:cNvCxnSpPr>
            <a:stCxn id="180" idx="3"/>
            <a:endCxn id="154" idx="1"/>
          </p:cNvCxnSpPr>
          <p:nvPr/>
        </p:nvCxnSpPr>
        <p:spPr>
          <a:xfrm>
            <a:off x="4081926" y="2657363"/>
            <a:ext cx="311100" cy="0"/>
          </a:xfrm>
          <a:prstGeom prst="straightConnector1">
            <a:avLst/>
          </a:prstGeom>
          <a:noFill/>
          <a:ln cap="flat" cmpd="sng" w="9525">
            <a:solidFill>
              <a:schemeClr val="dk1"/>
            </a:solidFill>
            <a:prstDash val="solid"/>
            <a:round/>
            <a:headEnd len="med" w="med" type="none"/>
            <a:tailEnd len="med" w="med" type="triangle"/>
          </a:ln>
        </p:spPr>
      </p:cxnSp>
      <p:grpSp>
        <p:nvGrpSpPr>
          <p:cNvPr id="187" name="Google Shape;187;p21"/>
          <p:cNvGrpSpPr/>
          <p:nvPr/>
        </p:nvGrpSpPr>
        <p:grpSpPr>
          <a:xfrm>
            <a:off x="5569573" y="2461050"/>
            <a:ext cx="1699042" cy="518789"/>
            <a:chOff x="3768209" y="2997125"/>
            <a:chExt cx="1699042" cy="518789"/>
          </a:xfrm>
        </p:grpSpPr>
        <p:sp>
          <p:nvSpPr>
            <p:cNvPr id="188" name="Google Shape;188;p21"/>
            <p:cNvSpPr txBox="1"/>
            <p:nvPr/>
          </p:nvSpPr>
          <p:spPr>
            <a:xfrm>
              <a:off x="3768209" y="2997125"/>
              <a:ext cx="1368300" cy="400200"/>
            </a:xfrm>
            <a:prstGeom prst="rect">
              <a:avLst/>
            </a:prstGeom>
            <a:noFill/>
            <a:ln cap="flat" cmpd="sng" w="9525">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Embedding</a:t>
              </a:r>
              <a:endParaRPr/>
            </a:p>
          </p:txBody>
        </p:sp>
        <p:sp>
          <p:nvSpPr>
            <p:cNvPr id="189" name="Google Shape;189;p21"/>
            <p:cNvSpPr txBox="1"/>
            <p:nvPr/>
          </p:nvSpPr>
          <p:spPr>
            <a:xfrm>
              <a:off x="4553752" y="3146614"/>
              <a:ext cx="9135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200">
                  <a:solidFill>
                    <a:schemeClr val="dk1"/>
                  </a:solidFill>
                </a:rPr>
                <a:t>256</a:t>
              </a:r>
              <a:endParaRPr sz="1200"/>
            </a:p>
          </p:txBody>
        </p:sp>
      </p:grpSp>
      <p:grpSp>
        <p:nvGrpSpPr>
          <p:cNvPr id="190" name="Google Shape;190;p21"/>
          <p:cNvGrpSpPr/>
          <p:nvPr/>
        </p:nvGrpSpPr>
        <p:grpSpPr>
          <a:xfrm>
            <a:off x="5569560" y="4577338"/>
            <a:ext cx="1699042" cy="521523"/>
            <a:chOff x="3768209" y="4058463"/>
            <a:chExt cx="1699042" cy="521523"/>
          </a:xfrm>
        </p:grpSpPr>
        <p:sp>
          <p:nvSpPr>
            <p:cNvPr id="191" name="Google Shape;191;p21"/>
            <p:cNvSpPr txBox="1"/>
            <p:nvPr/>
          </p:nvSpPr>
          <p:spPr>
            <a:xfrm>
              <a:off x="3768209" y="4058463"/>
              <a:ext cx="1368300" cy="4002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Embedding</a:t>
              </a:r>
              <a:endParaRPr/>
            </a:p>
          </p:txBody>
        </p:sp>
        <p:sp>
          <p:nvSpPr>
            <p:cNvPr id="192" name="Google Shape;192;p21"/>
            <p:cNvSpPr txBox="1"/>
            <p:nvPr/>
          </p:nvSpPr>
          <p:spPr>
            <a:xfrm>
              <a:off x="4553752" y="4210686"/>
              <a:ext cx="9135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200">
                  <a:solidFill>
                    <a:schemeClr val="dk1"/>
                  </a:solidFill>
                </a:rPr>
                <a:t>256</a:t>
              </a:r>
              <a:endParaRPr sz="1200"/>
            </a:p>
          </p:txBody>
        </p:sp>
      </p:grpSp>
      <p:cxnSp>
        <p:nvCxnSpPr>
          <p:cNvPr id="193" name="Google Shape;193;p21"/>
          <p:cNvCxnSpPr>
            <a:stCxn id="154" idx="3"/>
            <a:endCxn id="188" idx="1"/>
          </p:cNvCxnSpPr>
          <p:nvPr/>
        </p:nvCxnSpPr>
        <p:spPr>
          <a:xfrm>
            <a:off x="5204536" y="2657375"/>
            <a:ext cx="365100" cy="3900"/>
          </a:xfrm>
          <a:prstGeom prst="straightConnector1">
            <a:avLst/>
          </a:prstGeom>
          <a:noFill/>
          <a:ln cap="flat" cmpd="sng" w="9525">
            <a:solidFill>
              <a:schemeClr val="dk1"/>
            </a:solidFill>
            <a:prstDash val="solid"/>
            <a:round/>
            <a:headEnd len="med" w="med" type="none"/>
            <a:tailEnd len="med" w="med" type="triangle"/>
          </a:ln>
        </p:spPr>
      </p:cxnSp>
      <p:cxnSp>
        <p:nvCxnSpPr>
          <p:cNvPr id="194" name="Google Shape;194;p21"/>
          <p:cNvCxnSpPr>
            <a:stCxn id="170" idx="3"/>
            <a:endCxn id="164" idx="1"/>
          </p:cNvCxnSpPr>
          <p:nvPr/>
        </p:nvCxnSpPr>
        <p:spPr>
          <a:xfrm>
            <a:off x="5219211" y="3201813"/>
            <a:ext cx="350400" cy="1200"/>
          </a:xfrm>
          <a:prstGeom prst="straightConnector1">
            <a:avLst/>
          </a:prstGeom>
          <a:noFill/>
          <a:ln cap="flat" cmpd="sng" w="9525">
            <a:solidFill>
              <a:schemeClr val="dk1"/>
            </a:solidFill>
            <a:prstDash val="solid"/>
            <a:round/>
            <a:headEnd len="med" w="med" type="none"/>
            <a:tailEnd len="med" w="med" type="triangle"/>
          </a:ln>
        </p:spPr>
      </p:cxnSp>
      <p:cxnSp>
        <p:nvCxnSpPr>
          <p:cNvPr id="195" name="Google Shape;195;p21"/>
          <p:cNvCxnSpPr>
            <a:stCxn id="179" idx="3"/>
            <a:endCxn id="176" idx="1"/>
          </p:cNvCxnSpPr>
          <p:nvPr/>
        </p:nvCxnSpPr>
        <p:spPr>
          <a:xfrm>
            <a:off x="5211161" y="3730750"/>
            <a:ext cx="354600" cy="0"/>
          </a:xfrm>
          <a:prstGeom prst="straightConnector1">
            <a:avLst/>
          </a:prstGeom>
          <a:noFill/>
          <a:ln cap="flat" cmpd="sng" w="9525">
            <a:solidFill>
              <a:schemeClr val="dk1"/>
            </a:solidFill>
            <a:prstDash val="solid"/>
            <a:round/>
            <a:headEnd len="med" w="med" type="none"/>
            <a:tailEnd len="med" w="med" type="triangle"/>
          </a:ln>
        </p:spPr>
      </p:cxnSp>
      <p:cxnSp>
        <p:nvCxnSpPr>
          <p:cNvPr id="196" name="Google Shape;196;p21"/>
          <p:cNvCxnSpPr>
            <a:stCxn id="172" idx="3"/>
            <a:endCxn id="167" idx="1"/>
          </p:cNvCxnSpPr>
          <p:nvPr/>
        </p:nvCxnSpPr>
        <p:spPr>
          <a:xfrm>
            <a:off x="5211161" y="4254088"/>
            <a:ext cx="358500" cy="5700"/>
          </a:xfrm>
          <a:prstGeom prst="straightConnector1">
            <a:avLst/>
          </a:prstGeom>
          <a:noFill/>
          <a:ln cap="flat" cmpd="sng" w="9525">
            <a:solidFill>
              <a:schemeClr val="dk1"/>
            </a:solidFill>
            <a:prstDash val="solid"/>
            <a:round/>
            <a:headEnd len="med" w="med" type="none"/>
            <a:tailEnd len="med" w="med" type="triangle"/>
          </a:ln>
        </p:spPr>
      </p:cxnSp>
      <p:cxnSp>
        <p:nvCxnSpPr>
          <p:cNvPr id="197" name="Google Shape;197;p21"/>
          <p:cNvCxnSpPr>
            <a:stCxn id="184" idx="3"/>
            <a:endCxn id="191" idx="1"/>
          </p:cNvCxnSpPr>
          <p:nvPr/>
        </p:nvCxnSpPr>
        <p:spPr>
          <a:xfrm>
            <a:off x="5219211" y="4777450"/>
            <a:ext cx="350400" cy="0"/>
          </a:xfrm>
          <a:prstGeom prst="straightConnector1">
            <a:avLst/>
          </a:prstGeom>
          <a:noFill/>
          <a:ln cap="flat" cmpd="sng" w="9525">
            <a:solidFill>
              <a:schemeClr val="dk1"/>
            </a:solidFill>
            <a:prstDash val="solid"/>
            <a:round/>
            <a:headEnd len="med" w="med" type="none"/>
            <a:tailEnd len="med" w="med" type="triangle"/>
          </a:ln>
        </p:spPr>
      </p:cxnSp>
      <p:cxnSp>
        <p:nvCxnSpPr>
          <p:cNvPr id="198" name="Google Shape;198;p21"/>
          <p:cNvCxnSpPr>
            <a:endCxn id="153" idx="1"/>
          </p:cNvCxnSpPr>
          <p:nvPr/>
        </p:nvCxnSpPr>
        <p:spPr>
          <a:xfrm flipH="1" rot="10800000">
            <a:off x="6937383" y="2657375"/>
            <a:ext cx="696300" cy="1086600"/>
          </a:xfrm>
          <a:prstGeom prst="straightConnector1">
            <a:avLst/>
          </a:prstGeom>
          <a:noFill/>
          <a:ln cap="flat" cmpd="sng" w="9525">
            <a:solidFill>
              <a:schemeClr val="dk2"/>
            </a:solidFill>
            <a:prstDash val="solid"/>
            <a:round/>
            <a:headEnd len="med" w="med" type="none"/>
            <a:tailEnd len="med" w="med" type="triangle"/>
          </a:ln>
        </p:spPr>
      </p:cxnSp>
      <p:cxnSp>
        <p:nvCxnSpPr>
          <p:cNvPr id="199" name="Google Shape;199;p21"/>
          <p:cNvCxnSpPr>
            <a:endCxn id="153" idx="1"/>
          </p:cNvCxnSpPr>
          <p:nvPr/>
        </p:nvCxnSpPr>
        <p:spPr>
          <a:xfrm flipH="1" rot="10800000">
            <a:off x="6942783" y="2657375"/>
            <a:ext cx="690900" cy="1587600"/>
          </a:xfrm>
          <a:prstGeom prst="straightConnector1">
            <a:avLst/>
          </a:prstGeom>
          <a:noFill/>
          <a:ln cap="flat" cmpd="sng" w="9525">
            <a:solidFill>
              <a:schemeClr val="dk2"/>
            </a:solidFill>
            <a:prstDash val="solid"/>
            <a:round/>
            <a:headEnd len="med" w="med" type="none"/>
            <a:tailEnd len="med" w="med" type="triangle"/>
          </a:ln>
        </p:spPr>
      </p:cxnSp>
      <p:cxnSp>
        <p:nvCxnSpPr>
          <p:cNvPr id="200" name="Google Shape;200;p21"/>
          <p:cNvCxnSpPr>
            <a:endCxn id="153" idx="1"/>
          </p:cNvCxnSpPr>
          <p:nvPr/>
        </p:nvCxnSpPr>
        <p:spPr>
          <a:xfrm flipH="1" rot="10800000">
            <a:off x="6942783" y="2657375"/>
            <a:ext cx="690900" cy="2127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2"/>
          <p:cNvSpPr txBox="1"/>
          <p:nvPr>
            <p:ph type="title"/>
          </p:nvPr>
        </p:nvSpPr>
        <p:spPr>
          <a:xfrm>
            <a:off x="311700" y="85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研究方法 - 大語言模型的設定</a:t>
            </a:r>
            <a:endParaRPr/>
          </a:p>
        </p:txBody>
      </p:sp>
      <p:sp>
        <p:nvSpPr>
          <p:cNvPr id="206" name="Google Shape;206;p22"/>
          <p:cNvSpPr txBox="1"/>
          <p:nvPr>
            <p:ph idx="1" type="body"/>
          </p:nvPr>
        </p:nvSpPr>
        <p:spPr>
          <a:xfrm>
            <a:off x="165750" y="505050"/>
            <a:ext cx="8978400" cy="4339800"/>
          </a:xfrm>
          <a:prstGeom prst="rect">
            <a:avLst/>
          </a:prstGeom>
        </p:spPr>
        <p:txBody>
          <a:bodyPr anchorCtr="0" anchor="t" bIns="91425" lIns="91425" spcFirstLastPara="1" rIns="91425" wrap="square" tIns="91425">
            <a:noAutofit/>
          </a:bodyPr>
          <a:lstStyle/>
          <a:p>
            <a:pPr indent="-314960" lvl="0" marL="457200" rtl="0" algn="l">
              <a:lnSpc>
                <a:spcPct val="105000"/>
              </a:lnSpc>
              <a:spcBef>
                <a:spcPts val="0"/>
              </a:spcBef>
              <a:spcAft>
                <a:spcPts val="0"/>
              </a:spcAft>
              <a:buClr>
                <a:schemeClr val="dk1"/>
              </a:buClr>
              <a:buSzPts val="1360"/>
              <a:buChar char="●"/>
            </a:pPr>
            <a:r>
              <a:rPr b="1" lang="zh-TW" sz="1360">
                <a:solidFill>
                  <a:schemeClr val="dk1"/>
                </a:solidFill>
              </a:rPr>
              <a:t>LMs</a:t>
            </a:r>
            <a:endParaRPr b="1" sz="1360">
              <a:solidFill>
                <a:schemeClr val="dk1"/>
              </a:solidFill>
            </a:endParaRPr>
          </a:p>
          <a:p>
            <a:pPr indent="-317500" lvl="1" marL="914400" rtl="0" algn="l">
              <a:lnSpc>
                <a:spcPct val="105000"/>
              </a:lnSpc>
              <a:spcBef>
                <a:spcPts val="0"/>
              </a:spcBef>
              <a:spcAft>
                <a:spcPts val="0"/>
              </a:spcAft>
              <a:buClr>
                <a:schemeClr val="dk1"/>
              </a:buClr>
              <a:buSzPts val="1400"/>
              <a:buChar char="○"/>
            </a:pPr>
            <a:r>
              <a:rPr lang="zh-TW">
                <a:solidFill>
                  <a:schemeClr val="dk1"/>
                </a:solidFill>
              </a:rPr>
              <a:t>Mistral-7B-Instruct-v0.3</a:t>
            </a:r>
            <a:endParaRPr>
              <a:solidFill>
                <a:schemeClr val="dk1"/>
              </a:solidFill>
            </a:endParaRPr>
          </a:p>
          <a:p>
            <a:pPr indent="-317500" lvl="1" marL="914400" rtl="0" algn="l">
              <a:lnSpc>
                <a:spcPct val="105000"/>
              </a:lnSpc>
              <a:spcBef>
                <a:spcPts val="0"/>
              </a:spcBef>
              <a:spcAft>
                <a:spcPts val="0"/>
              </a:spcAft>
              <a:buClr>
                <a:schemeClr val="dk1"/>
              </a:buClr>
              <a:buSzPts val="1400"/>
              <a:buChar char="○"/>
            </a:pPr>
            <a:r>
              <a:rPr lang="zh-TW">
                <a:solidFill>
                  <a:schemeClr val="dk1"/>
                </a:solidFill>
              </a:rPr>
              <a:t>Llama-3.1-8B-Instruct</a:t>
            </a:r>
            <a:endParaRPr>
              <a:solidFill>
                <a:schemeClr val="dk1"/>
              </a:solidFill>
            </a:endParaRPr>
          </a:p>
          <a:p>
            <a:pPr indent="-317500" lvl="1" marL="914400" rtl="0" algn="l">
              <a:lnSpc>
                <a:spcPct val="105000"/>
              </a:lnSpc>
              <a:spcBef>
                <a:spcPts val="0"/>
              </a:spcBef>
              <a:spcAft>
                <a:spcPts val="0"/>
              </a:spcAft>
              <a:buClr>
                <a:schemeClr val="dk1"/>
              </a:buClr>
              <a:buSzPts val="1400"/>
              <a:buChar char="○"/>
            </a:pPr>
            <a:r>
              <a:rPr lang="zh-TW">
                <a:solidFill>
                  <a:schemeClr val="dk1"/>
                </a:solidFill>
              </a:rPr>
              <a:t>Qwen2.5-7B-Instruct</a:t>
            </a:r>
            <a:endParaRPr>
              <a:solidFill>
                <a:schemeClr val="dk1"/>
              </a:solidFill>
            </a:endParaRPr>
          </a:p>
          <a:p>
            <a:pPr indent="-314960" lvl="0" marL="457200" rtl="0" algn="l">
              <a:lnSpc>
                <a:spcPct val="105000"/>
              </a:lnSpc>
              <a:spcBef>
                <a:spcPts val="0"/>
              </a:spcBef>
              <a:spcAft>
                <a:spcPts val="0"/>
              </a:spcAft>
              <a:buClr>
                <a:schemeClr val="dk1"/>
              </a:buClr>
              <a:buSzPts val="1360"/>
              <a:buChar char="●"/>
            </a:pPr>
            <a:r>
              <a:rPr b="1" lang="zh-TW" sz="1360">
                <a:solidFill>
                  <a:schemeClr val="dk1"/>
                </a:solidFill>
              </a:rPr>
              <a:t>Prompt:</a:t>
            </a:r>
            <a:endParaRPr b="1" sz="1360">
              <a:solidFill>
                <a:schemeClr val="dk1"/>
              </a:solidFill>
            </a:endParaRPr>
          </a:p>
          <a:p>
            <a:pPr indent="-304800" lvl="1" marL="914400" rtl="0" algn="l">
              <a:lnSpc>
                <a:spcPct val="105000"/>
              </a:lnSpc>
              <a:spcBef>
                <a:spcPts val="0"/>
              </a:spcBef>
              <a:spcAft>
                <a:spcPts val="0"/>
              </a:spcAft>
              <a:buClr>
                <a:schemeClr val="dk1"/>
              </a:buClr>
              <a:buSzPts val="1200"/>
              <a:buChar char="○"/>
            </a:pPr>
            <a:r>
              <a:rPr lang="zh-TW" sz="1200">
                <a:solidFill>
                  <a:schemeClr val="dk1"/>
                </a:solidFill>
              </a:rPr>
              <a:t>You are a Windows process knowledge base. Given an image path of an executable (e.g. \"C:\\\\Windows\\\\System32\\\\cmd.exe", "C:\\\\Program Files\\\\Google\\\\Chrome\\\\Application\\\\chrome.exe",), output a JSON description of what that executable generally is in Windows.</a:t>
            </a:r>
            <a:endParaRPr sz="1200">
              <a:solidFill>
                <a:schemeClr val="dk1"/>
              </a:solidFill>
            </a:endParaRPr>
          </a:p>
          <a:p>
            <a:pPr indent="-303530" lvl="1" marL="914400" rtl="0" algn="l">
              <a:lnSpc>
                <a:spcPct val="105000"/>
              </a:lnSpc>
              <a:spcBef>
                <a:spcPts val="0"/>
              </a:spcBef>
              <a:spcAft>
                <a:spcPts val="0"/>
              </a:spcAft>
              <a:buClr>
                <a:schemeClr val="dk1"/>
              </a:buClr>
              <a:buSzPts val="1180"/>
              <a:buChar char="○"/>
            </a:pPr>
            <a:r>
              <a:rPr lang="zh-TW" sz="1200">
                <a:solidFill>
                  <a:schemeClr val="dk1"/>
                </a:solidFill>
              </a:rPr>
              <a:t>Use only widely documented knowledge of the executable, plus what the filesystem location implies (e.g. "System32" = OS binary, "Program Files" = installed application, "AppData" = user-installed component). Use neutral, factual language describing what the program is and what it standardly does. For unknown \executables, describe them as generic user-mode applications without inventing details.</a:t>
            </a:r>
            <a:br>
              <a:rPr lang="zh-TW" sz="1180">
                <a:solidFill>
                  <a:schemeClr val="dk1"/>
                </a:solidFill>
              </a:rPr>
            </a:br>
            <a:endParaRPr sz="1180">
              <a:solidFill>
                <a:schemeClr val="dk1"/>
              </a:solidFill>
            </a:endParaRPr>
          </a:p>
          <a:p>
            <a:pPr indent="-304800" lvl="1" marL="914400" rtl="0" algn="l">
              <a:lnSpc>
                <a:spcPct val="105000"/>
              </a:lnSpc>
              <a:spcBef>
                <a:spcPts val="0"/>
              </a:spcBef>
              <a:spcAft>
                <a:spcPts val="0"/>
              </a:spcAft>
              <a:buClr>
                <a:schemeClr val="dk1"/>
              </a:buClr>
              <a:buSzPts val="1200"/>
              <a:buChar char="○"/>
            </a:pPr>
            <a:r>
              <a:rPr lang="zh-TW" sz="1200">
                <a:solidFill>
                  <a:schemeClr val="dk1"/>
                </a:solidFill>
              </a:rPr>
              <a:t>Hard rules:</a:t>
            </a:r>
            <a:endParaRPr sz="1200">
              <a:solidFill>
                <a:schemeClr val="dk1"/>
              </a:solidFill>
            </a:endParaRPr>
          </a:p>
          <a:p>
            <a:pPr indent="-304800" lvl="1" marL="914400" rtl="0" algn="l">
              <a:lnSpc>
                <a:spcPct val="105000"/>
              </a:lnSpc>
              <a:spcBef>
                <a:spcPts val="0"/>
              </a:spcBef>
              <a:spcAft>
                <a:spcPts val="0"/>
              </a:spcAft>
              <a:buClr>
                <a:schemeClr val="dk1"/>
              </a:buClr>
              <a:buSzPts val="1200"/>
              <a:buChar char="○"/>
            </a:pPr>
            <a:r>
              <a:rPr lang="zh-TW" sz="1200">
                <a:solidFill>
                  <a:schemeClr val="dk1"/>
                </a:solidFill>
              </a:rPr>
              <a:t>R1  Use only documented background knowledge. State what the program   is and what it standardly does.</a:t>
            </a:r>
            <a:endParaRPr sz="1200">
              <a:solidFill>
                <a:schemeClr val="dk1"/>
              </a:solidFill>
            </a:endParaRPr>
          </a:p>
          <a:p>
            <a:pPr indent="-304800" lvl="1" marL="914400" rtl="0" algn="l">
              <a:lnSpc>
                <a:spcPct val="105000"/>
              </a:lnSpc>
              <a:spcBef>
                <a:spcPts val="0"/>
              </a:spcBef>
              <a:spcAft>
                <a:spcPts val="0"/>
              </a:spcAft>
              <a:buClr>
                <a:schemeClr val="dk1"/>
              </a:buClr>
              <a:buSzPts val="1200"/>
              <a:buChar char="○"/>
            </a:pPr>
            <a:r>
              <a:rPr lang="zh-TW" sz="1200">
                <a:solidFill>
                  <a:schemeClr val="dk1"/>
                </a:solidFill>
              </a:rPr>
              <a:t>R2  Use concrete technical vocabulary (e.g. "loads service DLLs",    "renders web content", "interprets .ps1 scripts").</a:t>
            </a:r>
            <a:endParaRPr sz="1200">
              <a:solidFill>
                <a:schemeClr val="dk1"/>
              </a:solidFill>
            </a:endParaRPr>
          </a:p>
          <a:p>
            <a:pPr indent="-304800" lvl="1" marL="914400" rtl="0" algn="l">
              <a:lnSpc>
                <a:spcPct val="105000"/>
              </a:lnSpc>
              <a:spcBef>
                <a:spcPts val="0"/>
              </a:spcBef>
              <a:spcAft>
                <a:spcPts val="0"/>
              </a:spcAft>
              <a:buClr>
                <a:schemeClr val="dk1"/>
              </a:buClr>
              <a:buSzPts val="1200"/>
              <a:buChar char="○"/>
            </a:pPr>
            <a:r>
              <a:rPr lang="zh-TW" sz="1200">
                <a:solidFill>
                  <a:schemeClr val="dk1"/>
                </a:solidFill>
              </a:rPr>
              <a:t>R3  Stay neutral and present-tense factual. Avoid the words   "suspicious", "malicious", "benign", "anomalous", "attack",    "legitimate", "might", "could", "may", "possibly".</a:t>
            </a:r>
            <a:endParaRPr sz="1200">
              <a:solidFill>
                <a:schemeClr val="dk1"/>
              </a:solidFill>
            </a:endParaRPr>
          </a:p>
          <a:p>
            <a:pPr indent="-304800" lvl="1" marL="914400" rtl="0" algn="l">
              <a:lnSpc>
                <a:spcPct val="105000"/>
              </a:lnSpc>
              <a:spcBef>
                <a:spcPts val="0"/>
              </a:spcBef>
              <a:spcAft>
                <a:spcPts val="0"/>
              </a:spcAft>
              <a:buClr>
                <a:schemeClr val="dk1"/>
              </a:buClr>
              <a:buSzPts val="1200"/>
              <a:buChar char="○"/>
            </a:pPr>
            <a:r>
              <a:rPr lang="zh-TW" sz="1200">
                <a:solidFill>
                  <a:schemeClr val="dk1"/>
                </a:solidFill>
              </a:rPr>
              <a:t>R4  Output exactly ONE valid JSON object matching the schema. No markdown, no commentary, no text outside the JSON.</a:t>
            </a:r>
            <a:endParaRPr sz="1200">
              <a:solidFill>
                <a:schemeClr val="dk1"/>
              </a:solidFill>
            </a:endParaRPr>
          </a:p>
        </p:txBody>
      </p:sp>
      <p:sp>
        <p:nvSpPr>
          <p:cNvPr id="207" name="Google Shape;20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3"/>
          <p:cNvSpPr txBox="1"/>
          <p:nvPr>
            <p:ph type="title"/>
          </p:nvPr>
        </p:nvSpPr>
        <p:spPr>
          <a:xfrm>
            <a:off x="214775" y="67575"/>
            <a:ext cx="8859300" cy="893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TW" sz="2400"/>
              <a:t>實驗設定 - </a:t>
            </a:r>
            <a:r>
              <a:rPr lang="zh-TW" sz="2400"/>
              <a:t>Event </a:t>
            </a:r>
            <a:r>
              <a:rPr lang="zh-TW" sz="2400"/>
              <a:t>relation </a:t>
            </a:r>
            <a:r>
              <a:rPr lang="zh-TW" sz="2400"/>
              <a:t>mapping - ETW(32)</a:t>
            </a:r>
            <a:r>
              <a:rPr lang="zh-TW" sz="2400"/>
              <a:t> - KELLECT4APT</a:t>
            </a:r>
            <a:endParaRPr sz="2400"/>
          </a:p>
        </p:txBody>
      </p:sp>
      <p:sp>
        <p:nvSpPr>
          <p:cNvPr id="213" name="Google Shape;21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14" name="Google Shape;214;p23"/>
          <p:cNvPicPr preferRelativeResize="0"/>
          <p:nvPr/>
        </p:nvPicPr>
        <p:blipFill>
          <a:blip r:embed="rId3">
            <a:alphaModFix/>
          </a:blip>
          <a:stretch>
            <a:fillRect/>
          </a:stretch>
        </p:blipFill>
        <p:spPr>
          <a:xfrm>
            <a:off x="1205053" y="2299475"/>
            <a:ext cx="6733899" cy="2363750"/>
          </a:xfrm>
          <a:prstGeom prst="rect">
            <a:avLst/>
          </a:prstGeom>
          <a:noFill/>
          <a:ln cap="flat" cmpd="sng" w="9525">
            <a:solidFill>
              <a:schemeClr val="dk2"/>
            </a:solidFill>
            <a:prstDash val="solid"/>
            <a:round/>
            <a:headEnd len="sm" w="sm" type="none"/>
            <a:tailEnd len="sm" w="sm" type="none"/>
          </a:ln>
        </p:spPr>
      </p:pic>
      <p:sp>
        <p:nvSpPr>
          <p:cNvPr id="215" name="Google Shape;215;p23"/>
          <p:cNvSpPr txBox="1"/>
          <p:nvPr>
            <p:ph idx="1" type="body"/>
          </p:nvPr>
        </p:nvSpPr>
        <p:spPr>
          <a:xfrm>
            <a:off x="294750" y="839450"/>
            <a:ext cx="8554500" cy="893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zh-TW" sz="1600">
                <a:solidFill>
                  <a:schemeClr val="dk1"/>
                </a:solidFill>
              </a:rPr>
              <a:t>以下為ETW錄製工具中所採用的relation</a:t>
            </a: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應用於KELLECT4APT</a:t>
            </a:r>
            <a:endParaRPr sz="1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4"/>
          <p:cNvSpPr txBox="1"/>
          <p:nvPr>
            <p:ph type="title"/>
          </p:nvPr>
        </p:nvSpPr>
        <p:spPr>
          <a:xfrm>
            <a:off x="203100" y="59150"/>
            <a:ext cx="87378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zh-TW"/>
              <a:t>實驗設定 - </a:t>
            </a:r>
            <a:r>
              <a:rPr lang="zh-TW"/>
              <a:t>Event </a:t>
            </a:r>
            <a:r>
              <a:rPr lang="zh-TW"/>
              <a:t>relation </a:t>
            </a:r>
            <a:r>
              <a:rPr lang="zh-TW"/>
              <a:t>mapping - Procmon(53) - SAGA</a:t>
            </a:r>
            <a:endParaRPr/>
          </a:p>
        </p:txBody>
      </p:sp>
      <p:sp>
        <p:nvSpPr>
          <p:cNvPr id="221" name="Google Shape;22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22" name="Google Shape;222;p24"/>
          <p:cNvPicPr preferRelativeResize="0"/>
          <p:nvPr/>
        </p:nvPicPr>
        <p:blipFill>
          <a:blip r:embed="rId3">
            <a:alphaModFix/>
          </a:blip>
          <a:stretch>
            <a:fillRect/>
          </a:stretch>
        </p:blipFill>
        <p:spPr>
          <a:xfrm>
            <a:off x="1191375" y="1547200"/>
            <a:ext cx="6761249" cy="3340050"/>
          </a:xfrm>
          <a:prstGeom prst="rect">
            <a:avLst/>
          </a:prstGeom>
          <a:noFill/>
          <a:ln cap="flat" cmpd="sng" w="9525">
            <a:solidFill>
              <a:schemeClr val="dk2"/>
            </a:solidFill>
            <a:prstDash val="solid"/>
            <a:round/>
            <a:headEnd len="sm" w="sm" type="none"/>
            <a:tailEnd len="sm" w="sm" type="none"/>
          </a:ln>
        </p:spPr>
      </p:pic>
      <p:sp>
        <p:nvSpPr>
          <p:cNvPr id="223" name="Google Shape;223;p24"/>
          <p:cNvSpPr txBox="1"/>
          <p:nvPr>
            <p:ph idx="1" type="body"/>
          </p:nvPr>
        </p:nvSpPr>
        <p:spPr>
          <a:xfrm>
            <a:off x="294750" y="631850"/>
            <a:ext cx="8554500" cy="1632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zh-TW" sz="1600">
                <a:solidFill>
                  <a:schemeClr val="dk1"/>
                </a:solidFill>
              </a:rPr>
              <a:t>以下為</a:t>
            </a:r>
            <a:r>
              <a:rPr lang="zh-TW" sz="1600">
                <a:solidFill>
                  <a:schemeClr val="dk1"/>
                </a:solidFill>
              </a:rPr>
              <a:t>Procmon</a:t>
            </a:r>
            <a:r>
              <a:rPr lang="zh-TW" sz="1600">
                <a:solidFill>
                  <a:schemeClr val="dk1"/>
                </a:solidFill>
              </a:rPr>
              <a:t>錄製工具中所採用的relation</a:t>
            </a: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應用於SAGA</a:t>
            </a:r>
            <a:endParaRPr sz="16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5"/>
          <p:cNvSpPr/>
          <p:nvPr/>
        </p:nvSpPr>
        <p:spPr>
          <a:xfrm>
            <a:off x="3236925" y="3011125"/>
            <a:ext cx="119400" cy="2094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229" name="Google Shape;229;p25"/>
          <p:cNvSpPr txBox="1"/>
          <p:nvPr/>
        </p:nvSpPr>
        <p:spPr>
          <a:xfrm>
            <a:off x="3178425" y="2961925"/>
            <a:ext cx="267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800">
                <a:solidFill>
                  <a:schemeClr val="dk1"/>
                </a:solidFill>
              </a:rPr>
              <a:t>1</a:t>
            </a:r>
            <a:endParaRPr/>
          </a:p>
        </p:txBody>
      </p:sp>
      <p:sp>
        <p:nvSpPr>
          <p:cNvPr id="230" name="Google Shape;230;p25"/>
          <p:cNvSpPr/>
          <p:nvPr/>
        </p:nvSpPr>
        <p:spPr>
          <a:xfrm>
            <a:off x="2744925" y="2654025"/>
            <a:ext cx="119400" cy="2094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231" name="Google Shape;231;p25"/>
          <p:cNvSpPr txBox="1"/>
          <p:nvPr/>
        </p:nvSpPr>
        <p:spPr>
          <a:xfrm>
            <a:off x="2686425" y="2604825"/>
            <a:ext cx="267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800">
                <a:solidFill>
                  <a:schemeClr val="dk1"/>
                </a:solidFill>
              </a:rPr>
              <a:t>1</a:t>
            </a:r>
            <a:endParaRPr/>
          </a:p>
        </p:txBody>
      </p:sp>
      <p:sp>
        <p:nvSpPr>
          <p:cNvPr id="232" name="Google Shape;232;p25"/>
          <p:cNvSpPr txBox="1"/>
          <p:nvPr/>
        </p:nvSpPr>
        <p:spPr>
          <a:xfrm>
            <a:off x="724925" y="1822900"/>
            <a:ext cx="1045500" cy="458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zh-TW" sz="1200">
                <a:solidFill>
                  <a:schemeClr val="dk1"/>
                </a:solidFill>
              </a:rPr>
              <a:t>src  rel  dst</a:t>
            </a:r>
            <a:endParaRPr sz="1200"/>
          </a:p>
        </p:txBody>
      </p:sp>
      <p:sp>
        <p:nvSpPr>
          <p:cNvPr id="233" name="Google Shape;233;p25"/>
          <p:cNvSpPr txBox="1"/>
          <p:nvPr>
            <p:ph type="title"/>
          </p:nvPr>
        </p:nvSpPr>
        <p:spPr>
          <a:xfrm>
            <a:off x="164050" y="78550"/>
            <a:ext cx="8857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研究方法 - Anomaly Detection - OneClassSVM</a:t>
            </a:r>
            <a:endParaRPr/>
          </a:p>
        </p:txBody>
      </p:sp>
      <p:sp>
        <p:nvSpPr>
          <p:cNvPr id="234" name="Google Shape;234;p25"/>
          <p:cNvSpPr/>
          <p:nvPr/>
        </p:nvSpPr>
        <p:spPr>
          <a:xfrm>
            <a:off x="474166" y="1065897"/>
            <a:ext cx="1538100" cy="458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Process embedding</a:t>
            </a:r>
            <a:endParaRPr/>
          </a:p>
        </p:txBody>
      </p:sp>
      <p:sp>
        <p:nvSpPr>
          <p:cNvPr id="235" name="Google Shape;235;p25"/>
          <p:cNvSpPr/>
          <p:nvPr/>
        </p:nvSpPr>
        <p:spPr>
          <a:xfrm>
            <a:off x="5646825" y="987150"/>
            <a:ext cx="1146000" cy="615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zh-TW">
                <a:solidFill>
                  <a:schemeClr val="dk1"/>
                </a:solidFill>
              </a:rPr>
              <a:t>OneClass</a:t>
            </a:r>
            <a:br>
              <a:rPr lang="zh-TW">
                <a:solidFill>
                  <a:schemeClr val="dk1"/>
                </a:solidFill>
              </a:rPr>
            </a:br>
            <a:r>
              <a:rPr lang="zh-TW">
                <a:solidFill>
                  <a:schemeClr val="dk1"/>
                </a:solidFill>
              </a:rPr>
              <a:t>SVM</a:t>
            </a:r>
            <a:endParaRPr/>
          </a:p>
        </p:txBody>
      </p:sp>
      <p:sp>
        <p:nvSpPr>
          <p:cNvPr id="236" name="Google Shape;236;p25"/>
          <p:cNvSpPr/>
          <p:nvPr/>
        </p:nvSpPr>
        <p:spPr>
          <a:xfrm>
            <a:off x="7096375" y="1065900"/>
            <a:ext cx="1924800" cy="45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Predicted label(B/M)</a:t>
            </a:r>
            <a:endParaRPr/>
          </a:p>
        </p:txBody>
      </p:sp>
      <p:cxnSp>
        <p:nvCxnSpPr>
          <p:cNvPr id="237" name="Google Shape;237;p25"/>
          <p:cNvCxnSpPr>
            <a:stCxn id="235" idx="3"/>
            <a:endCxn id="236" idx="1"/>
          </p:cNvCxnSpPr>
          <p:nvPr/>
        </p:nvCxnSpPr>
        <p:spPr>
          <a:xfrm>
            <a:off x="6792825" y="1294950"/>
            <a:ext cx="303600" cy="0"/>
          </a:xfrm>
          <a:prstGeom prst="straightConnector1">
            <a:avLst/>
          </a:prstGeom>
          <a:noFill/>
          <a:ln cap="flat" cmpd="sng" w="9525">
            <a:solidFill>
              <a:schemeClr val="dk2"/>
            </a:solidFill>
            <a:prstDash val="solid"/>
            <a:round/>
            <a:headEnd len="med" w="med" type="none"/>
            <a:tailEnd len="med" w="med" type="triangle"/>
          </a:ln>
        </p:spPr>
      </p:cxnSp>
      <p:sp>
        <p:nvSpPr>
          <p:cNvPr id="238" name="Google Shape;238;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39" name="Google Shape;239;p25"/>
          <p:cNvSpPr txBox="1"/>
          <p:nvPr/>
        </p:nvSpPr>
        <p:spPr>
          <a:xfrm>
            <a:off x="9487125" y="37223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Loss = crf_loss + w * focal_loss</a:t>
            </a:r>
            <a:endParaRPr/>
          </a:p>
        </p:txBody>
      </p:sp>
      <p:grpSp>
        <p:nvGrpSpPr>
          <p:cNvPr id="240" name="Google Shape;240;p25"/>
          <p:cNvGrpSpPr/>
          <p:nvPr/>
        </p:nvGrpSpPr>
        <p:grpSpPr>
          <a:xfrm>
            <a:off x="10106175" y="4185525"/>
            <a:ext cx="1761900" cy="615600"/>
            <a:chOff x="6591025" y="4184550"/>
            <a:chExt cx="1761900" cy="615600"/>
          </a:xfrm>
        </p:grpSpPr>
        <p:sp>
          <p:nvSpPr>
            <p:cNvPr id="241" name="Google Shape;241;p25"/>
            <p:cNvSpPr txBox="1"/>
            <p:nvPr/>
          </p:nvSpPr>
          <p:spPr>
            <a:xfrm>
              <a:off x="6591025" y="4184550"/>
              <a:ext cx="1761900" cy="615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Train</a:t>
              </a:r>
              <a:endParaRPr>
                <a:solidFill>
                  <a:schemeClr val="dk1"/>
                </a:solidFill>
              </a:endParaRPr>
            </a:p>
            <a:p>
              <a:pPr indent="0" lvl="0" marL="0" rtl="0" algn="l">
                <a:spcBef>
                  <a:spcPts val="0"/>
                </a:spcBef>
                <a:spcAft>
                  <a:spcPts val="0"/>
                </a:spcAft>
                <a:buNone/>
              </a:pPr>
              <a:r>
                <a:rPr lang="zh-TW">
                  <a:solidFill>
                    <a:schemeClr val="dk1"/>
                  </a:solidFill>
                </a:rPr>
                <a:t>Inference</a:t>
              </a:r>
              <a:endParaRPr>
                <a:solidFill>
                  <a:schemeClr val="dk1"/>
                </a:solidFill>
              </a:endParaRPr>
            </a:p>
          </p:txBody>
        </p:sp>
        <p:cxnSp>
          <p:nvCxnSpPr>
            <p:cNvPr id="242" name="Google Shape;242;p25"/>
            <p:cNvCxnSpPr/>
            <p:nvPr/>
          </p:nvCxnSpPr>
          <p:spPr>
            <a:xfrm>
              <a:off x="7602450" y="4384661"/>
              <a:ext cx="589500" cy="0"/>
            </a:xfrm>
            <a:prstGeom prst="straightConnector1">
              <a:avLst/>
            </a:prstGeom>
            <a:noFill/>
            <a:ln cap="flat" cmpd="sng" w="9525">
              <a:solidFill>
                <a:schemeClr val="dk2"/>
              </a:solidFill>
              <a:prstDash val="solid"/>
              <a:round/>
              <a:headEnd len="med" w="med" type="none"/>
              <a:tailEnd len="med" w="med" type="triangle"/>
            </a:ln>
          </p:spPr>
        </p:cxnSp>
        <p:cxnSp>
          <p:nvCxnSpPr>
            <p:cNvPr id="243" name="Google Shape;243;p25"/>
            <p:cNvCxnSpPr/>
            <p:nvPr/>
          </p:nvCxnSpPr>
          <p:spPr>
            <a:xfrm>
              <a:off x="7602450" y="4600211"/>
              <a:ext cx="589500" cy="0"/>
            </a:xfrm>
            <a:prstGeom prst="straightConnector1">
              <a:avLst/>
            </a:prstGeom>
            <a:noFill/>
            <a:ln cap="flat" cmpd="sng" w="9525">
              <a:solidFill>
                <a:schemeClr val="accent1"/>
              </a:solidFill>
              <a:prstDash val="solid"/>
              <a:round/>
              <a:headEnd len="med" w="med" type="none"/>
              <a:tailEnd len="med" w="med" type="triangle"/>
            </a:ln>
          </p:spPr>
        </p:cxnSp>
      </p:grpSp>
      <p:cxnSp>
        <p:nvCxnSpPr>
          <p:cNvPr id="244" name="Google Shape;244;p25"/>
          <p:cNvCxnSpPr>
            <a:stCxn id="234" idx="3"/>
            <a:endCxn id="245" idx="1"/>
          </p:cNvCxnSpPr>
          <p:nvPr/>
        </p:nvCxnSpPr>
        <p:spPr>
          <a:xfrm>
            <a:off x="2012266" y="1294947"/>
            <a:ext cx="598800" cy="900"/>
          </a:xfrm>
          <a:prstGeom prst="straightConnector1">
            <a:avLst/>
          </a:prstGeom>
          <a:noFill/>
          <a:ln cap="flat" cmpd="sng" w="9525">
            <a:solidFill>
              <a:schemeClr val="dk2"/>
            </a:solidFill>
            <a:prstDash val="solid"/>
            <a:round/>
            <a:headEnd len="med" w="med" type="none"/>
            <a:tailEnd len="med" w="med" type="triangle"/>
          </a:ln>
        </p:spPr>
      </p:cxnSp>
      <p:sp>
        <p:nvSpPr>
          <p:cNvPr id="245" name="Google Shape;245;p25"/>
          <p:cNvSpPr/>
          <p:nvPr/>
        </p:nvSpPr>
        <p:spPr>
          <a:xfrm>
            <a:off x="2611075" y="1095610"/>
            <a:ext cx="17619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solidFill>
                  <a:schemeClr val="dk1"/>
                </a:solidFill>
              </a:rPr>
              <a:t>Feature extraction</a:t>
            </a:r>
            <a:endParaRPr/>
          </a:p>
        </p:txBody>
      </p:sp>
      <p:cxnSp>
        <p:nvCxnSpPr>
          <p:cNvPr id="246" name="Google Shape;246;p25"/>
          <p:cNvCxnSpPr>
            <a:stCxn id="245" idx="3"/>
            <a:endCxn id="247" idx="1"/>
          </p:cNvCxnSpPr>
          <p:nvPr/>
        </p:nvCxnSpPr>
        <p:spPr>
          <a:xfrm flipH="1" rot="10800000">
            <a:off x="4372975" y="1294810"/>
            <a:ext cx="201600" cy="900"/>
          </a:xfrm>
          <a:prstGeom prst="straightConnector1">
            <a:avLst/>
          </a:prstGeom>
          <a:noFill/>
          <a:ln cap="flat" cmpd="sng" w="9525">
            <a:solidFill>
              <a:schemeClr val="dk2"/>
            </a:solidFill>
            <a:prstDash val="solid"/>
            <a:round/>
            <a:headEnd len="med" w="med" type="none"/>
            <a:tailEnd len="med" w="med" type="triangle"/>
          </a:ln>
        </p:spPr>
      </p:cxnSp>
      <p:sp>
        <p:nvSpPr>
          <p:cNvPr id="248" name="Google Shape;248;p25"/>
          <p:cNvSpPr txBox="1"/>
          <p:nvPr/>
        </p:nvSpPr>
        <p:spPr>
          <a:xfrm>
            <a:off x="1519776" y="1276839"/>
            <a:ext cx="698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528</a:t>
            </a:r>
            <a:endParaRPr sz="1200"/>
          </a:p>
        </p:txBody>
      </p:sp>
      <p:sp>
        <p:nvSpPr>
          <p:cNvPr id="249" name="Google Shape;249;p25"/>
          <p:cNvSpPr txBox="1"/>
          <p:nvPr/>
        </p:nvSpPr>
        <p:spPr>
          <a:xfrm>
            <a:off x="724925" y="1984200"/>
            <a:ext cx="1045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256 16 256</a:t>
            </a:r>
            <a:endParaRPr sz="1200"/>
          </a:p>
        </p:txBody>
      </p:sp>
      <p:cxnSp>
        <p:nvCxnSpPr>
          <p:cNvPr id="250" name="Google Shape;250;p25"/>
          <p:cNvCxnSpPr/>
          <p:nvPr/>
        </p:nvCxnSpPr>
        <p:spPr>
          <a:xfrm flipH="1">
            <a:off x="1241299" y="1524000"/>
            <a:ext cx="607800" cy="1728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25"/>
          <p:cNvCxnSpPr>
            <a:stCxn id="232" idx="3"/>
            <a:endCxn id="252" idx="1"/>
          </p:cNvCxnSpPr>
          <p:nvPr/>
        </p:nvCxnSpPr>
        <p:spPr>
          <a:xfrm flipH="1" rot="10800000">
            <a:off x="1770425" y="1790650"/>
            <a:ext cx="297900" cy="261300"/>
          </a:xfrm>
          <a:prstGeom prst="bentConnector3">
            <a:avLst>
              <a:gd fmla="val 50001" name="adj1"/>
            </a:avLst>
          </a:prstGeom>
          <a:noFill/>
          <a:ln cap="flat" cmpd="sng" w="9525">
            <a:solidFill>
              <a:schemeClr val="dk2"/>
            </a:solidFill>
            <a:prstDash val="solid"/>
            <a:round/>
            <a:headEnd len="med" w="med" type="none"/>
            <a:tailEnd len="med" w="med" type="triangle"/>
          </a:ln>
        </p:spPr>
      </p:cxnSp>
      <p:sp>
        <p:nvSpPr>
          <p:cNvPr id="253" name="Google Shape;253;p25"/>
          <p:cNvSpPr txBox="1"/>
          <p:nvPr/>
        </p:nvSpPr>
        <p:spPr>
          <a:xfrm>
            <a:off x="2076905" y="1874950"/>
            <a:ext cx="482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100">
                <a:solidFill>
                  <a:schemeClr val="dk1"/>
                </a:solidFill>
              </a:rPr>
              <a:t>Max</a:t>
            </a:r>
            <a:endParaRPr/>
          </a:p>
        </p:txBody>
      </p:sp>
      <p:sp>
        <p:nvSpPr>
          <p:cNvPr id="254" name="Google Shape;254;p25"/>
          <p:cNvSpPr txBox="1"/>
          <p:nvPr/>
        </p:nvSpPr>
        <p:spPr>
          <a:xfrm>
            <a:off x="2060255" y="2135575"/>
            <a:ext cx="51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100">
                <a:solidFill>
                  <a:schemeClr val="dk1"/>
                </a:solidFill>
              </a:rPr>
              <a:t>Std</a:t>
            </a:r>
            <a:endParaRPr/>
          </a:p>
        </p:txBody>
      </p:sp>
      <p:sp>
        <p:nvSpPr>
          <p:cNvPr id="252" name="Google Shape;252;p25"/>
          <p:cNvSpPr txBox="1"/>
          <p:nvPr/>
        </p:nvSpPr>
        <p:spPr>
          <a:xfrm>
            <a:off x="2068330" y="1613725"/>
            <a:ext cx="5487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100">
                <a:solidFill>
                  <a:schemeClr val="dk1"/>
                </a:solidFill>
              </a:rPr>
              <a:t>Mean</a:t>
            </a:r>
            <a:endParaRPr sz="1100">
              <a:solidFill>
                <a:schemeClr val="dk1"/>
              </a:solidFill>
            </a:endParaRPr>
          </a:p>
        </p:txBody>
      </p:sp>
      <p:cxnSp>
        <p:nvCxnSpPr>
          <p:cNvPr id="255" name="Google Shape;255;p25"/>
          <p:cNvCxnSpPr>
            <a:stCxn id="232" idx="3"/>
            <a:endCxn id="253" idx="1"/>
          </p:cNvCxnSpPr>
          <p:nvPr/>
        </p:nvCxnSpPr>
        <p:spPr>
          <a:xfrm>
            <a:off x="1770425" y="2051950"/>
            <a:ext cx="306600" cy="0"/>
          </a:xfrm>
          <a:prstGeom prst="straightConnector1">
            <a:avLst/>
          </a:prstGeom>
          <a:noFill/>
          <a:ln cap="flat" cmpd="sng" w="9525">
            <a:solidFill>
              <a:schemeClr val="dk2"/>
            </a:solidFill>
            <a:prstDash val="solid"/>
            <a:round/>
            <a:headEnd len="med" w="med" type="none"/>
            <a:tailEnd len="med" w="med" type="triangle"/>
          </a:ln>
        </p:spPr>
      </p:cxnSp>
      <p:cxnSp>
        <p:nvCxnSpPr>
          <p:cNvPr id="256" name="Google Shape;256;p25"/>
          <p:cNvCxnSpPr>
            <a:stCxn id="232" idx="3"/>
            <a:endCxn id="254" idx="1"/>
          </p:cNvCxnSpPr>
          <p:nvPr/>
        </p:nvCxnSpPr>
        <p:spPr>
          <a:xfrm>
            <a:off x="1770425" y="2051950"/>
            <a:ext cx="289800" cy="260700"/>
          </a:xfrm>
          <a:prstGeom prst="bentConnector3">
            <a:avLst>
              <a:gd fmla="val 51087" name="adj1"/>
            </a:avLst>
          </a:prstGeom>
          <a:noFill/>
          <a:ln cap="flat" cmpd="sng" w="9525">
            <a:solidFill>
              <a:schemeClr val="dk2"/>
            </a:solidFill>
            <a:prstDash val="solid"/>
            <a:round/>
            <a:headEnd len="med" w="med" type="none"/>
            <a:tailEnd len="med" w="med" type="triangle"/>
          </a:ln>
        </p:spPr>
      </p:cxnSp>
      <p:cxnSp>
        <p:nvCxnSpPr>
          <p:cNvPr id="257" name="Google Shape;257;p25"/>
          <p:cNvCxnSpPr>
            <a:stCxn id="258" idx="3"/>
            <a:endCxn id="259" idx="1"/>
          </p:cNvCxnSpPr>
          <p:nvPr/>
        </p:nvCxnSpPr>
        <p:spPr>
          <a:xfrm flipH="1" rot="10800000">
            <a:off x="3040125" y="2051875"/>
            <a:ext cx="540300" cy="260700"/>
          </a:xfrm>
          <a:prstGeom prst="straightConnector1">
            <a:avLst/>
          </a:prstGeom>
          <a:noFill/>
          <a:ln cap="flat" cmpd="sng" w="9525">
            <a:solidFill>
              <a:schemeClr val="dk2"/>
            </a:solidFill>
            <a:prstDash val="solid"/>
            <a:round/>
            <a:headEnd len="med" w="med" type="none"/>
            <a:tailEnd len="med" w="med" type="triangle"/>
          </a:ln>
        </p:spPr>
      </p:cxnSp>
      <p:cxnSp>
        <p:nvCxnSpPr>
          <p:cNvPr id="260" name="Google Shape;260;p25"/>
          <p:cNvCxnSpPr>
            <a:stCxn id="261" idx="3"/>
            <a:endCxn id="259" idx="1"/>
          </p:cNvCxnSpPr>
          <p:nvPr/>
        </p:nvCxnSpPr>
        <p:spPr>
          <a:xfrm>
            <a:off x="3044163" y="2051650"/>
            <a:ext cx="536400" cy="300"/>
          </a:xfrm>
          <a:prstGeom prst="straightConnector1">
            <a:avLst/>
          </a:prstGeom>
          <a:noFill/>
          <a:ln cap="flat" cmpd="sng" w="9525">
            <a:solidFill>
              <a:schemeClr val="dk2"/>
            </a:solidFill>
            <a:prstDash val="solid"/>
            <a:round/>
            <a:headEnd len="med" w="med" type="none"/>
            <a:tailEnd len="med" w="med" type="triangle"/>
          </a:ln>
        </p:spPr>
      </p:cxnSp>
      <p:sp>
        <p:nvSpPr>
          <p:cNvPr id="259" name="Google Shape;259;p25"/>
          <p:cNvSpPr txBox="1"/>
          <p:nvPr/>
        </p:nvSpPr>
        <p:spPr>
          <a:xfrm>
            <a:off x="3580525" y="1867300"/>
            <a:ext cx="6987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Concat</a:t>
            </a:r>
            <a:endParaRPr sz="1200"/>
          </a:p>
        </p:txBody>
      </p:sp>
      <p:cxnSp>
        <p:nvCxnSpPr>
          <p:cNvPr id="262" name="Google Shape;262;p25"/>
          <p:cNvCxnSpPr>
            <a:stCxn id="263" idx="3"/>
            <a:endCxn id="259" idx="1"/>
          </p:cNvCxnSpPr>
          <p:nvPr/>
        </p:nvCxnSpPr>
        <p:spPr>
          <a:xfrm>
            <a:off x="3044163" y="1790725"/>
            <a:ext cx="536400" cy="261300"/>
          </a:xfrm>
          <a:prstGeom prst="straightConnector1">
            <a:avLst/>
          </a:prstGeom>
          <a:noFill/>
          <a:ln cap="flat" cmpd="sng" w="9525">
            <a:solidFill>
              <a:schemeClr val="dk2"/>
            </a:solidFill>
            <a:prstDash val="solid"/>
            <a:round/>
            <a:headEnd len="med" w="med" type="none"/>
            <a:tailEnd len="med" w="med" type="triangle"/>
          </a:ln>
        </p:spPr>
      </p:cxnSp>
      <p:sp>
        <p:nvSpPr>
          <p:cNvPr id="264" name="Google Shape;264;p25"/>
          <p:cNvSpPr txBox="1"/>
          <p:nvPr/>
        </p:nvSpPr>
        <p:spPr>
          <a:xfrm>
            <a:off x="4547725" y="1953550"/>
            <a:ext cx="651900" cy="196800"/>
          </a:xfrm>
          <a:prstGeom prst="rect">
            <a:avLst/>
          </a:prstGeom>
          <a:solidFill>
            <a:srgbClr val="EA99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1000">
                <a:solidFill>
                  <a:schemeClr val="dk1"/>
                </a:solidFill>
              </a:rPr>
              <a:t>1586</a:t>
            </a:r>
            <a:endParaRPr sz="1000"/>
          </a:p>
        </p:txBody>
      </p:sp>
      <p:cxnSp>
        <p:nvCxnSpPr>
          <p:cNvPr id="265" name="Google Shape;265;p25"/>
          <p:cNvCxnSpPr>
            <a:stCxn id="259" idx="3"/>
            <a:endCxn id="264" idx="1"/>
          </p:cNvCxnSpPr>
          <p:nvPr/>
        </p:nvCxnSpPr>
        <p:spPr>
          <a:xfrm>
            <a:off x="4279225" y="2051950"/>
            <a:ext cx="268500" cy="0"/>
          </a:xfrm>
          <a:prstGeom prst="straightConnector1">
            <a:avLst/>
          </a:prstGeom>
          <a:noFill/>
          <a:ln cap="flat" cmpd="sng" w="9525">
            <a:solidFill>
              <a:schemeClr val="dk2"/>
            </a:solidFill>
            <a:prstDash val="solid"/>
            <a:round/>
            <a:headEnd len="med" w="med" type="none"/>
            <a:tailEnd len="med" w="med" type="triangle"/>
          </a:ln>
        </p:spPr>
      </p:cxnSp>
      <p:sp>
        <p:nvSpPr>
          <p:cNvPr id="266" name="Google Shape;266;p25"/>
          <p:cNvSpPr txBox="1"/>
          <p:nvPr/>
        </p:nvSpPr>
        <p:spPr>
          <a:xfrm>
            <a:off x="4279218" y="2236721"/>
            <a:ext cx="698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200"/>
          </a:p>
        </p:txBody>
      </p:sp>
      <p:sp>
        <p:nvSpPr>
          <p:cNvPr id="267" name="Google Shape;267;p25"/>
          <p:cNvSpPr txBox="1"/>
          <p:nvPr/>
        </p:nvSpPr>
        <p:spPr>
          <a:xfrm>
            <a:off x="1398677" y="2547650"/>
            <a:ext cx="1372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t>process length</a:t>
            </a:r>
            <a:endParaRPr sz="1200"/>
          </a:p>
        </p:txBody>
      </p:sp>
      <p:cxnSp>
        <p:nvCxnSpPr>
          <p:cNvPr id="268" name="Google Shape;268;p25"/>
          <p:cNvCxnSpPr>
            <a:stCxn id="232" idx="2"/>
            <a:endCxn id="267" idx="1"/>
          </p:cNvCxnSpPr>
          <p:nvPr/>
        </p:nvCxnSpPr>
        <p:spPr>
          <a:xfrm flipH="1" rot="-5400000">
            <a:off x="1097525" y="2431150"/>
            <a:ext cx="451200" cy="150900"/>
          </a:xfrm>
          <a:prstGeom prst="bentConnector2">
            <a:avLst/>
          </a:prstGeom>
          <a:noFill/>
          <a:ln cap="flat" cmpd="sng" w="9525">
            <a:solidFill>
              <a:schemeClr val="dk2"/>
            </a:solidFill>
            <a:prstDash val="solid"/>
            <a:round/>
            <a:headEnd len="med" w="med" type="none"/>
            <a:tailEnd len="med" w="med" type="triangle"/>
          </a:ln>
        </p:spPr>
      </p:cxnSp>
      <p:cxnSp>
        <p:nvCxnSpPr>
          <p:cNvPr id="269" name="Google Shape;269;p25"/>
          <p:cNvCxnSpPr>
            <a:stCxn id="231" idx="3"/>
            <a:endCxn id="259" idx="2"/>
          </p:cNvCxnSpPr>
          <p:nvPr/>
        </p:nvCxnSpPr>
        <p:spPr>
          <a:xfrm flipH="1" rot="10800000">
            <a:off x="2954325" y="2236725"/>
            <a:ext cx="975600" cy="522000"/>
          </a:xfrm>
          <a:prstGeom prst="bentConnector2">
            <a:avLst/>
          </a:prstGeom>
          <a:noFill/>
          <a:ln cap="flat" cmpd="sng" w="9525">
            <a:solidFill>
              <a:schemeClr val="dk2"/>
            </a:solidFill>
            <a:prstDash val="solid"/>
            <a:round/>
            <a:headEnd len="med" w="med" type="none"/>
            <a:tailEnd len="med" w="med" type="triangle"/>
          </a:ln>
        </p:spPr>
      </p:cxnSp>
      <p:cxnSp>
        <p:nvCxnSpPr>
          <p:cNvPr id="270" name="Google Shape;270;p25"/>
          <p:cNvCxnSpPr>
            <a:stCxn id="264" idx="3"/>
            <a:endCxn id="271" idx="1"/>
          </p:cNvCxnSpPr>
          <p:nvPr/>
        </p:nvCxnSpPr>
        <p:spPr>
          <a:xfrm>
            <a:off x="5199625" y="2051950"/>
            <a:ext cx="292500" cy="0"/>
          </a:xfrm>
          <a:prstGeom prst="straightConnector1">
            <a:avLst/>
          </a:prstGeom>
          <a:noFill/>
          <a:ln cap="flat" cmpd="sng" w="9525">
            <a:solidFill>
              <a:schemeClr val="dk2"/>
            </a:solidFill>
            <a:prstDash val="solid"/>
            <a:round/>
            <a:headEnd len="med" w="med" type="none"/>
            <a:tailEnd len="med" w="med" type="triangle"/>
          </a:ln>
        </p:spPr>
      </p:cxnSp>
      <p:sp>
        <p:nvSpPr>
          <p:cNvPr id="272" name="Google Shape;272;p25"/>
          <p:cNvSpPr txBox="1"/>
          <p:nvPr/>
        </p:nvSpPr>
        <p:spPr>
          <a:xfrm>
            <a:off x="6588725" y="1867000"/>
            <a:ext cx="14715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OneClass SVM</a:t>
            </a:r>
            <a:endParaRPr sz="1200"/>
          </a:p>
        </p:txBody>
      </p:sp>
      <p:sp>
        <p:nvSpPr>
          <p:cNvPr id="273" name="Google Shape;273;p25"/>
          <p:cNvSpPr txBox="1"/>
          <p:nvPr/>
        </p:nvSpPr>
        <p:spPr>
          <a:xfrm>
            <a:off x="83326" y="3472925"/>
            <a:ext cx="3273000" cy="11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a:solidFill>
                  <a:schemeClr val="dk1"/>
                </a:solidFill>
              </a:rPr>
              <a:t>Total abilities : 16900</a:t>
            </a:r>
            <a:br>
              <a:rPr lang="zh-TW">
                <a:solidFill>
                  <a:schemeClr val="dk1"/>
                </a:solidFill>
              </a:rPr>
            </a:br>
            <a:r>
              <a:rPr lang="zh-TW">
                <a:solidFill>
                  <a:schemeClr val="dk1"/>
                </a:solidFill>
              </a:rPr>
              <a:t>Total Events: 7,949,998 events</a:t>
            </a:r>
            <a:br>
              <a:rPr lang="zh-TW">
                <a:solidFill>
                  <a:schemeClr val="dk1"/>
                </a:solidFill>
              </a:rPr>
            </a:br>
            <a:r>
              <a:rPr lang="zh-TW">
                <a:solidFill>
                  <a:schemeClr val="dk1"/>
                </a:solidFill>
              </a:rPr>
              <a:t>Benign : 4,146,957 events (52.16%)</a:t>
            </a:r>
            <a:br>
              <a:rPr lang="zh-TW">
                <a:solidFill>
                  <a:schemeClr val="dk1"/>
                </a:solidFill>
              </a:rPr>
            </a:br>
            <a:r>
              <a:rPr lang="zh-TW">
                <a:solidFill>
                  <a:schemeClr val="dk1"/>
                </a:solidFill>
              </a:rPr>
              <a:t>Malicious : 3,803,041 events(47.84%)</a:t>
            </a:r>
            <a:endParaRPr/>
          </a:p>
        </p:txBody>
      </p:sp>
      <p:sp>
        <p:nvSpPr>
          <p:cNvPr id="274" name="Google Shape;274;p25"/>
          <p:cNvSpPr txBox="1"/>
          <p:nvPr/>
        </p:nvSpPr>
        <p:spPr>
          <a:xfrm>
            <a:off x="1398575" y="2931175"/>
            <a:ext cx="181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solidFill>
                  <a:schemeClr val="dk1"/>
                </a:solidFill>
              </a:rPr>
              <a:t>Out-Of-Vocabulary Rate</a:t>
            </a:r>
            <a:endParaRPr/>
          </a:p>
        </p:txBody>
      </p:sp>
      <p:cxnSp>
        <p:nvCxnSpPr>
          <p:cNvPr id="275" name="Google Shape;275;p25"/>
          <p:cNvCxnSpPr>
            <a:stCxn id="249" idx="2"/>
            <a:endCxn id="274" idx="1"/>
          </p:cNvCxnSpPr>
          <p:nvPr/>
        </p:nvCxnSpPr>
        <p:spPr>
          <a:xfrm flipH="1" rot="-5400000">
            <a:off x="941975" y="2659200"/>
            <a:ext cx="762300" cy="150900"/>
          </a:xfrm>
          <a:prstGeom prst="bentConnector2">
            <a:avLst/>
          </a:prstGeom>
          <a:noFill/>
          <a:ln cap="flat" cmpd="sng" w="9525">
            <a:solidFill>
              <a:schemeClr val="dk2"/>
            </a:solidFill>
            <a:prstDash val="solid"/>
            <a:round/>
            <a:headEnd len="med" w="med" type="none"/>
            <a:tailEnd len="med" w="med" type="triangle"/>
          </a:ln>
        </p:spPr>
      </p:cxnSp>
      <p:sp>
        <p:nvSpPr>
          <p:cNvPr id="263" name="Google Shape;263;p25"/>
          <p:cNvSpPr/>
          <p:nvPr/>
        </p:nvSpPr>
        <p:spPr>
          <a:xfrm>
            <a:off x="2604663" y="1686025"/>
            <a:ext cx="439500" cy="2094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800"/>
              <a:t>528</a:t>
            </a:r>
            <a:endParaRPr sz="800"/>
          </a:p>
        </p:txBody>
      </p:sp>
      <p:sp>
        <p:nvSpPr>
          <p:cNvPr id="261" name="Google Shape;261;p25"/>
          <p:cNvSpPr/>
          <p:nvPr/>
        </p:nvSpPr>
        <p:spPr>
          <a:xfrm>
            <a:off x="2604663" y="1946950"/>
            <a:ext cx="439500" cy="2094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800"/>
              <a:t>528</a:t>
            </a:r>
            <a:endParaRPr sz="800"/>
          </a:p>
        </p:txBody>
      </p:sp>
      <p:sp>
        <p:nvSpPr>
          <p:cNvPr id="258" name="Google Shape;258;p25"/>
          <p:cNvSpPr/>
          <p:nvPr/>
        </p:nvSpPr>
        <p:spPr>
          <a:xfrm>
            <a:off x="2600625" y="2207875"/>
            <a:ext cx="439500" cy="209400"/>
          </a:xfrm>
          <a:prstGeom prst="rect">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800"/>
              <a:t>528</a:t>
            </a:r>
            <a:endParaRPr sz="800"/>
          </a:p>
        </p:txBody>
      </p:sp>
      <p:cxnSp>
        <p:nvCxnSpPr>
          <p:cNvPr id="276" name="Google Shape;276;p25"/>
          <p:cNvCxnSpPr>
            <a:stCxn id="228" idx="0"/>
            <a:endCxn id="259" idx="2"/>
          </p:cNvCxnSpPr>
          <p:nvPr/>
        </p:nvCxnSpPr>
        <p:spPr>
          <a:xfrm rot="-5400000">
            <a:off x="3225975" y="2307175"/>
            <a:ext cx="774600" cy="633300"/>
          </a:xfrm>
          <a:prstGeom prst="bentConnector3">
            <a:avLst>
              <a:gd fmla="val 32436" name="adj1"/>
            </a:avLst>
          </a:prstGeom>
          <a:noFill/>
          <a:ln cap="flat" cmpd="sng" w="9525">
            <a:solidFill>
              <a:schemeClr val="dk2"/>
            </a:solidFill>
            <a:prstDash val="solid"/>
            <a:round/>
            <a:headEnd len="med" w="med" type="none"/>
            <a:tailEnd len="med" w="med" type="triangle"/>
          </a:ln>
        </p:spPr>
      </p:cxnSp>
      <p:sp>
        <p:nvSpPr>
          <p:cNvPr id="271" name="Google Shape;271;p25"/>
          <p:cNvSpPr txBox="1"/>
          <p:nvPr/>
        </p:nvSpPr>
        <p:spPr>
          <a:xfrm>
            <a:off x="5492100" y="1867288"/>
            <a:ext cx="8709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t>Nystroem</a:t>
            </a:r>
            <a:endParaRPr sz="1200"/>
          </a:p>
        </p:txBody>
      </p:sp>
      <p:cxnSp>
        <p:nvCxnSpPr>
          <p:cNvPr id="277" name="Google Shape;277;p25"/>
          <p:cNvCxnSpPr>
            <a:stCxn id="271" idx="3"/>
            <a:endCxn id="272" idx="1"/>
          </p:cNvCxnSpPr>
          <p:nvPr/>
        </p:nvCxnSpPr>
        <p:spPr>
          <a:xfrm flipH="1" rot="10800000">
            <a:off x="6363000" y="2051638"/>
            <a:ext cx="225600" cy="300"/>
          </a:xfrm>
          <a:prstGeom prst="straightConnector1">
            <a:avLst/>
          </a:prstGeom>
          <a:noFill/>
          <a:ln cap="flat" cmpd="sng" w="9525">
            <a:solidFill>
              <a:schemeClr val="dk2"/>
            </a:solidFill>
            <a:prstDash val="solid"/>
            <a:round/>
            <a:headEnd len="med" w="med" type="none"/>
            <a:tailEnd len="med" w="med" type="triangle"/>
          </a:ln>
        </p:spPr>
      </p:cxnSp>
      <p:sp>
        <p:nvSpPr>
          <p:cNvPr id="247" name="Google Shape;247;p25"/>
          <p:cNvSpPr txBox="1"/>
          <p:nvPr/>
        </p:nvSpPr>
        <p:spPr>
          <a:xfrm>
            <a:off x="4574450" y="1110288"/>
            <a:ext cx="870900" cy="369300"/>
          </a:xfrm>
          <a:prstGeom prst="rect">
            <a:avLst/>
          </a:prstGeom>
          <a:solidFill>
            <a:schemeClr val="lt2"/>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t>Nystroem</a:t>
            </a:r>
            <a:endParaRPr sz="1200"/>
          </a:p>
        </p:txBody>
      </p:sp>
      <p:cxnSp>
        <p:nvCxnSpPr>
          <p:cNvPr id="278" name="Google Shape;278;p25"/>
          <p:cNvCxnSpPr>
            <a:stCxn id="247" idx="3"/>
            <a:endCxn id="235" idx="1"/>
          </p:cNvCxnSpPr>
          <p:nvPr/>
        </p:nvCxnSpPr>
        <p:spPr>
          <a:xfrm>
            <a:off x="5445350" y="1294938"/>
            <a:ext cx="201600" cy="0"/>
          </a:xfrm>
          <a:prstGeom prst="straightConnector1">
            <a:avLst/>
          </a:prstGeom>
          <a:noFill/>
          <a:ln cap="flat" cmpd="sng" w="9525">
            <a:solidFill>
              <a:schemeClr val="dk2"/>
            </a:solidFill>
            <a:prstDash val="solid"/>
            <a:round/>
            <a:headEnd len="med" w="med" type="none"/>
            <a:tailEnd len="med" w="med" type="triangle"/>
          </a:ln>
        </p:spPr>
      </p:cxnSp>
      <p:cxnSp>
        <p:nvCxnSpPr>
          <p:cNvPr id="279" name="Google Shape;279;p25"/>
          <p:cNvCxnSpPr>
            <a:stCxn id="272" idx="3"/>
            <a:endCxn id="280" idx="0"/>
          </p:cNvCxnSpPr>
          <p:nvPr/>
        </p:nvCxnSpPr>
        <p:spPr>
          <a:xfrm>
            <a:off x="8060225" y="2051650"/>
            <a:ext cx="292500" cy="324300"/>
          </a:xfrm>
          <a:prstGeom prst="bentConnector2">
            <a:avLst/>
          </a:prstGeom>
          <a:noFill/>
          <a:ln cap="flat" cmpd="sng" w="9525">
            <a:solidFill>
              <a:schemeClr val="dk2"/>
            </a:solidFill>
            <a:prstDash val="solid"/>
            <a:round/>
            <a:headEnd len="med" w="med" type="none"/>
            <a:tailEnd len="med" w="med" type="triangle"/>
          </a:ln>
        </p:spPr>
      </p:cxnSp>
      <p:sp>
        <p:nvSpPr>
          <p:cNvPr id="280" name="Google Shape;280;p25"/>
          <p:cNvSpPr txBox="1"/>
          <p:nvPr/>
        </p:nvSpPr>
        <p:spPr>
          <a:xfrm>
            <a:off x="7617025" y="2375913"/>
            <a:ext cx="14715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Anomaly label</a:t>
            </a: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6"/>
          <p:cNvSpPr txBox="1"/>
          <p:nvPr>
            <p:ph type="title"/>
          </p:nvPr>
        </p:nvSpPr>
        <p:spPr>
          <a:xfrm>
            <a:off x="164050" y="78550"/>
            <a:ext cx="7820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研究方法 - </a:t>
            </a:r>
            <a:r>
              <a:rPr lang="zh-TW"/>
              <a:t>Anomaly detection - </a:t>
            </a:r>
            <a:r>
              <a:rPr lang="zh-TW"/>
              <a:t>Nystroem</a:t>
            </a:r>
            <a:endParaRPr/>
          </a:p>
        </p:txBody>
      </p:sp>
      <p:sp>
        <p:nvSpPr>
          <p:cNvPr id="286" name="Google Shape;28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87" name="Google Shape;287;p26"/>
          <p:cNvSpPr txBox="1"/>
          <p:nvPr/>
        </p:nvSpPr>
        <p:spPr>
          <a:xfrm>
            <a:off x="9487125" y="37223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Loss = crf_loss + w * focal_loss</a:t>
            </a:r>
            <a:endParaRPr/>
          </a:p>
        </p:txBody>
      </p:sp>
      <p:grpSp>
        <p:nvGrpSpPr>
          <p:cNvPr id="288" name="Google Shape;288;p26"/>
          <p:cNvGrpSpPr/>
          <p:nvPr/>
        </p:nvGrpSpPr>
        <p:grpSpPr>
          <a:xfrm>
            <a:off x="10106175" y="4185525"/>
            <a:ext cx="1761900" cy="615600"/>
            <a:chOff x="6591025" y="4184550"/>
            <a:chExt cx="1761900" cy="615600"/>
          </a:xfrm>
        </p:grpSpPr>
        <p:sp>
          <p:nvSpPr>
            <p:cNvPr id="289" name="Google Shape;289;p26"/>
            <p:cNvSpPr txBox="1"/>
            <p:nvPr/>
          </p:nvSpPr>
          <p:spPr>
            <a:xfrm>
              <a:off x="6591025" y="4184550"/>
              <a:ext cx="1761900" cy="615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Train</a:t>
              </a:r>
              <a:endParaRPr>
                <a:solidFill>
                  <a:schemeClr val="dk1"/>
                </a:solidFill>
              </a:endParaRPr>
            </a:p>
            <a:p>
              <a:pPr indent="0" lvl="0" marL="0" rtl="0" algn="l">
                <a:spcBef>
                  <a:spcPts val="0"/>
                </a:spcBef>
                <a:spcAft>
                  <a:spcPts val="0"/>
                </a:spcAft>
                <a:buNone/>
              </a:pPr>
              <a:r>
                <a:rPr lang="zh-TW">
                  <a:solidFill>
                    <a:schemeClr val="dk1"/>
                  </a:solidFill>
                </a:rPr>
                <a:t>Inference</a:t>
              </a:r>
              <a:endParaRPr>
                <a:solidFill>
                  <a:schemeClr val="dk1"/>
                </a:solidFill>
              </a:endParaRPr>
            </a:p>
          </p:txBody>
        </p:sp>
        <p:cxnSp>
          <p:nvCxnSpPr>
            <p:cNvPr id="290" name="Google Shape;290;p26"/>
            <p:cNvCxnSpPr/>
            <p:nvPr/>
          </p:nvCxnSpPr>
          <p:spPr>
            <a:xfrm>
              <a:off x="7602450" y="4384661"/>
              <a:ext cx="589500" cy="0"/>
            </a:xfrm>
            <a:prstGeom prst="straightConnector1">
              <a:avLst/>
            </a:prstGeom>
            <a:noFill/>
            <a:ln cap="flat" cmpd="sng" w="9525">
              <a:solidFill>
                <a:schemeClr val="dk2"/>
              </a:solidFill>
              <a:prstDash val="solid"/>
              <a:round/>
              <a:headEnd len="med" w="med" type="none"/>
              <a:tailEnd len="med" w="med" type="triangle"/>
            </a:ln>
          </p:spPr>
        </p:cxnSp>
        <p:cxnSp>
          <p:nvCxnSpPr>
            <p:cNvPr id="291" name="Google Shape;291;p26"/>
            <p:cNvCxnSpPr/>
            <p:nvPr/>
          </p:nvCxnSpPr>
          <p:spPr>
            <a:xfrm>
              <a:off x="7602450" y="4600211"/>
              <a:ext cx="589500" cy="0"/>
            </a:xfrm>
            <a:prstGeom prst="straightConnector1">
              <a:avLst/>
            </a:prstGeom>
            <a:noFill/>
            <a:ln cap="flat" cmpd="sng" w="9525">
              <a:solidFill>
                <a:schemeClr val="accent1"/>
              </a:solidFill>
              <a:prstDash val="solid"/>
              <a:round/>
              <a:headEnd len="med" w="med" type="none"/>
              <a:tailEnd len="med" w="med" type="triangle"/>
            </a:ln>
          </p:spPr>
        </p:cxnSp>
      </p:grpSp>
      <p:graphicFrame>
        <p:nvGraphicFramePr>
          <p:cNvPr id="292" name="Google Shape;292;p26"/>
          <p:cNvGraphicFramePr/>
          <p:nvPr/>
        </p:nvGraphicFramePr>
        <p:xfrm>
          <a:off x="309563" y="971550"/>
          <a:ext cx="3000000" cy="3000000"/>
        </p:xfrm>
        <a:graphic>
          <a:graphicData uri="http://schemas.openxmlformats.org/drawingml/2006/table">
            <a:tbl>
              <a:tblPr>
                <a:noFill/>
                <a:tableStyleId>{32E205D6-CF57-4EEE-85BA-89C9C54A6AD1}</a:tableStyleId>
              </a:tblPr>
              <a:tblGrid>
                <a:gridCol w="2152650"/>
                <a:gridCol w="1114425"/>
                <a:gridCol w="1409700"/>
                <a:gridCol w="1390650"/>
                <a:gridCol w="1390650"/>
                <a:gridCol w="1066800"/>
              </a:tblGrid>
              <a:tr h="428625">
                <a:tc>
                  <a:txBody>
                    <a:bodyPr/>
                    <a:lstStyle/>
                    <a:p>
                      <a:pPr indent="0" lvl="0" marL="0" rtl="0" algn="ctr">
                        <a:lnSpc>
                          <a:spcPct val="115000"/>
                        </a:lnSpc>
                        <a:spcBef>
                          <a:spcPts val="0"/>
                        </a:spcBef>
                        <a:spcAft>
                          <a:spcPts val="0"/>
                        </a:spcAft>
                        <a:buNone/>
                      </a:pPr>
                      <a:r>
                        <a:rPr b="1" lang="zh-TW" sz="1000">
                          <a:solidFill>
                            <a:schemeClr val="dk1"/>
                          </a:solidFill>
                        </a:rPr>
                        <a:t>Architecture</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ν</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Precision</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Recall</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F1-Score</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Complexity</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r h="428625">
                <a:tc>
                  <a:txBody>
                    <a:bodyPr/>
                    <a:lstStyle/>
                    <a:p>
                      <a:pPr indent="0" lvl="0" marL="0" rtl="0" algn="l">
                        <a:lnSpc>
                          <a:spcPct val="115000"/>
                        </a:lnSpc>
                        <a:spcBef>
                          <a:spcPts val="0"/>
                        </a:spcBef>
                        <a:spcAft>
                          <a:spcPts val="0"/>
                        </a:spcAft>
                        <a:buNone/>
                      </a:pPr>
                      <a:r>
                        <a:rPr lang="zh-TW" sz="1000">
                          <a:solidFill>
                            <a:schemeClr val="dk1"/>
                          </a:solidFill>
                        </a:rPr>
                        <a:t>RBF OCSVM (best)</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0.12</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0.829</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0.828</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0.838</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O(n²)–O(n³)</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r h="428625">
                <a:tc>
                  <a:txBody>
                    <a:bodyPr/>
                    <a:lstStyle/>
                    <a:p>
                      <a:pPr indent="0" lvl="0" marL="0" rtl="0" algn="l">
                        <a:lnSpc>
                          <a:spcPct val="115000"/>
                        </a:lnSpc>
                        <a:spcBef>
                          <a:spcPts val="0"/>
                        </a:spcBef>
                        <a:spcAft>
                          <a:spcPts val="0"/>
                        </a:spcAft>
                        <a:buNone/>
                      </a:pPr>
                      <a:r>
                        <a:rPr b="1" lang="zh-TW" sz="1000">
                          <a:solidFill>
                            <a:schemeClr val="dk1"/>
                          </a:solidFill>
                        </a:rPr>
                        <a:t>Nystrom + OCSVM</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0.001</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0.842</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0.959</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0.897</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~O(n)</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bl>
          </a:graphicData>
        </a:graphic>
      </p:graphicFrame>
      <p:sp>
        <p:nvSpPr>
          <p:cNvPr id="293" name="Google Shape;293;p26"/>
          <p:cNvSpPr txBox="1"/>
          <p:nvPr/>
        </p:nvSpPr>
        <p:spPr>
          <a:xfrm>
            <a:off x="309600" y="2721575"/>
            <a:ext cx="85248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zh-TW"/>
              <a:t>核心問題：RBF-OCSVM 核矩陣複雜度 O(n²)–O(n³)，百萬級事件規模下逼近可訓練上限（SAGA benign 4,146,957 筆）。</a:t>
            </a:r>
            <a:endParaRPr/>
          </a:p>
          <a:p>
            <a:pPr indent="-317500" lvl="0" marL="457200" rtl="0" algn="l">
              <a:spcBef>
                <a:spcPts val="0"/>
              </a:spcBef>
              <a:spcAft>
                <a:spcPts val="0"/>
              </a:spcAft>
              <a:buSzPts val="1400"/>
              <a:buChar char="●"/>
            </a:pPr>
            <a:r>
              <a:rPr lang="zh-TW"/>
              <a:t>Nystrom 近似：以 m≪n 個地標點重建低秩特徵映射，改用線性 SGD-OCSVM 求解，複雜度降至近似線性。</a:t>
            </a:r>
            <a:endParaRPr/>
          </a:p>
          <a:p>
            <a:pPr indent="-317500" lvl="0" marL="457200" rtl="0" algn="l">
              <a:spcBef>
                <a:spcPts val="0"/>
              </a:spcBef>
              <a:spcAft>
                <a:spcPts val="0"/>
              </a:spcAft>
              <a:buSzPts val="1400"/>
              <a:buChar char="●"/>
            </a:pPr>
            <a:r>
              <a:rPr lang="zh-TW"/>
              <a:t>實驗結果：Nystrom(ν=0.001) F1 0.897 優於窮舉六組 ν 中最佳之 RBF-OCSVM(ν=0.12) F1 0.838，效率與效能兼具。</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7"/>
          <p:cNvSpPr/>
          <p:nvPr/>
        </p:nvSpPr>
        <p:spPr>
          <a:xfrm rot="5400000">
            <a:off x="822512" y="739075"/>
            <a:ext cx="5663400" cy="17826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27"/>
          <p:cNvSpPr/>
          <p:nvPr/>
        </p:nvSpPr>
        <p:spPr>
          <a:xfrm rot="5400000">
            <a:off x="5847724" y="39485"/>
            <a:ext cx="961800" cy="13134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27"/>
          <p:cNvSpPr/>
          <p:nvPr/>
        </p:nvSpPr>
        <p:spPr>
          <a:xfrm>
            <a:off x="-384858" y="3752693"/>
            <a:ext cx="6607800" cy="8070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7"/>
          <p:cNvSpPr/>
          <p:nvPr/>
        </p:nvSpPr>
        <p:spPr>
          <a:xfrm>
            <a:off x="2836280" y="3221838"/>
            <a:ext cx="1631100" cy="956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27"/>
          <p:cNvSpPr txBox="1"/>
          <p:nvPr/>
        </p:nvSpPr>
        <p:spPr>
          <a:xfrm>
            <a:off x="1850149" y="3224124"/>
            <a:ext cx="11235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Chunking</a:t>
            </a:r>
            <a:endParaRPr/>
          </a:p>
        </p:txBody>
      </p:sp>
      <p:sp>
        <p:nvSpPr>
          <p:cNvPr id="303" name="Google Shape;303;p27"/>
          <p:cNvSpPr txBox="1"/>
          <p:nvPr>
            <p:ph type="title"/>
          </p:nvPr>
        </p:nvSpPr>
        <p:spPr>
          <a:xfrm>
            <a:off x="33074" y="19025"/>
            <a:ext cx="4938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研究方法</a:t>
            </a:r>
            <a:r>
              <a:rPr lang="zh-TW"/>
              <a:t>- TTP detection - k-hop</a:t>
            </a:r>
            <a:endParaRPr/>
          </a:p>
          <a:p>
            <a:pPr indent="0" lvl="0" marL="0" rtl="0" algn="l">
              <a:spcBef>
                <a:spcPts val="0"/>
              </a:spcBef>
              <a:spcAft>
                <a:spcPts val="0"/>
              </a:spcAft>
              <a:buNone/>
            </a:pPr>
            <a:r>
              <a:t/>
            </a:r>
            <a:endParaRPr/>
          </a:p>
        </p:txBody>
      </p:sp>
      <p:sp>
        <p:nvSpPr>
          <p:cNvPr id="304" name="Google Shape;304;p27"/>
          <p:cNvSpPr/>
          <p:nvPr/>
        </p:nvSpPr>
        <p:spPr>
          <a:xfrm>
            <a:off x="402079" y="651250"/>
            <a:ext cx="1538100" cy="458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Event Embedding</a:t>
            </a:r>
            <a:endParaRPr/>
          </a:p>
        </p:txBody>
      </p:sp>
      <p:sp>
        <p:nvSpPr>
          <p:cNvPr id="305" name="Google Shape;305;p27"/>
          <p:cNvSpPr/>
          <p:nvPr/>
        </p:nvSpPr>
        <p:spPr>
          <a:xfrm>
            <a:off x="5353125" y="2944075"/>
            <a:ext cx="1950900" cy="2688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Transformer Encoder</a:t>
            </a:r>
            <a:endParaRPr/>
          </a:p>
        </p:txBody>
      </p:sp>
      <p:cxnSp>
        <p:nvCxnSpPr>
          <p:cNvPr id="306" name="Google Shape;306;p27"/>
          <p:cNvCxnSpPr>
            <a:stCxn id="307" idx="0"/>
            <a:endCxn id="299" idx="3"/>
          </p:cNvCxnSpPr>
          <p:nvPr/>
        </p:nvCxnSpPr>
        <p:spPr>
          <a:xfrm rot="10800000">
            <a:off x="6328625" y="1177075"/>
            <a:ext cx="0" cy="178800"/>
          </a:xfrm>
          <a:prstGeom prst="straightConnector1">
            <a:avLst/>
          </a:prstGeom>
          <a:noFill/>
          <a:ln cap="flat" cmpd="sng" w="9525">
            <a:solidFill>
              <a:schemeClr val="dk2"/>
            </a:solidFill>
            <a:prstDash val="solid"/>
            <a:round/>
            <a:headEnd len="med" w="med" type="none"/>
            <a:tailEnd len="med" w="med" type="triangle"/>
          </a:ln>
        </p:spPr>
      </p:cxnSp>
      <p:cxnSp>
        <p:nvCxnSpPr>
          <p:cNvPr id="308" name="Google Shape;308;p27"/>
          <p:cNvCxnSpPr>
            <a:stCxn id="305" idx="0"/>
            <a:endCxn id="309" idx="2"/>
          </p:cNvCxnSpPr>
          <p:nvPr/>
        </p:nvCxnSpPr>
        <p:spPr>
          <a:xfrm rot="10800000">
            <a:off x="6328575" y="2789875"/>
            <a:ext cx="0" cy="154200"/>
          </a:xfrm>
          <a:prstGeom prst="straightConnector1">
            <a:avLst/>
          </a:prstGeom>
          <a:noFill/>
          <a:ln cap="flat" cmpd="sng" w="9525">
            <a:solidFill>
              <a:schemeClr val="dk2"/>
            </a:solidFill>
            <a:prstDash val="solid"/>
            <a:round/>
            <a:headEnd len="med" w="med" type="none"/>
            <a:tailEnd len="med" w="med" type="triangle"/>
          </a:ln>
        </p:spPr>
      </p:cxnSp>
      <p:grpSp>
        <p:nvGrpSpPr>
          <p:cNvPr id="310" name="Google Shape;310;p27"/>
          <p:cNvGrpSpPr/>
          <p:nvPr/>
        </p:nvGrpSpPr>
        <p:grpSpPr>
          <a:xfrm>
            <a:off x="127575" y="1378113"/>
            <a:ext cx="2087100" cy="1531200"/>
            <a:chOff x="3400375" y="651250"/>
            <a:chExt cx="2087100" cy="1531200"/>
          </a:xfrm>
        </p:grpSpPr>
        <p:sp>
          <p:nvSpPr>
            <p:cNvPr id="311" name="Google Shape;311;p27"/>
            <p:cNvSpPr/>
            <p:nvPr/>
          </p:nvSpPr>
          <p:spPr>
            <a:xfrm>
              <a:off x="3400375" y="651250"/>
              <a:ext cx="2087100" cy="1531200"/>
            </a:xfrm>
            <a:prstGeom prst="rect">
              <a:avLst/>
            </a:prstGeom>
            <a:solidFill>
              <a:srgbClr val="C9DAF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zh-TW">
                  <a:solidFill>
                    <a:schemeClr val="dk1"/>
                  </a:solidFill>
                </a:rPr>
                <a:t>OneClassSVM</a:t>
              </a:r>
              <a:endParaRPr/>
            </a:p>
          </p:txBody>
        </p:sp>
        <p:sp>
          <p:nvSpPr>
            <p:cNvPr id="312" name="Google Shape;312;p27"/>
            <p:cNvSpPr/>
            <p:nvPr/>
          </p:nvSpPr>
          <p:spPr>
            <a:xfrm>
              <a:off x="3912775" y="1055025"/>
              <a:ext cx="10623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solidFill>
                    <a:schemeClr val="dk1"/>
                  </a:solidFill>
                </a:rPr>
                <a:t>Nystroem</a:t>
              </a:r>
              <a:endParaRPr/>
            </a:p>
          </p:txBody>
        </p:sp>
        <p:sp>
          <p:nvSpPr>
            <p:cNvPr id="313" name="Google Shape;313;p27"/>
            <p:cNvSpPr/>
            <p:nvPr/>
          </p:nvSpPr>
          <p:spPr>
            <a:xfrm>
              <a:off x="3449873" y="1632750"/>
              <a:ext cx="1988100" cy="45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solidFill>
                    <a:schemeClr val="dk1"/>
                  </a:solidFill>
                </a:rPr>
                <a:t>SGD OneClassSVM </a:t>
              </a:r>
              <a:endParaRPr/>
            </a:p>
          </p:txBody>
        </p:sp>
        <p:cxnSp>
          <p:nvCxnSpPr>
            <p:cNvPr id="314" name="Google Shape;314;p27"/>
            <p:cNvCxnSpPr>
              <a:stCxn id="312" idx="2"/>
              <a:endCxn id="313" idx="0"/>
            </p:cNvCxnSpPr>
            <p:nvPr/>
          </p:nvCxnSpPr>
          <p:spPr>
            <a:xfrm>
              <a:off x="4443925" y="1455225"/>
              <a:ext cx="0" cy="177600"/>
            </a:xfrm>
            <a:prstGeom prst="straightConnector1">
              <a:avLst/>
            </a:prstGeom>
            <a:noFill/>
            <a:ln cap="flat" cmpd="sng" w="9525">
              <a:solidFill>
                <a:schemeClr val="dk2"/>
              </a:solidFill>
              <a:prstDash val="solid"/>
              <a:round/>
              <a:headEnd len="med" w="med" type="none"/>
              <a:tailEnd len="med" w="med" type="triangle"/>
            </a:ln>
          </p:spPr>
        </p:cxnSp>
      </p:grpSp>
      <p:sp>
        <p:nvSpPr>
          <p:cNvPr id="315" name="Google Shape;315;p27"/>
          <p:cNvSpPr/>
          <p:nvPr/>
        </p:nvSpPr>
        <p:spPr>
          <a:xfrm>
            <a:off x="402066" y="3476463"/>
            <a:ext cx="1538100" cy="458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Malicious Event Embedding</a:t>
            </a:r>
            <a:endParaRPr/>
          </a:p>
        </p:txBody>
      </p:sp>
      <p:cxnSp>
        <p:nvCxnSpPr>
          <p:cNvPr id="316" name="Google Shape;316;p27"/>
          <p:cNvCxnSpPr>
            <a:stCxn id="304" idx="2"/>
            <a:endCxn id="311" idx="0"/>
          </p:cNvCxnSpPr>
          <p:nvPr/>
        </p:nvCxnSpPr>
        <p:spPr>
          <a:xfrm>
            <a:off x="1171129" y="1109350"/>
            <a:ext cx="0" cy="268800"/>
          </a:xfrm>
          <a:prstGeom prst="straightConnector1">
            <a:avLst/>
          </a:prstGeom>
          <a:noFill/>
          <a:ln cap="flat" cmpd="sng" w="9525">
            <a:solidFill>
              <a:schemeClr val="dk2"/>
            </a:solidFill>
            <a:prstDash val="solid"/>
            <a:round/>
            <a:headEnd len="med" w="med" type="none"/>
            <a:tailEnd len="med" w="med" type="triangle"/>
          </a:ln>
        </p:spPr>
      </p:cxnSp>
      <p:cxnSp>
        <p:nvCxnSpPr>
          <p:cNvPr id="317" name="Google Shape;317;p27"/>
          <p:cNvCxnSpPr>
            <a:stCxn id="313" idx="2"/>
            <a:endCxn id="315" idx="0"/>
          </p:cNvCxnSpPr>
          <p:nvPr/>
        </p:nvCxnSpPr>
        <p:spPr>
          <a:xfrm>
            <a:off x="1171123" y="2817713"/>
            <a:ext cx="0" cy="658800"/>
          </a:xfrm>
          <a:prstGeom prst="straightConnector1">
            <a:avLst/>
          </a:prstGeom>
          <a:noFill/>
          <a:ln cap="flat" cmpd="sng" w="9525">
            <a:solidFill>
              <a:schemeClr val="dk2"/>
            </a:solidFill>
            <a:prstDash val="solid"/>
            <a:round/>
            <a:headEnd len="med" w="med" type="none"/>
            <a:tailEnd len="med" w="med" type="triangle"/>
          </a:ln>
        </p:spPr>
      </p:cxnSp>
      <p:sp>
        <p:nvSpPr>
          <p:cNvPr id="318" name="Google Shape;318;p27"/>
          <p:cNvSpPr txBox="1"/>
          <p:nvPr/>
        </p:nvSpPr>
        <p:spPr>
          <a:xfrm>
            <a:off x="1968825" y="3497288"/>
            <a:ext cx="375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Xᵢⱼ</a:t>
            </a:r>
            <a:endParaRPr/>
          </a:p>
        </p:txBody>
      </p:sp>
      <p:cxnSp>
        <p:nvCxnSpPr>
          <p:cNvPr id="319" name="Google Shape;319;p27"/>
          <p:cNvCxnSpPr/>
          <p:nvPr/>
        </p:nvCxnSpPr>
        <p:spPr>
          <a:xfrm flipH="1" rot="10800000">
            <a:off x="2347650" y="3651136"/>
            <a:ext cx="485700" cy="2100"/>
          </a:xfrm>
          <a:prstGeom prst="straightConnector1">
            <a:avLst/>
          </a:prstGeom>
          <a:noFill/>
          <a:ln cap="flat" cmpd="sng" w="9525">
            <a:solidFill>
              <a:schemeClr val="dk2"/>
            </a:solidFill>
            <a:prstDash val="solid"/>
            <a:round/>
            <a:headEnd len="med" w="med" type="none"/>
            <a:tailEnd len="med" w="med" type="triangle"/>
          </a:ln>
        </p:spPr>
      </p:cxnSp>
      <p:grpSp>
        <p:nvGrpSpPr>
          <p:cNvPr id="320" name="Google Shape;320;p27"/>
          <p:cNvGrpSpPr/>
          <p:nvPr/>
        </p:nvGrpSpPr>
        <p:grpSpPr>
          <a:xfrm>
            <a:off x="2955037" y="3279970"/>
            <a:ext cx="615600" cy="807105"/>
            <a:chOff x="3281625" y="3356170"/>
            <a:chExt cx="615600" cy="807105"/>
          </a:xfrm>
        </p:grpSpPr>
        <p:sp>
          <p:nvSpPr>
            <p:cNvPr id="321" name="Google Shape;321;p27"/>
            <p:cNvSpPr/>
            <p:nvPr/>
          </p:nvSpPr>
          <p:spPr>
            <a:xfrm rot="5400000">
              <a:off x="3487125" y="3150670"/>
              <a:ext cx="204600" cy="6156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27"/>
            <p:cNvSpPr/>
            <p:nvPr/>
          </p:nvSpPr>
          <p:spPr>
            <a:xfrm rot="5400000">
              <a:off x="3334200" y="3605075"/>
              <a:ext cx="204600" cy="309300"/>
            </a:xfrm>
            <a:prstGeom prst="rect">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27"/>
            <p:cNvSpPr/>
            <p:nvPr/>
          </p:nvSpPr>
          <p:spPr>
            <a:xfrm rot="5400000">
              <a:off x="3255675" y="3984625"/>
              <a:ext cx="204600" cy="1527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24" name="Google Shape;324;p27"/>
          <p:cNvSpPr txBox="1"/>
          <p:nvPr/>
        </p:nvSpPr>
        <p:spPr>
          <a:xfrm>
            <a:off x="3584949" y="3180300"/>
            <a:ext cx="454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Xᵢⱼ,ₖ</a:t>
            </a:r>
            <a:endParaRPr/>
          </a:p>
        </p:txBody>
      </p:sp>
      <p:sp>
        <p:nvSpPr>
          <p:cNvPr id="325" name="Google Shape;325;p27"/>
          <p:cNvSpPr txBox="1"/>
          <p:nvPr/>
        </p:nvSpPr>
        <p:spPr>
          <a:xfrm>
            <a:off x="3584949" y="3506525"/>
            <a:ext cx="454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Xᵢⱼ,ₖ</a:t>
            </a:r>
            <a:endParaRPr/>
          </a:p>
        </p:txBody>
      </p:sp>
      <p:sp>
        <p:nvSpPr>
          <p:cNvPr id="326" name="Google Shape;326;p27"/>
          <p:cNvSpPr txBox="1"/>
          <p:nvPr/>
        </p:nvSpPr>
        <p:spPr>
          <a:xfrm>
            <a:off x="3592349" y="3797925"/>
            <a:ext cx="454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Xᵢⱼ,ₖ</a:t>
            </a:r>
            <a:endParaRPr/>
          </a:p>
        </p:txBody>
      </p:sp>
      <p:sp>
        <p:nvSpPr>
          <p:cNvPr id="327" name="Google Shape;327;p27"/>
          <p:cNvSpPr txBox="1"/>
          <p:nvPr/>
        </p:nvSpPr>
        <p:spPr>
          <a:xfrm>
            <a:off x="4001437" y="3210485"/>
            <a:ext cx="454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k=3</a:t>
            </a:r>
            <a:endParaRPr/>
          </a:p>
        </p:txBody>
      </p:sp>
      <p:sp>
        <p:nvSpPr>
          <p:cNvPr id="328" name="Google Shape;328;p27"/>
          <p:cNvSpPr txBox="1"/>
          <p:nvPr/>
        </p:nvSpPr>
        <p:spPr>
          <a:xfrm>
            <a:off x="4001437" y="3529385"/>
            <a:ext cx="454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k=2</a:t>
            </a:r>
            <a:endParaRPr/>
          </a:p>
        </p:txBody>
      </p:sp>
      <p:sp>
        <p:nvSpPr>
          <p:cNvPr id="329" name="Google Shape;329;p27"/>
          <p:cNvSpPr txBox="1"/>
          <p:nvPr/>
        </p:nvSpPr>
        <p:spPr>
          <a:xfrm>
            <a:off x="4001437" y="3820785"/>
            <a:ext cx="454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k=1</a:t>
            </a:r>
            <a:endParaRPr/>
          </a:p>
        </p:txBody>
      </p:sp>
      <p:cxnSp>
        <p:nvCxnSpPr>
          <p:cNvPr id="330" name="Google Shape;330;p27"/>
          <p:cNvCxnSpPr>
            <a:endCxn id="331" idx="1"/>
          </p:cNvCxnSpPr>
          <p:nvPr/>
        </p:nvCxnSpPr>
        <p:spPr>
          <a:xfrm flipH="1" rot="10800000">
            <a:off x="4021263" y="4754650"/>
            <a:ext cx="432900" cy="2400"/>
          </a:xfrm>
          <a:prstGeom prst="straightConnector1">
            <a:avLst/>
          </a:prstGeom>
          <a:noFill/>
          <a:ln cap="flat" cmpd="sng" w="9525">
            <a:solidFill>
              <a:schemeClr val="dk2"/>
            </a:solidFill>
            <a:prstDash val="solid"/>
            <a:round/>
            <a:headEnd len="med" w="med" type="none"/>
            <a:tailEnd len="med" w="med" type="triangle"/>
          </a:ln>
        </p:spPr>
      </p:cxnSp>
      <p:cxnSp>
        <p:nvCxnSpPr>
          <p:cNvPr id="332" name="Google Shape;332;p27"/>
          <p:cNvCxnSpPr>
            <a:stCxn id="299" idx="1"/>
            <a:endCxn id="333" idx="0"/>
          </p:cNvCxnSpPr>
          <p:nvPr/>
        </p:nvCxnSpPr>
        <p:spPr>
          <a:xfrm flipH="1" rot="-5400000">
            <a:off x="7183174" y="-639265"/>
            <a:ext cx="150600" cy="1859700"/>
          </a:xfrm>
          <a:prstGeom prst="bentConnector3">
            <a:avLst>
              <a:gd fmla="val -79704" name="adj1"/>
            </a:avLst>
          </a:prstGeom>
          <a:noFill/>
          <a:ln cap="flat" cmpd="sng" w="9525">
            <a:solidFill>
              <a:schemeClr val="dk2"/>
            </a:solidFill>
            <a:prstDash val="solid"/>
            <a:round/>
            <a:headEnd len="med" w="med" type="none"/>
            <a:tailEnd len="med" w="med" type="triangle"/>
          </a:ln>
        </p:spPr>
      </p:cxnSp>
      <p:pic>
        <p:nvPicPr>
          <p:cNvPr id="334" name="Google Shape;334;p27"/>
          <p:cNvPicPr preferRelativeResize="0"/>
          <p:nvPr/>
        </p:nvPicPr>
        <p:blipFill rotWithShape="1">
          <a:blip r:embed="rId3">
            <a:alphaModFix/>
          </a:blip>
          <a:srcRect b="0" l="0" r="14770" t="0"/>
          <a:stretch/>
        </p:blipFill>
        <p:spPr>
          <a:xfrm>
            <a:off x="861750" y="4835300"/>
            <a:ext cx="1859700" cy="247725"/>
          </a:xfrm>
          <a:prstGeom prst="rect">
            <a:avLst/>
          </a:prstGeom>
          <a:noFill/>
          <a:ln cap="flat" cmpd="sng" w="9525">
            <a:solidFill>
              <a:schemeClr val="dk2"/>
            </a:solidFill>
            <a:prstDash val="solid"/>
            <a:round/>
            <a:headEnd len="sm" w="sm" type="none"/>
            <a:tailEnd len="sm" w="sm" type="none"/>
          </a:ln>
        </p:spPr>
      </p:pic>
      <p:grpSp>
        <p:nvGrpSpPr>
          <p:cNvPr id="335" name="Google Shape;335;p27"/>
          <p:cNvGrpSpPr/>
          <p:nvPr/>
        </p:nvGrpSpPr>
        <p:grpSpPr>
          <a:xfrm>
            <a:off x="6709642" y="3760987"/>
            <a:ext cx="2333143" cy="1313348"/>
            <a:chOff x="513899" y="3066238"/>
            <a:chExt cx="3159300" cy="1778400"/>
          </a:xfrm>
        </p:grpSpPr>
        <p:sp>
          <p:nvSpPr>
            <p:cNvPr id="336" name="Google Shape;336;p27"/>
            <p:cNvSpPr/>
            <p:nvPr/>
          </p:nvSpPr>
          <p:spPr>
            <a:xfrm>
              <a:off x="513899" y="3066238"/>
              <a:ext cx="3159300" cy="1778400"/>
            </a:xfrm>
            <a:prstGeom prst="rect">
              <a:avLst/>
            </a:prstGeom>
            <a:solidFill>
              <a:srgbClr val="FCE5CD"/>
            </a:solidFill>
            <a:ln cap="flat" cmpd="sng" w="7025">
              <a:solidFill>
                <a:schemeClr val="dk2"/>
              </a:solidFill>
              <a:prstDash val="solid"/>
              <a:round/>
              <a:headEnd len="sm" w="sm" type="none"/>
              <a:tailEnd len="sm" w="sm" type="none"/>
            </a:ln>
          </p:spPr>
          <p:txBody>
            <a:bodyPr anchorCtr="0" anchor="t" bIns="67525" lIns="67525" spcFirstLastPara="1" rIns="67525" wrap="square" tIns="67525">
              <a:noAutofit/>
            </a:bodyPr>
            <a:lstStyle/>
            <a:p>
              <a:pPr indent="0" lvl="0" marL="0" rtl="0" algn="ctr">
                <a:spcBef>
                  <a:spcPts val="0"/>
                </a:spcBef>
                <a:spcAft>
                  <a:spcPts val="0"/>
                </a:spcAft>
                <a:buNone/>
              </a:pPr>
              <a:r>
                <a:rPr lang="zh-TW" sz="1034"/>
                <a:t>Transformer</a:t>
              </a:r>
              <a:r>
                <a:rPr lang="zh-TW" sz="1034">
                  <a:solidFill>
                    <a:schemeClr val="dk1"/>
                  </a:solidFill>
                </a:rPr>
                <a:t> encoder</a:t>
              </a:r>
              <a:endParaRPr sz="1034"/>
            </a:p>
          </p:txBody>
        </p:sp>
        <p:sp>
          <p:nvSpPr>
            <p:cNvPr id="337" name="Google Shape;337;p27"/>
            <p:cNvSpPr/>
            <p:nvPr/>
          </p:nvSpPr>
          <p:spPr>
            <a:xfrm>
              <a:off x="732645" y="3382738"/>
              <a:ext cx="1298400" cy="572700"/>
            </a:xfrm>
            <a:prstGeom prst="rect">
              <a:avLst/>
            </a:prstGeom>
            <a:solidFill>
              <a:srgbClr val="EFEFEF"/>
            </a:solidFill>
            <a:ln cap="flat" cmpd="sng" w="7025">
              <a:solidFill>
                <a:schemeClr val="dk2"/>
              </a:solidFill>
              <a:prstDash val="solid"/>
              <a:round/>
              <a:headEnd len="sm" w="sm" type="none"/>
              <a:tailEnd len="sm" w="sm" type="none"/>
            </a:ln>
          </p:spPr>
          <p:txBody>
            <a:bodyPr anchorCtr="0" anchor="ctr" bIns="67525" lIns="67525" spcFirstLastPara="1" rIns="67525" wrap="square" tIns="67525">
              <a:noAutofit/>
            </a:bodyPr>
            <a:lstStyle/>
            <a:p>
              <a:pPr indent="0" lvl="0" marL="0" rtl="0" algn="ctr">
                <a:spcBef>
                  <a:spcPts val="0"/>
                </a:spcBef>
                <a:spcAft>
                  <a:spcPts val="0"/>
                </a:spcAft>
                <a:buNone/>
              </a:pPr>
              <a:r>
                <a:rPr lang="zh-TW" sz="1034"/>
                <a:t>Multi-head attention</a:t>
              </a:r>
              <a:endParaRPr sz="1034"/>
            </a:p>
          </p:txBody>
        </p:sp>
        <p:sp>
          <p:nvSpPr>
            <p:cNvPr id="338" name="Google Shape;338;p27"/>
            <p:cNvSpPr/>
            <p:nvPr/>
          </p:nvSpPr>
          <p:spPr>
            <a:xfrm>
              <a:off x="770299" y="4147813"/>
              <a:ext cx="1223100" cy="572700"/>
            </a:xfrm>
            <a:prstGeom prst="rect">
              <a:avLst/>
            </a:prstGeom>
            <a:solidFill>
              <a:srgbClr val="EFEFEF"/>
            </a:solidFill>
            <a:ln cap="flat" cmpd="sng" w="7025">
              <a:solidFill>
                <a:schemeClr val="dk2"/>
              </a:solidFill>
              <a:prstDash val="solid"/>
              <a:round/>
              <a:headEnd len="sm" w="sm" type="none"/>
              <a:tailEnd len="sm" w="sm" type="none"/>
            </a:ln>
          </p:spPr>
          <p:txBody>
            <a:bodyPr anchorCtr="0" anchor="ctr" bIns="67525" lIns="67525" spcFirstLastPara="1" rIns="67525" wrap="square" tIns="67525">
              <a:noAutofit/>
            </a:bodyPr>
            <a:lstStyle/>
            <a:p>
              <a:pPr indent="0" lvl="0" marL="0" rtl="0" algn="ctr">
                <a:spcBef>
                  <a:spcPts val="0"/>
                </a:spcBef>
                <a:spcAft>
                  <a:spcPts val="0"/>
                </a:spcAft>
                <a:buNone/>
              </a:pPr>
              <a:r>
                <a:rPr lang="zh-TW" sz="1034"/>
                <a:t>Residual + LayerNorm</a:t>
              </a:r>
              <a:endParaRPr sz="1034"/>
            </a:p>
          </p:txBody>
        </p:sp>
        <p:sp>
          <p:nvSpPr>
            <p:cNvPr id="339" name="Google Shape;339;p27"/>
            <p:cNvSpPr/>
            <p:nvPr/>
          </p:nvSpPr>
          <p:spPr>
            <a:xfrm>
              <a:off x="2483723" y="3382738"/>
              <a:ext cx="791100" cy="572700"/>
            </a:xfrm>
            <a:prstGeom prst="rect">
              <a:avLst/>
            </a:prstGeom>
            <a:solidFill>
              <a:srgbClr val="EFEFEF"/>
            </a:solidFill>
            <a:ln cap="flat" cmpd="sng" w="7025">
              <a:solidFill>
                <a:schemeClr val="dk2"/>
              </a:solidFill>
              <a:prstDash val="solid"/>
              <a:round/>
              <a:headEnd len="sm" w="sm" type="none"/>
              <a:tailEnd len="sm" w="sm" type="none"/>
            </a:ln>
          </p:spPr>
          <p:txBody>
            <a:bodyPr anchorCtr="0" anchor="ctr" bIns="67525" lIns="67525" spcFirstLastPara="1" rIns="67525" wrap="square" tIns="67525">
              <a:noAutofit/>
            </a:bodyPr>
            <a:lstStyle/>
            <a:p>
              <a:pPr indent="0" lvl="0" marL="0" rtl="0" algn="ctr">
                <a:spcBef>
                  <a:spcPts val="0"/>
                </a:spcBef>
                <a:spcAft>
                  <a:spcPts val="0"/>
                </a:spcAft>
                <a:buNone/>
              </a:pPr>
              <a:r>
                <a:rPr lang="zh-TW" sz="1034"/>
                <a:t>FFN</a:t>
              </a:r>
              <a:endParaRPr sz="1034"/>
            </a:p>
          </p:txBody>
        </p:sp>
        <p:sp>
          <p:nvSpPr>
            <p:cNvPr id="340" name="Google Shape;340;p27"/>
            <p:cNvSpPr/>
            <p:nvPr/>
          </p:nvSpPr>
          <p:spPr>
            <a:xfrm>
              <a:off x="2289624" y="4147813"/>
              <a:ext cx="1135500" cy="572700"/>
            </a:xfrm>
            <a:prstGeom prst="rect">
              <a:avLst/>
            </a:prstGeom>
            <a:solidFill>
              <a:srgbClr val="EFEFEF"/>
            </a:solidFill>
            <a:ln cap="flat" cmpd="sng" w="7025">
              <a:solidFill>
                <a:schemeClr val="dk2"/>
              </a:solidFill>
              <a:prstDash val="solid"/>
              <a:round/>
              <a:headEnd len="sm" w="sm" type="none"/>
              <a:tailEnd len="sm" w="sm" type="none"/>
            </a:ln>
          </p:spPr>
          <p:txBody>
            <a:bodyPr anchorCtr="0" anchor="ctr" bIns="67525" lIns="67525" spcFirstLastPara="1" rIns="67525" wrap="square" tIns="67525">
              <a:noAutofit/>
            </a:bodyPr>
            <a:lstStyle/>
            <a:p>
              <a:pPr indent="0" lvl="0" marL="0" rtl="0" algn="ctr">
                <a:spcBef>
                  <a:spcPts val="0"/>
                </a:spcBef>
                <a:spcAft>
                  <a:spcPts val="0"/>
                </a:spcAft>
                <a:buNone/>
              </a:pPr>
              <a:r>
                <a:rPr lang="zh-TW" sz="1034">
                  <a:solidFill>
                    <a:schemeClr val="dk1"/>
                  </a:solidFill>
                </a:rPr>
                <a:t>Residual + LayerNorm</a:t>
              </a:r>
              <a:endParaRPr sz="1034"/>
            </a:p>
          </p:txBody>
        </p:sp>
        <p:cxnSp>
          <p:nvCxnSpPr>
            <p:cNvPr id="341" name="Google Shape;341;p27"/>
            <p:cNvCxnSpPr>
              <a:stCxn id="337" idx="2"/>
              <a:endCxn id="338" idx="0"/>
            </p:cNvCxnSpPr>
            <p:nvPr/>
          </p:nvCxnSpPr>
          <p:spPr>
            <a:xfrm>
              <a:off x="1381845" y="3955438"/>
              <a:ext cx="0" cy="192300"/>
            </a:xfrm>
            <a:prstGeom prst="straightConnector1">
              <a:avLst/>
            </a:prstGeom>
            <a:noFill/>
            <a:ln cap="flat" cmpd="sng" w="7025">
              <a:solidFill>
                <a:schemeClr val="dk2"/>
              </a:solidFill>
              <a:prstDash val="solid"/>
              <a:round/>
              <a:headEnd len="med" w="med" type="none"/>
              <a:tailEnd len="med" w="med" type="triangle"/>
            </a:ln>
          </p:spPr>
        </p:cxnSp>
        <p:cxnSp>
          <p:nvCxnSpPr>
            <p:cNvPr id="342" name="Google Shape;342;p27"/>
            <p:cNvCxnSpPr>
              <a:stCxn id="338" idx="3"/>
              <a:endCxn id="339" idx="1"/>
            </p:cNvCxnSpPr>
            <p:nvPr/>
          </p:nvCxnSpPr>
          <p:spPr>
            <a:xfrm flipH="1" rot="10800000">
              <a:off x="1993399" y="3669163"/>
              <a:ext cx="490200" cy="765000"/>
            </a:xfrm>
            <a:prstGeom prst="straightConnector1">
              <a:avLst/>
            </a:prstGeom>
            <a:noFill/>
            <a:ln cap="flat" cmpd="sng" w="7025">
              <a:solidFill>
                <a:schemeClr val="dk2"/>
              </a:solidFill>
              <a:prstDash val="solid"/>
              <a:round/>
              <a:headEnd len="med" w="med" type="none"/>
              <a:tailEnd len="med" w="med" type="triangle"/>
            </a:ln>
          </p:spPr>
        </p:cxnSp>
        <p:cxnSp>
          <p:nvCxnSpPr>
            <p:cNvPr id="343" name="Google Shape;343;p27"/>
            <p:cNvCxnSpPr>
              <a:stCxn id="339" idx="2"/>
              <a:endCxn id="340" idx="0"/>
            </p:cNvCxnSpPr>
            <p:nvPr/>
          </p:nvCxnSpPr>
          <p:spPr>
            <a:xfrm flipH="1">
              <a:off x="2857373" y="3955438"/>
              <a:ext cx="21900" cy="192300"/>
            </a:xfrm>
            <a:prstGeom prst="straightConnector1">
              <a:avLst/>
            </a:prstGeom>
            <a:noFill/>
            <a:ln cap="flat" cmpd="sng" w="7025">
              <a:solidFill>
                <a:schemeClr val="dk2"/>
              </a:solidFill>
              <a:prstDash val="solid"/>
              <a:round/>
              <a:headEnd len="med" w="med" type="none"/>
              <a:tailEnd len="med" w="med" type="triangle"/>
            </a:ln>
          </p:spPr>
        </p:cxnSp>
      </p:grpSp>
      <p:cxnSp>
        <p:nvCxnSpPr>
          <p:cNvPr id="344" name="Google Shape;344;p27"/>
          <p:cNvCxnSpPr/>
          <p:nvPr/>
        </p:nvCxnSpPr>
        <p:spPr>
          <a:xfrm>
            <a:off x="7304100" y="2943650"/>
            <a:ext cx="1740000" cy="8187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27"/>
          <p:cNvCxnSpPr/>
          <p:nvPr/>
        </p:nvCxnSpPr>
        <p:spPr>
          <a:xfrm>
            <a:off x="6541750" y="3218700"/>
            <a:ext cx="171000" cy="545100"/>
          </a:xfrm>
          <a:prstGeom prst="straightConnector1">
            <a:avLst/>
          </a:prstGeom>
          <a:noFill/>
          <a:ln cap="flat" cmpd="sng" w="9525">
            <a:solidFill>
              <a:schemeClr val="dk2"/>
            </a:solidFill>
            <a:prstDash val="solid"/>
            <a:round/>
            <a:headEnd len="med" w="med" type="none"/>
            <a:tailEnd len="med" w="med" type="none"/>
          </a:ln>
        </p:spPr>
      </p:cxnSp>
      <p:sp>
        <p:nvSpPr>
          <p:cNvPr id="346" name="Google Shape;346;p27"/>
          <p:cNvSpPr txBox="1"/>
          <p:nvPr/>
        </p:nvSpPr>
        <p:spPr>
          <a:xfrm>
            <a:off x="4137025" y="2107372"/>
            <a:ext cx="13587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Hidden states Sᵢⱼ</a:t>
            </a:r>
            <a:endParaRPr sz="1100">
              <a:solidFill>
                <a:schemeClr val="dk1"/>
              </a:solidFill>
            </a:endParaRPr>
          </a:p>
        </p:txBody>
      </p:sp>
      <p:cxnSp>
        <p:nvCxnSpPr>
          <p:cNvPr id="347" name="Google Shape;347;p27"/>
          <p:cNvCxnSpPr>
            <a:stCxn id="348" idx="1"/>
            <a:endCxn id="307" idx="2"/>
          </p:cNvCxnSpPr>
          <p:nvPr/>
        </p:nvCxnSpPr>
        <p:spPr>
          <a:xfrm rot="10800000">
            <a:off x="6328624" y="1624685"/>
            <a:ext cx="0" cy="178800"/>
          </a:xfrm>
          <a:prstGeom prst="straightConnector1">
            <a:avLst/>
          </a:prstGeom>
          <a:noFill/>
          <a:ln cap="flat" cmpd="sng" w="9525">
            <a:solidFill>
              <a:schemeClr val="dk2"/>
            </a:solidFill>
            <a:prstDash val="solid"/>
            <a:round/>
            <a:headEnd len="med" w="med" type="none"/>
            <a:tailEnd len="med" w="med" type="triangle"/>
          </a:ln>
        </p:spPr>
      </p:cxnSp>
      <p:grpSp>
        <p:nvGrpSpPr>
          <p:cNvPr id="349" name="Google Shape;349;p27"/>
          <p:cNvGrpSpPr/>
          <p:nvPr/>
        </p:nvGrpSpPr>
        <p:grpSpPr>
          <a:xfrm>
            <a:off x="5664304" y="1803485"/>
            <a:ext cx="1358705" cy="961800"/>
            <a:chOff x="5290605" y="1744981"/>
            <a:chExt cx="1358705" cy="961800"/>
          </a:xfrm>
        </p:grpSpPr>
        <p:sp>
          <p:nvSpPr>
            <p:cNvPr id="350" name="Google Shape;350;p27"/>
            <p:cNvSpPr txBox="1"/>
            <p:nvPr/>
          </p:nvSpPr>
          <p:spPr>
            <a:xfrm>
              <a:off x="5290605" y="2293570"/>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sp>
          <p:nvSpPr>
            <p:cNvPr id="351" name="Google Shape;351;p27"/>
            <p:cNvSpPr txBox="1"/>
            <p:nvPr/>
          </p:nvSpPr>
          <p:spPr>
            <a:xfrm>
              <a:off x="5549905" y="229579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grpSp>
          <p:nvGrpSpPr>
            <p:cNvPr id="352" name="Google Shape;352;p27"/>
            <p:cNvGrpSpPr/>
            <p:nvPr/>
          </p:nvGrpSpPr>
          <p:grpSpPr>
            <a:xfrm>
              <a:off x="5298225" y="1744981"/>
              <a:ext cx="1351085" cy="961800"/>
              <a:chOff x="5298225" y="1752601"/>
              <a:chExt cx="1351085" cy="961800"/>
            </a:xfrm>
          </p:grpSpPr>
          <p:sp>
            <p:nvSpPr>
              <p:cNvPr id="348" name="Google Shape;348;p27"/>
              <p:cNvSpPr/>
              <p:nvPr/>
            </p:nvSpPr>
            <p:spPr>
              <a:xfrm rot="5400000">
                <a:off x="5474025" y="1576801"/>
                <a:ext cx="961800" cy="13134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53" name="Google Shape;353;p27"/>
              <p:cNvGrpSpPr/>
              <p:nvPr/>
            </p:nvGrpSpPr>
            <p:grpSpPr>
              <a:xfrm>
                <a:off x="5338967" y="1951474"/>
                <a:ext cx="1239098" cy="431951"/>
                <a:chOff x="5323827" y="2059450"/>
                <a:chExt cx="1239098" cy="393900"/>
              </a:xfrm>
            </p:grpSpPr>
            <p:sp>
              <p:nvSpPr>
                <p:cNvPr id="354" name="Google Shape;354;p27"/>
                <p:cNvSpPr/>
                <p:nvPr/>
              </p:nvSpPr>
              <p:spPr>
                <a:xfrm rot="10800000">
                  <a:off x="5323827"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355" name="Google Shape;355;p27"/>
                <p:cNvSpPr/>
                <p:nvPr/>
              </p:nvSpPr>
              <p:spPr>
                <a:xfrm rot="10800000">
                  <a:off x="5587843"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356" name="Google Shape;356;p27"/>
                <p:cNvSpPr/>
                <p:nvPr/>
              </p:nvSpPr>
              <p:spPr>
                <a:xfrm rot="10800000">
                  <a:off x="5851881"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357" name="Google Shape;357;p27"/>
                <p:cNvSpPr/>
                <p:nvPr/>
              </p:nvSpPr>
              <p:spPr>
                <a:xfrm rot="10800000">
                  <a:off x="6115898"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358" name="Google Shape;358;p27"/>
                <p:cNvSpPr/>
                <p:nvPr/>
              </p:nvSpPr>
              <p:spPr>
                <a:xfrm rot="10800000">
                  <a:off x="6379925"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grpSp>
          <p:sp>
            <p:nvSpPr>
              <p:cNvPr id="359" name="Google Shape;359;p27"/>
              <p:cNvSpPr txBox="1"/>
              <p:nvPr/>
            </p:nvSpPr>
            <p:spPr>
              <a:xfrm>
                <a:off x="5797880" y="230341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sp>
            <p:nvSpPr>
              <p:cNvPr id="360" name="Google Shape;360;p27"/>
              <p:cNvSpPr txBox="1"/>
              <p:nvPr/>
            </p:nvSpPr>
            <p:spPr>
              <a:xfrm>
                <a:off x="6072200" y="2303410"/>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sp>
            <p:nvSpPr>
              <p:cNvPr id="361" name="Google Shape;361;p27"/>
              <p:cNvSpPr txBox="1"/>
              <p:nvPr/>
            </p:nvSpPr>
            <p:spPr>
              <a:xfrm>
                <a:off x="6328010" y="230090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grpSp>
      </p:grpSp>
      <p:sp>
        <p:nvSpPr>
          <p:cNvPr id="307" name="Google Shape;307;p27"/>
          <p:cNvSpPr/>
          <p:nvPr/>
        </p:nvSpPr>
        <p:spPr>
          <a:xfrm>
            <a:off x="5398775" y="1355875"/>
            <a:ext cx="1859700" cy="2688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Transformer Encoder</a:t>
            </a:r>
            <a:endParaRPr/>
          </a:p>
        </p:txBody>
      </p:sp>
      <p:sp>
        <p:nvSpPr>
          <p:cNvPr id="333" name="Google Shape;333;p27"/>
          <p:cNvSpPr txBox="1"/>
          <p:nvPr/>
        </p:nvSpPr>
        <p:spPr>
          <a:xfrm>
            <a:off x="7419375" y="365875"/>
            <a:ext cx="1538100" cy="400200"/>
          </a:xfrm>
          <a:prstGeom prst="rect">
            <a:avLst/>
          </a:prstGeom>
          <a:solidFill>
            <a:schemeClr val="lt2"/>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a:t>Linear Projection </a:t>
            </a:r>
            <a:endParaRPr/>
          </a:p>
        </p:txBody>
      </p:sp>
      <p:sp>
        <p:nvSpPr>
          <p:cNvPr id="362" name="Google Shape;362;p27"/>
          <p:cNvSpPr txBox="1"/>
          <p:nvPr/>
        </p:nvSpPr>
        <p:spPr>
          <a:xfrm>
            <a:off x="1993104" y="4373613"/>
            <a:ext cx="1281600" cy="54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Integrated Event Embedding Hᵢⱼ</a:t>
            </a:r>
            <a:endParaRPr sz="1100">
              <a:solidFill>
                <a:schemeClr val="dk1"/>
              </a:solidFill>
            </a:endParaRPr>
          </a:p>
        </p:txBody>
      </p:sp>
      <p:grpSp>
        <p:nvGrpSpPr>
          <p:cNvPr id="363" name="Google Shape;363;p27"/>
          <p:cNvGrpSpPr/>
          <p:nvPr/>
        </p:nvGrpSpPr>
        <p:grpSpPr>
          <a:xfrm>
            <a:off x="3327631" y="4498118"/>
            <a:ext cx="651693" cy="161108"/>
            <a:chOff x="5183099" y="3519050"/>
            <a:chExt cx="827651" cy="204607"/>
          </a:xfrm>
        </p:grpSpPr>
        <p:sp>
          <p:nvSpPr>
            <p:cNvPr id="364" name="Google Shape;364;p27"/>
            <p:cNvSpPr/>
            <p:nvPr/>
          </p:nvSpPr>
          <p:spPr>
            <a:xfrm rot="5400000">
              <a:off x="5262299" y="3439850"/>
              <a:ext cx="204600" cy="363000"/>
            </a:xfrm>
            <a:prstGeom prst="rect">
              <a:avLst/>
            </a:prstGeom>
            <a:solidFill>
              <a:srgbClr val="6AA84F"/>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365" name="Google Shape;365;p27"/>
            <p:cNvSpPr/>
            <p:nvPr/>
          </p:nvSpPr>
          <p:spPr>
            <a:xfrm rot="5400000">
              <a:off x="5535070" y="3530155"/>
              <a:ext cx="204600" cy="182400"/>
            </a:xfrm>
            <a:prstGeom prst="rect">
              <a:avLst/>
            </a:prstGeom>
            <a:solidFill>
              <a:srgbClr val="A2C4C9"/>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366" name="Google Shape;366;p27"/>
            <p:cNvSpPr/>
            <p:nvPr/>
          </p:nvSpPr>
          <p:spPr>
            <a:xfrm rot="5400000">
              <a:off x="5673900" y="3576355"/>
              <a:ext cx="204600" cy="90000"/>
            </a:xfrm>
            <a:prstGeom prst="rect">
              <a:avLst/>
            </a:prstGeom>
            <a:solidFill>
              <a:srgbClr val="A4C2F4"/>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367" name="Google Shape;367;p27"/>
            <p:cNvSpPr/>
            <p:nvPr/>
          </p:nvSpPr>
          <p:spPr>
            <a:xfrm rot="5400000">
              <a:off x="5813650" y="3526557"/>
              <a:ext cx="204600" cy="189600"/>
            </a:xfrm>
            <a:prstGeom prst="rect">
              <a:avLst/>
            </a:prstGeom>
            <a:solidFill>
              <a:srgbClr val="F9CB9C"/>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grpSp>
      <p:sp>
        <p:nvSpPr>
          <p:cNvPr id="331" name="Google Shape;331;p27"/>
          <p:cNvSpPr txBox="1"/>
          <p:nvPr/>
        </p:nvSpPr>
        <p:spPr>
          <a:xfrm>
            <a:off x="4454163" y="4554550"/>
            <a:ext cx="657600" cy="400200"/>
          </a:xfrm>
          <a:prstGeom prst="rect">
            <a:avLst/>
          </a:prstGeom>
          <a:solidFill>
            <a:schemeClr val="lt2"/>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a:t>MLP</a:t>
            </a:r>
            <a:endParaRPr/>
          </a:p>
        </p:txBody>
      </p:sp>
      <p:cxnSp>
        <p:nvCxnSpPr>
          <p:cNvPr id="368" name="Google Shape;368;p27"/>
          <p:cNvCxnSpPr>
            <a:stCxn id="331" idx="3"/>
            <a:endCxn id="369" idx="2"/>
          </p:cNvCxnSpPr>
          <p:nvPr/>
        </p:nvCxnSpPr>
        <p:spPr>
          <a:xfrm flipH="1" rot="10800000">
            <a:off x="5111763" y="4466650"/>
            <a:ext cx="278100" cy="288000"/>
          </a:xfrm>
          <a:prstGeom prst="bentConnector2">
            <a:avLst/>
          </a:prstGeom>
          <a:noFill/>
          <a:ln cap="flat" cmpd="sng" w="9525">
            <a:solidFill>
              <a:schemeClr val="dk2"/>
            </a:solidFill>
            <a:prstDash val="solid"/>
            <a:round/>
            <a:headEnd len="med" w="med" type="none"/>
            <a:tailEnd len="med" w="med" type="triangle"/>
          </a:ln>
        </p:spPr>
      </p:cxnSp>
      <p:sp>
        <p:nvSpPr>
          <p:cNvPr id="370" name="Google Shape;370;p27"/>
          <p:cNvSpPr/>
          <p:nvPr/>
        </p:nvSpPr>
        <p:spPr>
          <a:xfrm>
            <a:off x="5144978" y="3807974"/>
            <a:ext cx="204600" cy="6588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71" name="Google Shape;371;p27"/>
          <p:cNvGrpSpPr/>
          <p:nvPr/>
        </p:nvGrpSpPr>
        <p:grpSpPr>
          <a:xfrm>
            <a:off x="3327631" y="4695268"/>
            <a:ext cx="651693" cy="161108"/>
            <a:chOff x="5183099" y="3519050"/>
            <a:chExt cx="827651" cy="204607"/>
          </a:xfrm>
        </p:grpSpPr>
        <p:sp>
          <p:nvSpPr>
            <p:cNvPr id="372" name="Google Shape;372;p27"/>
            <p:cNvSpPr/>
            <p:nvPr/>
          </p:nvSpPr>
          <p:spPr>
            <a:xfrm rot="5400000">
              <a:off x="5262299" y="3439850"/>
              <a:ext cx="204600" cy="363000"/>
            </a:xfrm>
            <a:prstGeom prst="rect">
              <a:avLst/>
            </a:prstGeom>
            <a:solidFill>
              <a:srgbClr val="6AA84F"/>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373" name="Google Shape;373;p27"/>
            <p:cNvSpPr/>
            <p:nvPr/>
          </p:nvSpPr>
          <p:spPr>
            <a:xfrm rot="5400000">
              <a:off x="5535070" y="3530155"/>
              <a:ext cx="204600" cy="182400"/>
            </a:xfrm>
            <a:prstGeom prst="rect">
              <a:avLst/>
            </a:prstGeom>
            <a:solidFill>
              <a:srgbClr val="A2C4C9"/>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374" name="Google Shape;374;p27"/>
            <p:cNvSpPr/>
            <p:nvPr/>
          </p:nvSpPr>
          <p:spPr>
            <a:xfrm rot="5400000">
              <a:off x="5673900" y="3576355"/>
              <a:ext cx="204600" cy="90000"/>
            </a:xfrm>
            <a:prstGeom prst="rect">
              <a:avLst/>
            </a:prstGeom>
            <a:solidFill>
              <a:srgbClr val="A4C2F4"/>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375" name="Google Shape;375;p27"/>
            <p:cNvSpPr/>
            <p:nvPr/>
          </p:nvSpPr>
          <p:spPr>
            <a:xfrm rot="5400000">
              <a:off x="5813650" y="3526557"/>
              <a:ext cx="204600" cy="189600"/>
            </a:xfrm>
            <a:prstGeom prst="rect">
              <a:avLst/>
            </a:prstGeom>
            <a:solidFill>
              <a:srgbClr val="F9CB9C"/>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grpSp>
      <p:sp>
        <p:nvSpPr>
          <p:cNvPr id="376" name="Google Shape;376;p27"/>
          <p:cNvSpPr txBox="1"/>
          <p:nvPr/>
        </p:nvSpPr>
        <p:spPr>
          <a:xfrm rot="5400000">
            <a:off x="3532840" y="4846240"/>
            <a:ext cx="375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a:t>
            </a:r>
            <a:endParaRPr/>
          </a:p>
        </p:txBody>
      </p:sp>
      <p:sp>
        <p:nvSpPr>
          <p:cNvPr id="377" name="Google Shape;377;p27"/>
          <p:cNvSpPr/>
          <p:nvPr/>
        </p:nvSpPr>
        <p:spPr>
          <a:xfrm>
            <a:off x="5415328" y="3807974"/>
            <a:ext cx="204600" cy="6588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27"/>
          <p:cNvSpPr/>
          <p:nvPr/>
        </p:nvSpPr>
        <p:spPr>
          <a:xfrm>
            <a:off x="4874628" y="3807974"/>
            <a:ext cx="204600" cy="6588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27"/>
          <p:cNvSpPr/>
          <p:nvPr/>
        </p:nvSpPr>
        <p:spPr>
          <a:xfrm>
            <a:off x="5826492" y="3807974"/>
            <a:ext cx="204600" cy="6588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27"/>
          <p:cNvSpPr txBox="1"/>
          <p:nvPr/>
        </p:nvSpPr>
        <p:spPr>
          <a:xfrm>
            <a:off x="4634825" y="3391675"/>
            <a:ext cx="1631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Fused Embedding Fᵢⱼ</a:t>
            </a:r>
            <a:endParaRPr sz="1200">
              <a:solidFill>
                <a:schemeClr val="dk1"/>
              </a:solidFill>
            </a:endParaRPr>
          </a:p>
        </p:txBody>
      </p:sp>
      <p:sp>
        <p:nvSpPr>
          <p:cNvPr id="369" name="Google Shape;369;p27"/>
          <p:cNvSpPr/>
          <p:nvPr/>
        </p:nvSpPr>
        <p:spPr>
          <a:xfrm>
            <a:off x="5287453" y="3807974"/>
            <a:ext cx="204600" cy="65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27"/>
          <p:cNvSpPr txBox="1"/>
          <p:nvPr/>
        </p:nvSpPr>
        <p:spPr>
          <a:xfrm>
            <a:off x="5541075" y="3934565"/>
            <a:ext cx="375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a:t>
            </a:r>
            <a:endParaRPr/>
          </a:p>
        </p:txBody>
      </p:sp>
      <p:sp>
        <p:nvSpPr>
          <p:cNvPr id="382" name="Google Shape;382;p27"/>
          <p:cNvSpPr txBox="1"/>
          <p:nvPr/>
        </p:nvSpPr>
        <p:spPr>
          <a:xfrm>
            <a:off x="6145021" y="4003675"/>
            <a:ext cx="383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Fᵢⱼ</a:t>
            </a:r>
            <a:endParaRPr sz="1200">
              <a:solidFill>
                <a:schemeClr val="dk1"/>
              </a:solidFill>
            </a:endParaRPr>
          </a:p>
        </p:txBody>
      </p:sp>
      <p:cxnSp>
        <p:nvCxnSpPr>
          <p:cNvPr id="383" name="Google Shape;383;p27"/>
          <p:cNvCxnSpPr>
            <a:stCxn id="382" idx="0"/>
            <a:endCxn id="305" idx="2"/>
          </p:cNvCxnSpPr>
          <p:nvPr/>
        </p:nvCxnSpPr>
        <p:spPr>
          <a:xfrm rot="10800000">
            <a:off x="6328471" y="3212875"/>
            <a:ext cx="8400" cy="790800"/>
          </a:xfrm>
          <a:prstGeom prst="straightConnector1">
            <a:avLst/>
          </a:prstGeom>
          <a:noFill/>
          <a:ln cap="flat" cmpd="sng" w="9525">
            <a:solidFill>
              <a:schemeClr val="dk2"/>
            </a:solidFill>
            <a:prstDash val="solid"/>
            <a:round/>
            <a:headEnd len="med" w="med" type="none"/>
            <a:tailEnd len="med" w="med" type="triangle"/>
          </a:ln>
        </p:spPr>
      </p:cxnSp>
      <p:sp>
        <p:nvSpPr>
          <p:cNvPr id="384" name="Google Shape;384;p27"/>
          <p:cNvSpPr txBox="1"/>
          <p:nvPr/>
        </p:nvSpPr>
        <p:spPr>
          <a:xfrm>
            <a:off x="5664304" y="763874"/>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385" name="Google Shape;385;p27"/>
          <p:cNvSpPr txBox="1"/>
          <p:nvPr/>
        </p:nvSpPr>
        <p:spPr>
          <a:xfrm>
            <a:off x="5923604" y="766099"/>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grpSp>
        <p:nvGrpSpPr>
          <p:cNvPr id="386" name="Google Shape;386;p27"/>
          <p:cNvGrpSpPr/>
          <p:nvPr/>
        </p:nvGrpSpPr>
        <p:grpSpPr>
          <a:xfrm>
            <a:off x="5712666" y="414158"/>
            <a:ext cx="1239098" cy="431951"/>
            <a:chOff x="5323827" y="2059450"/>
            <a:chExt cx="1239098" cy="393900"/>
          </a:xfrm>
        </p:grpSpPr>
        <p:sp>
          <p:nvSpPr>
            <p:cNvPr id="387" name="Google Shape;387;p27"/>
            <p:cNvSpPr/>
            <p:nvPr/>
          </p:nvSpPr>
          <p:spPr>
            <a:xfrm rot="10800000">
              <a:off x="5323827"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388" name="Google Shape;388;p27"/>
            <p:cNvSpPr/>
            <p:nvPr/>
          </p:nvSpPr>
          <p:spPr>
            <a:xfrm rot="10800000">
              <a:off x="5587843"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389" name="Google Shape;389;p27"/>
            <p:cNvSpPr/>
            <p:nvPr/>
          </p:nvSpPr>
          <p:spPr>
            <a:xfrm rot="10800000">
              <a:off x="5851881"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390" name="Google Shape;390;p27"/>
            <p:cNvSpPr/>
            <p:nvPr/>
          </p:nvSpPr>
          <p:spPr>
            <a:xfrm rot="10800000">
              <a:off x="6115898"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391" name="Google Shape;391;p27"/>
            <p:cNvSpPr/>
            <p:nvPr/>
          </p:nvSpPr>
          <p:spPr>
            <a:xfrm rot="10800000">
              <a:off x="6379925"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grpSp>
      <p:sp>
        <p:nvSpPr>
          <p:cNvPr id="392" name="Google Shape;392;p27"/>
          <p:cNvSpPr txBox="1"/>
          <p:nvPr/>
        </p:nvSpPr>
        <p:spPr>
          <a:xfrm>
            <a:off x="6171579" y="766099"/>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393" name="Google Shape;393;p27"/>
          <p:cNvSpPr txBox="1"/>
          <p:nvPr/>
        </p:nvSpPr>
        <p:spPr>
          <a:xfrm>
            <a:off x="6445899" y="766094"/>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394" name="Google Shape;394;p27"/>
          <p:cNvSpPr txBox="1"/>
          <p:nvPr/>
        </p:nvSpPr>
        <p:spPr>
          <a:xfrm>
            <a:off x="6701709" y="763589"/>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395" name="Google Shape;395;p27"/>
          <p:cNvSpPr txBox="1"/>
          <p:nvPr/>
        </p:nvSpPr>
        <p:spPr>
          <a:xfrm>
            <a:off x="3902013" y="444000"/>
            <a:ext cx="1761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Feature Embedding Eᵢⱼ</a:t>
            </a:r>
            <a:endParaRPr sz="1100">
              <a:solidFill>
                <a:schemeClr val="dk1"/>
              </a:solidFill>
            </a:endParaRPr>
          </a:p>
        </p:txBody>
      </p:sp>
      <p:grpSp>
        <p:nvGrpSpPr>
          <p:cNvPr id="396" name="Google Shape;396;p27"/>
          <p:cNvGrpSpPr/>
          <p:nvPr/>
        </p:nvGrpSpPr>
        <p:grpSpPr>
          <a:xfrm>
            <a:off x="7524106" y="925174"/>
            <a:ext cx="1358705" cy="961800"/>
            <a:chOff x="5290605" y="1744981"/>
            <a:chExt cx="1358705" cy="961800"/>
          </a:xfrm>
        </p:grpSpPr>
        <p:sp>
          <p:nvSpPr>
            <p:cNvPr id="397" name="Google Shape;397;p27"/>
            <p:cNvSpPr txBox="1"/>
            <p:nvPr/>
          </p:nvSpPr>
          <p:spPr>
            <a:xfrm>
              <a:off x="5290605" y="2293570"/>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398" name="Google Shape;398;p27"/>
            <p:cNvSpPr txBox="1"/>
            <p:nvPr/>
          </p:nvSpPr>
          <p:spPr>
            <a:xfrm>
              <a:off x="5549905" y="229579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grpSp>
          <p:nvGrpSpPr>
            <p:cNvPr id="399" name="Google Shape;399;p27"/>
            <p:cNvGrpSpPr/>
            <p:nvPr/>
          </p:nvGrpSpPr>
          <p:grpSpPr>
            <a:xfrm>
              <a:off x="5298225" y="1744981"/>
              <a:ext cx="1351085" cy="961800"/>
              <a:chOff x="5298225" y="1752601"/>
              <a:chExt cx="1351085" cy="961800"/>
            </a:xfrm>
          </p:grpSpPr>
          <p:sp>
            <p:nvSpPr>
              <p:cNvPr id="400" name="Google Shape;400;p27"/>
              <p:cNvSpPr/>
              <p:nvPr/>
            </p:nvSpPr>
            <p:spPr>
              <a:xfrm rot="5400000">
                <a:off x="5474025" y="1576801"/>
                <a:ext cx="961800" cy="13134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01" name="Google Shape;401;p27"/>
              <p:cNvGrpSpPr/>
              <p:nvPr/>
            </p:nvGrpSpPr>
            <p:grpSpPr>
              <a:xfrm>
                <a:off x="5338967" y="1951474"/>
                <a:ext cx="1239098" cy="431951"/>
                <a:chOff x="5323827" y="2059450"/>
                <a:chExt cx="1239098" cy="393900"/>
              </a:xfrm>
            </p:grpSpPr>
            <p:sp>
              <p:nvSpPr>
                <p:cNvPr id="402" name="Google Shape;402;p27"/>
                <p:cNvSpPr/>
                <p:nvPr/>
              </p:nvSpPr>
              <p:spPr>
                <a:xfrm rot="10800000">
                  <a:off x="5323827"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403" name="Google Shape;403;p27"/>
                <p:cNvSpPr/>
                <p:nvPr/>
              </p:nvSpPr>
              <p:spPr>
                <a:xfrm rot="10800000">
                  <a:off x="5587843"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404" name="Google Shape;404;p27"/>
                <p:cNvSpPr/>
                <p:nvPr/>
              </p:nvSpPr>
              <p:spPr>
                <a:xfrm rot="10800000">
                  <a:off x="5851881"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405" name="Google Shape;405;p27"/>
                <p:cNvSpPr/>
                <p:nvPr/>
              </p:nvSpPr>
              <p:spPr>
                <a:xfrm rot="10800000">
                  <a:off x="6115898"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406" name="Google Shape;406;p27"/>
                <p:cNvSpPr/>
                <p:nvPr/>
              </p:nvSpPr>
              <p:spPr>
                <a:xfrm rot="10800000">
                  <a:off x="6379925"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grpSp>
          <p:sp>
            <p:nvSpPr>
              <p:cNvPr id="407" name="Google Shape;407;p27"/>
              <p:cNvSpPr txBox="1"/>
              <p:nvPr/>
            </p:nvSpPr>
            <p:spPr>
              <a:xfrm>
                <a:off x="5797880" y="230341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408" name="Google Shape;408;p27"/>
              <p:cNvSpPr txBox="1"/>
              <p:nvPr/>
            </p:nvSpPr>
            <p:spPr>
              <a:xfrm>
                <a:off x="6072200" y="2303410"/>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409" name="Google Shape;409;p27"/>
              <p:cNvSpPr txBox="1"/>
              <p:nvPr/>
            </p:nvSpPr>
            <p:spPr>
              <a:xfrm>
                <a:off x="6328010" y="230090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grpSp>
      </p:grpSp>
      <p:cxnSp>
        <p:nvCxnSpPr>
          <p:cNvPr id="410" name="Google Shape;410;p27"/>
          <p:cNvCxnSpPr>
            <a:stCxn id="333" idx="2"/>
            <a:endCxn id="400" idx="1"/>
          </p:cNvCxnSpPr>
          <p:nvPr/>
        </p:nvCxnSpPr>
        <p:spPr>
          <a:xfrm>
            <a:off x="8188425" y="766075"/>
            <a:ext cx="0" cy="159000"/>
          </a:xfrm>
          <a:prstGeom prst="straightConnector1">
            <a:avLst/>
          </a:prstGeom>
          <a:noFill/>
          <a:ln cap="flat" cmpd="sng" w="9525">
            <a:solidFill>
              <a:schemeClr val="dk2"/>
            </a:solidFill>
            <a:prstDash val="solid"/>
            <a:round/>
            <a:headEnd len="med" w="med" type="none"/>
            <a:tailEnd len="med" w="med" type="triangle"/>
          </a:ln>
        </p:spPr>
      </p:cxnSp>
      <p:sp>
        <p:nvSpPr>
          <p:cNvPr id="411" name="Google Shape;411;p27"/>
          <p:cNvSpPr txBox="1"/>
          <p:nvPr/>
        </p:nvSpPr>
        <p:spPr>
          <a:xfrm>
            <a:off x="7458513" y="1824346"/>
            <a:ext cx="1459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t>emission scores e</a:t>
            </a:r>
            <a:r>
              <a:rPr lang="zh-TW" sz="1100">
                <a:solidFill>
                  <a:schemeClr val="dk1"/>
                </a:solidFill>
              </a:rPr>
              <a:t>ᵢⱼ</a:t>
            </a:r>
            <a:endParaRPr sz="1200"/>
          </a:p>
        </p:txBody>
      </p:sp>
      <p:cxnSp>
        <p:nvCxnSpPr>
          <p:cNvPr id="412" name="Google Shape;412;p27"/>
          <p:cNvCxnSpPr>
            <a:stCxn id="411" idx="1"/>
            <a:endCxn id="413" idx="1"/>
          </p:cNvCxnSpPr>
          <p:nvPr/>
        </p:nvCxnSpPr>
        <p:spPr>
          <a:xfrm>
            <a:off x="7458513" y="2008996"/>
            <a:ext cx="24600" cy="384300"/>
          </a:xfrm>
          <a:prstGeom prst="bentConnector3">
            <a:avLst>
              <a:gd fmla="val -967988" name="adj1"/>
            </a:avLst>
          </a:prstGeom>
          <a:noFill/>
          <a:ln cap="flat" cmpd="sng" w="9525">
            <a:solidFill>
              <a:schemeClr val="dk2"/>
            </a:solidFill>
            <a:prstDash val="solid"/>
            <a:round/>
            <a:headEnd len="med" w="med" type="none"/>
            <a:tailEnd len="med" w="med" type="triangle"/>
          </a:ln>
        </p:spPr>
      </p:cxnSp>
      <p:cxnSp>
        <p:nvCxnSpPr>
          <p:cNvPr id="414" name="Google Shape;414;p27"/>
          <p:cNvCxnSpPr>
            <a:stCxn id="413" idx="3"/>
            <a:endCxn id="415" idx="1"/>
          </p:cNvCxnSpPr>
          <p:nvPr/>
        </p:nvCxnSpPr>
        <p:spPr>
          <a:xfrm>
            <a:off x="8180800" y="2393400"/>
            <a:ext cx="161100" cy="0"/>
          </a:xfrm>
          <a:prstGeom prst="straightConnector1">
            <a:avLst/>
          </a:prstGeom>
          <a:noFill/>
          <a:ln cap="flat" cmpd="sng" w="9525">
            <a:solidFill>
              <a:schemeClr val="dk2"/>
            </a:solidFill>
            <a:prstDash val="solid"/>
            <a:round/>
            <a:headEnd len="med" w="med" type="none"/>
            <a:tailEnd len="med" w="med" type="triangle"/>
          </a:ln>
        </p:spPr>
      </p:cxnSp>
      <p:sp>
        <p:nvSpPr>
          <p:cNvPr id="415" name="Google Shape;415;p27"/>
          <p:cNvSpPr/>
          <p:nvPr/>
        </p:nvSpPr>
        <p:spPr>
          <a:xfrm>
            <a:off x="8341875" y="2259000"/>
            <a:ext cx="615600" cy="26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1200"/>
              <a:t>CRF</a:t>
            </a:r>
            <a:endParaRPr sz="1200"/>
          </a:p>
        </p:txBody>
      </p:sp>
      <p:cxnSp>
        <p:nvCxnSpPr>
          <p:cNvPr id="416" name="Google Shape;416;p27"/>
          <p:cNvCxnSpPr>
            <a:stCxn id="415" idx="2"/>
            <a:endCxn id="417" idx="2"/>
          </p:cNvCxnSpPr>
          <p:nvPr/>
        </p:nvCxnSpPr>
        <p:spPr>
          <a:xfrm>
            <a:off x="8649675" y="2527800"/>
            <a:ext cx="0" cy="187200"/>
          </a:xfrm>
          <a:prstGeom prst="straightConnector1">
            <a:avLst/>
          </a:prstGeom>
          <a:noFill/>
          <a:ln cap="flat" cmpd="sng" w="9525">
            <a:solidFill>
              <a:schemeClr val="dk2"/>
            </a:solidFill>
            <a:prstDash val="solid"/>
            <a:round/>
            <a:headEnd len="med" w="med" type="none"/>
            <a:tailEnd len="med" w="med" type="triangle"/>
          </a:ln>
        </p:spPr>
      </p:cxnSp>
      <p:sp>
        <p:nvSpPr>
          <p:cNvPr id="418" name="Google Shape;418;p27"/>
          <p:cNvSpPr txBox="1"/>
          <p:nvPr/>
        </p:nvSpPr>
        <p:spPr>
          <a:xfrm>
            <a:off x="7350750" y="2609488"/>
            <a:ext cx="1160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Predicted tag </a:t>
            </a:r>
            <a:endParaRPr sz="1200">
              <a:solidFill>
                <a:schemeClr val="dk1"/>
              </a:solidFill>
            </a:endParaRPr>
          </a:p>
          <a:p>
            <a:pPr indent="0" lvl="0" marL="0" rtl="0" algn="ctr">
              <a:spcBef>
                <a:spcPts val="0"/>
              </a:spcBef>
              <a:spcAft>
                <a:spcPts val="0"/>
              </a:spcAft>
              <a:buNone/>
            </a:pPr>
            <a:r>
              <a:rPr lang="zh-TW" sz="1200">
                <a:solidFill>
                  <a:schemeClr val="dk1"/>
                </a:solidFill>
              </a:rPr>
              <a:t>sequence</a:t>
            </a:r>
            <a:endParaRPr sz="1200">
              <a:solidFill>
                <a:schemeClr val="dk1"/>
              </a:solidFill>
            </a:endParaRPr>
          </a:p>
        </p:txBody>
      </p:sp>
      <p:sp>
        <p:nvSpPr>
          <p:cNvPr id="417" name="Google Shape;417;p27"/>
          <p:cNvSpPr/>
          <p:nvPr/>
        </p:nvSpPr>
        <p:spPr>
          <a:xfrm rot="10800000">
            <a:off x="8558167" y="2714999"/>
            <a:ext cx="183000" cy="432000"/>
          </a:xfrm>
          <a:prstGeom prst="rect">
            <a:avLst/>
          </a:prstGeom>
          <a:solidFill>
            <a:srgbClr val="CC0000"/>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cxnSp>
        <p:nvCxnSpPr>
          <p:cNvPr id="419" name="Google Shape;419;p27"/>
          <p:cNvCxnSpPr>
            <a:endCxn id="417" idx="3"/>
          </p:cNvCxnSpPr>
          <p:nvPr/>
        </p:nvCxnSpPr>
        <p:spPr>
          <a:xfrm>
            <a:off x="8403667" y="2930699"/>
            <a:ext cx="154500" cy="300"/>
          </a:xfrm>
          <a:prstGeom prst="straightConnector1">
            <a:avLst/>
          </a:prstGeom>
          <a:noFill/>
          <a:ln cap="flat" cmpd="sng" w="9525">
            <a:solidFill>
              <a:schemeClr val="dk2"/>
            </a:solidFill>
            <a:prstDash val="solid"/>
            <a:round/>
            <a:headEnd len="med" w="med" type="none"/>
            <a:tailEnd len="med" w="med" type="none"/>
          </a:ln>
        </p:spPr>
      </p:cxnSp>
      <p:sp>
        <p:nvSpPr>
          <p:cNvPr id="413" name="Google Shape;413;p27"/>
          <p:cNvSpPr/>
          <p:nvPr/>
        </p:nvSpPr>
        <p:spPr>
          <a:xfrm>
            <a:off x="7483000" y="2259000"/>
            <a:ext cx="697800" cy="26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1200"/>
              <a:t>O-Bias</a:t>
            </a:r>
            <a:endParaRPr sz="1200"/>
          </a:p>
        </p:txBody>
      </p:sp>
      <p:sp>
        <p:nvSpPr>
          <p:cNvPr id="420" name="Google Shape;42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8"/>
          <p:cNvSpPr txBox="1"/>
          <p:nvPr>
            <p:ph type="title"/>
          </p:nvPr>
        </p:nvSpPr>
        <p:spPr>
          <a:xfrm>
            <a:off x="164050" y="78550"/>
            <a:ext cx="7820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研究方法 - Multi-hop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26" name="Google Shape;42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427" name="Google Shape;427;p28"/>
          <p:cNvSpPr txBox="1"/>
          <p:nvPr/>
        </p:nvSpPr>
        <p:spPr>
          <a:xfrm>
            <a:off x="9487125" y="37223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Loss = crf_loss + w * focal_loss</a:t>
            </a:r>
            <a:endParaRPr/>
          </a:p>
        </p:txBody>
      </p:sp>
      <p:grpSp>
        <p:nvGrpSpPr>
          <p:cNvPr id="428" name="Google Shape;428;p28"/>
          <p:cNvGrpSpPr/>
          <p:nvPr/>
        </p:nvGrpSpPr>
        <p:grpSpPr>
          <a:xfrm>
            <a:off x="10106175" y="4185525"/>
            <a:ext cx="1761900" cy="615600"/>
            <a:chOff x="6591025" y="4184550"/>
            <a:chExt cx="1761900" cy="615600"/>
          </a:xfrm>
        </p:grpSpPr>
        <p:sp>
          <p:nvSpPr>
            <p:cNvPr id="429" name="Google Shape;429;p28"/>
            <p:cNvSpPr txBox="1"/>
            <p:nvPr/>
          </p:nvSpPr>
          <p:spPr>
            <a:xfrm>
              <a:off x="6591025" y="4184550"/>
              <a:ext cx="1761900" cy="615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Train</a:t>
              </a:r>
              <a:endParaRPr>
                <a:solidFill>
                  <a:schemeClr val="dk1"/>
                </a:solidFill>
              </a:endParaRPr>
            </a:p>
            <a:p>
              <a:pPr indent="0" lvl="0" marL="0" rtl="0" algn="l">
                <a:spcBef>
                  <a:spcPts val="0"/>
                </a:spcBef>
                <a:spcAft>
                  <a:spcPts val="0"/>
                </a:spcAft>
                <a:buNone/>
              </a:pPr>
              <a:r>
                <a:rPr lang="zh-TW">
                  <a:solidFill>
                    <a:schemeClr val="dk1"/>
                  </a:solidFill>
                </a:rPr>
                <a:t>Inference</a:t>
              </a:r>
              <a:endParaRPr>
                <a:solidFill>
                  <a:schemeClr val="dk1"/>
                </a:solidFill>
              </a:endParaRPr>
            </a:p>
          </p:txBody>
        </p:sp>
        <p:cxnSp>
          <p:nvCxnSpPr>
            <p:cNvPr id="430" name="Google Shape;430;p28"/>
            <p:cNvCxnSpPr/>
            <p:nvPr/>
          </p:nvCxnSpPr>
          <p:spPr>
            <a:xfrm>
              <a:off x="7602450" y="4384661"/>
              <a:ext cx="589500" cy="0"/>
            </a:xfrm>
            <a:prstGeom prst="straightConnector1">
              <a:avLst/>
            </a:prstGeom>
            <a:noFill/>
            <a:ln cap="flat" cmpd="sng" w="9525">
              <a:solidFill>
                <a:schemeClr val="dk2"/>
              </a:solidFill>
              <a:prstDash val="solid"/>
              <a:round/>
              <a:headEnd len="med" w="med" type="none"/>
              <a:tailEnd len="med" w="med" type="triangle"/>
            </a:ln>
          </p:spPr>
        </p:cxnSp>
        <p:cxnSp>
          <p:nvCxnSpPr>
            <p:cNvPr id="431" name="Google Shape;431;p28"/>
            <p:cNvCxnSpPr/>
            <p:nvPr/>
          </p:nvCxnSpPr>
          <p:spPr>
            <a:xfrm>
              <a:off x="7602450" y="4600211"/>
              <a:ext cx="589500" cy="0"/>
            </a:xfrm>
            <a:prstGeom prst="straightConnector1">
              <a:avLst/>
            </a:prstGeom>
            <a:noFill/>
            <a:ln cap="flat" cmpd="sng" w="9525">
              <a:solidFill>
                <a:schemeClr val="accent1"/>
              </a:solidFill>
              <a:prstDash val="solid"/>
              <a:round/>
              <a:headEnd len="med" w="med" type="none"/>
              <a:tailEnd len="med" w="med" type="triangle"/>
            </a:ln>
          </p:spPr>
        </p:cxnSp>
      </p:grpSp>
      <p:sp>
        <p:nvSpPr>
          <p:cNvPr id="432" name="Google Shape;432;p28"/>
          <p:cNvSpPr txBox="1"/>
          <p:nvPr/>
        </p:nvSpPr>
        <p:spPr>
          <a:xfrm>
            <a:off x="188550" y="651250"/>
            <a:ext cx="8766900" cy="1639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b="1" lang="zh-TW">
                <a:solidFill>
                  <a:schemeClr val="dk1"/>
                </a:solidFill>
              </a:rPr>
              <a:t>APT 因果鏈是圖拓樸，非時間相鄰：</a:t>
            </a:r>
            <a:r>
              <a:rPr lang="zh-TW">
                <a:solidFill>
                  <a:schemeClr val="dk1"/>
                </a:solidFill>
              </a:rPr>
              <a:t>橫向移動、權限提升等步驟的因果關聯建立在溯源圖路徑距離，未必時間相鄰。</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zh-TW">
                <a:solidFill>
                  <a:schemeClr val="dk1"/>
                </a:solidFill>
              </a:rPr>
              <a:t>MultiHop 設計：</a:t>
            </a:r>
            <a:r>
              <a:rPr lang="zh-TW">
                <a:solidFill>
                  <a:schemeClr val="dk1"/>
                </a:solidFill>
              </a:rPr>
              <a:t>以溯源圖中事件節點為中心，擷取 k-hop 內鄰居事件作為上下文，取代純時間窗定義。</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zh-TW">
                <a:solidFill>
                  <a:schemeClr val="dk1"/>
                </a:solidFill>
              </a:rPr>
              <a:t>實驗證據：</a:t>
            </a:r>
            <a:r>
              <a:rPr lang="zh-TW">
                <a:solidFill>
                  <a:schemeClr val="dk1"/>
                </a:solidFill>
              </a:rPr>
              <a:t>SAGA 平均 F1，Hop 61.59% 遠優於同基礎架構之 Temporal 41.62%（+19.97%）。</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zh-TW">
                <a:solidFill>
                  <a:schemeClr val="dk1"/>
                </a:solidFill>
              </a:rPr>
              <a:t>與 MultiChunk 的關係：</a:t>
            </a:r>
            <a:r>
              <a:rPr lang="zh-TW">
                <a:solidFill>
                  <a:schemeClr val="dk1"/>
                </a:solidFill>
              </a:rPr>
              <a:t>MultiChunk（時間分塊＋共用 Transformer）目前整體最佳（69.07%），兩策略互補、非互斥（詳見 RQ2）。</a:t>
            </a:r>
            <a:endParaRPr b="1">
              <a:solidFill>
                <a:schemeClr val="dk1"/>
              </a:solidFill>
            </a:endParaRPr>
          </a:p>
        </p:txBody>
      </p:sp>
      <p:sp>
        <p:nvSpPr>
          <p:cNvPr id="433" name="Google Shape;433;p28"/>
          <p:cNvSpPr/>
          <p:nvPr/>
        </p:nvSpPr>
        <p:spPr>
          <a:xfrm>
            <a:off x="6530500" y="3276460"/>
            <a:ext cx="2303400" cy="1350600"/>
          </a:xfrm>
          <a:prstGeom prst="rect">
            <a:avLst/>
          </a:prstGeom>
          <a:noFill/>
          <a:ln cap="flat" cmpd="sng" w="13475">
            <a:solidFill>
              <a:schemeClr val="dk2"/>
            </a:solidFill>
            <a:prstDash val="solid"/>
            <a:round/>
            <a:headEnd len="sm" w="sm" type="none"/>
            <a:tailEnd len="sm" w="sm" type="none"/>
          </a:ln>
        </p:spPr>
        <p:txBody>
          <a:bodyPr anchorCtr="0" anchor="ctr" bIns="129100" lIns="129100" spcFirstLastPara="1" rIns="129100" wrap="square" tIns="129100">
            <a:noAutofit/>
          </a:bodyPr>
          <a:lstStyle/>
          <a:p>
            <a:pPr indent="0" lvl="0" marL="0" rtl="0" algn="ctr">
              <a:spcBef>
                <a:spcPts val="0"/>
              </a:spcBef>
              <a:spcAft>
                <a:spcPts val="0"/>
              </a:spcAft>
              <a:buNone/>
            </a:pPr>
            <a:r>
              <a:t/>
            </a:r>
            <a:endParaRPr sz="1977"/>
          </a:p>
        </p:txBody>
      </p:sp>
      <p:grpSp>
        <p:nvGrpSpPr>
          <p:cNvPr id="434" name="Google Shape;434;p28"/>
          <p:cNvGrpSpPr/>
          <p:nvPr/>
        </p:nvGrpSpPr>
        <p:grpSpPr>
          <a:xfrm>
            <a:off x="6698278" y="3358556"/>
            <a:ext cx="869350" cy="1139794"/>
            <a:chOff x="3281625" y="3356170"/>
            <a:chExt cx="615600" cy="807105"/>
          </a:xfrm>
        </p:grpSpPr>
        <p:sp>
          <p:nvSpPr>
            <p:cNvPr id="435" name="Google Shape;435;p28"/>
            <p:cNvSpPr/>
            <p:nvPr/>
          </p:nvSpPr>
          <p:spPr>
            <a:xfrm rot="5400000">
              <a:off x="3487125" y="3150670"/>
              <a:ext cx="204600" cy="615600"/>
            </a:xfrm>
            <a:prstGeom prst="rect">
              <a:avLst/>
            </a:prstGeom>
            <a:solidFill>
              <a:srgbClr val="6AA84F"/>
            </a:solidFill>
            <a:ln cap="flat" cmpd="sng" w="13475">
              <a:solidFill>
                <a:schemeClr val="dk2"/>
              </a:solidFill>
              <a:prstDash val="solid"/>
              <a:round/>
              <a:headEnd len="sm" w="sm" type="none"/>
              <a:tailEnd len="sm" w="sm" type="none"/>
            </a:ln>
          </p:spPr>
          <p:txBody>
            <a:bodyPr anchorCtr="0" anchor="ctr" bIns="129100" lIns="129100" spcFirstLastPara="1" rIns="129100" wrap="square" tIns="129100">
              <a:noAutofit/>
            </a:bodyPr>
            <a:lstStyle/>
            <a:p>
              <a:pPr indent="0" lvl="0" marL="0" rtl="0" algn="ctr">
                <a:spcBef>
                  <a:spcPts val="0"/>
                </a:spcBef>
                <a:spcAft>
                  <a:spcPts val="0"/>
                </a:spcAft>
                <a:buNone/>
              </a:pPr>
              <a:r>
                <a:t/>
              </a:r>
              <a:endParaRPr sz="1977"/>
            </a:p>
          </p:txBody>
        </p:sp>
        <p:sp>
          <p:nvSpPr>
            <p:cNvPr id="436" name="Google Shape;436;p28"/>
            <p:cNvSpPr/>
            <p:nvPr/>
          </p:nvSpPr>
          <p:spPr>
            <a:xfrm rot="5400000">
              <a:off x="3334200" y="3605075"/>
              <a:ext cx="204600" cy="309300"/>
            </a:xfrm>
            <a:prstGeom prst="rect">
              <a:avLst/>
            </a:prstGeom>
            <a:solidFill>
              <a:srgbClr val="A2C4C9"/>
            </a:solidFill>
            <a:ln cap="flat" cmpd="sng" w="13475">
              <a:solidFill>
                <a:schemeClr val="dk2"/>
              </a:solidFill>
              <a:prstDash val="solid"/>
              <a:round/>
              <a:headEnd len="sm" w="sm" type="none"/>
              <a:tailEnd len="sm" w="sm" type="none"/>
            </a:ln>
          </p:spPr>
          <p:txBody>
            <a:bodyPr anchorCtr="0" anchor="ctr" bIns="129100" lIns="129100" spcFirstLastPara="1" rIns="129100" wrap="square" tIns="129100">
              <a:noAutofit/>
            </a:bodyPr>
            <a:lstStyle/>
            <a:p>
              <a:pPr indent="0" lvl="0" marL="0" rtl="0" algn="ctr">
                <a:spcBef>
                  <a:spcPts val="0"/>
                </a:spcBef>
                <a:spcAft>
                  <a:spcPts val="0"/>
                </a:spcAft>
                <a:buNone/>
              </a:pPr>
              <a:r>
                <a:t/>
              </a:r>
              <a:endParaRPr sz="1977"/>
            </a:p>
          </p:txBody>
        </p:sp>
        <p:sp>
          <p:nvSpPr>
            <p:cNvPr id="437" name="Google Shape;437;p28"/>
            <p:cNvSpPr/>
            <p:nvPr/>
          </p:nvSpPr>
          <p:spPr>
            <a:xfrm rot="5400000">
              <a:off x="3255675" y="3984625"/>
              <a:ext cx="204600" cy="152700"/>
            </a:xfrm>
            <a:prstGeom prst="rect">
              <a:avLst/>
            </a:prstGeom>
            <a:solidFill>
              <a:srgbClr val="A4C2F4"/>
            </a:solidFill>
            <a:ln cap="flat" cmpd="sng" w="13475">
              <a:solidFill>
                <a:schemeClr val="dk2"/>
              </a:solidFill>
              <a:prstDash val="solid"/>
              <a:round/>
              <a:headEnd len="sm" w="sm" type="none"/>
              <a:tailEnd len="sm" w="sm" type="none"/>
            </a:ln>
          </p:spPr>
          <p:txBody>
            <a:bodyPr anchorCtr="0" anchor="ctr" bIns="129100" lIns="129100" spcFirstLastPara="1" rIns="129100" wrap="square" tIns="129100">
              <a:noAutofit/>
            </a:bodyPr>
            <a:lstStyle/>
            <a:p>
              <a:pPr indent="0" lvl="0" marL="0" rtl="0" algn="ctr">
                <a:spcBef>
                  <a:spcPts val="0"/>
                </a:spcBef>
                <a:spcAft>
                  <a:spcPts val="0"/>
                </a:spcAft>
                <a:buNone/>
              </a:pPr>
              <a:r>
                <a:t/>
              </a:r>
              <a:endParaRPr sz="1977"/>
            </a:p>
          </p:txBody>
        </p:sp>
      </p:grpSp>
      <p:sp>
        <p:nvSpPr>
          <p:cNvPr id="438" name="Google Shape;438;p28"/>
          <p:cNvSpPr txBox="1"/>
          <p:nvPr/>
        </p:nvSpPr>
        <p:spPr>
          <a:xfrm>
            <a:off x="7587754" y="3217800"/>
            <a:ext cx="641400" cy="499800"/>
          </a:xfrm>
          <a:prstGeom prst="rect">
            <a:avLst/>
          </a:prstGeom>
          <a:noFill/>
          <a:ln>
            <a:noFill/>
          </a:ln>
        </p:spPr>
        <p:txBody>
          <a:bodyPr anchorCtr="0" anchor="t" bIns="129100" lIns="129100" spcFirstLastPara="1" rIns="129100" wrap="square" tIns="129100">
            <a:spAutoFit/>
          </a:bodyPr>
          <a:lstStyle/>
          <a:p>
            <a:pPr indent="0" lvl="0" marL="0" rtl="0" algn="ctr">
              <a:lnSpc>
                <a:spcPct val="115000"/>
              </a:lnSpc>
              <a:spcBef>
                <a:spcPts val="0"/>
              </a:spcBef>
              <a:spcAft>
                <a:spcPts val="1695"/>
              </a:spcAft>
              <a:buNone/>
            </a:pPr>
            <a:r>
              <a:rPr lang="zh-TW" sz="1553">
                <a:solidFill>
                  <a:schemeClr val="dk1"/>
                </a:solidFill>
              </a:rPr>
              <a:t>Xᵢⱼ,ₖ</a:t>
            </a:r>
            <a:endParaRPr sz="1977"/>
          </a:p>
        </p:txBody>
      </p:sp>
      <p:sp>
        <p:nvSpPr>
          <p:cNvPr id="439" name="Google Shape;439;p28"/>
          <p:cNvSpPr txBox="1"/>
          <p:nvPr/>
        </p:nvSpPr>
        <p:spPr>
          <a:xfrm>
            <a:off x="7587754" y="3678495"/>
            <a:ext cx="641400" cy="499800"/>
          </a:xfrm>
          <a:prstGeom prst="rect">
            <a:avLst/>
          </a:prstGeom>
          <a:noFill/>
          <a:ln>
            <a:noFill/>
          </a:ln>
        </p:spPr>
        <p:txBody>
          <a:bodyPr anchorCtr="0" anchor="t" bIns="129100" lIns="129100" spcFirstLastPara="1" rIns="129100" wrap="square" tIns="129100">
            <a:spAutoFit/>
          </a:bodyPr>
          <a:lstStyle/>
          <a:p>
            <a:pPr indent="0" lvl="0" marL="0" rtl="0" algn="ctr">
              <a:lnSpc>
                <a:spcPct val="115000"/>
              </a:lnSpc>
              <a:spcBef>
                <a:spcPts val="0"/>
              </a:spcBef>
              <a:spcAft>
                <a:spcPts val="1695"/>
              </a:spcAft>
              <a:buNone/>
            </a:pPr>
            <a:r>
              <a:rPr lang="zh-TW" sz="1553">
                <a:solidFill>
                  <a:schemeClr val="dk1"/>
                </a:solidFill>
              </a:rPr>
              <a:t>Xᵢⱼ,ₖ</a:t>
            </a:r>
            <a:endParaRPr sz="1977"/>
          </a:p>
        </p:txBody>
      </p:sp>
      <p:sp>
        <p:nvSpPr>
          <p:cNvPr id="440" name="Google Shape;440;p28"/>
          <p:cNvSpPr txBox="1"/>
          <p:nvPr/>
        </p:nvSpPr>
        <p:spPr>
          <a:xfrm>
            <a:off x="7598204" y="4090010"/>
            <a:ext cx="641400" cy="499800"/>
          </a:xfrm>
          <a:prstGeom prst="rect">
            <a:avLst/>
          </a:prstGeom>
          <a:noFill/>
          <a:ln>
            <a:noFill/>
          </a:ln>
        </p:spPr>
        <p:txBody>
          <a:bodyPr anchorCtr="0" anchor="t" bIns="129100" lIns="129100" spcFirstLastPara="1" rIns="129100" wrap="square" tIns="129100">
            <a:spAutoFit/>
          </a:bodyPr>
          <a:lstStyle/>
          <a:p>
            <a:pPr indent="0" lvl="0" marL="0" rtl="0" algn="ctr">
              <a:lnSpc>
                <a:spcPct val="115000"/>
              </a:lnSpc>
              <a:spcBef>
                <a:spcPts val="0"/>
              </a:spcBef>
              <a:spcAft>
                <a:spcPts val="1695"/>
              </a:spcAft>
              <a:buNone/>
            </a:pPr>
            <a:r>
              <a:rPr lang="zh-TW" sz="1553">
                <a:solidFill>
                  <a:schemeClr val="dk1"/>
                </a:solidFill>
              </a:rPr>
              <a:t>Xᵢⱼ,ₖ</a:t>
            </a:r>
            <a:endParaRPr sz="1977"/>
          </a:p>
        </p:txBody>
      </p:sp>
      <p:sp>
        <p:nvSpPr>
          <p:cNvPr id="441" name="Google Shape;441;p28"/>
          <p:cNvSpPr txBox="1"/>
          <p:nvPr/>
        </p:nvSpPr>
        <p:spPr>
          <a:xfrm>
            <a:off x="8175908" y="3260428"/>
            <a:ext cx="641400" cy="499800"/>
          </a:xfrm>
          <a:prstGeom prst="rect">
            <a:avLst/>
          </a:prstGeom>
          <a:noFill/>
          <a:ln>
            <a:noFill/>
          </a:ln>
        </p:spPr>
        <p:txBody>
          <a:bodyPr anchorCtr="0" anchor="t" bIns="129100" lIns="129100" spcFirstLastPara="1" rIns="129100" wrap="square" tIns="129100">
            <a:spAutoFit/>
          </a:bodyPr>
          <a:lstStyle/>
          <a:p>
            <a:pPr indent="0" lvl="0" marL="0" rtl="0" algn="ctr">
              <a:lnSpc>
                <a:spcPct val="115000"/>
              </a:lnSpc>
              <a:spcBef>
                <a:spcPts val="0"/>
              </a:spcBef>
              <a:spcAft>
                <a:spcPts val="1695"/>
              </a:spcAft>
              <a:buNone/>
            </a:pPr>
            <a:r>
              <a:rPr lang="zh-TW" sz="1553">
                <a:solidFill>
                  <a:schemeClr val="dk1"/>
                </a:solidFill>
              </a:rPr>
              <a:t>k=3</a:t>
            </a:r>
            <a:endParaRPr sz="1977"/>
          </a:p>
        </p:txBody>
      </p:sp>
      <p:sp>
        <p:nvSpPr>
          <p:cNvPr id="442" name="Google Shape;442;p28"/>
          <p:cNvSpPr txBox="1"/>
          <p:nvPr/>
        </p:nvSpPr>
        <p:spPr>
          <a:xfrm>
            <a:off x="8175908" y="3710778"/>
            <a:ext cx="641400" cy="499800"/>
          </a:xfrm>
          <a:prstGeom prst="rect">
            <a:avLst/>
          </a:prstGeom>
          <a:noFill/>
          <a:ln>
            <a:noFill/>
          </a:ln>
        </p:spPr>
        <p:txBody>
          <a:bodyPr anchorCtr="0" anchor="t" bIns="129100" lIns="129100" spcFirstLastPara="1" rIns="129100" wrap="square" tIns="129100">
            <a:spAutoFit/>
          </a:bodyPr>
          <a:lstStyle/>
          <a:p>
            <a:pPr indent="0" lvl="0" marL="0" rtl="0" algn="ctr">
              <a:lnSpc>
                <a:spcPct val="115000"/>
              </a:lnSpc>
              <a:spcBef>
                <a:spcPts val="0"/>
              </a:spcBef>
              <a:spcAft>
                <a:spcPts val="1695"/>
              </a:spcAft>
              <a:buNone/>
            </a:pPr>
            <a:r>
              <a:rPr lang="zh-TW" sz="1553">
                <a:solidFill>
                  <a:schemeClr val="dk1"/>
                </a:solidFill>
              </a:rPr>
              <a:t>k=2</a:t>
            </a:r>
            <a:endParaRPr sz="1977"/>
          </a:p>
        </p:txBody>
      </p:sp>
      <p:sp>
        <p:nvSpPr>
          <p:cNvPr id="443" name="Google Shape;443;p28"/>
          <p:cNvSpPr txBox="1"/>
          <p:nvPr/>
        </p:nvSpPr>
        <p:spPr>
          <a:xfrm>
            <a:off x="8175908" y="4122293"/>
            <a:ext cx="641400" cy="499800"/>
          </a:xfrm>
          <a:prstGeom prst="rect">
            <a:avLst/>
          </a:prstGeom>
          <a:noFill/>
          <a:ln>
            <a:noFill/>
          </a:ln>
        </p:spPr>
        <p:txBody>
          <a:bodyPr anchorCtr="0" anchor="t" bIns="129100" lIns="129100" spcFirstLastPara="1" rIns="129100" wrap="square" tIns="129100">
            <a:spAutoFit/>
          </a:bodyPr>
          <a:lstStyle/>
          <a:p>
            <a:pPr indent="0" lvl="0" marL="0" rtl="0" algn="ctr">
              <a:lnSpc>
                <a:spcPct val="115000"/>
              </a:lnSpc>
              <a:spcBef>
                <a:spcPts val="0"/>
              </a:spcBef>
              <a:spcAft>
                <a:spcPts val="1695"/>
              </a:spcAft>
              <a:buNone/>
            </a:pPr>
            <a:r>
              <a:rPr lang="zh-TW" sz="1553">
                <a:solidFill>
                  <a:schemeClr val="dk1"/>
                </a:solidFill>
              </a:rPr>
              <a:t>k=1</a:t>
            </a:r>
            <a:endParaRPr sz="1977"/>
          </a:p>
        </p:txBody>
      </p:sp>
      <p:sp>
        <p:nvSpPr>
          <p:cNvPr id="444" name="Google Shape;444;p28"/>
          <p:cNvSpPr/>
          <p:nvPr/>
        </p:nvSpPr>
        <p:spPr>
          <a:xfrm>
            <a:off x="387425" y="3358550"/>
            <a:ext cx="899100" cy="909600"/>
          </a:xfrm>
          <a:prstGeom prst="ellipse">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src</a:t>
            </a:r>
            <a:endParaRPr/>
          </a:p>
        </p:txBody>
      </p:sp>
      <p:sp>
        <p:nvSpPr>
          <p:cNvPr id="445" name="Google Shape;445;p28"/>
          <p:cNvSpPr/>
          <p:nvPr/>
        </p:nvSpPr>
        <p:spPr>
          <a:xfrm>
            <a:off x="1608325" y="2448950"/>
            <a:ext cx="899100" cy="90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28"/>
          <p:cNvSpPr/>
          <p:nvPr/>
        </p:nvSpPr>
        <p:spPr>
          <a:xfrm>
            <a:off x="2939650" y="3496950"/>
            <a:ext cx="899100" cy="90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28"/>
          <p:cNvSpPr/>
          <p:nvPr/>
        </p:nvSpPr>
        <p:spPr>
          <a:xfrm>
            <a:off x="4351325" y="2448950"/>
            <a:ext cx="899100" cy="9096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48" name="Google Shape;448;p28"/>
          <p:cNvCxnSpPr>
            <a:stCxn id="444" idx="7"/>
            <a:endCxn id="445" idx="3"/>
          </p:cNvCxnSpPr>
          <p:nvPr/>
        </p:nvCxnSpPr>
        <p:spPr>
          <a:xfrm flipH="1" rot="10800000">
            <a:off x="1154855" y="3225358"/>
            <a:ext cx="585000" cy="266400"/>
          </a:xfrm>
          <a:prstGeom prst="straightConnector1">
            <a:avLst/>
          </a:prstGeom>
          <a:noFill/>
          <a:ln cap="flat" cmpd="sng" w="9525">
            <a:solidFill>
              <a:schemeClr val="dk2"/>
            </a:solidFill>
            <a:prstDash val="solid"/>
            <a:round/>
            <a:headEnd len="med" w="med" type="none"/>
            <a:tailEnd len="med" w="med" type="triangle"/>
          </a:ln>
        </p:spPr>
      </p:cxnSp>
      <p:cxnSp>
        <p:nvCxnSpPr>
          <p:cNvPr id="449" name="Google Shape;449;p28"/>
          <p:cNvCxnSpPr>
            <a:stCxn id="445" idx="5"/>
            <a:endCxn id="446" idx="1"/>
          </p:cNvCxnSpPr>
          <p:nvPr/>
        </p:nvCxnSpPr>
        <p:spPr>
          <a:xfrm>
            <a:off x="2375755" y="3225342"/>
            <a:ext cx="695700" cy="404700"/>
          </a:xfrm>
          <a:prstGeom prst="straightConnector1">
            <a:avLst/>
          </a:prstGeom>
          <a:noFill/>
          <a:ln cap="flat" cmpd="sng" w="9525">
            <a:solidFill>
              <a:schemeClr val="dk2"/>
            </a:solidFill>
            <a:prstDash val="solid"/>
            <a:round/>
            <a:headEnd len="med" w="med" type="none"/>
            <a:tailEnd len="med" w="med" type="triangle"/>
          </a:ln>
        </p:spPr>
      </p:cxnSp>
      <p:cxnSp>
        <p:nvCxnSpPr>
          <p:cNvPr id="450" name="Google Shape;450;p28"/>
          <p:cNvCxnSpPr>
            <a:stCxn id="446" idx="7"/>
            <a:endCxn id="447" idx="3"/>
          </p:cNvCxnSpPr>
          <p:nvPr/>
        </p:nvCxnSpPr>
        <p:spPr>
          <a:xfrm flipH="1" rot="10800000">
            <a:off x="3707080" y="3225458"/>
            <a:ext cx="775800" cy="404700"/>
          </a:xfrm>
          <a:prstGeom prst="straightConnector1">
            <a:avLst/>
          </a:prstGeom>
          <a:noFill/>
          <a:ln cap="flat" cmpd="sng" w="9525">
            <a:solidFill>
              <a:schemeClr val="dk2"/>
            </a:solidFill>
            <a:prstDash val="solid"/>
            <a:round/>
            <a:headEnd len="med" w="med" type="none"/>
            <a:tailEnd len="med" w="med" type="triangle"/>
          </a:ln>
        </p:spPr>
      </p:cxnSp>
      <p:sp>
        <p:nvSpPr>
          <p:cNvPr id="451" name="Google Shape;451;p28"/>
          <p:cNvSpPr txBox="1"/>
          <p:nvPr/>
        </p:nvSpPr>
        <p:spPr>
          <a:xfrm>
            <a:off x="1230500" y="3394775"/>
            <a:ext cx="810300" cy="423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695"/>
              </a:spcAft>
              <a:buNone/>
            </a:pPr>
            <a:r>
              <a:rPr lang="zh-TW" sz="1553">
                <a:solidFill>
                  <a:schemeClr val="dk1"/>
                </a:solidFill>
              </a:rPr>
              <a:t>1-hop</a:t>
            </a:r>
            <a:endParaRPr/>
          </a:p>
        </p:txBody>
      </p:sp>
      <p:sp>
        <p:nvSpPr>
          <p:cNvPr id="452" name="Google Shape;452;p28"/>
          <p:cNvSpPr txBox="1"/>
          <p:nvPr/>
        </p:nvSpPr>
        <p:spPr>
          <a:xfrm>
            <a:off x="2591525" y="3003800"/>
            <a:ext cx="810300" cy="423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695"/>
              </a:spcAft>
              <a:buNone/>
            </a:pPr>
            <a:r>
              <a:rPr lang="zh-TW" sz="1553">
                <a:solidFill>
                  <a:schemeClr val="dk1"/>
                </a:solidFill>
              </a:rPr>
              <a:t>2</a:t>
            </a:r>
            <a:r>
              <a:rPr lang="zh-TW" sz="1553">
                <a:solidFill>
                  <a:schemeClr val="dk1"/>
                </a:solidFill>
              </a:rPr>
              <a:t>-hop</a:t>
            </a:r>
            <a:endParaRPr/>
          </a:p>
        </p:txBody>
      </p:sp>
      <p:sp>
        <p:nvSpPr>
          <p:cNvPr id="453" name="Google Shape;453;p28"/>
          <p:cNvSpPr txBox="1"/>
          <p:nvPr/>
        </p:nvSpPr>
        <p:spPr>
          <a:xfrm>
            <a:off x="4031988" y="3394775"/>
            <a:ext cx="810300" cy="423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695"/>
              </a:spcAft>
              <a:buNone/>
            </a:pPr>
            <a:r>
              <a:rPr lang="zh-TW" sz="1553">
                <a:solidFill>
                  <a:schemeClr val="dk1"/>
                </a:solidFill>
              </a:rPr>
              <a:t>3</a:t>
            </a:r>
            <a:r>
              <a:rPr lang="zh-TW" sz="1553">
                <a:solidFill>
                  <a:schemeClr val="dk1"/>
                </a:solidFill>
              </a:rPr>
              <a:t>-hop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9"/>
          <p:cNvSpPr txBox="1"/>
          <p:nvPr>
            <p:ph type="title"/>
          </p:nvPr>
        </p:nvSpPr>
        <p:spPr>
          <a:xfrm>
            <a:off x="164050" y="78550"/>
            <a:ext cx="7820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研究方法 - Transformer</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None/>
            </a:pPr>
            <a:r>
              <a:t/>
            </a:r>
            <a:endParaRPr/>
          </a:p>
        </p:txBody>
      </p:sp>
      <p:sp>
        <p:nvSpPr>
          <p:cNvPr id="459" name="Google Shape;45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460" name="Google Shape;460;p29"/>
          <p:cNvSpPr txBox="1"/>
          <p:nvPr/>
        </p:nvSpPr>
        <p:spPr>
          <a:xfrm>
            <a:off x="9487125" y="37223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Loss = crf_loss + w * focal_loss</a:t>
            </a:r>
            <a:endParaRPr/>
          </a:p>
        </p:txBody>
      </p:sp>
      <p:grpSp>
        <p:nvGrpSpPr>
          <p:cNvPr id="461" name="Google Shape;461;p29"/>
          <p:cNvGrpSpPr/>
          <p:nvPr/>
        </p:nvGrpSpPr>
        <p:grpSpPr>
          <a:xfrm>
            <a:off x="10106175" y="4185525"/>
            <a:ext cx="1761900" cy="615600"/>
            <a:chOff x="6591025" y="4184550"/>
            <a:chExt cx="1761900" cy="615600"/>
          </a:xfrm>
        </p:grpSpPr>
        <p:sp>
          <p:nvSpPr>
            <p:cNvPr id="462" name="Google Shape;462;p29"/>
            <p:cNvSpPr txBox="1"/>
            <p:nvPr/>
          </p:nvSpPr>
          <p:spPr>
            <a:xfrm>
              <a:off x="6591025" y="4184550"/>
              <a:ext cx="1761900" cy="615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Train</a:t>
              </a:r>
              <a:endParaRPr>
                <a:solidFill>
                  <a:schemeClr val="dk1"/>
                </a:solidFill>
              </a:endParaRPr>
            </a:p>
            <a:p>
              <a:pPr indent="0" lvl="0" marL="0" rtl="0" algn="l">
                <a:spcBef>
                  <a:spcPts val="0"/>
                </a:spcBef>
                <a:spcAft>
                  <a:spcPts val="0"/>
                </a:spcAft>
                <a:buNone/>
              </a:pPr>
              <a:r>
                <a:rPr lang="zh-TW">
                  <a:solidFill>
                    <a:schemeClr val="dk1"/>
                  </a:solidFill>
                </a:rPr>
                <a:t>Inference</a:t>
              </a:r>
              <a:endParaRPr>
                <a:solidFill>
                  <a:schemeClr val="dk1"/>
                </a:solidFill>
              </a:endParaRPr>
            </a:p>
          </p:txBody>
        </p:sp>
        <p:cxnSp>
          <p:nvCxnSpPr>
            <p:cNvPr id="463" name="Google Shape;463;p29"/>
            <p:cNvCxnSpPr/>
            <p:nvPr/>
          </p:nvCxnSpPr>
          <p:spPr>
            <a:xfrm>
              <a:off x="7602450" y="4384661"/>
              <a:ext cx="589500" cy="0"/>
            </a:xfrm>
            <a:prstGeom prst="straightConnector1">
              <a:avLst/>
            </a:prstGeom>
            <a:noFill/>
            <a:ln cap="flat" cmpd="sng" w="9525">
              <a:solidFill>
                <a:schemeClr val="dk2"/>
              </a:solidFill>
              <a:prstDash val="solid"/>
              <a:round/>
              <a:headEnd len="med" w="med" type="none"/>
              <a:tailEnd len="med" w="med" type="triangle"/>
            </a:ln>
          </p:spPr>
        </p:cxnSp>
        <p:cxnSp>
          <p:nvCxnSpPr>
            <p:cNvPr id="464" name="Google Shape;464;p29"/>
            <p:cNvCxnSpPr/>
            <p:nvPr/>
          </p:nvCxnSpPr>
          <p:spPr>
            <a:xfrm>
              <a:off x="7602450" y="4600211"/>
              <a:ext cx="589500" cy="0"/>
            </a:xfrm>
            <a:prstGeom prst="straightConnector1">
              <a:avLst/>
            </a:prstGeom>
            <a:noFill/>
            <a:ln cap="flat" cmpd="sng" w="9525">
              <a:solidFill>
                <a:schemeClr val="accent1"/>
              </a:solidFill>
              <a:prstDash val="solid"/>
              <a:round/>
              <a:headEnd len="med" w="med" type="none"/>
              <a:tailEnd len="med" w="med" type="triangle"/>
            </a:ln>
          </p:spPr>
        </p:cxnSp>
      </p:grpSp>
      <p:sp>
        <p:nvSpPr>
          <p:cNvPr id="465" name="Google Shape;465;p29"/>
          <p:cNvSpPr txBox="1"/>
          <p:nvPr/>
        </p:nvSpPr>
        <p:spPr>
          <a:xfrm>
            <a:off x="188550" y="651250"/>
            <a:ext cx="8766900" cy="1639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b="1" lang="zh-TW">
                <a:solidFill>
                  <a:schemeClr val="dk1"/>
                </a:solidFill>
              </a:rPr>
              <a:t>長距離依賴＋可平行化：</a:t>
            </a:r>
            <a:r>
              <a:rPr lang="zh-TW">
                <a:solidFill>
                  <a:schemeClr val="dk1"/>
                </a:solidFill>
              </a:rPr>
              <a:t>Self-Attention 不受序列距離限制，訓練可全序列平行化，優於逐步遞迴之 RNN/LSTM。</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zh-TW">
                <a:solidFill>
                  <a:schemeClr val="dk1"/>
                </a:solidFill>
              </a:rPr>
              <a:t>相容多尺度上下文注入：</a:t>
            </a:r>
            <a:r>
              <a:rPr lang="zh-TW">
                <a:solidFill>
                  <a:schemeClr val="dk1"/>
                </a:solidFill>
              </a:rPr>
              <a:t>MultiHop 前處理需彈性餵入非嚴格時序的多來源事件，Self-Attention 適合此類集合式輸入。</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zh-TW">
                <a:solidFill>
                  <a:schemeClr val="dk1"/>
                </a:solidFill>
              </a:rPr>
              <a:t>支撐 CRF 全域一致性：</a:t>
            </a:r>
            <a:r>
              <a:rPr lang="zh-TW">
                <a:solidFill>
                  <a:schemeClr val="dk1"/>
                </a:solidFill>
              </a:rPr>
              <a:t>每層皆可存取完整序列，為線性鏈 CRF 輸出層提供穩定的全域上下文特徵。</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zh-TW">
                <a:solidFill>
                  <a:schemeClr val="dk1"/>
                </a:solidFill>
              </a:rPr>
              <a:t>架構可重用：</a:t>
            </a:r>
            <a:r>
              <a:rPr lang="zh-TW">
                <a:solidFill>
                  <a:schemeClr val="dk1"/>
                </a:solidFill>
              </a:rPr>
              <a:t>同一 Transformer Encoder 同時支援 3.4.1 節異常閘門變體與 3.4.2 節 TTP 偵測模型。</a:t>
            </a:r>
            <a:endParaRPr>
              <a:solidFill>
                <a:schemeClr val="dk1"/>
              </a:solidFill>
            </a:endParaRPr>
          </a:p>
        </p:txBody>
      </p:sp>
      <p:grpSp>
        <p:nvGrpSpPr>
          <p:cNvPr id="466" name="Google Shape;466;p29"/>
          <p:cNvGrpSpPr/>
          <p:nvPr/>
        </p:nvGrpSpPr>
        <p:grpSpPr>
          <a:xfrm>
            <a:off x="5495693" y="2385635"/>
            <a:ext cx="3525463" cy="1984517"/>
            <a:chOff x="513899" y="3066238"/>
            <a:chExt cx="3159300" cy="1778400"/>
          </a:xfrm>
        </p:grpSpPr>
        <p:sp>
          <p:nvSpPr>
            <p:cNvPr id="467" name="Google Shape;467;p29"/>
            <p:cNvSpPr/>
            <p:nvPr/>
          </p:nvSpPr>
          <p:spPr>
            <a:xfrm>
              <a:off x="513899" y="3066238"/>
              <a:ext cx="3159300" cy="1778400"/>
            </a:xfrm>
            <a:prstGeom prst="rect">
              <a:avLst/>
            </a:prstGeom>
            <a:solidFill>
              <a:srgbClr val="FCE5CD"/>
            </a:solidFill>
            <a:ln cap="flat" cmpd="sng" w="10625">
              <a:solidFill>
                <a:schemeClr val="dk2"/>
              </a:solidFill>
              <a:prstDash val="solid"/>
              <a:round/>
              <a:headEnd len="sm" w="sm" type="none"/>
              <a:tailEnd len="sm" w="sm" type="none"/>
            </a:ln>
          </p:spPr>
          <p:txBody>
            <a:bodyPr anchorCtr="0" anchor="t" bIns="102025" lIns="102025" spcFirstLastPara="1" rIns="102025" wrap="square" tIns="102025">
              <a:noAutofit/>
            </a:bodyPr>
            <a:lstStyle/>
            <a:p>
              <a:pPr indent="0" lvl="0" marL="0" rtl="0" algn="ctr">
                <a:spcBef>
                  <a:spcPts val="0"/>
                </a:spcBef>
                <a:spcAft>
                  <a:spcPts val="0"/>
                </a:spcAft>
                <a:buNone/>
              </a:pPr>
              <a:r>
                <a:rPr lang="zh-TW" sz="1562"/>
                <a:t>Transformer</a:t>
              </a:r>
              <a:r>
                <a:rPr lang="zh-TW" sz="1562">
                  <a:solidFill>
                    <a:schemeClr val="dk1"/>
                  </a:solidFill>
                </a:rPr>
                <a:t> encoder</a:t>
              </a:r>
              <a:endParaRPr sz="1562"/>
            </a:p>
          </p:txBody>
        </p:sp>
        <p:sp>
          <p:nvSpPr>
            <p:cNvPr id="468" name="Google Shape;468;p29"/>
            <p:cNvSpPr/>
            <p:nvPr/>
          </p:nvSpPr>
          <p:spPr>
            <a:xfrm>
              <a:off x="732645" y="3382738"/>
              <a:ext cx="1298400" cy="572700"/>
            </a:xfrm>
            <a:prstGeom prst="rect">
              <a:avLst/>
            </a:prstGeom>
            <a:solidFill>
              <a:srgbClr val="EFEFEF"/>
            </a:solidFill>
            <a:ln cap="flat" cmpd="sng" w="10625">
              <a:solidFill>
                <a:schemeClr val="dk2"/>
              </a:solidFill>
              <a:prstDash val="solid"/>
              <a:round/>
              <a:headEnd len="sm" w="sm" type="none"/>
              <a:tailEnd len="sm" w="sm" type="none"/>
            </a:ln>
          </p:spPr>
          <p:txBody>
            <a:bodyPr anchorCtr="0" anchor="ctr" bIns="102025" lIns="102025" spcFirstLastPara="1" rIns="102025" wrap="square" tIns="102025">
              <a:noAutofit/>
            </a:bodyPr>
            <a:lstStyle/>
            <a:p>
              <a:pPr indent="0" lvl="0" marL="0" rtl="0" algn="ctr">
                <a:spcBef>
                  <a:spcPts val="0"/>
                </a:spcBef>
                <a:spcAft>
                  <a:spcPts val="0"/>
                </a:spcAft>
                <a:buNone/>
              </a:pPr>
              <a:r>
                <a:rPr lang="zh-TW" sz="1562"/>
                <a:t>Multi-head attention</a:t>
              </a:r>
              <a:endParaRPr sz="1562"/>
            </a:p>
          </p:txBody>
        </p:sp>
        <p:sp>
          <p:nvSpPr>
            <p:cNvPr id="469" name="Google Shape;469;p29"/>
            <p:cNvSpPr/>
            <p:nvPr/>
          </p:nvSpPr>
          <p:spPr>
            <a:xfrm>
              <a:off x="770299" y="4147813"/>
              <a:ext cx="1223100" cy="572700"/>
            </a:xfrm>
            <a:prstGeom prst="rect">
              <a:avLst/>
            </a:prstGeom>
            <a:solidFill>
              <a:srgbClr val="EFEFEF"/>
            </a:solidFill>
            <a:ln cap="flat" cmpd="sng" w="10625">
              <a:solidFill>
                <a:schemeClr val="dk2"/>
              </a:solidFill>
              <a:prstDash val="solid"/>
              <a:round/>
              <a:headEnd len="sm" w="sm" type="none"/>
              <a:tailEnd len="sm" w="sm" type="none"/>
            </a:ln>
          </p:spPr>
          <p:txBody>
            <a:bodyPr anchorCtr="0" anchor="ctr" bIns="102025" lIns="102025" spcFirstLastPara="1" rIns="102025" wrap="square" tIns="102025">
              <a:noAutofit/>
            </a:bodyPr>
            <a:lstStyle/>
            <a:p>
              <a:pPr indent="0" lvl="0" marL="0" rtl="0" algn="ctr">
                <a:spcBef>
                  <a:spcPts val="0"/>
                </a:spcBef>
                <a:spcAft>
                  <a:spcPts val="0"/>
                </a:spcAft>
                <a:buNone/>
              </a:pPr>
              <a:r>
                <a:rPr lang="zh-TW" sz="1562"/>
                <a:t>Residual + LayerNorm</a:t>
              </a:r>
              <a:endParaRPr sz="1562"/>
            </a:p>
          </p:txBody>
        </p:sp>
        <p:sp>
          <p:nvSpPr>
            <p:cNvPr id="470" name="Google Shape;470;p29"/>
            <p:cNvSpPr/>
            <p:nvPr/>
          </p:nvSpPr>
          <p:spPr>
            <a:xfrm>
              <a:off x="2483723" y="3382738"/>
              <a:ext cx="791100" cy="572700"/>
            </a:xfrm>
            <a:prstGeom prst="rect">
              <a:avLst/>
            </a:prstGeom>
            <a:solidFill>
              <a:srgbClr val="EFEFEF"/>
            </a:solidFill>
            <a:ln cap="flat" cmpd="sng" w="10625">
              <a:solidFill>
                <a:schemeClr val="dk2"/>
              </a:solidFill>
              <a:prstDash val="solid"/>
              <a:round/>
              <a:headEnd len="sm" w="sm" type="none"/>
              <a:tailEnd len="sm" w="sm" type="none"/>
            </a:ln>
          </p:spPr>
          <p:txBody>
            <a:bodyPr anchorCtr="0" anchor="ctr" bIns="102025" lIns="102025" spcFirstLastPara="1" rIns="102025" wrap="square" tIns="102025">
              <a:noAutofit/>
            </a:bodyPr>
            <a:lstStyle/>
            <a:p>
              <a:pPr indent="0" lvl="0" marL="0" rtl="0" algn="ctr">
                <a:spcBef>
                  <a:spcPts val="0"/>
                </a:spcBef>
                <a:spcAft>
                  <a:spcPts val="0"/>
                </a:spcAft>
                <a:buNone/>
              </a:pPr>
              <a:r>
                <a:rPr lang="zh-TW" sz="1562"/>
                <a:t>FFN</a:t>
              </a:r>
              <a:endParaRPr sz="1562"/>
            </a:p>
          </p:txBody>
        </p:sp>
        <p:sp>
          <p:nvSpPr>
            <p:cNvPr id="471" name="Google Shape;471;p29"/>
            <p:cNvSpPr/>
            <p:nvPr/>
          </p:nvSpPr>
          <p:spPr>
            <a:xfrm>
              <a:off x="2289624" y="4147813"/>
              <a:ext cx="1135500" cy="572700"/>
            </a:xfrm>
            <a:prstGeom prst="rect">
              <a:avLst/>
            </a:prstGeom>
            <a:solidFill>
              <a:srgbClr val="EFEFEF"/>
            </a:solidFill>
            <a:ln cap="flat" cmpd="sng" w="10625">
              <a:solidFill>
                <a:schemeClr val="dk2"/>
              </a:solidFill>
              <a:prstDash val="solid"/>
              <a:round/>
              <a:headEnd len="sm" w="sm" type="none"/>
              <a:tailEnd len="sm" w="sm" type="none"/>
            </a:ln>
          </p:spPr>
          <p:txBody>
            <a:bodyPr anchorCtr="0" anchor="ctr" bIns="102025" lIns="102025" spcFirstLastPara="1" rIns="102025" wrap="square" tIns="102025">
              <a:noAutofit/>
            </a:bodyPr>
            <a:lstStyle/>
            <a:p>
              <a:pPr indent="0" lvl="0" marL="0" rtl="0" algn="ctr">
                <a:spcBef>
                  <a:spcPts val="0"/>
                </a:spcBef>
                <a:spcAft>
                  <a:spcPts val="0"/>
                </a:spcAft>
                <a:buNone/>
              </a:pPr>
              <a:r>
                <a:rPr lang="zh-TW" sz="1562">
                  <a:solidFill>
                    <a:schemeClr val="dk1"/>
                  </a:solidFill>
                </a:rPr>
                <a:t>Residual + LayerNorm</a:t>
              </a:r>
              <a:endParaRPr sz="1562"/>
            </a:p>
          </p:txBody>
        </p:sp>
        <p:cxnSp>
          <p:nvCxnSpPr>
            <p:cNvPr id="472" name="Google Shape;472;p29"/>
            <p:cNvCxnSpPr>
              <a:stCxn id="468" idx="2"/>
              <a:endCxn id="469" idx="0"/>
            </p:cNvCxnSpPr>
            <p:nvPr/>
          </p:nvCxnSpPr>
          <p:spPr>
            <a:xfrm>
              <a:off x="1381845" y="3955438"/>
              <a:ext cx="0" cy="192300"/>
            </a:xfrm>
            <a:prstGeom prst="straightConnector1">
              <a:avLst/>
            </a:prstGeom>
            <a:noFill/>
            <a:ln cap="flat" cmpd="sng" w="10625">
              <a:solidFill>
                <a:schemeClr val="dk2"/>
              </a:solidFill>
              <a:prstDash val="solid"/>
              <a:round/>
              <a:headEnd len="med" w="med" type="none"/>
              <a:tailEnd len="med" w="med" type="triangle"/>
            </a:ln>
          </p:spPr>
        </p:cxnSp>
        <p:cxnSp>
          <p:nvCxnSpPr>
            <p:cNvPr id="473" name="Google Shape;473;p29"/>
            <p:cNvCxnSpPr>
              <a:stCxn id="469" idx="3"/>
              <a:endCxn id="470" idx="1"/>
            </p:cNvCxnSpPr>
            <p:nvPr/>
          </p:nvCxnSpPr>
          <p:spPr>
            <a:xfrm flipH="1" rot="10800000">
              <a:off x="1993399" y="3669163"/>
              <a:ext cx="490200" cy="765000"/>
            </a:xfrm>
            <a:prstGeom prst="straightConnector1">
              <a:avLst/>
            </a:prstGeom>
            <a:noFill/>
            <a:ln cap="flat" cmpd="sng" w="10625">
              <a:solidFill>
                <a:schemeClr val="dk2"/>
              </a:solidFill>
              <a:prstDash val="solid"/>
              <a:round/>
              <a:headEnd len="med" w="med" type="none"/>
              <a:tailEnd len="med" w="med" type="triangle"/>
            </a:ln>
          </p:spPr>
        </p:cxnSp>
        <p:cxnSp>
          <p:nvCxnSpPr>
            <p:cNvPr id="474" name="Google Shape;474;p29"/>
            <p:cNvCxnSpPr>
              <a:stCxn id="470" idx="2"/>
              <a:endCxn id="471" idx="0"/>
            </p:cNvCxnSpPr>
            <p:nvPr/>
          </p:nvCxnSpPr>
          <p:spPr>
            <a:xfrm flipH="1">
              <a:off x="2857373" y="3955438"/>
              <a:ext cx="21900" cy="192300"/>
            </a:xfrm>
            <a:prstGeom prst="straightConnector1">
              <a:avLst/>
            </a:prstGeom>
            <a:noFill/>
            <a:ln cap="flat" cmpd="sng" w="10625">
              <a:solidFill>
                <a:schemeClr val="dk2"/>
              </a:solidFill>
              <a:prstDash val="solid"/>
              <a:round/>
              <a:headEnd len="med" w="med" type="none"/>
              <a:tailEnd len="med" w="med" type="triangle"/>
            </a:ln>
          </p:spPr>
        </p:cxnSp>
      </p:grpSp>
      <p:pic>
        <p:nvPicPr>
          <p:cNvPr id="475" name="Google Shape;475;p29"/>
          <p:cNvPicPr preferRelativeResize="0"/>
          <p:nvPr/>
        </p:nvPicPr>
        <p:blipFill>
          <a:blip r:embed="rId3">
            <a:alphaModFix/>
          </a:blip>
          <a:stretch>
            <a:fillRect/>
          </a:stretch>
        </p:blipFill>
        <p:spPr>
          <a:xfrm>
            <a:off x="188550" y="2385625"/>
            <a:ext cx="5082701" cy="2277600"/>
          </a:xfrm>
          <a:prstGeom prst="rect">
            <a:avLst/>
          </a:prstGeom>
          <a:noFill/>
          <a:ln cap="flat" cmpd="sng" w="9525">
            <a:solidFill>
              <a:schemeClr val="dk2"/>
            </a:solidFill>
            <a:prstDash val="solid"/>
            <a:round/>
            <a:headEnd len="sm" w="sm" type="none"/>
            <a:tailEnd len="sm" w="sm" type="none"/>
          </a:ln>
        </p:spPr>
      </p:pic>
      <p:sp>
        <p:nvSpPr>
          <p:cNvPr id="476" name="Google Shape;476;p29"/>
          <p:cNvSpPr txBox="1"/>
          <p:nvPr/>
        </p:nvSpPr>
        <p:spPr>
          <a:xfrm>
            <a:off x="5652975" y="4465325"/>
            <a:ext cx="321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solidFill>
                  <a:srgbClr val="000000"/>
                </a:solidFill>
              </a:rPr>
              <a:t>Loss = (1-w)*crf_loss + w*focal_loss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0"/>
          <p:cNvSpPr txBox="1"/>
          <p:nvPr>
            <p:ph type="title"/>
          </p:nvPr>
        </p:nvSpPr>
        <p:spPr>
          <a:xfrm>
            <a:off x="164050" y="78550"/>
            <a:ext cx="7820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RQ1:Anomaly detection - </a:t>
            </a:r>
            <a:r>
              <a:rPr lang="zh-TW"/>
              <a:t>OneclassSVM on SAGA</a:t>
            </a:r>
            <a:endParaRPr/>
          </a:p>
        </p:txBody>
      </p:sp>
      <p:sp>
        <p:nvSpPr>
          <p:cNvPr id="482" name="Google Shape;48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483" name="Google Shape;483;p30"/>
          <p:cNvSpPr txBox="1"/>
          <p:nvPr/>
        </p:nvSpPr>
        <p:spPr>
          <a:xfrm>
            <a:off x="9487125" y="37223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Loss = crf_loss + w * focal_loss</a:t>
            </a:r>
            <a:endParaRPr/>
          </a:p>
        </p:txBody>
      </p:sp>
      <p:grpSp>
        <p:nvGrpSpPr>
          <p:cNvPr id="484" name="Google Shape;484;p30"/>
          <p:cNvGrpSpPr/>
          <p:nvPr/>
        </p:nvGrpSpPr>
        <p:grpSpPr>
          <a:xfrm>
            <a:off x="10106175" y="4185525"/>
            <a:ext cx="1761900" cy="615600"/>
            <a:chOff x="6591025" y="4184550"/>
            <a:chExt cx="1761900" cy="615600"/>
          </a:xfrm>
        </p:grpSpPr>
        <p:sp>
          <p:nvSpPr>
            <p:cNvPr id="485" name="Google Shape;485;p30"/>
            <p:cNvSpPr txBox="1"/>
            <p:nvPr/>
          </p:nvSpPr>
          <p:spPr>
            <a:xfrm>
              <a:off x="6591025" y="4184550"/>
              <a:ext cx="1761900" cy="615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Train</a:t>
              </a:r>
              <a:endParaRPr>
                <a:solidFill>
                  <a:schemeClr val="dk1"/>
                </a:solidFill>
              </a:endParaRPr>
            </a:p>
            <a:p>
              <a:pPr indent="0" lvl="0" marL="0" rtl="0" algn="l">
                <a:spcBef>
                  <a:spcPts val="0"/>
                </a:spcBef>
                <a:spcAft>
                  <a:spcPts val="0"/>
                </a:spcAft>
                <a:buNone/>
              </a:pPr>
              <a:r>
                <a:rPr lang="zh-TW">
                  <a:solidFill>
                    <a:schemeClr val="dk1"/>
                  </a:solidFill>
                </a:rPr>
                <a:t>Inference</a:t>
              </a:r>
              <a:endParaRPr>
                <a:solidFill>
                  <a:schemeClr val="dk1"/>
                </a:solidFill>
              </a:endParaRPr>
            </a:p>
          </p:txBody>
        </p:sp>
        <p:cxnSp>
          <p:nvCxnSpPr>
            <p:cNvPr id="486" name="Google Shape;486;p30"/>
            <p:cNvCxnSpPr/>
            <p:nvPr/>
          </p:nvCxnSpPr>
          <p:spPr>
            <a:xfrm>
              <a:off x="7602450" y="4384661"/>
              <a:ext cx="589500" cy="0"/>
            </a:xfrm>
            <a:prstGeom prst="straightConnector1">
              <a:avLst/>
            </a:prstGeom>
            <a:noFill/>
            <a:ln cap="flat" cmpd="sng" w="9525">
              <a:solidFill>
                <a:schemeClr val="dk2"/>
              </a:solidFill>
              <a:prstDash val="solid"/>
              <a:round/>
              <a:headEnd len="med" w="med" type="none"/>
              <a:tailEnd len="med" w="med" type="triangle"/>
            </a:ln>
          </p:spPr>
        </p:cxnSp>
        <p:cxnSp>
          <p:nvCxnSpPr>
            <p:cNvPr id="487" name="Google Shape;487;p30"/>
            <p:cNvCxnSpPr/>
            <p:nvPr/>
          </p:nvCxnSpPr>
          <p:spPr>
            <a:xfrm>
              <a:off x="7602450" y="4600211"/>
              <a:ext cx="589500" cy="0"/>
            </a:xfrm>
            <a:prstGeom prst="straightConnector1">
              <a:avLst/>
            </a:prstGeom>
            <a:noFill/>
            <a:ln cap="flat" cmpd="sng" w="9525">
              <a:solidFill>
                <a:schemeClr val="accent1"/>
              </a:solidFill>
              <a:prstDash val="solid"/>
              <a:round/>
              <a:headEnd len="med" w="med" type="none"/>
              <a:tailEnd len="med" w="med" type="triangle"/>
            </a:ln>
          </p:spPr>
        </p:cxnSp>
      </p:grpSp>
      <p:graphicFrame>
        <p:nvGraphicFramePr>
          <p:cNvPr id="488" name="Google Shape;488;p30"/>
          <p:cNvGraphicFramePr/>
          <p:nvPr/>
        </p:nvGraphicFramePr>
        <p:xfrm>
          <a:off x="210713" y="765738"/>
          <a:ext cx="3000000" cy="3000000"/>
        </p:xfrm>
        <a:graphic>
          <a:graphicData uri="http://schemas.openxmlformats.org/drawingml/2006/table">
            <a:tbl>
              <a:tblPr>
                <a:noFill/>
                <a:tableStyleId>{32E205D6-CF57-4EEE-85BA-89C9C54A6AD1}</a:tableStyleId>
              </a:tblPr>
              <a:tblGrid>
                <a:gridCol w="1476175"/>
                <a:gridCol w="939475"/>
                <a:gridCol w="1024825"/>
                <a:gridCol w="821950"/>
                <a:gridCol w="872725"/>
                <a:gridCol w="1406950"/>
              </a:tblGrid>
              <a:tr h="428625">
                <a:tc>
                  <a:txBody>
                    <a:bodyPr/>
                    <a:lstStyle/>
                    <a:p>
                      <a:pPr indent="0" lvl="0" marL="0" rtl="0" algn="ctr">
                        <a:lnSpc>
                          <a:spcPct val="115000"/>
                        </a:lnSpc>
                        <a:spcBef>
                          <a:spcPts val="0"/>
                        </a:spcBef>
                        <a:spcAft>
                          <a:spcPts val="0"/>
                        </a:spcAft>
                        <a:buNone/>
                      </a:pPr>
                      <a:r>
                        <a:rPr b="1" lang="zh-TW" sz="1000">
                          <a:solidFill>
                            <a:schemeClr val="dk1"/>
                          </a:solidFill>
                        </a:rPr>
                        <a:t>Architecture</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ν</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Precision</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Recall</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F1-Score</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Complexity</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r h="428625">
                <a:tc>
                  <a:txBody>
                    <a:bodyPr/>
                    <a:lstStyle/>
                    <a:p>
                      <a:pPr indent="0" lvl="0" marL="0" rtl="0" algn="l">
                        <a:lnSpc>
                          <a:spcPct val="115000"/>
                        </a:lnSpc>
                        <a:spcBef>
                          <a:spcPts val="0"/>
                        </a:spcBef>
                        <a:spcAft>
                          <a:spcPts val="0"/>
                        </a:spcAft>
                        <a:buNone/>
                      </a:pPr>
                      <a:r>
                        <a:rPr lang="zh-TW" sz="1000">
                          <a:solidFill>
                            <a:schemeClr val="dk1"/>
                          </a:solidFill>
                        </a:rPr>
                        <a:t>RBF OCSVM (best)</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0.12</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0.829</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0.828</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0.838</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TW" sz="1000">
                          <a:solidFill>
                            <a:schemeClr val="dk1"/>
                          </a:solidFill>
                        </a:rPr>
                        <a:t>O(n²)–O(n³)</a:t>
                      </a:r>
                      <a:endParaRPr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r h="428625">
                <a:tc>
                  <a:txBody>
                    <a:bodyPr/>
                    <a:lstStyle/>
                    <a:p>
                      <a:pPr indent="0" lvl="0" marL="0" rtl="0" algn="l">
                        <a:lnSpc>
                          <a:spcPct val="115000"/>
                        </a:lnSpc>
                        <a:spcBef>
                          <a:spcPts val="0"/>
                        </a:spcBef>
                        <a:spcAft>
                          <a:spcPts val="0"/>
                        </a:spcAft>
                        <a:buNone/>
                      </a:pPr>
                      <a:r>
                        <a:rPr b="1" lang="zh-TW" sz="1000">
                          <a:solidFill>
                            <a:schemeClr val="dk1"/>
                          </a:solidFill>
                        </a:rPr>
                        <a:t>Nystrom + OCSVM</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0.001</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0.842</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0.959</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0.897</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1000">
                          <a:solidFill>
                            <a:schemeClr val="dk1"/>
                          </a:solidFill>
                        </a:rPr>
                        <a:t>~O(n)</a:t>
                      </a:r>
                      <a:endParaRPr b="1" sz="1000">
                        <a:solidFill>
                          <a:schemeClr val="dk1"/>
                        </a:solidFill>
                      </a:endParaRPr>
                    </a:p>
                  </a:txBody>
                  <a:tcPr marT="91425" marB="91425" marR="91425" marL="91425">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bl>
          </a:graphicData>
        </a:graphic>
      </p:graphicFrame>
      <p:grpSp>
        <p:nvGrpSpPr>
          <p:cNvPr id="489" name="Google Shape;489;p30"/>
          <p:cNvGrpSpPr/>
          <p:nvPr/>
        </p:nvGrpSpPr>
        <p:grpSpPr>
          <a:xfrm>
            <a:off x="3829075" y="2577734"/>
            <a:ext cx="4935299" cy="1916291"/>
            <a:chOff x="2104350" y="2577734"/>
            <a:chExt cx="4935299" cy="1916291"/>
          </a:xfrm>
        </p:grpSpPr>
        <p:pic>
          <p:nvPicPr>
            <p:cNvPr id="490" name="Google Shape;490;p30"/>
            <p:cNvPicPr preferRelativeResize="0"/>
            <p:nvPr/>
          </p:nvPicPr>
          <p:blipFill>
            <a:blip r:embed="rId3">
              <a:alphaModFix/>
            </a:blip>
            <a:stretch>
              <a:fillRect/>
            </a:stretch>
          </p:blipFill>
          <p:spPr>
            <a:xfrm>
              <a:off x="2104350" y="2577734"/>
              <a:ext cx="4935299" cy="1916291"/>
            </a:xfrm>
            <a:prstGeom prst="rect">
              <a:avLst/>
            </a:prstGeom>
            <a:noFill/>
            <a:ln cap="flat" cmpd="sng" w="9525">
              <a:solidFill>
                <a:schemeClr val="dk2"/>
              </a:solidFill>
              <a:prstDash val="solid"/>
              <a:round/>
              <a:headEnd len="sm" w="sm" type="none"/>
              <a:tailEnd len="sm" w="sm" type="none"/>
            </a:ln>
          </p:spPr>
        </p:pic>
        <p:sp>
          <p:nvSpPr>
            <p:cNvPr id="491" name="Google Shape;491;p30"/>
            <p:cNvSpPr txBox="1"/>
            <p:nvPr/>
          </p:nvSpPr>
          <p:spPr>
            <a:xfrm>
              <a:off x="3037364" y="3462486"/>
              <a:ext cx="763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600">
                  <a:solidFill>
                    <a:schemeClr val="dk1"/>
                  </a:solidFill>
                </a:rPr>
                <a:t>(</a:t>
              </a:r>
              <a:r>
                <a:rPr lang="zh-TW" sz="1600">
                  <a:solidFill>
                    <a:schemeClr val="dk1"/>
                  </a:solidFill>
                </a:rPr>
                <a:t>S</a:t>
              </a:r>
              <a:r>
                <a:rPr lang="zh-TW" sz="1600">
                  <a:solidFill>
                    <a:schemeClr val="dk1"/>
                  </a:solidFill>
                </a:rPr>
                <a:t>F</a:t>
              </a:r>
              <a:r>
                <a:rPr lang="zh-TW" sz="1600">
                  <a:solidFill>
                    <a:schemeClr val="dk1"/>
                  </a:solidFill>
                </a:rPr>
                <a:t>M</a:t>
              </a:r>
              <a:r>
                <a:rPr lang="zh-TW" sz="1600">
                  <a:solidFill>
                    <a:schemeClr val="dk1"/>
                  </a:solidFill>
                </a:rPr>
                <a:t>)</a:t>
              </a:r>
              <a:endParaRPr sz="1600">
                <a:solidFill>
                  <a:schemeClr val="dk1"/>
                </a:solidFill>
              </a:endParaRPr>
            </a:p>
          </p:txBody>
        </p:sp>
      </p:grpSp>
      <p:sp>
        <p:nvSpPr>
          <p:cNvPr id="492" name="Google Shape;492;p30"/>
          <p:cNvSpPr txBox="1"/>
          <p:nvPr/>
        </p:nvSpPr>
        <p:spPr>
          <a:xfrm>
            <a:off x="210726" y="2964075"/>
            <a:ext cx="3273000" cy="11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zh-TW">
                <a:solidFill>
                  <a:schemeClr val="dk1"/>
                </a:solidFill>
              </a:rPr>
              <a:t>Total abilities : 16900</a:t>
            </a:r>
            <a:br>
              <a:rPr lang="zh-TW">
                <a:solidFill>
                  <a:schemeClr val="dk1"/>
                </a:solidFill>
              </a:rPr>
            </a:br>
            <a:r>
              <a:rPr lang="zh-TW">
                <a:solidFill>
                  <a:schemeClr val="dk1"/>
                </a:solidFill>
              </a:rPr>
              <a:t>Total Events: 7,949,998 events</a:t>
            </a:r>
            <a:br>
              <a:rPr lang="zh-TW">
                <a:solidFill>
                  <a:schemeClr val="dk1"/>
                </a:solidFill>
              </a:rPr>
            </a:br>
            <a:r>
              <a:rPr lang="zh-TW">
                <a:solidFill>
                  <a:schemeClr val="dk1"/>
                </a:solidFill>
              </a:rPr>
              <a:t>Benign : 4,146,957 events (52.16%)</a:t>
            </a:r>
            <a:br>
              <a:rPr lang="zh-TW">
                <a:solidFill>
                  <a:schemeClr val="dk1"/>
                </a:solidFill>
              </a:rPr>
            </a:br>
            <a:r>
              <a:rPr lang="zh-TW">
                <a:solidFill>
                  <a:schemeClr val="dk1"/>
                </a:solidFill>
              </a:rPr>
              <a:t>Malicious : 3,803,041 events(47.84%)</a:t>
            </a:r>
            <a:endParaRPr/>
          </a:p>
        </p:txBody>
      </p:sp>
      <p:graphicFrame>
        <p:nvGraphicFramePr>
          <p:cNvPr id="493" name="Google Shape;493;p30"/>
          <p:cNvGraphicFramePr/>
          <p:nvPr/>
        </p:nvGraphicFramePr>
        <p:xfrm>
          <a:off x="6994375" y="818113"/>
          <a:ext cx="3000000" cy="3000000"/>
        </p:xfrm>
        <a:graphic>
          <a:graphicData uri="http://schemas.openxmlformats.org/drawingml/2006/table">
            <a:tbl>
              <a:tblPr>
                <a:noFill/>
                <a:tableStyleId>{32E205D6-CF57-4EEE-85BA-89C9C54A6AD1}</a:tableStyleId>
              </a:tblPr>
              <a:tblGrid>
                <a:gridCol w="847725"/>
                <a:gridCol w="529700"/>
                <a:gridCol w="706575"/>
              </a:tblGrid>
              <a:tr h="285750">
                <a:tc>
                  <a:txBody>
                    <a:bodyPr/>
                    <a:lstStyle/>
                    <a:p>
                      <a:pPr indent="0" lvl="0" marL="0" rtl="0" algn="l">
                        <a:lnSpc>
                          <a:spcPct val="115000"/>
                        </a:lnSpc>
                        <a:spcBef>
                          <a:spcPts val="0"/>
                        </a:spcBef>
                        <a:spcAft>
                          <a:spcPts val="0"/>
                        </a:spcAft>
                        <a:buNone/>
                      </a:pPr>
                      <a:r>
                        <a:rPr lang="zh-TW" sz="1050">
                          <a:solidFill>
                            <a:schemeClr val="dk1"/>
                          </a:solidFill>
                        </a:rPr>
                        <a:t>資料集</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TW" sz="1050">
                          <a:solidFill>
                            <a:schemeClr val="dk1"/>
                          </a:solidFill>
                        </a:rPr>
                        <a:t>benign</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TW" sz="1050">
                          <a:solidFill>
                            <a:schemeClr val="dk1"/>
                          </a:solidFill>
                        </a:rPr>
                        <a:t>malicious</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5750">
                <a:tc>
                  <a:txBody>
                    <a:bodyPr/>
                    <a:lstStyle/>
                    <a:p>
                      <a:pPr indent="0" lvl="0" marL="0" rtl="0" algn="l">
                        <a:lnSpc>
                          <a:spcPct val="115000"/>
                        </a:lnSpc>
                        <a:spcBef>
                          <a:spcPts val="0"/>
                        </a:spcBef>
                        <a:spcAft>
                          <a:spcPts val="0"/>
                        </a:spcAft>
                        <a:buNone/>
                      </a:pPr>
                      <a:r>
                        <a:rPr lang="zh-TW" sz="1050">
                          <a:solidFill>
                            <a:schemeClr val="dk1"/>
                          </a:solidFill>
                        </a:rPr>
                        <a:t>Train</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TW" sz="1050">
                          <a:solidFill>
                            <a:schemeClr val="dk1"/>
                          </a:solidFill>
                        </a:rPr>
                        <a:t>70%</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TW" sz="1050">
                          <a:solidFill>
                            <a:schemeClr val="dk1"/>
                          </a:solidFill>
                        </a:rPr>
                        <a:t>0</a:t>
                      </a:r>
                      <a:r>
                        <a:rPr lang="zh-TW" sz="1050">
                          <a:solidFill>
                            <a:schemeClr val="dk1"/>
                          </a:solidFill>
                        </a:rPr>
                        <a:t>%</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5750">
                <a:tc>
                  <a:txBody>
                    <a:bodyPr/>
                    <a:lstStyle/>
                    <a:p>
                      <a:pPr indent="0" lvl="0" marL="0" rtl="0" algn="l">
                        <a:lnSpc>
                          <a:spcPct val="115000"/>
                        </a:lnSpc>
                        <a:spcBef>
                          <a:spcPts val="0"/>
                        </a:spcBef>
                        <a:spcAft>
                          <a:spcPts val="0"/>
                        </a:spcAft>
                        <a:buNone/>
                      </a:pPr>
                      <a:r>
                        <a:rPr lang="zh-TW" sz="1050">
                          <a:solidFill>
                            <a:schemeClr val="dk1"/>
                          </a:solidFill>
                        </a:rPr>
                        <a:t>Valid</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TW" sz="1050">
                          <a:solidFill>
                            <a:schemeClr val="dk1"/>
                          </a:solidFill>
                        </a:rPr>
                        <a:t>10%</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TW" sz="1050">
                          <a:solidFill>
                            <a:schemeClr val="dk1"/>
                          </a:solidFill>
                        </a:rPr>
                        <a:t>50%</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5750">
                <a:tc>
                  <a:txBody>
                    <a:bodyPr/>
                    <a:lstStyle/>
                    <a:p>
                      <a:pPr indent="0" lvl="0" marL="0" rtl="0" algn="l">
                        <a:lnSpc>
                          <a:spcPct val="115000"/>
                        </a:lnSpc>
                        <a:spcBef>
                          <a:spcPts val="0"/>
                        </a:spcBef>
                        <a:spcAft>
                          <a:spcPts val="0"/>
                        </a:spcAft>
                        <a:buNone/>
                      </a:pPr>
                      <a:r>
                        <a:rPr lang="zh-TW" sz="1050">
                          <a:solidFill>
                            <a:schemeClr val="dk1"/>
                          </a:solidFill>
                        </a:rPr>
                        <a:t>Test</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TW" sz="1050">
                          <a:solidFill>
                            <a:schemeClr val="dk1"/>
                          </a:solidFill>
                        </a:rPr>
                        <a:t>20%</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TW" sz="1050">
                          <a:solidFill>
                            <a:schemeClr val="dk1"/>
                          </a:solidFill>
                        </a:rPr>
                        <a:t>50%</a:t>
                      </a:r>
                      <a:endParaRPr sz="1050">
                        <a:solidFill>
                          <a:schemeClr val="dk1"/>
                        </a:solidFill>
                      </a:endParaRPr>
                    </a:p>
                  </a:txBody>
                  <a:tcPr marT="57150" marB="57150" marR="57150" marL="57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1"/>
          <p:cNvSpPr txBox="1"/>
          <p:nvPr>
            <p:ph type="title"/>
          </p:nvPr>
        </p:nvSpPr>
        <p:spPr>
          <a:xfrm>
            <a:off x="311700" y="102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RQ2: TTP detection - SAGA &amp; KELLECT4APT</a:t>
            </a:r>
            <a:endParaRPr/>
          </a:p>
        </p:txBody>
      </p:sp>
      <p:sp>
        <p:nvSpPr>
          <p:cNvPr id="499" name="Google Shape;49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500" name="Google Shape;500;p31"/>
          <p:cNvSpPr txBox="1"/>
          <p:nvPr/>
        </p:nvSpPr>
        <p:spPr>
          <a:xfrm>
            <a:off x="139025" y="675375"/>
            <a:ext cx="3455100" cy="4231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zh-TW" sz="1800">
                <a:solidFill>
                  <a:schemeClr val="dk1"/>
                </a:solidFill>
              </a:rPr>
              <a:t>SAGA</a:t>
            </a:r>
            <a:endParaRPr sz="1800">
              <a:solidFill>
                <a:schemeClr val="dk1"/>
              </a:solidFill>
            </a:endParaRPr>
          </a:p>
          <a:p>
            <a:pPr indent="-342900" lvl="1" marL="914400" rtl="0" algn="l">
              <a:spcBef>
                <a:spcPts val="0"/>
              </a:spcBef>
              <a:spcAft>
                <a:spcPts val="0"/>
              </a:spcAft>
              <a:buClr>
                <a:schemeClr val="dk1"/>
              </a:buClr>
              <a:buSzPts val="1800"/>
              <a:buChar char="○"/>
            </a:pPr>
            <a:r>
              <a:rPr lang="zh-TW" sz="1800">
                <a:solidFill>
                  <a:schemeClr val="dk1"/>
                </a:solidFill>
              </a:rPr>
              <a:t>錄製Mitre Att&amp;ck Caldera裡面的攻擊手法並按照APT階段復現真實攻擊。</a:t>
            </a:r>
            <a:br>
              <a:rPr lang="zh-TW" sz="1800">
                <a:solidFill>
                  <a:schemeClr val="dk1"/>
                </a:solidFill>
              </a:rPr>
            </a:br>
            <a:endParaRPr sz="1800">
              <a:solidFill>
                <a:schemeClr val="dk1"/>
              </a:solidFill>
            </a:endParaRPr>
          </a:p>
          <a:p>
            <a:pPr indent="-342900" lvl="1" marL="914400" rtl="0" algn="l">
              <a:spcBef>
                <a:spcPts val="0"/>
              </a:spcBef>
              <a:spcAft>
                <a:spcPts val="0"/>
              </a:spcAft>
              <a:buClr>
                <a:schemeClr val="dk1"/>
              </a:buClr>
              <a:buSzPts val="1800"/>
              <a:buChar char="○"/>
            </a:pPr>
            <a:r>
              <a:rPr lang="zh-TW" sz="1800">
                <a:solidFill>
                  <a:schemeClr val="dk1"/>
                </a:solidFill>
              </a:rPr>
              <a:t>訓練集/驗證集/測試集</a:t>
            </a:r>
            <a:br>
              <a:rPr lang="zh-TW" sz="1800">
                <a:solidFill>
                  <a:schemeClr val="dk1"/>
                </a:solidFill>
              </a:rPr>
            </a:br>
            <a:r>
              <a:rPr lang="zh-TW" sz="1800">
                <a:solidFill>
                  <a:schemeClr val="dk1"/>
                </a:solidFill>
              </a:rPr>
              <a:t>8/1/1</a:t>
            </a:r>
            <a:br>
              <a:rPr lang="zh-TW" sz="1800">
                <a:solidFill>
                  <a:schemeClr val="dk1"/>
                </a:solidFill>
              </a:rPr>
            </a:br>
            <a:endParaRPr sz="1800">
              <a:solidFill>
                <a:schemeClr val="dk1"/>
              </a:solidFill>
            </a:endParaRPr>
          </a:p>
          <a:p>
            <a:pPr indent="-342900" lvl="0" marL="457200" rtl="0" algn="l">
              <a:spcBef>
                <a:spcPts val="0"/>
              </a:spcBef>
              <a:spcAft>
                <a:spcPts val="0"/>
              </a:spcAft>
              <a:buClr>
                <a:schemeClr val="dk1"/>
              </a:buClr>
              <a:buSzPts val="1800"/>
              <a:buChar char="●"/>
            </a:pPr>
            <a:r>
              <a:rPr lang="zh-TW" sz="1800">
                <a:solidFill>
                  <a:schemeClr val="dk1"/>
                </a:solidFill>
              </a:rPr>
              <a:t>KELLECT4APT</a:t>
            </a:r>
            <a:endParaRPr sz="1800">
              <a:solidFill>
                <a:schemeClr val="dk1"/>
              </a:solidFill>
            </a:endParaRPr>
          </a:p>
          <a:p>
            <a:pPr indent="-342900" lvl="1" marL="914400" rtl="0" algn="l">
              <a:spcBef>
                <a:spcPts val="0"/>
              </a:spcBef>
              <a:spcAft>
                <a:spcPts val="0"/>
              </a:spcAft>
              <a:buClr>
                <a:schemeClr val="dk1"/>
              </a:buClr>
              <a:buSzPts val="1800"/>
              <a:buChar char="○"/>
            </a:pPr>
            <a:r>
              <a:rPr lang="zh-TW" sz="1800">
                <a:solidFill>
                  <a:schemeClr val="dk1"/>
                </a:solidFill>
              </a:rPr>
              <a:t>錄製Atomic Red Team的所有腳本</a:t>
            </a:r>
            <a:br>
              <a:rPr lang="zh-TW" sz="1800">
                <a:solidFill>
                  <a:schemeClr val="dk1"/>
                </a:solidFill>
              </a:rPr>
            </a:br>
            <a:endParaRPr sz="1800">
              <a:solidFill>
                <a:schemeClr val="dk1"/>
              </a:solidFill>
            </a:endParaRPr>
          </a:p>
          <a:p>
            <a:pPr indent="-342900" lvl="1" marL="914400" rtl="0" algn="l">
              <a:spcBef>
                <a:spcPts val="0"/>
              </a:spcBef>
              <a:spcAft>
                <a:spcPts val="0"/>
              </a:spcAft>
              <a:buClr>
                <a:schemeClr val="dk1"/>
              </a:buClr>
              <a:buSzPts val="1800"/>
              <a:buChar char="○"/>
            </a:pPr>
            <a:r>
              <a:rPr lang="zh-TW" sz="1800">
                <a:solidFill>
                  <a:schemeClr val="dk1"/>
                </a:solidFill>
              </a:rPr>
              <a:t>訓練設定呈現在p25</a:t>
            </a:r>
            <a:endParaRPr sz="1800">
              <a:solidFill>
                <a:schemeClr val="dk1"/>
              </a:solidFill>
            </a:endParaRPr>
          </a:p>
        </p:txBody>
      </p:sp>
      <p:pic>
        <p:nvPicPr>
          <p:cNvPr id="501" name="Google Shape;501;p31"/>
          <p:cNvPicPr preferRelativeResize="0"/>
          <p:nvPr/>
        </p:nvPicPr>
        <p:blipFill rotWithShape="1">
          <a:blip r:embed="rId3">
            <a:alphaModFix/>
          </a:blip>
          <a:srcRect b="20242" l="0" r="0" t="0"/>
          <a:stretch/>
        </p:blipFill>
        <p:spPr>
          <a:xfrm>
            <a:off x="3759300" y="1102963"/>
            <a:ext cx="5073000" cy="293757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2"/>
          <p:cNvSpPr txBox="1"/>
          <p:nvPr>
            <p:ph type="title"/>
          </p:nvPr>
        </p:nvSpPr>
        <p:spPr>
          <a:xfrm>
            <a:off x="311700" y="53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RQ2: TTP detection - SAGA &amp; KELLECT4APT</a:t>
            </a:r>
            <a:endParaRPr/>
          </a:p>
          <a:p>
            <a:pPr indent="0" lvl="0" marL="0" rtl="0" algn="l">
              <a:spcBef>
                <a:spcPts val="0"/>
              </a:spcBef>
              <a:spcAft>
                <a:spcPts val="0"/>
              </a:spcAft>
              <a:buNone/>
            </a:pPr>
            <a:r>
              <a:t/>
            </a:r>
            <a:endParaRPr/>
          </a:p>
        </p:txBody>
      </p:sp>
      <p:sp>
        <p:nvSpPr>
          <p:cNvPr id="507" name="Google Shape;50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508" name="Google Shape;508;p32"/>
          <p:cNvPicPr preferRelativeResize="0"/>
          <p:nvPr/>
        </p:nvPicPr>
        <p:blipFill rotWithShape="1">
          <a:blip r:embed="rId3">
            <a:alphaModFix/>
          </a:blip>
          <a:srcRect b="1390" l="0" r="0" t="0"/>
          <a:stretch/>
        </p:blipFill>
        <p:spPr>
          <a:xfrm>
            <a:off x="2662400" y="626500"/>
            <a:ext cx="3819200" cy="42298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3"/>
          <p:cNvSpPr txBox="1"/>
          <p:nvPr>
            <p:ph type="title"/>
          </p:nvPr>
        </p:nvSpPr>
        <p:spPr>
          <a:xfrm>
            <a:off x="311700" y="46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RQ2: TTP detection - SAGA &amp; KELLECT4APT</a:t>
            </a:r>
            <a:endParaRPr/>
          </a:p>
          <a:p>
            <a:pPr indent="0" lvl="0" marL="0" rtl="0" algn="l">
              <a:spcBef>
                <a:spcPts val="0"/>
              </a:spcBef>
              <a:spcAft>
                <a:spcPts val="0"/>
              </a:spcAft>
              <a:buNone/>
            </a:pPr>
            <a:r>
              <a:t/>
            </a:r>
            <a:endParaRPr/>
          </a:p>
        </p:txBody>
      </p:sp>
      <p:sp>
        <p:nvSpPr>
          <p:cNvPr id="514" name="Google Shape;51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515" name="Google Shape;515;p33"/>
          <p:cNvPicPr preferRelativeResize="0"/>
          <p:nvPr/>
        </p:nvPicPr>
        <p:blipFill>
          <a:blip r:embed="rId3">
            <a:alphaModFix/>
          </a:blip>
          <a:stretch>
            <a:fillRect/>
          </a:stretch>
        </p:blipFill>
        <p:spPr>
          <a:xfrm>
            <a:off x="152400" y="618788"/>
            <a:ext cx="8839200" cy="2399433"/>
          </a:xfrm>
          <a:prstGeom prst="rect">
            <a:avLst/>
          </a:prstGeom>
          <a:noFill/>
          <a:ln cap="flat" cmpd="sng" w="9525">
            <a:solidFill>
              <a:schemeClr val="dk2"/>
            </a:solidFill>
            <a:prstDash val="solid"/>
            <a:round/>
            <a:headEnd len="sm" w="sm" type="none"/>
            <a:tailEnd len="sm" w="sm" type="none"/>
          </a:ln>
        </p:spPr>
      </p:pic>
      <p:pic>
        <p:nvPicPr>
          <p:cNvPr id="516" name="Google Shape;516;p33"/>
          <p:cNvPicPr preferRelativeResize="0"/>
          <p:nvPr/>
        </p:nvPicPr>
        <p:blipFill>
          <a:blip r:embed="rId4">
            <a:alphaModFix/>
          </a:blip>
          <a:stretch>
            <a:fillRect/>
          </a:stretch>
        </p:blipFill>
        <p:spPr>
          <a:xfrm>
            <a:off x="2376438" y="3120495"/>
            <a:ext cx="4391131" cy="182048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4"/>
          <p:cNvSpPr txBox="1"/>
          <p:nvPr>
            <p:ph type="title"/>
          </p:nvPr>
        </p:nvSpPr>
        <p:spPr>
          <a:xfrm>
            <a:off x="311700" y="46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RQ2: TTP detection - SAGA</a:t>
            </a:r>
            <a:endParaRPr/>
          </a:p>
          <a:p>
            <a:pPr indent="0" lvl="0" marL="0" rtl="0" algn="l">
              <a:spcBef>
                <a:spcPts val="0"/>
              </a:spcBef>
              <a:spcAft>
                <a:spcPts val="0"/>
              </a:spcAft>
              <a:buNone/>
            </a:pPr>
            <a:r>
              <a:t/>
            </a:r>
            <a:endParaRPr/>
          </a:p>
        </p:txBody>
      </p:sp>
      <p:sp>
        <p:nvSpPr>
          <p:cNvPr id="522" name="Google Shape;52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523" name="Google Shape;523;p34"/>
          <p:cNvPicPr preferRelativeResize="0"/>
          <p:nvPr/>
        </p:nvPicPr>
        <p:blipFill>
          <a:blip r:embed="rId3">
            <a:alphaModFix/>
          </a:blip>
          <a:stretch>
            <a:fillRect/>
          </a:stretch>
        </p:blipFill>
        <p:spPr>
          <a:xfrm>
            <a:off x="0" y="1473201"/>
            <a:ext cx="9144000" cy="233562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5"/>
          <p:cNvSpPr txBox="1"/>
          <p:nvPr>
            <p:ph type="title"/>
          </p:nvPr>
        </p:nvSpPr>
        <p:spPr>
          <a:xfrm>
            <a:off x="311688" y="140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RQ2: TTP detection - Kellect4APT TTP 偵測結果 </a:t>
            </a:r>
            <a:endParaRPr/>
          </a:p>
        </p:txBody>
      </p:sp>
      <p:sp>
        <p:nvSpPr>
          <p:cNvPr id="529" name="Google Shape;5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530" name="Google Shape;530;p35"/>
          <p:cNvPicPr preferRelativeResize="0"/>
          <p:nvPr/>
        </p:nvPicPr>
        <p:blipFill>
          <a:blip r:embed="rId3">
            <a:alphaModFix/>
          </a:blip>
          <a:stretch>
            <a:fillRect/>
          </a:stretch>
        </p:blipFill>
        <p:spPr>
          <a:xfrm>
            <a:off x="695388" y="1105725"/>
            <a:ext cx="779150" cy="779150"/>
          </a:xfrm>
          <a:prstGeom prst="rect">
            <a:avLst/>
          </a:prstGeom>
          <a:noFill/>
          <a:ln>
            <a:noFill/>
          </a:ln>
        </p:spPr>
      </p:pic>
      <p:sp>
        <p:nvSpPr>
          <p:cNvPr id="531" name="Google Shape;531;p35"/>
          <p:cNvSpPr txBox="1"/>
          <p:nvPr/>
        </p:nvSpPr>
        <p:spPr>
          <a:xfrm>
            <a:off x="1706163" y="1174575"/>
            <a:ext cx="2013600" cy="17361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000000"/>
              </a:buClr>
              <a:buSzPts val="1800"/>
              <a:buChar char="●"/>
            </a:pPr>
            <a:r>
              <a:rPr lang="zh-TW" sz="1800">
                <a:solidFill>
                  <a:srgbClr val="000000"/>
                </a:solidFill>
              </a:rPr>
              <a:t>Txxxx</a:t>
            </a:r>
            <a:endParaRPr sz="1800">
              <a:solidFill>
                <a:srgbClr val="000000"/>
              </a:solidFill>
            </a:endParaRPr>
          </a:p>
          <a:p>
            <a:pPr indent="-342900" lvl="1" marL="914400" rtl="0" algn="l">
              <a:lnSpc>
                <a:spcPct val="115000"/>
              </a:lnSpc>
              <a:spcBef>
                <a:spcPts val="0"/>
              </a:spcBef>
              <a:spcAft>
                <a:spcPts val="0"/>
              </a:spcAft>
              <a:buClr>
                <a:srgbClr val="000000"/>
              </a:buClr>
              <a:buSzPts val="1800"/>
              <a:buChar char="○"/>
            </a:pPr>
            <a:r>
              <a:rPr lang="zh-TW" sz="1800">
                <a:solidFill>
                  <a:srgbClr val="000000"/>
                </a:solidFill>
              </a:rPr>
              <a:t>Txxxx-1</a:t>
            </a:r>
            <a:endParaRPr sz="1800">
              <a:solidFill>
                <a:srgbClr val="000000"/>
              </a:solidFill>
            </a:endParaRPr>
          </a:p>
          <a:p>
            <a:pPr indent="-342900" lvl="1" marL="914400" rtl="0" algn="l">
              <a:lnSpc>
                <a:spcPct val="115000"/>
              </a:lnSpc>
              <a:spcBef>
                <a:spcPts val="0"/>
              </a:spcBef>
              <a:spcAft>
                <a:spcPts val="0"/>
              </a:spcAft>
              <a:buClr>
                <a:srgbClr val="000000"/>
              </a:buClr>
              <a:buSzPts val="1800"/>
              <a:buChar char="○"/>
            </a:pPr>
            <a:r>
              <a:rPr lang="zh-TW" sz="1800">
                <a:solidFill>
                  <a:srgbClr val="000000"/>
                </a:solidFill>
              </a:rPr>
              <a:t>Txxxx-2</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zh-TW" sz="1800">
                <a:solidFill>
                  <a:srgbClr val="000000"/>
                </a:solidFill>
              </a:rPr>
              <a:t>Txxxx</a:t>
            </a:r>
            <a:br>
              <a:rPr lang="zh-TW" sz="1800">
                <a:solidFill>
                  <a:srgbClr val="000000"/>
                </a:solidFill>
              </a:rPr>
            </a:br>
            <a:r>
              <a:rPr lang="zh-TW" sz="1800">
                <a:solidFill>
                  <a:srgbClr val="000000"/>
                </a:solidFill>
              </a:rPr>
              <a:t>…</a:t>
            </a:r>
            <a:endParaRPr sz="1800">
              <a:solidFill>
                <a:srgbClr val="000000"/>
              </a:solidFill>
            </a:endParaRPr>
          </a:p>
        </p:txBody>
      </p:sp>
      <p:sp>
        <p:nvSpPr>
          <p:cNvPr id="532" name="Google Shape;532;p35"/>
          <p:cNvSpPr txBox="1"/>
          <p:nvPr/>
        </p:nvSpPr>
        <p:spPr>
          <a:xfrm>
            <a:off x="4020013" y="791850"/>
            <a:ext cx="4428600" cy="2055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000000"/>
              </a:buClr>
              <a:buSzPts val="1800"/>
              <a:buChar char="●"/>
            </a:pPr>
            <a:r>
              <a:rPr lang="zh-TW" sz="1800">
                <a:solidFill>
                  <a:srgbClr val="000000"/>
                </a:solidFill>
              </a:rPr>
              <a:t>Every sample contains only 1 TTP.</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zh-TW" sz="1800">
                <a:solidFill>
                  <a:srgbClr val="000000"/>
                </a:solidFill>
              </a:rPr>
              <a:t>Each sample includes only 1 script.</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zh-TW" sz="1800">
                <a:solidFill>
                  <a:srgbClr val="000000"/>
                </a:solidFill>
              </a:rPr>
              <a:t>The ETW formatted log has no label</a:t>
            </a:r>
            <a:br>
              <a:rPr lang="zh-TW" sz="1800">
                <a:solidFill>
                  <a:srgbClr val="000000"/>
                </a:solidFill>
              </a:rPr>
            </a:br>
            <a:r>
              <a:rPr lang="zh-TW" sz="1800">
                <a:solidFill>
                  <a:srgbClr val="000000"/>
                </a:solidFill>
              </a:rPr>
              <a:t>but they provided a csv file specified every TTP events </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zh-TW" sz="1800">
                <a:solidFill>
                  <a:srgbClr val="000000"/>
                </a:solidFill>
              </a:rPr>
              <a:t>The size for each sample is not large</a:t>
            </a:r>
            <a:endParaRPr sz="1800">
              <a:solidFill>
                <a:srgbClr val="000000"/>
              </a:solidFill>
            </a:endParaRPr>
          </a:p>
        </p:txBody>
      </p:sp>
      <p:sp>
        <p:nvSpPr>
          <p:cNvPr id="533" name="Google Shape;533;p35"/>
          <p:cNvSpPr/>
          <p:nvPr/>
        </p:nvSpPr>
        <p:spPr>
          <a:xfrm>
            <a:off x="2680638" y="1572450"/>
            <a:ext cx="898500" cy="312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34" name="Google Shape;534;p35"/>
          <p:cNvCxnSpPr>
            <a:stCxn id="533" idx="3"/>
            <a:endCxn id="532" idx="1"/>
          </p:cNvCxnSpPr>
          <p:nvPr/>
        </p:nvCxnSpPr>
        <p:spPr>
          <a:xfrm>
            <a:off x="3579138" y="1728600"/>
            <a:ext cx="441000" cy="90900"/>
          </a:xfrm>
          <a:prstGeom prst="straightConnector1">
            <a:avLst/>
          </a:prstGeom>
          <a:noFill/>
          <a:ln cap="flat" cmpd="sng" w="9525">
            <a:solidFill>
              <a:srgbClr val="595959"/>
            </a:solidFill>
            <a:prstDash val="solid"/>
            <a:round/>
            <a:headEnd len="med" w="med" type="none"/>
            <a:tailEnd len="med" w="med" type="triangle"/>
          </a:ln>
        </p:spPr>
      </p:cxnSp>
      <p:sp>
        <p:nvSpPr>
          <p:cNvPr id="535" name="Google Shape;535;p35"/>
          <p:cNvSpPr txBox="1"/>
          <p:nvPr>
            <p:ph idx="1" type="body"/>
          </p:nvPr>
        </p:nvSpPr>
        <p:spPr>
          <a:xfrm>
            <a:off x="523950" y="3001725"/>
            <a:ext cx="8096100" cy="2055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zh-TW">
                <a:solidFill>
                  <a:schemeClr val="dk1"/>
                </a:solidFill>
              </a:rPr>
              <a:t>將背景噪音去除使TTP detection的表現上升，並且讓embedding更具代表性。</a:t>
            </a:r>
            <a:endParaRPr>
              <a:solidFill>
                <a:schemeClr val="dk1"/>
              </a:solidFill>
            </a:endParaRPr>
          </a:p>
          <a:p>
            <a:pPr indent="0" lvl="0" marL="0" rtl="0" algn="l">
              <a:spcBef>
                <a:spcPts val="1200"/>
              </a:spcBef>
              <a:spcAft>
                <a:spcPts val="0"/>
              </a:spcAft>
              <a:buNone/>
            </a:pPr>
            <a:r>
              <a:rPr lang="zh-TW">
                <a:solidFill>
                  <a:schemeClr val="dk1"/>
                </a:solidFill>
              </a:rPr>
              <a:t>由於作者有在樣本裡面加入背景噪音去還原真實攻擊環境，並且沒有提供噪音的來源，所以直接拿這些資料去做TTP detection會被雜訊干擾。</a:t>
            </a:r>
            <a:endParaRPr>
              <a:solidFill>
                <a:schemeClr val="dk1"/>
              </a:solidFill>
            </a:endParaRPr>
          </a:p>
          <a:p>
            <a:pPr indent="0" lvl="0" marL="0" rtl="0" algn="l">
              <a:spcBef>
                <a:spcPts val="1200"/>
              </a:spcBef>
              <a:spcAft>
                <a:spcPts val="0"/>
              </a:spcAft>
              <a:buNone/>
            </a:pPr>
            <a:r>
              <a:rPr lang="zh-TW">
                <a:solidFill>
                  <a:schemeClr val="dk1"/>
                </a:solidFill>
              </a:rPr>
              <a:t>所以我統計了幾個可能的背景噪音process: huyaplayerModule.exe,HuyaExternal.exe,HuyaClient.exe,HuyaApplet.exe</a:t>
            </a:r>
            <a:endParaRPr>
              <a:solidFill>
                <a:schemeClr val="dk1"/>
              </a:solidFill>
            </a:endParaRPr>
          </a:p>
          <a:p>
            <a:pPr indent="0" lvl="0" marL="0" rtl="0" algn="l">
              <a:spcBef>
                <a:spcPts val="1200"/>
              </a:spcBef>
              <a:spcAft>
                <a:spcPts val="1200"/>
              </a:spcAft>
              <a:buNone/>
            </a:pPr>
            <a:r>
              <a:rPr lang="zh-TW">
                <a:solidFill>
                  <a:schemeClr val="dk1"/>
                </a:solidFill>
              </a:rPr>
              <a:t>以上是符合作者描述的背景噪音且不易與攻擊相關的Process。</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36"/>
          <p:cNvSpPr txBox="1"/>
          <p:nvPr>
            <p:ph type="title"/>
          </p:nvPr>
        </p:nvSpPr>
        <p:spPr>
          <a:xfrm>
            <a:off x="311688" y="140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RQ2: TTP detection - Kellect4APT TTP 偵測結果 </a:t>
            </a:r>
            <a:endParaRPr/>
          </a:p>
          <a:p>
            <a:pPr indent="0" lvl="0" marL="0" rtl="0" algn="l">
              <a:spcBef>
                <a:spcPts val="0"/>
              </a:spcBef>
              <a:spcAft>
                <a:spcPts val="0"/>
              </a:spcAft>
              <a:buNone/>
            </a:pPr>
            <a:r>
              <a:t/>
            </a:r>
            <a:endParaRPr/>
          </a:p>
        </p:txBody>
      </p:sp>
      <p:sp>
        <p:nvSpPr>
          <p:cNvPr id="541" name="Google Shape;54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542" name="Google Shape;542;p36"/>
          <p:cNvSpPr txBox="1"/>
          <p:nvPr>
            <p:ph idx="1" type="body"/>
          </p:nvPr>
        </p:nvSpPr>
        <p:spPr>
          <a:xfrm>
            <a:off x="523950" y="713050"/>
            <a:ext cx="8096100" cy="2055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zh-TW">
                <a:solidFill>
                  <a:schemeClr val="dk1"/>
                </a:solidFill>
              </a:rPr>
              <a:t>將背景噪音去除使TTP detection的表現上升，並且讓embedding更具代表性。</a:t>
            </a:r>
            <a:endParaRPr>
              <a:solidFill>
                <a:schemeClr val="dk1"/>
              </a:solidFill>
            </a:endParaRPr>
          </a:p>
          <a:p>
            <a:pPr indent="0" lvl="0" marL="0" rtl="0" algn="l">
              <a:spcBef>
                <a:spcPts val="1200"/>
              </a:spcBef>
              <a:spcAft>
                <a:spcPts val="0"/>
              </a:spcAft>
              <a:buNone/>
            </a:pPr>
            <a:r>
              <a:rPr lang="zh-TW">
                <a:solidFill>
                  <a:schemeClr val="dk1"/>
                </a:solidFill>
              </a:rPr>
              <a:t>由於作者有在樣本裡面加入背景噪音去還原真實攻擊環境，並且沒有提供噪音的來源，所以直接拿這些資料去做TTP detection會被雜訊干擾。</a:t>
            </a:r>
            <a:endParaRPr>
              <a:solidFill>
                <a:schemeClr val="dk1"/>
              </a:solidFill>
            </a:endParaRPr>
          </a:p>
          <a:p>
            <a:pPr indent="0" lvl="0" marL="0" rtl="0" algn="l">
              <a:spcBef>
                <a:spcPts val="1200"/>
              </a:spcBef>
              <a:spcAft>
                <a:spcPts val="0"/>
              </a:spcAft>
              <a:buNone/>
            </a:pPr>
            <a:r>
              <a:rPr lang="zh-TW">
                <a:solidFill>
                  <a:schemeClr val="dk1"/>
                </a:solidFill>
              </a:rPr>
              <a:t>所以我統計了幾個可能的背景噪音process: huyaplayerModule.exe,HuyaExternal.exe,HuyaClient.exe,HuyaApplet.exe</a:t>
            </a:r>
            <a:endParaRPr>
              <a:solidFill>
                <a:schemeClr val="dk1"/>
              </a:solidFill>
            </a:endParaRPr>
          </a:p>
          <a:p>
            <a:pPr indent="0" lvl="0" marL="0" rtl="0" algn="l">
              <a:spcBef>
                <a:spcPts val="1200"/>
              </a:spcBef>
              <a:spcAft>
                <a:spcPts val="1200"/>
              </a:spcAft>
              <a:buNone/>
            </a:pPr>
            <a:r>
              <a:rPr lang="zh-TW">
                <a:solidFill>
                  <a:schemeClr val="dk1"/>
                </a:solidFill>
              </a:rPr>
              <a:t>以上是符合作者描述的背景噪音且不易與攻擊相關的Process。</a:t>
            </a:r>
            <a:endParaRPr>
              <a:solidFill>
                <a:schemeClr val="dk1"/>
              </a:solidFill>
            </a:endParaRPr>
          </a:p>
        </p:txBody>
      </p:sp>
      <p:pic>
        <p:nvPicPr>
          <p:cNvPr id="543" name="Google Shape;543;p36"/>
          <p:cNvPicPr preferRelativeResize="0"/>
          <p:nvPr/>
        </p:nvPicPr>
        <p:blipFill>
          <a:blip r:embed="rId3">
            <a:alphaModFix/>
          </a:blip>
          <a:stretch>
            <a:fillRect/>
          </a:stretch>
        </p:blipFill>
        <p:spPr>
          <a:xfrm>
            <a:off x="1136887" y="2619475"/>
            <a:ext cx="6870226" cy="2093275"/>
          </a:xfrm>
          <a:prstGeom prst="rect">
            <a:avLst/>
          </a:prstGeom>
          <a:noFill/>
          <a:ln cap="flat" cmpd="sng" w="9525">
            <a:solidFill>
              <a:schemeClr val="dk2"/>
            </a:solidFill>
            <a:prstDash val="solid"/>
            <a:round/>
            <a:headEnd len="sm" w="sm" type="none"/>
            <a:tailEnd len="sm" w="sm" type="none"/>
          </a:ln>
        </p:spPr>
      </p:pic>
      <p:sp>
        <p:nvSpPr>
          <p:cNvPr id="544" name="Google Shape;544;p36"/>
          <p:cNvSpPr/>
          <p:nvPr/>
        </p:nvSpPr>
        <p:spPr>
          <a:xfrm>
            <a:off x="4240450" y="3948875"/>
            <a:ext cx="3597900" cy="393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36"/>
          <p:cNvSpPr txBox="1"/>
          <p:nvPr/>
        </p:nvSpPr>
        <p:spPr>
          <a:xfrm>
            <a:off x="1859250" y="4644475"/>
            <a:ext cx="54255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600">
                <a:solidFill>
                  <a:schemeClr val="dk1"/>
                </a:solidFill>
              </a:rPr>
              <a:t>上圖源自</a:t>
            </a:r>
            <a:r>
              <a:rPr lang="zh-TW" sz="1600" u="sng">
                <a:solidFill>
                  <a:schemeClr val="hlink"/>
                </a:solidFill>
                <a:hlinkClick r:id="rId4"/>
              </a:rPr>
              <a:t>kellect</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7"/>
          <p:cNvSpPr txBox="1"/>
          <p:nvPr>
            <p:ph type="title"/>
          </p:nvPr>
        </p:nvSpPr>
        <p:spPr>
          <a:xfrm>
            <a:off x="311688" y="140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RQ2: TTP detection - Kellect4APT</a:t>
            </a:r>
            <a:endParaRPr/>
          </a:p>
          <a:p>
            <a:pPr indent="0" lvl="0" marL="0" rtl="0" algn="l">
              <a:spcBef>
                <a:spcPts val="0"/>
              </a:spcBef>
              <a:spcAft>
                <a:spcPts val="0"/>
              </a:spcAft>
              <a:buNone/>
            </a:pPr>
            <a:r>
              <a:t/>
            </a:r>
            <a:endParaRPr/>
          </a:p>
        </p:txBody>
      </p:sp>
      <p:sp>
        <p:nvSpPr>
          <p:cNvPr id="551" name="Google Shape;551;p37"/>
          <p:cNvSpPr txBox="1"/>
          <p:nvPr>
            <p:ph idx="1" type="body"/>
          </p:nvPr>
        </p:nvSpPr>
        <p:spPr>
          <a:xfrm>
            <a:off x="212400" y="713050"/>
            <a:ext cx="4359600" cy="2277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zh-TW">
                <a:solidFill>
                  <a:schemeClr val="dk1"/>
                </a:solidFill>
              </a:rPr>
              <a:t>Train:</a:t>
            </a:r>
            <a:endParaRPr>
              <a:solidFill>
                <a:schemeClr val="dk1"/>
              </a:solidFill>
            </a:endParaRPr>
          </a:p>
          <a:p>
            <a:pPr indent="0" lvl="0" marL="0" rtl="0" algn="l">
              <a:spcBef>
                <a:spcPts val="1200"/>
              </a:spcBef>
              <a:spcAft>
                <a:spcPts val="0"/>
              </a:spcAft>
              <a:buNone/>
            </a:pPr>
            <a:r>
              <a:rPr lang="zh-TW">
                <a:solidFill>
                  <a:schemeClr val="dk1"/>
                </a:solidFill>
              </a:rPr>
              <a:t>Leave one sample out &amp;</a:t>
            </a:r>
            <a:endParaRPr>
              <a:solidFill>
                <a:schemeClr val="dk1"/>
              </a:solidFill>
            </a:endParaRPr>
          </a:p>
          <a:p>
            <a:pPr indent="0" lvl="0" marL="0" rtl="0" algn="l">
              <a:spcBef>
                <a:spcPts val="1200"/>
              </a:spcBef>
              <a:spcAft>
                <a:spcPts val="0"/>
              </a:spcAft>
              <a:buNone/>
            </a:pPr>
            <a:r>
              <a:rPr lang="zh-TW">
                <a:solidFill>
                  <a:schemeClr val="dk1"/>
                </a:solidFill>
              </a:rPr>
              <a:t>32 way 3-shot learning</a:t>
            </a:r>
            <a:endParaRPr>
              <a:solidFill>
                <a:schemeClr val="dk1"/>
              </a:solidFill>
            </a:endParaRPr>
          </a:p>
          <a:p>
            <a:pPr indent="0" lvl="0" marL="0" rtl="0" algn="l">
              <a:spcBef>
                <a:spcPts val="1200"/>
              </a:spcBef>
              <a:spcAft>
                <a:spcPts val="0"/>
              </a:spcAft>
              <a:buNone/>
            </a:pPr>
            <a:r>
              <a:rPr lang="zh-TW">
                <a:solidFill>
                  <a:schemeClr val="dk1"/>
                </a:solidFill>
              </a:rPr>
              <a:t>43 sub-techniques</a:t>
            </a:r>
            <a:endParaRPr>
              <a:solidFill>
                <a:schemeClr val="dk1"/>
              </a:solidFill>
            </a:endParaRPr>
          </a:p>
          <a:p>
            <a:pPr indent="0" lvl="0" marL="0" rtl="0" algn="l">
              <a:spcBef>
                <a:spcPts val="1200"/>
              </a:spcBef>
              <a:spcAft>
                <a:spcPts val="1200"/>
              </a:spcAft>
              <a:buClr>
                <a:schemeClr val="dk1"/>
              </a:buClr>
              <a:buSzPts val="1100"/>
              <a:buFont typeface="Arial"/>
              <a:buNone/>
            </a:pPr>
            <a:r>
              <a:rPr lang="zh-TW">
                <a:solidFill>
                  <a:schemeClr val="dk1"/>
                </a:solidFill>
              </a:rPr>
              <a:t>261 samples</a:t>
            </a:r>
            <a:endParaRPr>
              <a:solidFill>
                <a:schemeClr val="dk1"/>
              </a:solidFill>
            </a:endParaRPr>
          </a:p>
        </p:txBody>
      </p:sp>
      <p:sp>
        <p:nvSpPr>
          <p:cNvPr id="552" name="Google Shape;552;p37"/>
          <p:cNvSpPr txBox="1"/>
          <p:nvPr>
            <p:ph idx="1" type="body"/>
          </p:nvPr>
        </p:nvSpPr>
        <p:spPr>
          <a:xfrm>
            <a:off x="4572000" y="713050"/>
            <a:ext cx="4451100" cy="227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solidFill>
                  <a:schemeClr val="dk1"/>
                </a:solidFill>
              </a:rPr>
              <a:t>Test:</a:t>
            </a:r>
            <a:endParaRPr>
              <a:solidFill>
                <a:schemeClr val="dk1"/>
              </a:solidFill>
            </a:endParaRPr>
          </a:p>
          <a:p>
            <a:pPr indent="0" lvl="0" marL="0" rtl="0" algn="l">
              <a:spcBef>
                <a:spcPts val="1200"/>
              </a:spcBef>
              <a:spcAft>
                <a:spcPts val="0"/>
              </a:spcAft>
              <a:buNone/>
            </a:pPr>
            <a:r>
              <a:rPr lang="zh-TW">
                <a:solidFill>
                  <a:schemeClr val="dk1"/>
                </a:solidFill>
              </a:rPr>
              <a:t>1 sample per TTP and cross-validation.</a:t>
            </a:r>
            <a:endParaRPr>
              <a:solidFill>
                <a:schemeClr val="dk1"/>
              </a:solidFill>
            </a:endParaRPr>
          </a:p>
          <a:p>
            <a:pPr indent="0" lvl="0" marL="0" rtl="0" algn="l">
              <a:spcBef>
                <a:spcPts val="1200"/>
              </a:spcBef>
              <a:spcAft>
                <a:spcPts val="1200"/>
              </a:spcAft>
              <a:buNone/>
            </a:pPr>
            <a:r>
              <a:rPr lang="zh-TW">
                <a:solidFill>
                  <a:schemeClr val="dk1"/>
                </a:solidFill>
              </a:rPr>
              <a:t>43 sapmles per sub-technique.</a:t>
            </a:r>
            <a:endParaRPr>
              <a:solidFill>
                <a:schemeClr val="dk1"/>
              </a:solidFill>
            </a:endParaRPr>
          </a:p>
        </p:txBody>
      </p:sp>
      <p:sp>
        <p:nvSpPr>
          <p:cNvPr id="553" name="Google Shape;553;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554" name="Google Shape;554;p37"/>
          <p:cNvPicPr preferRelativeResize="0"/>
          <p:nvPr/>
        </p:nvPicPr>
        <p:blipFill>
          <a:blip r:embed="rId3">
            <a:alphaModFix/>
          </a:blip>
          <a:stretch>
            <a:fillRect/>
          </a:stretch>
        </p:blipFill>
        <p:spPr>
          <a:xfrm>
            <a:off x="2154375" y="2990350"/>
            <a:ext cx="4835252" cy="19141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38"/>
          <p:cNvSpPr txBox="1"/>
          <p:nvPr>
            <p:ph type="title"/>
          </p:nvPr>
        </p:nvSpPr>
        <p:spPr>
          <a:xfrm>
            <a:off x="311700" y="95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RQ3: </a:t>
            </a:r>
            <a:r>
              <a:rPr lang="zh-TW"/>
              <a:t>Case study - Haigasa - T1566</a:t>
            </a:r>
            <a:endParaRPr/>
          </a:p>
        </p:txBody>
      </p:sp>
      <p:graphicFrame>
        <p:nvGraphicFramePr>
          <p:cNvPr id="560" name="Google Shape;560;p38"/>
          <p:cNvGraphicFramePr/>
          <p:nvPr/>
        </p:nvGraphicFramePr>
        <p:xfrm>
          <a:off x="139100" y="668075"/>
          <a:ext cx="3000000" cy="3000000"/>
        </p:xfrm>
        <a:graphic>
          <a:graphicData uri="http://schemas.openxmlformats.org/drawingml/2006/table">
            <a:tbl>
              <a:tblPr>
                <a:noFill/>
                <a:tableStyleId>{32E205D6-CF57-4EEE-85BA-89C9C54A6AD1}</a:tableStyleId>
              </a:tblPr>
              <a:tblGrid>
                <a:gridCol w="3337275"/>
                <a:gridCol w="2509775"/>
                <a:gridCol w="1256750"/>
                <a:gridCol w="613500"/>
                <a:gridCol w="649100"/>
                <a:gridCol w="499375"/>
              </a:tblGrid>
              <a:tr h="234425">
                <a:tc>
                  <a:txBody>
                    <a:bodyPr/>
                    <a:lstStyle/>
                    <a:p>
                      <a:pPr indent="0" lvl="0" marL="0" rtl="0" algn="l">
                        <a:lnSpc>
                          <a:spcPct val="100000"/>
                        </a:lnSpc>
                        <a:spcBef>
                          <a:spcPts val="0"/>
                        </a:spcBef>
                        <a:spcAft>
                          <a:spcPts val="2400"/>
                        </a:spcAft>
                        <a:buNone/>
                      </a:pPr>
                      <a:r>
                        <a:rPr b="1" lang="zh-TW" sz="1200"/>
                        <a:t>src</a:t>
                      </a:r>
                      <a:endParaRPr b="1" sz="1200"/>
                    </a:p>
                  </a:txBody>
                  <a:tcPr marT="3600" marB="3600" marR="43200" marL="43200"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zh-TW" sz="1200"/>
                        <a:t>relation</a:t>
                      </a:r>
                      <a:endParaRPr b="1" sz="1200"/>
                    </a:p>
                  </a:txBody>
                  <a:tcPr marT="3600" marB="3600" marR="43200" marL="43200"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zh-TW" sz="1200"/>
                        <a:t>dst</a:t>
                      </a:r>
                      <a:endParaRPr b="1" sz="1200"/>
                    </a:p>
                  </a:txBody>
                  <a:tcPr marT="3600" marB="3600" marR="43200" marL="43200"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zh-TW" sz="1200"/>
                        <a:t>GT</a:t>
                      </a:r>
                      <a:endParaRPr b="1" sz="1200"/>
                    </a:p>
                  </a:txBody>
                  <a:tcPr marT="3600" marB="3600" marR="43200" marL="43200"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zh-TW" sz="1200"/>
                        <a:t>Ours</a:t>
                      </a:r>
                      <a:endParaRPr b="1" sz="1200"/>
                    </a:p>
                  </a:txBody>
                  <a:tcPr marT="3600" marB="3600" marR="43200" marL="43200"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2400"/>
                        </a:spcAft>
                        <a:buNone/>
                      </a:pPr>
                      <a:r>
                        <a:rPr b="1" lang="zh-TW" sz="1200"/>
                        <a:t>SFM</a:t>
                      </a:r>
                      <a:endParaRPr b="1" sz="1200"/>
                    </a:p>
                  </a:txBody>
                  <a:tcPr marT="3600" marB="3600" marR="43200" marL="43200" anchor="ctr">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r h="362350">
                <a:tc>
                  <a:txBody>
                    <a:bodyPr/>
                    <a:lstStyle/>
                    <a:p>
                      <a:pPr indent="0" lvl="0" marL="0" rtl="0" algn="l">
                        <a:lnSpc>
                          <a:spcPct val="115000"/>
                        </a:lnSpc>
                        <a:spcBef>
                          <a:spcPts val="0"/>
                        </a:spcBef>
                        <a:spcAft>
                          <a:spcPts val="2400"/>
                        </a:spcAft>
                        <a:buNone/>
                      </a:pPr>
                      <a:r>
                        <a:rPr lang="zh-TW"/>
                        <a:t>C:\Program Files\Google\...\chrome.exe</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TCP Connect/Send/Receive</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8.8.8.8</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sz="1200"/>
                        <a:t>T1566</a:t>
                      </a:r>
                      <a:endParaRPr sz="1200"/>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zh-TW" sz="1100"/>
                        <a:t>T1566</a:t>
                      </a:r>
                      <a:endParaRPr b="1" sz="1100"/>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O</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r h="362350">
                <a:tc>
                  <a:txBody>
                    <a:bodyPr/>
                    <a:lstStyle/>
                    <a:p>
                      <a:pPr indent="0" lvl="0" marL="0" rtl="0" algn="l">
                        <a:lnSpc>
                          <a:spcPct val="115000"/>
                        </a:lnSpc>
                        <a:spcBef>
                          <a:spcPts val="0"/>
                        </a:spcBef>
                        <a:spcAft>
                          <a:spcPts val="2400"/>
                        </a:spcAft>
                        <a:buNone/>
                      </a:pPr>
                      <a:r>
                        <a:rPr lang="zh-TW"/>
                        <a:t>C:\Program Files\Google\...\chrome.exe</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CreateFile/WriteFile/CloseFile</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rFupMb75.exe</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sz="1200"/>
                        <a:t>T1566</a:t>
                      </a:r>
                      <a:endParaRPr sz="1200"/>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zh-TW" sz="1100"/>
                        <a:t>T1566</a:t>
                      </a:r>
                      <a:endParaRPr b="1" sz="1100"/>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O</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r h="328325">
                <a:tc>
                  <a:txBody>
                    <a:bodyPr/>
                    <a:lstStyle/>
                    <a:p>
                      <a:pPr indent="0" lvl="0" marL="0" rtl="0" algn="l">
                        <a:lnSpc>
                          <a:spcPct val="115000"/>
                        </a:lnSpc>
                        <a:spcBef>
                          <a:spcPts val="0"/>
                        </a:spcBef>
                        <a:spcAft>
                          <a:spcPts val="2400"/>
                        </a:spcAft>
                        <a:buNone/>
                      </a:pPr>
                      <a:r>
                        <a:rPr lang="zh-TW"/>
                        <a:t>C:\Program Files\Google\...\chrome.exe</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QueryBasicInformationFile</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rFupMb75.exe</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sz="1200"/>
                        <a:t>T1566</a:t>
                      </a:r>
                      <a:endParaRPr sz="1200"/>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zh-TW" sz="1100"/>
                        <a:t>T1566</a:t>
                      </a:r>
                      <a:endParaRPr b="1" sz="1100"/>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O</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r h="328325">
                <a:tc>
                  <a:txBody>
                    <a:bodyPr/>
                    <a:lstStyle/>
                    <a:p>
                      <a:pPr indent="0" lvl="0" marL="0" rtl="0" algn="l">
                        <a:lnSpc>
                          <a:spcPct val="115000"/>
                        </a:lnSpc>
                        <a:spcBef>
                          <a:spcPts val="0"/>
                        </a:spcBef>
                        <a:spcAft>
                          <a:spcPts val="2400"/>
                        </a:spcAft>
                        <a:buNone/>
                      </a:pPr>
                      <a:r>
                        <a:rPr lang="zh-TW"/>
                        <a:t>C:\Program Files\Google\...\chrome.exe</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TCP Disconnect</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8.8.8.8</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sz="1200"/>
                        <a:t>T1566</a:t>
                      </a:r>
                      <a:endParaRPr sz="1200"/>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zh-TW" sz="1100"/>
                        <a:t>T1566</a:t>
                      </a:r>
                      <a:endParaRPr b="1" sz="1100"/>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zh-TW"/>
                        <a:t>O</a:t>
                      </a:r>
                      <a:endParaRPr/>
                    </a:p>
                  </a:txBody>
                  <a:tcPr marT="3600" marB="3600" marR="43200" marL="43200">
                    <a:lnL cap="flat" cmpd="sng" w="7625">
                      <a:solidFill>
                        <a:schemeClr val="dk1"/>
                      </a:solidFill>
                      <a:prstDash val="solid"/>
                      <a:round/>
                      <a:headEnd len="sm" w="sm" type="none"/>
                      <a:tailEnd len="sm" w="sm" type="none"/>
                    </a:lnL>
                    <a:lnR cap="flat" cmpd="sng" w="7625">
                      <a:solidFill>
                        <a:schemeClr val="dk1"/>
                      </a:solidFill>
                      <a:prstDash val="solid"/>
                      <a:round/>
                      <a:headEnd len="sm" w="sm" type="none"/>
                      <a:tailEnd len="sm" w="sm" type="none"/>
                    </a:lnR>
                    <a:lnT cap="flat" cmpd="sng" w="7625">
                      <a:solidFill>
                        <a:schemeClr val="dk1"/>
                      </a:solidFill>
                      <a:prstDash val="solid"/>
                      <a:round/>
                      <a:headEnd len="sm" w="sm" type="none"/>
                      <a:tailEnd len="sm" w="sm" type="none"/>
                    </a:lnT>
                    <a:lnB cap="flat" cmpd="sng" w="7625">
                      <a:solidFill>
                        <a:schemeClr val="dk1"/>
                      </a:solidFill>
                      <a:prstDash val="solid"/>
                      <a:round/>
                      <a:headEnd len="sm" w="sm" type="none"/>
                      <a:tailEnd len="sm" w="sm" type="none"/>
                    </a:lnB>
                  </a:tcPr>
                </a:tc>
              </a:tr>
            </a:tbl>
          </a:graphicData>
        </a:graphic>
      </p:graphicFrame>
      <p:sp>
        <p:nvSpPr>
          <p:cNvPr id="561" name="Google Shape;561;p38"/>
          <p:cNvSpPr txBox="1"/>
          <p:nvPr/>
        </p:nvSpPr>
        <p:spPr>
          <a:xfrm>
            <a:off x="405138" y="3520650"/>
            <a:ext cx="8333700" cy="1143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b="1" lang="zh-TW">
                <a:solidFill>
                  <a:schemeClr val="dk1"/>
                </a:solidFill>
              </a:rPr>
              <a:t>結合上下文的優點</a:t>
            </a:r>
            <a:br>
              <a:rPr b="1" lang="zh-TW">
                <a:solidFill>
                  <a:schemeClr val="dk1"/>
                </a:solidFill>
              </a:rPr>
            </a:br>
            <a:r>
              <a:rPr lang="zh-TW">
                <a:solidFill>
                  <a:schemeClr val="dk1"/>
                </a:solidFill>
              </a:rPr>
              <a:t>Chrome.exe 連上外網、接收資料、存檔，是正常的上網行為。但結合上下文資訊，我們的方法發現該合法Process下載了惡意執行檔。並且找到了SFM沒找到的T1566(Phishing)。 </a:t>
            </a:r>
            <a:br>
              <a:rPr lang="zh-TW">
                <a:solidFill>
                  <a:schemeClr val="dk1"/>
                </a:solidFill>
              </a:rPr>
            </a:br>
            <a:r>
              <a:rPr lang="zh-TW">
                <a:solidFill>
                  <a:schemeClr val="dk1"/>
                </a:solidFill>
              </a:rPr>
              <a:t>T1566在 APT28, CobaltGroup, Gamaredon 也有出現，也是SFM沒找到但我們有找到。</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結論</a:t>
            </a:r>
            <a:endParaRPr/>
          </a:p>
        </p:txBody>
      </p:sp>
      <p:sp>
        <p:nvSpPr>
          <p:cNvPr id="567" name="Google Shape;567;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600">
                <a:solidFill>
                  <a:schemeClr val="dk1"/>
                </a:solidFill>
              </a:rPr>
              <a:t>本研究提出結合 LLM 與 SecureBERT 2.0 的進階威脅偵測架構，旨在改善傳統系統日誌缺乏語意與高誤報率的限制。本系統透過三階段架構進行初步驗證，並針對當前 LLM 在實際應用中的侷限性得出以下結論：</a:t>
            </a:r>
            <a:endParaRPr sz="1600">
              <a:solidFill>
                <a:schemeClr val="dk1"/>
              </a:solidFill>
            </a:endParaRPr>
          </a:p>
          <a:p>
            <a:pPr indent="-330200" lvl="0" marL="457200" rtl="0" algn="l">
              <a:spcBef>
                <a:spcPts val="1200"/>
              </a:spcBef>
              <a:spcAft>
                <a:spcPts val="0"/>
              </a:spcAft>
              <a:buClr>
                <a:schemeClr val="dk1"/>
              </a:buClr>
              <a:buSzPts val="1600"/>
              <a:buChar char="●"/>
            </a:pPr>
            <a:r>
              <a:rPr b="1" lang="zh-TW" sz="1600">
                <a:solidFill>
                  <a:schemeClr val="dk1"/>
                </a:solidFill>
              </a:rPr>
              <a:t>高階語意映射與 TTP 識別</a:t>
            </a:r>
            <a:r>
              <a:rPr lang="zh-TW" sz="1600">
                <a:solidFill>
                  <a:schemeClr val="dk1"/>
                </a:solidFill>
              </a:rPr>
              <a:t>：現有 LLM 在處理龐雜且具雜訊的系統日誌時，精準度（Precision）與召回率（Recall）均未達預期，容易產生過度推論與誤判。</a:t>
            </a:r>
            <a:br>
              <a:rPr lang="zh-TW"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b="1" lang="zh-TW" sz="1600">
                <a:solidFill>
                  <a:schemeClr val="dk1"/>
                </a:solidFill>
              </a:rPr>
              <a:t>異常偵測與TTP偵測瓶頸</a:t>
            </a:r>
            <a:r>
              <a:rPr lang="zh-TW" sz="1600">
                <a:solidFill>
                  <a:schemeClr val="dk1"/>
                </a:solidFill>
              </a:rPr>
              <a:t>：原規劃運用語意特徵過濾正常日誌，但由於前端 LLM 所提取的語意特徵穩定性不足，連帶影響後續過濾機制的成效，目前尚未能有效解決高誤報率的問題。</a:t>
            </a:r>
            <a:br>
              <a:rPr lang="zh-TW"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b="1" lang="zh-TW" sz="1600">
                <a:solidFill>
                  <a:schemeClr val="dk1"/>
                </a:solidFill>
              </a:rPr>
              <a:t>漸進式警報機制之挑戰</a:t>
            </a:r>
            <a:r>
              <a:rPr lang="zh-TW" sz="1600">
                <a:solidFill>
                  <a:schemeClr val="dk1"/>
                </a:solidFill>
              </a:rPr>
              <a:t>：仍需等待TTP偵測架構穩定後再做測試與修正。</a:t>
            </a:r>
            <a:endParaRPr sz="1600">
              <a:solidFill>
                <a:schemeClr val="dk1"/>
              </a:solidFill>
            </a:endParaRPr>
          </a:p>
        </p:txBody>
      </p:sp>
      <p:sp>
        <p:nvSpPr>
          <p:cNvPr id="568" name="Google Shape;56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後續工作與未來展望</a:t>
            </a:r>
            <a:endParaRPr/>
          </a:p>
        </p:txBody>
      </p:sp>
      <p:sp>
        <p:nvSpPr>
          <p:cNvPr id="574" name="Google Shape;57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600">
                <a:solidFill>
                  <a:schemeClr val="dk1"/>
                </a:solidFill>
              </a:rPr>
              <a:t>儘管本研究在日誌語意增強與 TTP 偵測上取得了顯著的成效，但針對實際企業環境的複雜性，未來仍有以下幾個方向值得進一步探討與優化：</a:t>
            </a:r>
            <a:endParaRPr sz="1600">
              <a:solidFill>
                <a:schemeClr val="dk1"/>
              </a:solidFill>
            </a:endParaRPr>
          </a:p>
          <a:p>
            <a:pPr indent="-330200" lvl="0" marL="457200" rtl="0" algn="l">
              <a:spcBef>
                <a:spcPts val="1200"/>
              </a:spcBef>
              <a:spcAft>
                <a:spcPts val="0"/>
              </a:spcAft>
              <a:buClr>
                <a:schemeClr val="dk1"/>
              </a:buClr>
              <a:buSzPts val="1600"/>
              <a:buChar char="●"/>
            </a:pPr>
            <a:r>
              <a:rPr b="1" lang="zh-TW" sz="1600">
                <a:solidFill>
                  <a:schemeClr val="dk1"/>
                </a:solidFill>
              </a:rPr>
              <a:t>模型輕量化與即時偵測</a:t>
            </a:r>
            <a:r>
              <a:rPr lang="zh-TW" sz="1600">
                <a:solidFill>
                  <a:schemeClr val="dk1"/>
                </a:solidFill>
              </a:rPr>
              <a:t>：導入知識蒸餾或領域微調小模型（SLM），降低 LLM 與 SecureBERT 的運算消耗，滿足大規模串流日誌的即時偵測需求。</a:t>
            </a:r>
            <a:endParaRPr sz="1600">
              <a:solidFill>
                <a:schemeClr val="dk1"/>
              </a:solidFill>
            </a:endParaRPr>
          </a:p>
          <a:p>
            <a:pPr indent="-330200" lvl="0" marL="457200" rtl="0" algn="l">
              <a:spcBef>
                <a:spcPts val="0"/>
              </a:spcBef>
              <a:spcAft>
                <a:spcPts val="0"/>
              </a:spcAft>
              <a:buClr>
                <a:schemeClr val="dk1"/>
              </a:buClr>
              <a:buSzPts val="1600"/>
              <a:buChar char="●"/>
            </a:pPr>
            <a:r>
              <a:rPr b="1" lang="zh-TW" sz="1600">
                <a:solidFill>
                  <a:schemeClr val="dk1"/>
                </a:solidFill>
              </a:rPr>
              <a:t>跨主機攻擊路徑關聯</a:t>
            </a:r>
            <a:r>
              <a:rPr lang="zh-TW" sz="1600">
                <a:solidFill>
                  <a:schemeClr val="dk1"/>
                </a:solidFill>
              </a:rPr>
              <a:t>：整合網路流量日誌與圖神經網路（GNN），從單機分析擴展至橫向移動追蹤，全面還原 APT 攻擊生命週期。</a:t>
            </a:r>
            <a:endParaRPr sz="1600">
              <a:solidFill>
                <a:schemeClr val="dk1"/>
              </a:solidFill>
            </a:endParaRPr>
          </a:p>
          <a:p>
            <a:pPr indent="-330200" lvl="0" marL="457200" rtl="0" algn="l">
              <a:spcBef>
                <a:spcPts val="0"/>
              </a:spcBef>
              <a:spcAft>
                <a:spcPts val="0"/>
              </a:spcAft>
              <a:buClr>
                <a:schemeClr val="dk1"/>
              </a:buClr>
              <a:buSzPts val="1600"/>
              <a:buChar char="●"/>
            </a:pPr>
            <a:r>
              <a:rPr b="1" lang="zh-TW" sz="1600">
                <a:solidFill>
                  <a:schemeClr val="dk1"/>
                </a:solidFill>
              </a:rPr>
              <a:t>未知威脅泛化能力</a:t>
            </a:r>
            <a:r>
              <a:rPr lang="zh-TW" sz="1600">
                <a:solidFill>
                  <a:schemeClr val="dk1"/>
                </a:solidFill>
              </a:rPr>
              <a:t>：探索連續學習或少樣本學習機制，降低對已知 MITRE ATT&amp;CK 定義的依賴，提升對零日與新型態攻擊的預警能力。</a:t>
            </a:r>
            <a:endParaRPr sz="1600">
              <a:solidFill>
                <a:schemeClr val="dk1"/>
              </a:solidFill>
            </a:endParaRPr>
          </a:p>
          <a:p>
            <a:pPr indent="-330200" lvl="0" marL="457200" rtl="0" algn="l">
              <a:spcBef>
                <a:spcPts val="0"/>
              </a:spcBef>
              <a:spcAft>
                <a:spcPts val="0"/>
              </a:spcAft>
              <a:buClr>
                <a:schemeClr val="dk1"/>
              </a:buClr>
              <a:buSzPts val="1600"/>
              <a:buChar char="●"/>
            </a:pPr>
            <a:r>
              <a:rPr b="1" lang="zh-TW" sz="1600">
                <a:solidFill>
                  <a:schemeClr val="dk1"/>
                </a:solidFill>
              </a:rPr>
              <a:t>整合自動化應變（SOAR）</a:t>
            </a:r>
            <a:r>
              <a:rPr lang="zh-TW" sz="1600">
                <a:solidFill>
                  <a:schemeClr val="dk1"/>
                </a:solidFill>
              </a:rPr>
              <a:t>：將系統的高階語意警報對接 SOAR</a:t>
            </a:r>
            <a:r>
              <a:rPr lang="zh-TW" sz="1600">
                <a:solidFill>
                  <a:schemeClr val="dk1"/>
                </a:solidFill>
              </a:rPr>
              <a:t>平台</a:t>
            </a:r>
            <a:r>
              <a:rPr lang="zh-TW" sz="1600">
                <a:solidFill>
                  <a:schemeClr val="dk1"/>
                </a:solidFill>
              </a:rPr>
              <a:t> (</a:t>
            </a:r>
            <a:r>
              <a:rPr lang="zh-TW" sz="1200">
                <a:solidFill>
                  <a:schemeClr val="dk1"/>
                </a:solidFill>
              </a:rPr>
              <a:t>Security Orchestration, Automation, and Response</a:t>
            </a:r>
            <a:r>
              <a:rPr lang="zh-TW" sz="1600">
                <a:solidFill>
                  <a:schemeClr val="dk1"/>
                </a:solidFill>
              </a:rPr>
              <a:t>)，實現從「精準偵測」、「語意解釋」到「自動阻斷」的端到端自動化防禦。</a:t>
            </a:r>
            <a:endParaRPr sz="1600">
              <a:solidFill>
                <a:schemeClr val="dk1"/>
              </a:solidFill>
            </a:endParaRPr>
          </a:p>
        </p:txBody>
      </p:sp>
      <p:sp>
        <p:nvSpPr>
          <p:cNvPr id="575" name="Google Shape;575;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參考文獻</a:t>
            </a:r>
            <a:endParaRPr/>
          </a:p>
        </p:txBody>
      </p:sp>
      <p:sp>
        <p:nvSpPr>
          <p:cNvPr id="581" name="Google Shape;581;p41"/>
          <p:cNvSpPr txBox="1"/>
          <p:nvPr>
            <p:ph idx="1" type="body"/>
          </p:nvPr>
        </p:nvSpPr>
        <p:spPr>
          <a:xfrm>
            <a:off x="311700" y="1017725"/>
            <a:ext cx="8520600" cy="3831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zh-TW" sz="1400">
                <a:solidFill>
                  <a:schemeClr val="dk1"/>
                </a:solidFill>
              </a:rPr>
              <a:t>[1] E. Aghaei, S. Jain, P. Arun, and A. Sambamoorthy, “Securebert 2.0: Advanced language model for cybersecurity,” arXiv, 2025.</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 W. Qiao, Y. Feng, Z. Ma, Y. Shen, and Y. Liu, “SLOT: Provenance-driven apt detection through graph reinforcement learning,” arXiv preprint arXiv:2410.17910, 2024.</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[3] Z. Cheng, Q. Lv, J. Liang, Y. Wang, D. Sun, T. Pasquier, and X. Han, “KAIROS:Practical intrusion detection and investigation using whole-system provenance,” in2024 IEEE Symposium on Security and Privacy (SP), 2024.</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[4] MITRE, “MITRE ATT&amp;CK.” https://attack.mitre.org/, 2025. Accessed:2026-07-16.</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[5] M. Zipperle, F. Gottwalt, E. Chang, and T. Dillon, “Provenance-based intrusion detection systems: A survey,” ACM Computing Surveys (CSUR), vol. 55, no. 7, pp. 136, 2022.</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[6] Z. Li, Q. A. Chen, R. Yang, Y. Chen, and W. Ruan, “Threat detection and investigation with system-level provenance graphs: A survey,” arXiv preprint arXiv:2006.01722, 2020.</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[7] T. Pasquier, X. Han, M. Goldstein, T. Moyer, D. Eyers, M. Seltzer, and J. Bacon, “Practical whole-system provenance capture,” in Proceedings of the 2017 ACM Symposium on Cloud Computing (SoCC ’17), pp. 405–418, Association for Computing Machinery, 2017.</a:t>
            </a:r>
            <a:endParaRPr sz="1400">
              <a:solidFill>
                <a:schemeClr val="dk1"/>
              </a:solidFill>
            </a:endParaRPr>
          </a:p>
        </p:txBody>
      </p:sp>
      <p:sp>
        <p:nvSpPr>
          <p:cNvPr id="582" name="Google Shape;582;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參考文獻</a:t>
            </a:r>
            <a:endParaRPr/>
          </a:p>
        </p:txBody>
      </p:sp>
      <p:sp>
        <p:nvSpPr>
          <p:cNvPr id="588" name="Google Shape;588;p42"/>
          <p:cNvSpPr txBox="1"/>
          <p:nvPr>
            <p:ph idx="1" type="body"/>
          </p:nvPr>
        </p:nvSpPr>
        <p:spPr>
          <a:xfrm>
            <a:off x="311700" y="1017725"/>
            <a:ext cx="8520600" cy="3831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zh-TW" sz="1400">
                <a:solidFill>
                  <a:schemeClr val="dk1"/>
                </a:solidFill>
              </a:rPr>
              <a:t>[8] T. Chen, Q. Song, T. Zhu, X. Qiu, Z. Zhu, and M. Lv, “KELLECT: A kernel-based efficient and lossless event log collector.” https://www.kellect.org/#/, 2024. Accessed: 2026-07-16.</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[9] M. N. Hossain, S. M. Milajerdi, J. Wang, B. Eshete, R. Gjomemo, R. Sekar, S. D. Stoller, and V. N. Venkatakrishnan, “SLEUTH: Real-time attack scenario reconstruction from cots audit data,” in Proceedings of the 26th USENIX Security Symposium (USENIX Security 17), 2017.</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[10] S. M. Milajerdi, R. Gjomemo, B. Eshete, R. Sekar, and V. N. Venkatakrishnan, “HOLMES: Real-time apt detection through correlation of suspicious information flows,” in 2019 IEEE Symposium on Security and Privacy (SP), 2019.</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[11] S. M. Milajerdi, R. Gjomemo, B. Eshete, R. Sekar, and V. N. Venkatakrishnan, “POIROT: Aligning attack behavior with kernel audit records for cyber threat hunting,” in Proceedings of the 2019 ACM SIGSAC Conference on Computer and Communications Security (CCS), 2019.</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[12] E. Manzoor, S. M. Milajerdi, and L. Akoglu, “Fast memory-efficient anomaly detection in streaming heterogeneous graphs,” in Proceedings of the 22nd ACM SIGKDD International Conference on Knowledge Discovery and Data Mining (KDD), 2016.</a:t>
            </a:r>
            <a:endParaRPr sz="1400">
              <a:solidFill>
                <a:schemeClr val="dk1"/>
              </a:solidFill>
            </a:endParaRPr>
          </a:p>
        </p:txBody>
      </p:sp>
      <p:sp>
        <p:nvSpPr>
          <p:cNvPr id="589" name="Google Shape;589;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參考文獻</a:t>
            </a:r>
            <a:endParaRPr/>
          </a:p>
        </p:txBody>
      </p:sp>
      <p:sp>
        <p:nvSpPr>
          <p:cNvPr id="595" name="Google Shape;595;p43"/>
          <p:cNvSpPr txBox="1"/>
          <p:nvPr>
            <p:ph idx="1" type="body"/>
          </p:nvPr>
        </p:nvSpPr>
        <p:spPr>
          <a:xfrm>
            <a:off x="311700" y="1017725"/>
            <a:ext cx="8520600" cy="3831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zh-TW" sz="1400">
                <a:solidFill>
                  <a:schemeClr val="dk1"/>
                </a:solidFill>
              </a:rPr>
              <a:t>[13] X. Han, T. Pasquier, A. Bates, J. Mickens, and M. Seltzer, “UNICORN: Runtime provenance-based detector for advanced persistent threats,” in Proceedings of the 27th Annual Network and Distributed System Security Symposium (NDSS), 2020.</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[14] S. Wang, Z. Wang, T. Zhou, H. Sun, X. Yin, D. Han, H. Zhang, X. Shi, and J. Yang, “THREATRACE: Detecting and tracing host-based threats in node level through provenance graph learning,” IEEE Transactions on Information Forensics and Security, vol. 17, 2022.</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[15] M. U. Rehman, H. Ahmadi, and W. U. Hassan, “FLASH: A comprehensive approach to intrusion detection via provenance graph representation learning,” in 2024 IEEE Symposium on Security and Privacy (SP), 2024.</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[16] Z. Jia, Y. Xiong, Y. Nan, Y. Zhang, J. Zhao, and M. Wen, “MAGIC: Detecting advanced persistent threats via masked graph representation learning,” in Proceedings of the 33rd USENIX Security Symposium (USENIX Security 24), 2024.</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[17] H. Ding, J. Zhai, Y. Nan, and S. Ma, “AIRTAG: Towards automated attack investigation by unsupervised learning with log texts,” in Proceedings of the 32nd USENIX Security Symposium (USENIX Security 23), 2023.</a:t>
            </a:r>
            <a:endParaRPr sz="1400">
              <a:solidFill>
                <a:schemeClr val="dk1"/>
              </a:solidFill>
            </a:endParaRPr>
          </a:p>
        </p:txBody>
      </p:sp>
      <p:sp>
        <p:nvSpPr>
          <p:cNvPr id="596" name="Google Shape;59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參考文獻</a:t>
            </a:r>
            <a:endParaRPr/>
          </a:p>
        </p:txBody>
      </p:sp>
      <p:sp>
        <p:nvSpPr>
          <p:cNvPr id="602" name="Google Shape;602;p44"/>
          <p:cNvSpPr txBox="1"/>
          <p:nvPr>
            <p:ph idx="1" type="body"/>
          </p:nvPr>
        </p:nvSpPr>
        <p:spPr>
          <a:xfrm>
            <a:off x="311700" y="1017725"/>
            <a:ext cx="8520600" cy="3831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zh-TW" sz="1400">
                <a:solidFill>
                  <a:schemeClr val="dk1"/>
                </a:solidFill>
              </a:rPr>
              <a:t>[18] M. Lv, H. Gao, X. Qiu, T. Chen, T. Zhu, and J. Chen, “TREC: Apt tactic / technique recognition via few-shot provenance subgraph learning,” in Proceedings of the 2024 ACM SIGSAC Conference on Computer and Communications Security (CCS), 2024.</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[19] X. Qiu, M. Lv, T. Chen, T. Zhu, Q. Song, and Z. Zhu, “ZOOMER: An apt ttp recognition system via deep &amp; wide provenance graph learning,” IEEE Transactions on Dependable and Secure Computing, 2025.</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[20] F. Liu, Y. Wen, D. Zhang, X. Jiang, X. Xing, and D. Meng, “Log2vec: A heterogeneous graph embedding based approach for detecting cyber threats within enterprise,” in Proceedings of the 2019 ACM SIGSAC Conference on Computer and Communications Security (CCS), 2019.</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[21] H. Guo, S. Yuan, and X. Wu, “LogBERT: Log anomaly detection via bert,” in 2021 International Joint Conference on Neural Networks (IJCNN), 2021.</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[22] S.-Y. Huang et al., “CmdCaliper: A semantic-aware command-line embedding model and dataset for security research,” in Proceedings of the 2024 Conference on Empirical Methods in Natural Language Processing (EMNLP), 2024.</a:t>
            </a:r>
            <a:endParaRPr sz="1400">
              <a:solidFill>
                <a:schemeClr val="dk1"/>
              </a:solidFill>
            </a:endParaRPr>
          </a:p>
        </p:txBody>
      </p:sp>
      <p:sp>
        <p:nvSpPr>
          <p:cNvPr id="603" name="Google Shape;60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參考文獻</a:t>
            </a:r>
            <a:endParaRPr/>
          </a:p>
        </p:txBody>
      </p:sp>
      <p:sp>
        <p:nvSpPr>
          <p:cNvPr id="609" name="Google Shape;609;p45"/>
          <p:cNvSpPr txBox="1"/>
          <p:nvPr>
            <p:ph idx="1" type="body"/>
          </p:nvPr>
        </p:nvSpPr>
        <p:spPr>
          <a:xfrm>
            <a:off x="311700" y="1017725"/>
            <a:ext cx="8520600" cy="3831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zh-TW" sz="1400">
                <a:solidFill>
                  <a:schemeClr val="dk1"/>
                </a:solidFill>
              </a:rPr>
              <a:t>[23] Z. Li, X. Zhang, Y. Zhang, D. Long, P. Xie, and M. Zhang, “Towards general text embeddings with multi-stage contrastive learning,” arXiv preprint</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arXiv:2308.03281, 2023.</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[24] Gemini Team and Google DeepMind, “Gemini: A family of highly capable multimodal models,” arXiv preprint arXiv:2312.11805, 2023.</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[25] OpenAI, “Gpt-3.5 turbo.” https://platform.openai.com/docs/models, 2023. Accessed: 2026-07-23.</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[26] Y.-T. Huang, Y.-R. Guo, Y.-S. Yang, G.-W. Wong, Y.-Z. Jheng, Y. Sun, J. Modini, T. Lynar, and M. C. Chen, “SAGA: Synthetic audit log generation for APT campaigns.” https://saga-tw.github.io/dataset/, 2024. Accessed: 2026-07-16.</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[27] Qwen Team, “Qwen2.5: A party of foundation models.” https://qwenlm. github.io/blog/qwen2.5/, 2024. Accessed: 2026-07-21.</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[28] AI@Meta, “The llama 3 herd of models,” arXiv preprint arXiv:2407.21783, 2024.</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[29] A. Q. Jiang, A. Sablayrolles, A. Mensch, et al., “Mistral 7b,” arXiv preprint arXiv:2310.06825, 2023.</a:t>
            </a:r>
            <a:endParaRPr sz="1400">
              <a:solidFill>
                <a:schemeClr val="dk1"/>
              </a:solidFill>
            </a:endParaRPr>
          </a:p>
        </p:txBody>
      </p:sp>
      <p:sp>
        <p:nvSpPr>
          <p:cNvPr id="610" name="Google Shape;61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參考文獻</a:t>
            </a:r>
            <a:endParaRPr/>
          </a:p>
        </p:txBody>
      </p:sp>
      <p:sp>
        <p:nvSpPr>
          <p:cNvPr id="616" name="Google Shape;616;p46"/>
          <p:cNvSpPr txBox="1"/>
          <p:nvPr>
            <p:ph idx="1" type="body"/>
          </p:nvPr>
        </p:nvSpPr>
        <p:spPr>
          <a:xfrm>
            <a:off x="311700" y="1017725"/>
            <a:ext cx="8520600" cy="3831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zh-TW" sz="1400">
                <a:solidFill>
                  <a:schemeClr val="dk1"/>
                </a:solidFill>
              </a:rPr>
              <a:t>[30] MITRE Corporation, “Mitre caldera: Automated adversary emulation platform.”https://github.com/apache/caldera, 2025. Accessed: 2026-07-22.</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[31] A. K. Menon, S. Jayasumana, A. S. Rawat, S. J. Reddi, S. Kim, and S. Kumar, “Long-tail learning via logit adjustment,” in International Conference on Learning Representations (ICLR), 2021.</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[32] Y.-T. Huang, Y.-R. Guo, G.-W. Wong, and M. C. Chen, “A cascade approach for apt campaign attribution in system event logs: Technique hunting and subgraph matching,” in 2024 IEEE International Conference on Communications (ICC), 2024.</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[33] E. Aghaei, X. Niu, W. Shadid, and E. Al-Shaer, “Securebert: A domain-specific language model for cybersecurity,” arXiv preprint arXiv:2204.02685, 2022.</a:t>
            </a:r>
            <a:endParaRPr sz="1400">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[34] B. Schölkopf, J. C. Platt, J. Shawe-Taylor, A. J. Smola, and R. C. Williamson, “Estimating the support of a high-dimensional distribution,” Neural computation, vol. 13,no. 7, pp. 1443–1471, 2001.</a:t>
            </a:r>
            <a:endParaRPr sz="1400">
              <a:solidFill>
                <a:schemeClr val="dk1"/>
              </a:solidFill>
            </a:endParaRPr>
          </a:p>
        </p:txBody>
      </p:sp>
      <p:sp>
        <p:nvSpPr>
          <p:cNvPr id="617" name="Google Shape;61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4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t>Thanks for you listening</a:t>
            </a:r>
            <a:endParaRPr/>
          </a:p>
        </p:txBody>
      </p:sp>
      <p:sp>
        <p:nvSpPr>
          <p:cNvPr id="623" name="Google Shape;623;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7" name="Shape 627"/>
        <p:cNvGrpSpPr/>
        <p:nvPr/>
      </p:nvGrpSpPr>
      <p:grpSpPr>
        <a:xfrm>
          <a:off x="0" y="0"/>
          <a:ext cx="0" cy="0"/>
          <a:chOff x="0" y="0"/>
          <a:chExt cx="0" cy="0"/>
        </a:xfrm>
      </p:grpSpPr>
      <p:sp>
        <p:nvSpPr>
          <p:cNvPr id="628" name="Google Shape;628;p48"/>
          <p:cNvSpPr txBox="1"/>
          <p:nvPr>
            <p:ph type="title"/>
          </p:nvPr>
        </p:nvSpPr>
        <p:spPr>
          <a:xfrm>
            <a:off x="311713" y="145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RQ3</a:t>
            </a:r>
            <a:r>
              <a:rPr lang="zh-TW"/>
              <a:t>:</a:t>
            </a:r>
            <a:r>
              <a:rPr lang="zh-TW"/>
              <a:t>中華資安病毒樣本標記成果</a:t>
            </a:r>
            <a:endParaRPr/>
          </a:p>
          <a:p>
            <a:pPr indent="0" lvl="0" marL="0" rtl="0" algn="l">
              <a:spcBef>
                <a:spcPts val="0"/>
              </a:spcBef>
              <a:spcAft>
                <a:spcPts val="0"/>
              </a:spcAft>
              <a:buNone/>
            </a:pPr>
            <a:r>
              <a:t/>
            </a:r>
            <a:endParaRPr/>
          </a:p>
        </p:txBody>
      </p:sp>
      <p:sp>
        <p:nvSpPr>
          <p:cNvPr id="629" name="Google Shape;629;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630" name="Google Shape;630;p48"/>
          <p:cNvPicPr preferRelativeResize="0"/>
          <p:nvPr/>
        </p:nvPicPr>
        <p:blipFill>
          <a:blip r:embed="rId3">
            <a:alphaModFix/>
          </a:blip>
          <a:stretch>
            <a:fillRect/>
          </a:stretch>
        </p:blipFill>
        <p:spPr>
          <a:xfrm>
            <a:off x="1908975" y="718363"/>
            <a:ext cx="5326041" cy="412032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4" name="Shape 634"/>
        <p:cNvGrpSpPr/>
        <p:nvPr/>
      </p:nvGrpSpPr>
      <p:grpSpPr>
        <a:xfrm>
          <a:off x="0" y="0"/>
          <a:ext cx="0" cy="0"/>
          <a:chOff x="0" y="0"/>
          <a:chExt cx="0" cy="0"/>
        </a:xfrm>
      </p:grpSpPr>
      <p:sp>
        <p:nvSpPr>
          <p:cNvPr id="635" name="Google Shape;635;p49"/>
          <p:cNvSpPr txBox="1"/>
          <p:nvPr>
            <p:ph type="title"/>
          </p:nvPr>
        </p:nvSpPr>
        <p:spPr>
          <a:xfrm>
            <a:off x="311713" y="145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Case Study - </a:t>
            </a:r>
            <a:r>
              <a:rPr lang="zh-TW"/>
              <a:t>中華資安病毒樣本 - </a:t>
            </a:r>
            <a:r>
              <a:rPr lang="zh-TW"/>
              <a:t>250701B</a:t>
            </a:r>
            <a:endParaRPr/>
          </a:p>
          <a:p>
            <a:pPr indent="0" lvl="0" marL="0" rtl="0" algn="l">
              <a:spcBef>
                <a:spcPts val="0"/>
              </a:spcBef>
              <a:spcAft>
                <a:spcPts val="0"/>
              </a:spcAft>
              <a:buNone/>
            </a:pPr>
            <a:r>
              <a:t/>
            </a:r>
            <a:endParaRPr/>
          </a:p>
        </p:txBody>
      </p:sp>
      <p:sp>
        <p:nvSpPr>
          <p:cNvPr id="636" name="Google Shape;636;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637" name="Google Shape;637;p49"/>
          <p:cNvSpPr txBox="1"/>
          <p:nvPr/>
        </p:nvSpPr>
        <p:spPr>
          <a:xfrm>
            <a:off x="71250" y="3492500"/>
            <a:ext cx="9001500" cy="895800"/>
          </a:xfrm>
          <a:prstGeom prst="rect">
            <a:avLst/>
          </a:prstGeom>
          <a:noFill/>
          <a:ln>
            <a:noFill/>
          </a:ln>
        </p:spPr>
        <p:txBody>
          <a:bodyPr anchorCtr="0" anchor="t" bIns="91425" lIns="91425" spcFirstLastPara="1" rIns="91425" wrap="square" tIns="91425">
            <a:spAutoFit/>
          </a:bodyPr>
          <a:lstStyle/>
          <a:p>
            <a:pPr indent="0" lvl="0" marL="12700" rtl="0" algn="l">
              <a:lnSpc>
                <a:spcPct val="115000"/>
              </a:lnSpc>
              <a:spcBef>
                <a:spcPts val="0"/>
              </a:spcBef>
              <a:spcAft>
                <a:spcPts val="600"/>
              </a:spcAft>
              <a:buNone/>
            </a:pPr>
            <a:r>
              <a:rPr b="1" lang="zh-TW">
                <a:solidFill>
                  <a:schemeClr val="dk1"/>
                </a:solidFill>
              </a:rPr>
              <a:t>本研究為何找得到：</a:t>
            </a:r>
            <a:r>
              <a:rPr lang="zh-TW">
                <a:solidFill>
                  <a:schemeClr val="dk1"/>
                </a:solidFill>
              </a:rPr>
              <a:t>SFM 是純序列 BiGRU-CRF，只讀事件的原始序列，沒有跨事件的溯源圖上下文融合機制，難以連結「查找防護工具」與「停用它」這類因果相關但不緊鄰的事件——241202、250701B 兩起真實案例中的 T1562.001，SFM 皆未命中。</a:t>
            </a:r>
            <a:endParaRPr>
              <a:solidFill>
                <a:schemeClr val="dk1"/>
              </a:solidFill>
            </a:endParaRPr>
          </a:p>
        </p:txBody>
      </p:sp>
      <p:pic>
        <p:nvPicPr>
          <p:cNvPr id="638" name="Google Shape;638;p49"/>
          <p:cNvPicPr preferRelativeResize="0"/>
          <p:nvPr/>
        </p:nvPicPr>
        <p:blipFill>
          <a:blip r:embed="rId3">
            <a:alphaModFix/>
          </a:blip>
          <a:stretch>
            <a:fillRect/>
          </a:stretch>
        </p:blipFill>
        <p:spPr>
          <a:xfrm>
            <a:off x="152425" y="1013475"/>
            <a:ext cx="8839204" cy="218390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2" name="Shape 642"/>
        <p:cNvGrpSpPr/>
        <p:nvPr/>
      </p:nvGrpSpPr>
      <p:grpSpPr>
        <a:xfrm>
          <a:off x="0" y="0"/>
          <a:ext cx="0" cy="0"/>
          <a:chOff x="0" y="0"/>
          <a:chExt cx="0" cy="0"/>
        </a:xfrm>
      </p:grpSpPr>
      <p:sp>
        <p:nvSpPr>
          <p:cNvPr id="643" name="Google Shape;643;p50"/>
          <p:cNvSpPr txBox="1"/>
          <p:nvPr>
            <p:ph type="title"/>
          </p:nvPr>
        </p:nvSpPr>
        <p:spPr>
          <a:xfrm>
            <a:off x="311700" y="130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文獻探討 - 總覽</a:t>
            </a:r>
            <a:endParaRPr/>
          </a:p>
          <a:p>
            <a:pPr indent="0" lvl="0" marL="0" rtl="0" algn="l">
              <a:spcBef>
                <a:spcPts val="0"/>
              </a:spcBef>
              <a:spcAft>
                <a:spcPts val="0"/>
              </a:spcAft>
              <a:buNone/>
            </a:pPr>
            <a:r>
              <a:t/>
            </a:r>
            <a:endParaRPr/>
          </a:p>
        </p:txBody>
      </p:sp>
      <p:sp>
        <p:nvSpPr>
          <p:cNvPr id="644" name="Google Shape;64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645" name="Google Shape;645;p50"/>
          <p:cNvPicPr preferRelativeResize="0"/>
          <p:nvPr/>
        </p:nvPicPr>
        <p:blipFill>
          <a:blip r:embed="rId3">
            <a:alphaModFix/>
          </a:blip>
          <a:stretch>
            <a:fillRect/>
          </a:stretch>
        </p:blipFill>
        <p:spPr>
          <a:xfrm>
            <a:off x="2594673" y="702825"/>
            <a:ext cx="3954664" cy="41938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9" name="Shape 649"/>
        <p:cNvGrpSpPr/>
        <p:nvPr/>
      </p:nvGrpSpPr>
      <p:grpSpPr>
        <a:xfrm>
          <a:off x="0" y="0"/>
          <a:ext cx="0" cy="0"/>
          <a:chOff x="0" y="0"/>
          <a:chExt cx="0" cy="0"/>
        </a:xfrm>
      </p:grpSpPr>
      <p:pic>
        <p:nvPicPr>
          <p:cNvPr id="650" name="Google Shape;650;p51"/>
          <p:cNvPicPr preferRelativeResize="0"/>
          <p:nvPr/>
        </p:nvPicPr>
        <p:blipFill>
          <a:blip r:embed="rId3">
            <a:alphaModFix/>
          </a:blip>
          <a:stretch>
            <a:fillRect/>
          </a:stretch>
        </p:blipFill>
        <p:spPr>
          <a:xfrm>
            <a:off x="861750" y="4835876"/>
            <a:ext cx="2263020" cy="247725"/>
          </a:xfrm>
          <a:prstGeom prst="rect">
            <a:avLst/>
          </a:prstGeom>
          <a:noFill/>
          <a:ln cap="flat" cmpd="sng" w="9525">
            <a:solidFill>
              <a:schemeClr val="dk2"/>
            </a:solidFill>
            <a:prstDash val="solid"/>
            <a:round/>
            <a:headEnd len="sm" w="sm" type="none"/>
            <a:tailEnd len="sm" w="sm" type="none"/>
          </a:ln>
        </p:spPr>
      </p:pic>
      <p:sp>
        <p:nvSpPr>
          <p:cNvPr id="651" name="Google Shape;651;p51"/>
          <p:cNvSpPr/>
          <p:nvPr/>
        </p:nvSpPr>
        <p:spPr>
          <a:xfrm rot="5400000">
            <a:off x="5847724" y="39485"/>
            <a:ext cx="961800" cy="13134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2" name="Google Shape;652;p51"/>
          <p:cNvSpPr/>
          <p:nvPr/>
        </p:nvSpPr>
        <p:spPr>
          <a:xfrm>
            <a:off x="-384858" y="3752693"/>
            <a:ext cx="6607800" cy="8070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51"/>
          <p:cNvSpPr/>
          <p:nvPr/>
        </p:nvSpPr>
        <p:spPr>
          <a:xfrm>
            <a:off x="2836280" y="3221838"/>
            <a:ext cx="1631100" cy="956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51"/>
          <p:cNvSpPr/>
          <p:nvPr/>
        </p:nvSpPr>
        <p:spPr>
          <a:xfrm rot="5400000">
            <a:off x="822512" y="739075"/>
            <a:ext cx="5663400" cy="17826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5" name="Google Shape;655;p51"/>
          <p:cNvSpPr txBox="1"/>
          <p:nvPr/>
        </p:nvSpPr>
        <p:spPr>
          <a:xfrm>
            <a:off x="1850149" y="3224124"/>
            <a:ext cx="11235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Chunking</a:t>
            </a:r>
            <a:endParaRPr/>
          </a:p>
        </p:txBody>
      </p:sp>
      <p:sp>
        <p:nvSpPr>
          <p:cNvPr id="656" name="Google Shape;656;p51"/>
          <p:cNvSpPr txBox="1"/>
          <p:nvPr>
            <p:ph type="title"/>
          </p:nvPr>
        </p:nvSpPr>
        <p:spPr>
          <a:xfrm>
            <a:off x="33075" y="19025"/>
            <a:ext cx="5586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Structure - TTP detection - Temporal</a:t>
            </a:r>
            <a:endParaRPr/>
          </a:p>
        </p:txBody>
      </p:sp>
      <p:sp>
        <p:nvSpPr>
          <p:cNvPr id="657" name="Google Shape;657;p51"/>
          <p:cNvSpPr/>
          <p:nvPr/>
        </p:nvSpPr>
        <p:spPr>
          <a:xfrm>
            <a:off x="402079" y="651250"/>
            <a:ext cx="1538100" cy="458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Event Embedding</a:t>
            </a:r>
            <a:endParaRPr/>
          </a:p>
        </p:txBody>
      </p:sp>
      <p:sp>
        <p:nvSpPr>
          <p:cNvPr id="658" name="Google Shape;658;p51"/>
          <p:cNvSpPr/>
          <p:nvPr/>
        </p:nvSpPr>
        <p:spPr>
          <a:xfrm>
            <a:off x="5353125" y="2944075"/>
            <a:ext cx="1950900" cy="2688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Transformer Encoder</a:t>
            </a:r>
            <a:endParaRPr/>
          </a:p>
        </p:txBody>
      </p:sp>
      <p:cxnSp>
        <p:nvCxnSpPr>
          <p:cNvPr id="659" name="Google Shape;659;p51"/>
          <p:cNvCxnSpPr>
            <a:stCxn id="660" idx="0"/>
            <a:endCxn id="651" idx="3"/>
          </p:cNvCxnSpPr>
          <p:nvPr/>
        </p:nvCxnSpPr>
        <p:spPr>
          <a:xfrm rot="10800000">
            <a:off x="6328625" y="1177075"/>
            <a:ext cx="0" cy="178800"/>
          </a:xfrm>
          <a:prstGeom prst="straightConnector1">
            <a:avLst/>
          </a:prstGeom>
          <a:noFill/>
          <a:ln cap="flat" cmpd="sng" w="9525">
            <a:solidFill>
              <a:schemeClr val="dk2"/>
            </a:solidFill>
            <a:prstDash val="solid"/>
            <a:round/>
            <a:headEnd len="med" w="med" type="none"/>
            <a:tailEnd len="med" w="med" type="triangle"/>
          </a:ln>
        </p:spPr>
      </p:cxnSp>
      <p:cxnSp>
        <p:nvCxnSpPr>
          <p:cNvPr id="661" name="Google Shape;661;p51"/>
          <p:cNvCxnSpPr>
            <a:stCxn id="658" idx="0"/>
            <a:endCxn id="662" idx="2"/>
          </p:cNvCxnSpPr>
          <p:nvPr/>
        </p:nvCxnSpPr>
        <p:spPr>
          <a:xfrm rot="10800000">
            <a:off x="6328575" y="2789875"/>
            <a:ext cx="0" cy="154200"/>
          </a:xfrm>
          <a:prstGeom prst="straightConnector1">
            <a:avLst/>
          </a:prstGeom>
          <a:noFill/>
          <a:ln cap="flat" cmpd="sng" w="9525">
            <a:solidFill>
              <a:schemeClr val="dk2"/>
            </a:solidFill>
            <a:prstDash val="solid"/>
            <a:round/>
            <a:headEnd len="med" w="med" type="none"/>
            <a:tailEnd len="med" w="med" type="triangle"/>
          </a:ln>
        </p:spPr>
      </p:cxnSp>
      <p:grpSp>
        <p:nvGrpSpPr>
          <p:cNvPr id="663" name="Google Shape;663;p51"/>
          <p:cNvGrpSpPr/>
          <p:nvPr/>
        </p:nvGrpSpPr>
        <p:grpSpPr>
          <a:xfrm>
            <a:off x="127575" y="1378113"/>
            <a:ext cx="2087100" cy="1531200"/>
            <a:chOff x="3400375" y="651250"/>
            <a:chExt cx="2087100" cy="1531200"/>
          </a:xfrm>
        </p:grpSpPr>
        <p:sp>
          <p:nvSpPr>
            <p:cNvPr id="664" name="Google Shape;664;p51"/>
            <p:cNvSpPr/>
            <p:nvPr/>
          </p:nvSpPr>
          <p:spPr>
            <a:xfrm>
              <a:off x="3400375" y="651250"/>
              <a:ext cx="2087100" cy="1531200"/>
            </a:xfrm>
            <a:prstGeom prst="rect">
              <a:avLst/>
            </a:prstGeom>
            <a:solidFill>
              <a:srgbClr val="C9DAF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zh-TW">
                  <a:solidFill>
                    <a:schemeClr val="dk1"/>
                  </a:solidFill>
                </a:rPr>
                <a:t>OneClassSVM</a:t>
              </a:r>
              <a:endParaRPr/>
            </a:p>
          </p:txBody>
        </p:sp>
        <p:sp>
          <p:nvSpPr>
            <p:cNvPr id="665" name="Google Shape;665;p51"/>
            <p:cNvSpPr/>
            <p:nvPr/>
          </p:nvSpPr>
          <p:spPr>
            <a:xfrm>
              <a:off x="3912775" y="1055025"/>
              <a:ext cx="10623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solidFill>
                    <a:schemeClr val="dk1"/>
                  </a:solidFill>
                </a:rPr>
                <a:t>Nystroem</a:t>
              </a:r>
              <a:endParaRPr/>
            </a:p>
          </p:txBody>
        </p:sp>
        <p:sp>
          <p:nvSpPr>
            <p:cNvPr id="666" name="Google Shape;666;p51"/>
            <p:cNvSpPr/>
            <p:nvPr/>
          </p:nvSpPr>
          <p:spPr>
            <a:xfrm>
              <a:off x="3449873" y="1632750"/>
              <a:ext cx="1988100" cy="45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solidFill>
                    <a:schemeClr val="dk1"/>
                  </a:solidFill>
                </a:rPr>
                <a:t>SGD OneClassSVM </a:t>
              </a:r>
              <a:endParaRPr/>
            </a:p>
          </p:txBody>
        </p:sp>
        <p:cxnSp>
          <p:nvCxnSpPr>
            <p:cNvPr id="667" name="Google Shape;667;p51"/>
            <p:cNvCxnSpPr>
              <a:stCxn id="665" idx="2"/>
              <a:endCxn id="666" idx="0"/>
            </p:cNvCxnSpPr>
            <p:nvPr/>
          </p:nvCxnSpPr>
          <p:spPr>
            <a:xfrm>
              <a:off x="4443925" y="1455225"/>
              <a:ext cx="0" cy="177600"/>
            </a:xfrm>
            <a:prstGeom prst="straightConnector1">
              <a:avLst/>
            </a:prstGeom>
            <a:noFill/>
            <a:ln cap="flat" cmpd="sng" w="9525">
              <a:solidFill>
                <a:schemeClr val="dk2"/>
              </a:solidFill>
              <a:prstDash val="solid"/>
              <a:round/>
              <a:headEnd len="med" w="med" type="none"/>
              <a:tailEnd len="med" w="med" type="triangle"/>
            </a:ln>
          </p:spPr>
        </p:cxnSp>
      </p:grpSp>
      <p:sp>
        <p:nvSpPr>
          <p:cNvPr id="668" name="Google Shape;668;p51"/>
          <p:cNvSpPr/>
          <p:nvPr/>
        </p:nvSpPr>
        <p:spPr>
          <a:xfrm>
            <a:off x="402066" y="3476463"/>
            <a:ext cx="1538100" cy="458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Malicious Event Embedding</a:t>
            </a:r>
            <a:endParaRPr/>
          </a:p>
        </p:txBody>
      </p:sp>
      <p:sp>
        <p:nvSpPr>
          <p:cNvPr id="669" name="Google Shape;669;p51"/>
          <p:cNvSpPr/>
          <p:nvPr/>
        </p:nvSpPr>
        <p:spPr>
          <a:xfrm>
            <a:off x="402079" y="4069388"/>
            <a:ext cx="1538100" cy="458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LLM Embedding</a:t>
            </a:r>
            <a:endParaRPr/>
          </a:p>
        </p:txBody>
      </p:sp>
      <p:cxnSp>
        <p:nvCxnSpPr>
          <p:cNvPr id="670" name="Google Shape;670;p51"/>
          <p:cNvCxnSpPr>
            <a:stCxn id="657" idx="2"/>
            <a:endCxn id="664" idx="0"/>
          </p:cNvCxnSpPr>
          <p:nvPr/>
        </p:nvCxnSpPr>
        <p:spPr>
          <a:xfrm>
            <a:off x="1171129" y="1109350"/>
            <a:ext cx="0" cy="268800"/>
          </a:xfrm>
          <a:prstGeom prst="straightConnector1">
            <a:avLst/>
          </a:prstGeom>
          <a:noFill/>
          <a:ln cap="flat" cmpd="sng" w="9525">
            <a:solidFill>
              <a:schemeClr val="dk2"/>
            </a:solidFill>
            <a:prstDash val="solid"/>
            <a:round/>
            <a:headEnd len="med" w="med" type="none"/>
            <a:tailEnd len="med" w="med" type="triangle"/>
          </a:ln>
        </p:spPr>
      </p:cxnSp>
      <p:cxnSp>
        <p:nvCxnSpPr>
          <p:cNvPr id="671" name="Google Shape;671;p51"/>
          <p:cNvCxnSpPr>
            <a:stCxn id="666" idx="2"/>
            <a:endCxn id="668" idx="0"/>
          </p:cNvCxnSpPr>
          <p:nvPr/>
        </p:nvCxnSpPr>
        <p:spPr>
          <a:xfrm>
            <a:off x="1171123" y="2817713"/>
            <a:ext cx="0" cy="658800"/>
          </a:xfrm>
          <a:prstGeom prst="straightConnector1">
            <a:avLst/>
          </a:prstGeom>
          <a:noFill/>
          <a:ln cap="flat" cmpd="sng" w="9525">
            <a:solidFill>
              <a:schemeClr val="dk2"/>
            </a:solidFill>
            <a:prstDash val="solid"/>
            <a:round/>
            <a:headEnd len="med" w="med" type="none"/>
            <a:tailEnd len="med" w="med" type="triangle"/>
          </a:ln>
        </p:spPr>
      </p:cxnSp>
      <p:sp>
        <p:nvSpPr>
          <p:cNvPr id="672" name="Google Shape;672;p51"/>
          <p:cNvSpPr txBox="1"/>
          <p:nvPr/>
        </p:nvSpPr>
        <p:spPr>
          <a:xfrm>
            <a:off x="1968825" y="3497288"/>
            <a:ext cx="375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Xᵢⱼ</a:t>
            </a:r>
            <a:endParaRPr/>
          </a:p>
        </p:txBody>
      </p:sp>
      <p:sp>
        <p:nvSpPr>
          <p:cNvPr id="673" name="Google Shape;673;p51"/>
          <p:cNvSpPr txBox="1"/>
          <p:nvPr/>
        </p:nvSpPr>
        <p:spPr>
          <a:xfrm>
            <a:off x="2016175" y="4121438"/>
            <a:ext cx="375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Lᵢⱼ</a:t>
            </a:r>
            <a:endParaRPr/>
          </a:p>
        </p:txBody>
      </p:sp>
      <p:cxnSp>
        <p:nvCxnSpPr>
          <p:cNvPr id="674" name="Google Shape;674;p51"/>
          <p:cNvCxnSpPr/>
          <p:nvPr/>
        </p:nvCxnSpPr>
        <p:spPr>
          <a:xfrm flipH="1" rot="10800000">
            <a:off x="2347650" y="3651136"/>
            <a:ext cx="485700" cy="2100"/>
          </a:xfrm>
          <a:prstGeom prst="straightConnector1">
            <a:avLst/>
          </a:prstGeom>
          <a:noFill/>
          <a:ln cap="flat" cmpd="sng" w="9525">
            <a:solidFill>
              <a:schemeClr val="dk2"/>
            </a:solidFill>
            <a:prstDash val="solid"/>
            <a:round/>
            <a:headEnd len="med" w="med" type="none"/>
            <a:tailEnd len="med" w="med" type="triangle"/>
          </a:ln>
        </p:spPr>
      </p:cxnSp>
      <p:grpSp>
        <p:nvGrpSpPr>
          <p:cNvPr id="675" name="Google Shape;675;p51"/>
          <p:cNvGrpSpPr/>
          <p:nvPr/>
        </p:nvGrpSpPr>
        <p:grpSpPr>
          <a:xfrm>
            <a:off x="2955037" y="3279970"/>
            <a:ext cx="615600" cy="807105"/>
            <a:chOff x="3281625" y="3356170"/>
            <a:chExt cx="615600" cy="807105"/>
          </a:xfrm>
        </p:grpSpPr>
        <p:sp>
          <p:nvSpPr>
            <p:cNvPr id="676" name="Google Shape;676;p51"/>
            <p:cNvSpPr/>
            <p:nvPr/>
          </p:nvSpPr>
          <p:spPr>
            <a:xfrm rot="5400000">
              <a:off x="3487125" y="3150670"/>
              <a:ext cx="204600" cy="6156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7" name="Google Shape;677;p51"/>
            <p:cNvSpPr/>
            <p:nvPr/>
          </p:nvSpPr>
          <p:spPr>
            <a:xfrm rot="5400000">
              <a:off x="3334200" y="3605075"/>
              <a:ext cx="204600" cy="309300"/>
            </a:xfrm>
            <a:prstGeom prst="rect">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8" name="Google Shape;678;p51"/>
            <p:cNvSpPr/>
            <p:nvPr/>
          </p:nvSpPr>
          <p:spPr>
            <a:xfrm rot="5400000">
              <a:off x="3255675" y="3984625"/>
              <a:ext cx="204600" cy="1527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79" name="Google Shape;679;p51"/>
          <p:cNvSpPr txBox="1"/>
          <p:nvPr/>
        </p:nvSpPr>
        <p:spPr>
          <a:xfrm>
            <a:off x="3584949" y="3180300"/>
            <a:ext cx="454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Xᵢⱼ,ₜ</a:t>
            </a:r>
            <a:endParaRPr/>
          </a:p>
        </p:txBody>
      </p:sp>
      <p:sp>
        <p:nvSpPr>
          <p:cNvPr id="680" name="Google Shape;680;p51"/>
          <p:cNvSpPr txBox="1"/>
          <p:nvPr/>
        </p:nvSpPr>
        <p:spPr>
          <a:xfrm>
            <a:off x="3584949" y="3506525"/>
            <a:ext cx="454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Xᵢⱼ,ₜ</a:t>
            </a:r>
            <a:endParaRPr/>
          </a:p>
        </p:txBody>
      </p:sp>
      <p:sp>
        <p:nvSpPr>
          <p:cNvPr id="681" name="Google Shape;681;p51"/>
          <p:cNvSpPr txBox="1"/>
          <p:nvPr/>
        </p:nvSpPr>
        <p:spPr>
          <a:xfrm>
            <a:off x="3592349" y="3797925"/>
            <a:ext cx="454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Xᵢⱼ,ₜ</a:t>
            </a:r>
            <a:endParaRPr/>
          </a:p>
        </p:txBody>
      </p:sp>
      <p:sp>
        <p:nvSpPr>
          <p:cNvPr id="682" name="Google Shape;682;p51"/>
          <p:cNvSpPr txBox="1"/>
          <p:nvPr/>
        </p:nvSpPr>
        <p:spPr>
          <a:xfrm>
            <a:off x="3902023" y="3210475"/>
            <a:ext cx="5535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t=256</a:t>
            </a:r>
            <a:endParaRPr/>
          </a:p>
        </p:txBody>
      </p:sp>
      <p:sp>
        <p:nvSpPr>
          <p:cNvPr id="683" name="Google Shape;683;p51"/>
          <p:cNvSpPr txBox="1"/>
          <p:nvPr/>
        </p:nvSpPr>
        <p:spPr>
          <a:xfrm>
            <a:off x="3876098" y="3528525"/>
            <a:ext cx="5535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t=64</a:t>
            </a:r>
            <a:endParaRPr/>
          </a:p>
        </p:txBody>
      </p:sp>
      <p:sp>
        <p:nvSpPr>
          <p:cNvPr id="684" name="Google Shape;684;p51"/>
          <p:cNvSpPr txBox="1"/>
          <p:nvPr/>
        </p:nvSpPr>
        <p:spPr>
          <a:xfrm>
            <a:off x="3909999" y="3824250"/>
            <a:ext cx="4857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t=16</a:t>
            </a:r>
            <a:endParaRPr/>
          </a:p>
        </p:txBody>
      </p:sp>
      <p:sp>
        <p:nvSpPr>
          <p:cNvPr id="685" name="Google Shape;685;p51"/>
          <p:cNvSpPr/>
          <p:nvPr/>
        </p:nvSpPr>
        <p:spPr>
          <a:xfrm rot="5400000">
            <a:off x="3013374" y="2865302"/>
            <a:ext cx="204600" cy="3213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6" name="Google Shape;686;p51"/>
          <p:cNvSpPr txBox="1"/>
          <p:nvPr/>
        </p:nvSpPr>
        <p:spPr>
          <a:xfrm>
            <a:off x="3592349" y="2848950"/>
            <a:ext cx="375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Lᵢⱼ</a:t>
            </a:r>
            <a:endParaRPr/>
          </a:p>
        </p:txBody>
      </p:sp>
      <p:cxnSp>
        <p:nvCxnSpPr>
          <p:cNvPr id="687" name="Google Shape;687;p51"/>
          <p:cNvCxnSpPr>
            <a:endCxn id="688" idx="1"/>
          </p:cNvCxnSpPr>
          <p:nvPr/>
        </p:nvCxnSpPr>
        <p:spPr>
          <a:xfrm flipH="1" rot="10800000">
            <a:off x="4021263" y="4754650"/>
            <a:ext cx="432900" cy="2400"/>
          </a:xfrm>
          <a:prstGeom prst="straightConnector1">
            <a:avLst/>
          </a:prstGeom>
          <a:noFill/>
          <a:ln cap="flat" cmpd="sng" w="9525">
            <a:solidFill>
              <a:schemeClr val="dk2"/>
            </a:solidFill>
            <a:prstDash val="solid"/>
            <a:round/>
            <a:headEnd len="med" w="med" type="none"/>
            <a:tailEnd len="med" w="med" type="triangle"/>
          </a:ln>
        </p:spPr>
      </p:cxnSp>
      <p:cxnSp>
        <p:nvCxnSpPr>
          <p:cNvPr id="689" name="Google Shape;689;p51"/>
          <p:cNvCxnSpPr>
            <a:stCxn id="651" idx="1"/>
            <a:endCxn id="690" idx="0"/>
          </p:cNvCxnSpPr>
          <p:nvPr/>
        </p:nvCxnSpPr>
        <p:spPr>
          <a:xfrm flipH="1" rot="-5400000">
            <a:off x="7183174" y="-639265"/>
            <a:ext cx="150600" cy="1859700"/>
          </a:xfrm>
          <a:prstGeom prst="bentConnector3">
            <a:avLst>
              <a:gd fmla="val -79704" name="adj1"/>
            </a:avLst>
          </a:prstGeom>
          <a:noFill/>
          <a:ln cap="flat" cmpd="sng" w="9525">
            <a:solidFill>
              <a:schemeClr val="dk2"/>
            </a:solidFill>
            <a:prstDash val="solid"/>
            <a:round/>
            <a:headEnd len="med" w="med" type="none"/>
            <a:tailEnd len="med" w="med" type="triangle"/>
          </a:ln>
        </p:spPr>
      </p:cxnSp>
      <p:grpSp>
        <p:nvGrpSpPr>
          <p:cNvPr id="691" name="Google Shape;691;p51"/>
          <p:cNvGrpSpPr/>
          <p:nvPr/>
        </p:nvGrpSpPr>
        <p:grpSpPr>
          <a:xfrm>
            <a:off x="6709642" y="3760987"/>
            <a:ext cx="2333143" cy="1313348"/>
            <a:chOff x="513899" y="3066238"/>
            <a:chExt cx="3159300" cy="1778400"/>
          </a:xfrm>
        </p:grpSpPr>
        <p:sp>
          <p:nvSpPr>
            <p:cNvPr id="692" name="Google Shape;692;p51"/>
            <p:cNvSpPr/>
            <p:nvPr/>
          </p:nvSpPr>
          <p:spPr>
            <a:xfrm>
              <a:off x="513899" y="3066238"/>
              <a:ext cx="3159300" cy="1778400"/>
            </a:xfrm>
            <a:prstGeom prst="rect">
              <a:avLst/>
            </a:prstGeom>
            <a:solidFill>
              <a:srgbClr val="FCE5CD"/>
            </a:solidFill>
            <a:ln cap="flat" cmpd="sng" w="7025">
              <a:solidFill>
                <a:schemeClr val="dk2"/>
              </a:solidFill>
              <a:prstDash val="solid"/>
              <a:round/>
              <a:headEnd len="sm" w="sm" type="none"/>
              <a:tailEnd len="sm" w="sm" type="none"/>
            </a:ln>
          </p:spPr>
          <p:txBody>
            <a:bodyPr anchorCtr="0" anchor="t" bIns="67525" lIns="67525" spcFirstLastPara="1" rIns="67525" wrap="square" tIns="67525">
              <a:noAutofit/>
            </a:bodyPr>
            <a:lstStyle/>
            <a:p>
              <a:pPr indent="0" lvl="0" marL="0" rtl="0" algn="ctr">
                <a:spcBef>
                  <a:spcPts val="0"/>
                </a:spcBef>
                <a:spcAft>
                  <a:spcPts val="0"/>
                </a:spcAft>
                <a:buNone/>
              </a:pPr>
              <a:r>
                <a:rPr lang="zh-TW" sz="1034"/>
                <a:t>Transformer</a:t>
              </a:r>
              <a:r>
                <a:rPr lang="zh-TW" sz="1034">
                  <a:solidFill>
                    <a:schemeClr val="dk1"/>
                  </a:solidFill>
                </a:rPr>
                <a:t> encoder</a:t>
              </a:r>
              <a:endParaRPr sz="1034"/>
            </a:p>
          </p:txBody>
        </p:sp>
        <p:sp>
          <p:nvSpPr>
            <p:cNvPr id="693" name="Google Shape;693;p51"/>
            <p:cNvSpPr/>
            <p:nvPr/>
          </p:nvSpPr>
          <p:spPr>
            <a:xfrm>
              <a:off x="732645" y="3382738"/>
              <a:ext cx="1298400" cy="572700"/>
            </a:xfrm>
            <a:prstGeom prst="rect">
              <a:avLst/>
            </a:prstGeom>
            <a:solidFill>
              <a:srgbClr val="EFEFEF"/>
            </a:solidFill>
            <a:ln cap="flat" cmpd="sng" w="7025">
              <a:solidFill>
                <a:schemeClr val="dk2"/>
              </a:solidFill>
              <a:prstDash val="solid"/>
              <a:round/>
              <a:headEnd len="sm" w="sm" type="none"/>
              <a:tailEnd len="sm" w="sm" type="none"/>
            </a:ln>
          </p:spPr>
          <p:txBody>
            <a:bodyPr anchorCtr="0" anchor="ctr" bIns="67525" lIns="67525" spcFirstLastPara="1" rIns="67525" wrap="square" tIns="67525">
              <a:noAutofit/>
            </a:bodyPr>
            <a:lstStyle/>
            <a:p>
              <a:pPr indent="0" lvl="0" marL="0" rtl="0" algn="ctr">
                <a:spcBef>
                  <a:spcPts val="0"/>
                </a:spcBef>
                <a:spcAft>
                  <a:spcPts val="0"/>
                </a:spcAft>
                <a:buNone/>
              </a:pPr>
              <a:r>
                <a:rPr lang="zh-TW" sz="1034"/>
                <a:t>Multi-head attention</a:t>
              </a:r>
              <a:endParaRPr sz="1034"/>
            </a:p>
          </p:txBody>
        </p:sp>
        <p:sp>
          <p:nvSpPr>
            <p:cNvPr id="694" name="Google Shape;694;p51"/>
            <p:cNvSpPr/>
            <p:nvPr/>
          </p:nvSpPr>
          <p:spPr>
            <a:xfrm>
              <a:off x="770299" y="4147813"/>
              <a:ext cx="1223100" cy="572700"/>
            </a:xfrm>
            <a:prstGeom prst="rect">
              <a:avLst/>
            </a:prstGeom>
            <a:solidFill>
              <a:srgbClr val="EFEFEF"/>
            </a:solidFill>
            <a:ln cap="flat" cmpd="sng" w="7025">
              <a:solidFill>
                <a:schemeClr val="dk2"/>
              </a:solidFill>
              <a:prstDash val="solid"/>
              <a:round/>
              <a:headEnd len="sm" w="sm" type="none"/>
              <a:tailEnd len="sm" w="sm" type="none"/>
            </a:ln>
          </p:spPr>
          <p:txBody>
            <a:bodyPr anchorCtr="0" anchor="ctr" bIns="67525" lIns="67525" spcFirstLastPara="1" rIns="67525" wrap="square" tIns="67525">
              <a:noAutofit/>
            </a:bodyPr>
            <a:lstStyle/>
            <a:p>
              <a:pPr indent="0" lvl="0" marL="0" rtl="0" algn="ctr">
                <a:spcBef>
                  <a:spcPts val="0"/>
                </a:spcBef>
                <a:spcAft>
                  <a:spcPts val="0"/>
                </a:spcAft>
                <a:buNone/>
              </a:pPr>
              <a:r>
                <a:rPr lang="zh-TW" sz="1034"/>
                <a:t>Residual + LayerNorm</a:t>
              </a:r>
              <a:endParaRPr sz="1034"/>
            </a:p>
          </p:txBody>
        </p:sp>
        <p:sp>
          <p:nvSpPr>
            <p:cNvPr id="695" name="Google Shape;695;p51"/>
            <p:cNvSpPr/>
            <p:nvPr/>
          </p:nvSpPr>
          <p:spPr>
            <a:xfrm>
              <a:off x="2483723" y="3382738"/>
              <a:ext cx="791100" cy="572700"/>
            </a:xfrm>
            <a:prstGeom prst="rect">
              <a:avLst/>
            </a:prstGeom>
            <a:solidFill>
              <a:srgbClr val="EFEFEF"/>
            </a:solidFill>
            <a:ln cap="flat" cmpd="sng" w="7025">
              <a:solidFill>
                <a:schemeClr val="dk2"/>
              </a:solidFill>
              <a:prstDash val="solid"/>
              <a:round/>
              <a:headEnd len="sm" w="sm" type="none"/>
              <a:tailEnd len="sm" w="sm" type="none"/>
            </a:ln>
          </p:spPr>
          <p:txBody>
            <a:bodyPr anchorCtr="0" anchor="ctr" bIns="67525" lIns="67525" spcFirstLastPara="1" rIns="67525" wrap="square" tIns="67525">
              <a:noAutofit/>
            </a:bodyPr>
            <a:lstStyle/>
            <a:p>
              <a:pPr indent="0" lvl="0" marL="0" rtl="0" algn="ctr">
                <a:spcBef>
                  <a:spcPts val="0"/>
                </a:spcBef>
                <a:spcAft>
                  <a:spcPts val="0"/>
                </a:spcAft>
                <a:buNone/>
              </a:pPr>
              <a:r>
                <a:rPr lang="zh-TW" sz="1034"/>
                <a:t>FFN</a:t>
              </a:r>
              <a:endParaRPr sz="1034"/>
            </a:p>
          </p:txBody>
        </p:sp>
        <p:sp>
          <p:nvSpPr>
            <p:cNvPr id="696" name="Google Shape;696;p51"/>
            <p:cNvSpPr/>
            <p:nvPr/>
          </p:nvSpPr>
          <p:spPr>
            <a:xfrm>
              <a:off x="2289624" y="4147813"/>
              <a:ext cx="1135500" cy="572700"/>
            </a:xfrm>
            <a:prstGeom prst="rect">
              <a:avLst/>
            </a:prstGeom>
            <a:solidFill>
              <a:srgbClr val="EFEFEF"/>
            </a:solidFill>
            <a:ln cap="flat" cmpd="sng" w="7025">
              <a:solidFill>
                <a:schemeClr val="dk2"/>
              </a:solidFill>
              <a:prstDash val="solid"/>
              <a:round/>
              <a:headEnd len="sm" w="sm" type="none"/>
              <a:tailEnd len="sm" w="sm" type="none"/>
            </a:ln>
          </p:spPr>
          <p:txBody>
            <a:bodyPr anchorCtr="0" anchor="ctr" bIns="67525" lIns="67525" spcFirstLastPara="1" rIns="67525" wrap="square" tIns="67525">
              <a:noAutofit/>
            </a:bodyPr>
            <a:lstStyle/>
            <a:p>
              <a:pPr indent="0" lvl="0" marL="0" rtl="0" algn="ctr">
                <a:spcBef>
                  <a:spcPts val="0"/>
                </a:spcBef>
                <a:spcAft>
                  <a:spcPts val="0"/>
                </a:spcAft>
                <a:buNone/>
              </a:pPr>
              <a:r>
                <a:rPr lang="zh-TW" sz="1034">
                  <a:solidFill>
                    <a:schemeClr val="dk1"/>
                  </a:solidFill>
                </a:rPr>
                <a:t>Residual + LayerNorm</a:t>
              </a:r>
              <a:endParaRPr sz="1034"/>
            </a:p>
          </p:txBody>
        </p:sp>
        <p:cxnSp>
          <p:nvCxnSpPr>
            <p:cNvPr id="697" name="Google Shape;697;p51"/>
            <p:cNvCxnSpPr>
              <a:stCxn id="693" idx="2"/>
              <a:endCxn id="694" idx="0"/>
            </p:cNvCxnSpPr>
            <p:nvPr/>
          </p:nvCxnSpPr>
          <p:spPr>
            <a:xfrm>
              <a:off x="1381845" y="3955438"/>
              <a:ext cx="0" cy="192300"/>
            </a:xfrm>
            <a:prstGeom prst="straightConnector1">
              <a:avLst/>
            </a:prstGeom>
            <a:noFill/>
            <a:ln cap="flat" cmpd="sng" w="7025">
              <a:solidFill>
                <a:schemeClr val="dk2"/>
              </a:solidFill>
              <a:prstDash val="solid"/>
              <a:round/>
              <a:headEnd len="med" w="med" type="none"/>
              <a:tailEnd len="med" w="med" type="triangle"/>
            </a:ln>
          </p:spPr>
        </p:cxnSp>
        <p:cxnSp>
          <p:nvCxnSpPr>
            <p:cNvPr id="698" name="Google Shape;698;p51"/>
            <p:cNvCxnSpPr>
              <a:stCxn id="694" idx="3"/>
              <a:endCxn id="695" idx="1"/>
            </p:cNvCxnSpPr>
            <p:nvPr/>
          </p:nvCxnSpPr>
          <p:spPr>
            <a:xfrm flipH="1" rot="10800000">
              <a:off x="1993399" y="3669163"/>
              <a:ext cx="490200" cy="765000"/>
            </a:xfrm>
            <a:prstGeom prst="straightConnector1">
              <a:avLst/>
            </a:prstGeom>
            <a:noFill/>
            <a:ln cap="flat" cmpd="sng" w="7025">
              <a:solidFill>
                <a:schemeClr val="dk2"/>
              </a:solidFill>
              <a:prstDash val="solid"/>
              <a:round/>
              <a:headEnd len="med" w="med" type="none"/>
              <a:tailEnd len="med" w="med" type="triangle"/>
            </a:ln>
          </p:spPr>
        </p:cxnSp>
        <p:cxnSp>
          <p:nvCxnSpPr>
            <p:cNvPr id="699" name="Google Shape;699;p51"/>
            <p:cNvCxnSpPr>
              <a:stCxn id="695" idx="2"/>
              <a:endCxn id="696" idx="0"/>
            </p:cNvCxnSpPr>
            <p:nvPr/>
          </p:nvCxnSpPr>
          <p:spPr>
            <a:xfrm flipH="1">
              <a:off x="2857373" y="3955438"/>
              <a:ext cx="21900" cy="192300"/>
            </a:xfrm>
            <a:prstGeom prst="straightConnector1">
              <a:avLst/>
            </a:prstGeom>
            <a:noFill/>
            <a:ln cap="flat" cmpd="sng" w="7025">
              <a:solidFill>
                <a:schemeClr val="dk2"/>
              </a:solidFill>
              <a:prstDash val="solid"/>
              <a:round/>
              <a:headEnd len="med" w="med" type="none"/>
              <a:tailEnd len="med" w="med" type="triangle"/>
            </a:ln>
          </p:spPr>
        </p:cxnSp>
      </p:grpSp>
      <p:cxnSp>
        <p:nvCxnSpPr>
          <p:cNvPr id="700" name="Google Shape;700;p51"/>
          <p:cNvCxnSpPr/>
          <p:nvPr/>
        </p:nvCxnSpPr>
        <p:spPr>
          <a:xfrm>
            <a:off x="7304100" y="2943650"/>
            <a:ext cx="1740000" cy="818700"/>
          </a:xfrm>
          <a:prstGeom prst="straightConnector1">
            <a:avLst/>
          </a:prstGeom>
          <a:noFill/>
          <a:ln cap="flat" cmpd="sng" w="9525">
            <a:solidFill>
              <a:schemeClr val="dk2"/>
            </a:solidFill>
            <a:prstDash val="solid"/>
            <a:round/>
            <a:headEnd len="med" w="med" type="none"/>
            <a:tailEnd len="med" w="med" type="none"/>
          </a:ln>
        </p:spPr>
      </p:cxnSp>
      <p:cxnSp>
        <p:nvCxnSpPr>
          <p:cNvPr id="701" name="Google Shape;701;p51"/>
          <p:cNvCxnSpPr/>
          <p:nvPr/>
        </p:nvCxnSpPr>
        <p:spPr>
          <a:xfrm>
            <a:off x="6541750" y="3218700"/>
            <a:ext cx="171000" cy="545100"/>
          </a:xfrm>
          <a:prstGeom prst="straightConnector1">
            <a:avLst/>
          </a:prstGeom>
          <a:noFill/>
          <a:ln cap="flat" cmpd="sng" w="9525">
            <a:solidFill>
              <a:schemeClr val="dk2"/>
            </a:solidFill>
            <a:prstDash val="solid"/>
            <a:round/>
            <a:headEnd len="med" w="med" type="none"/>
            <a:tailEnd len="med" w="med" type="none"/>
          </a:ln>
        </p:spPr>
      </p:cxnSp>
      <p:sp>
        <p:nvSpPr>
          <p:cNvPr id="702" name="Google Shape;702;p51"/>
          <p:cNvSpPr txBox="1"/>
          <p:nvPr/>
        </p:nvSpPr>
        <p:spPr>
          <a:xfrm>
            <a:off x="4137025" y="2107372"/>
            <a:ext cx="13587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Hidden states Sᵢⱼ</a:t>
            </a:r>
            <a:endParaRPr sz="1100">
              <a:solidFill>
                <a:schemeClr val="dk1"/>
              </a:solidFill>
            </a:endParaRPr>
          </a:p>
        </p:txBody>
      </p:sp>
      <p:cxnSp>
        <p:nvCxnSpPr>
          <p:cNvPr id="703" name="Google Shape;703;p51"/>
          <p:cNvCxnSpPr>
            <a:stCxn id="704" idx="1"/>
            <a:endCxn id="660" idx="2"/>
          </p:cNvCxnSpPr>
          <p:nvPr/>
        </p:nvCxnSpPr>
        <p:spPr>
          <a:xfrm rot="10800000">
            <a:off x="6328624" y="1624685"/>
            <a:ext cx="0" cy="178800"/>
          </a:xfrm>
          <a:prstGeom prst="straightConnector1">
            <a:avLst/>
          </a:prstGeom>
          <a:noFill/>
          <a:ln cap="flat" cmpd="sng" w="9525">
            <a:solidFill>
              <a:schemeClr val="dk2"/>
            </a:solidFill>
            <a:prstDash val="solid"/>
            <a:round/>
            <a:headEnd len="med" w="med" type="none"/>
            <a:tailEnd len="med" w="med" type="triangle"/>
          </a:ln>
        </p:spPr>
      </p:cxnSp>
      <p:grpSp>
        <p:nvGrpSpPr>
          <p:cNvPr id="705" name="Google Shape;705;p51"/>
          <p:cNvGrpSpPr/>
          <p:nvPr/>
        </p:nvGrpSpPr>
        <p:grpSpPr>
          <a:xfrm>
            <a:off x="5664304" y="1803485"/>
            <a:ext cx="1358705" cy="961800"/>
            <a:chOff x="5290605" y="1744981"/>
            <a:chExt cx="1358705" cy="961800"/>
          </a:xfrm>
        </p:grpSpPr>
        <p:sp>
          <p:nvSpPr>
            <p:cNvPr id="706" name="Google Shape;706;p51"/>
            <p:cNvSpPr txBox="1"/>
            <p:nvPr/>
          </p:nvSpPr>
          <p:spPr>
            <a:xfrm>
              <a:off x="5290605" y="2293570"/>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sp>
          <p:nvSpPr>
            <p:cNvPr id="707" name="Google Shape;707;p51"/>
            <p:cNvSpPr txBox="1"/>
            <p:nvPr/>
          </p:nvSpPr>
          <p:spPr>
            <a:xfrm>
              <a:off x="5549905" y="229579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grpSp>
          <p:nvGrpSpPr>
            <p:cNvPr id="708" name="Google Shape;708;p51"/>
            <p:cNvGrpSpPr/>
            <p:nvPr/>
          </p:nvGrpSpPr>
          <p:grpSpPr>
            <a:xfrm>
              <a:off x="5298225" y="1744981"/>
              <a:ext cx="1351085" cy="961800"/>
              <a:chOff x="5298225" y="1752601"/>
              <a:chExt cx="1351085" cy="961800"/>
            </a:xfrm>
          </p:grpSpPr>
          <p:sp>
            <p:nvSpPr>
              <p:cNvPr id="704" name="Google Shape;704;p51"/>
              <p:cNvSpPr/>
              <p:nvPr/>
            </p:nvSpPr>
            <p:spPr>
              <a:xfrm rot="5400000">
                <a:off x="5474025" y="1576801"/>
                <a:ext cx="961800" cy="13134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09" name="Google Shape;709;p51"/>
              <p:cNvGrpSpPr/>
              <p:nvPr/>
            </p:nvGrpSpPr>
            <p:grpSpPr>
              <a:xfrm>
                <a:off x="5338967" y="1951474"/>
                <a:ext cx="1239098" cy="431951"/>
                <a:chOff x="5323827" y="2059450"/>
                <a:chExt cx="1239098" cy="393900"/>
              </a:xfrm>
            </p:grpSpPr>
            <p:sp>
              <p:nvSpPr>
                <p:cNvPr id="710" name="Google Shape;710;p51"/>
                <p:cNvSpPr/>
                <p:nvPr/>
              </p:nvSpPr>
              <p:spPr>
                <a:xfrm rot="10800000">
                  <a:off x="5323827"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11" name="Google Shape;711;p51"/>
                <p:cNvSpPr/>
                <p:nvPr/>
              </p:nvSpPr>
              <p:spPr>
                <a:xfrm rot="10800000">
                  <a:off x="5587843"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12" name="Google Shape;712;p51"/>
                <p:cNvSpPr/>
                <p:nvPr/>
              </p:nvSpPr>
              <p:spPr>
                <a:xfrm rot="10800000">
                  <a:off x="5851881"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13" name="Google Shape;713;p51"/>
                <p:cNvSpPr/>
                <p:nvPr/>
              </p:nvSpPr>
              <p:spPr>
                <a:xfrm rot="10800000">
                  <a:off x="6115898"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14" name="Google Shape;714;p51"/>
                <p:cNvSpPr/>
                <p:nvPr/>
              </p:nvSpPr>
              <p:spPr>
                <a:xfrm rot="10800000">
                  <a:off x="6379925" y="2059450"/>
                  <a:ext cx="183000" cy="393900"/>
                </a:xfrm>
                <a:prstGeom prst="rect">
                  <a:avLst/>
                </a:prstGeom>
                <a:solidFill>
                  <a:srgbClr val="0B5394"/>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grpSp>
          <p:sp>
            <p:nvSpPr>
              <p:cNvPr id="715" name="Google Shape;715;p51"/>
              <p:cNvSpPr txBox="1"/>
              <p:nvPr/>
            </p:nvSpPr>
            <p:spPr>
              <a:xfrm>
                <a:off x="5797880" y="230341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sp>
            <p:nvSpPr>
              <p:cNvPr id="716" name="Google Shape;716;p51"/>
              <p:cNvSpPr txBox="1"/>
              <p:nvPr/>
            </p:nvSpPr>
            <p:spPr>
              <a:xfrm>
                <a:off x="6072200" y="2303410"/>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sp>
            <p:nvSpPr>
              <p:cNvPr id="717" name="Google Shape;717;p51"/>
              <p:cNvSpPr txBox="1"/>
              <p:nvPr/>
            </p:nvSpPr>
            <p:spPr>
              <a:xfrm>
                <a:off x="6328010" y="230090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Sᵢⱼ</a:t>
                </a:r>
                <a:endParaRPr/>
              </a:p>
            </p:txBody>
          </p:sp>
        </p:grpSp>
      </p:grpSp>
      <p:sp>
        <p:nvSpPr>
          <p:cNvPr id="660" name="Google Shape;660;p51"/>
          <p:cNvSpPr/>
          <p:nvPr/>
        </p:nvSpPr>
        <p:spPr>
          <a:xfrm>
            <a:off x="5398775" y="1355875"/>
            <a:ext cx="1859700" cy="2688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Transformer Encoder</a:t>
            </a:r>
            <a:endParaRPr/>
          </a:p>
        </p:txBody>
      </p:sp>
      <p:sp>
        <p:nvSpPr>
          <p:cNvPr id="690" name="Google Shape;690;p51"/>
          <p:cNvSpPr txBox="1"/>
          <p:nvPr/>
        </p:nvSpPr>
        <p:spPr>
          <a:xfrm>
            <a:off x="7419375" y="365875"/>
            <a:ext cx="1538100" cy="400200"/>
          </a:xfrm>
          <a:prstGeom prst="rect">
            <a:avLst/>
          </a:prstGeom>
          <a:solidFill>
            <a:schemeClr val="lt2"/>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a:t>Linear Projection </a:t>
            </a:r>
            <a:endParaRPr/>
          </a:p>
        </p:txBody>
      </p:sp>
      <p:sp>
        <p:nvSpPr>
          <p:cNvPr id="718" name="Google Shape;718;p51"/>
          <p:cNvSpPr txBox="1"/>
          <p:nvPr/>
        </p:nvSpPr>
        <p:spPr>
          <a:xfrm>
            <a:off x="1993104" y="4373613"/>
            <a:ext cx="1281600" cy="54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Integrated Event Embedding Hᵢⱼ</a:t>
            </a:r>
            <a:endParaRPr sz="1100">
              <a:solidFill>
                <a:schemeClr val="dk1"/>
              </a:solidFill>
            </a:endParaRPr>
          </a:p>
        </p:txBody>
      </p:sp>
      <p:grpSp>
        <p:nvGrpSpPr>
          <p:cNvPr id="719" name="Google Shape;719;p51"/>
          <p:cNvGrpSpPr/>
          <p:nvPr/>
        </p:nvGrpSpPr>
        <p:grpSpPr>
          <a:xfrm>
            <a:off x="3327631" y="4498118"/>
            <a:ext cx="651693" cy="161108"/>
            <a:chOff x="5183099" y="3519050"/>
            <a:chExt cx="827651" cy="204607"/>
          </a:xfrm>
        </p:grpSpPr>
        <p:sp>
          <p:nvSpPr>
            <p:cNvPr id="720" name="Google Shape;720;p51"/>
            <p:cNvSpPr/>
            <p:nvPr/>
          </p:nvSpPr>
          <p:spPr>
            <a:xfrm rot="5400000">
              <a:off x="5262299" y="3439850"/>
              <a:ext cx="204600" cy="363000"/>
            </a:xfrm>
            <a:prstGeom prst="rect">
              <a:avLst/>
            </a:prstGeom>
            <a:solidFill>
              <a:srgbClr val="6AA84F"/>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721" name="Google Shape;721;p51"/>
            <p:cNvSpPr/>
            <p:nvPr/>
          </p:nvSpPr>
          <p:spPr>
            <a:xfrm rot="5400000">
              <a:off x="5535070" y="3530155"/>
              <a:ext cx="204600" cy="182400"/>
            </a:xfrm>
            <a:prstGeom prst="rect">
              <a:avLst/>
            </a:prstGeom>
            <a:solidFill>
              <a:srgbClr val="A2C4C9"/>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722" name="Google Shape;722;p51"/>
            <p:cNvSpPr/>
            <p:nvPr/>
          </p:nvSpPr>
          <p:spPr>
            <a:xfrm rot="5400000">
              <a:off x="5673900" y="3576355"/>
              <a:ext cx="204600" cy="90000"/>
            </a:xfrm>
            <a:prstGeom prst="rect">
              <a:avLst/>
            </a:prstGeom>
            <a:solidFill>
              <a:srgbClr val="A4C2F4"/>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723" name="Google Shape;723;p51"/>
            <p:cNvSpPr/>
            <p:nvPr/>
          </p:nvSpPr>
          <p:spPr>
            <a:xfrm rot="5400000">
              <a:off x="5813650" y="3526557"/>
              <a:ext cx="204600" cy="189600"/>
            </a:xfrm>
            <a:prstGeom prst="rect">
              <a:avLst/>
            </a:prstGeom>
            <a:solidFill>
              <a:srgbClr val="F9CB9C"/>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grpSp>
      <p:sp>
        <p:nvSpPr>
          <p:cNvPr id="688" name="Google Shape;688;p51"/>
          <p:cNvSpPr txBox="1"/>
          <p:nvPr/>
        </p:nvSpPr>
        <p:spPr>
          <a:xfrm>
            <a:off x="4454163" y="4554550"/>
            <a:ext cx="657600" cy="400200"/>
          </a:xfrm>
          <a:prstGeom prst="rect">
            <a:avLst/>
          </a:prstGeom>
          <a:solidFill>
            <a:schemeClr val="lt2"/>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a:t>MLP</a:t>
            </a:r>
            <a:endParaRPr/>
          </a:p>
        </p:txBody>
      </p:sp>
      <p:cxnSp>
        <p:nvCxnSpPr>
          <p:cNvPr id="724" name="Google Shape;724;p51"/>
          <p:cNvCxnSpPr>
            <a:stCxn id="688" idx="3"/>
            <a:endCxn id="725" idx="2"/>
          </p:cNvCxnSpPr>
          <p:nvPr/>
        </p:nvCxnSpPr>
        <p:spPr>
          <a:xfrm flipH="1" rot="10800000">
            <a:off x="5111763" y="4466650"/>
            <a:ext cx="278100" cy="288000"/>
          </a:xfrm>
          <a:prstGeom prst="bentConnector2">
            <a:avLst/>
          </a:prstGeom>
          <a:noFill/>
          <a:ln cap="flat" cmpd="sng" w="9525">
            <a:solidFill>
              <a:schemeClr val="dk2"/>
            </a:solidFill>
            <a:prstDash val="solid"/>
            <a:round/>
            <a:headEnd len="med" w="med" type="none"/>
            <a:tailEnd len="med" w="med" type="triangle"/>
          </a:ln>
        </p:spPr>
      </p:cxnSp>
      <p:sp>
        <p:nvSpPr>
          <p:cNvPr id="726" name="Google Shape;726;p51"/>
          <p:cNvSpPr/>
          <p:nvPr/>
        </p:nvSpPr>
        <p:spPr>
          <a:xfrm>
            <a:off x="5144978" y="3807974"/>
            <a:ext cx="204600" cy="6588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27" name="Google Shape;727;p51"/>
          <p:cNvGrpSpPr/>
          <p:nvPr/>
        </p:nvGrpSpPr>
        <p:grpSpPr>
          <a:xfrm>
            <a:off x="3327631" y="4695268"/>
            <a:ext cx="651693" cy="161108"/>
            <a:chOff x="5183099" y="3519050"/>
            <a:chExt cx="827651" cy="204607"/>
          </a:xfrm>
        </p:grpSpPr>
        <p:sp>
          <p:nvSpPr>
            <p:cNvPr id="728" name="Google Shape;728;p51"/>
            <p:cNvSpPr/>
            <p:nvPr/>
          </p:nvSpPr>
          <p:spPr>
            <a:xfrm rot="5400000">
              <a:off x="5262299" y="3439850"/>
              <a:ext cx="204600" cy="363000"/>
            </a:xfrm>
            <a:prstGeom prst="rect">
              <a:avLst/>
            </a:prstGeom>
            <a:solidFill>
              <a:srgbClr val="6AA84F"/>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729" name="Google Shape;729;p51"/>
            <p:cNvSpPr/>
            <p:nvPr/>
          </p:nvSpPr>
          <p:spPr>
            <a:xfrm rot="5400000">
              <a:off x="5535070" y="3530155"/>
              <a:ext cx="204600" cy="182400"/>
            </a:xfrm>
            <a:prstGeom prst="rect">
              <a:avLst/>
            </a:prstGeom>
            <a:solidFill>
              <a:srgbClr val="A2C4C9"/>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730" name="Google Shape;730;p51"/>
            <p:cNvSpPr/>
            <p:nvPr/>
          </p:nvSpPr>
          <p:spPr>
            <a:xfrm rot="5400000">
              <a:off x="5673900" y="3576355"/>
              <a:ext cx="204600" cy="90000"/>
            </a:xfrm>
            <a:prstGeom prst="rect">
              <a:avLst/>
            </a:prstGeom>
            <a:solidFill>
              <a:srgbClr val="A4C2F4"/>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sp>
          <p:nvSpPr>
            <p:cNvPr id="731" name="Google Shape;731;p51"/>
            <p:cNvSpPr/>
            <p:nvPr/>
          </p:nvSpPr>
          <p:spPr>
            <a:xfrm rot="5400000">
              <a:off x="5813650" y="3526557"/>
              <a:ext cx="204600" cy="189600"/>
            </a:xfrm>
            <a:prstGeom prst="rect">
              <a:avLst/>
            </a:prstGeom>
            <a:solidFill>
              <a:srgbClr val="F9CB9C"/>
            </a:solidFill>
            <a:ln cap="flat" cmpd="sng" w="7500">
              <a:solidFill>
                <a:schemeClr val="dk2"/>
              </a:solidFill>
              <a:prstDash val="solid"/>
              <a:round/>
              <a:headEnd len="sm" w="sm" type="none"/>
              <a:tailEnd len="sm" w="sm" type="none"/>
            </a:ln>
            <a:effectLst>
              <a:reflection blurRad="0" dir="5400000" dist="37501" endA="0" endPos="30000" fadeDir="5400012" kx="0" rotWithShape="0" algn="bl" stPos="0" sy="-100000" ky="0"/>
            </a:effectLst>
          </p:spPr>
          <p:txBody>
            <a:bodyPr anchorCtr="0" anchor="ctr" bIns="71975" lIns="71975" spcFirstLastPara="1" rIns="71975" wrap="square" tIns="71975">
              <a:noAutofit/>
            </a:bodyPr>
            <a:lstStyle/>
            <a:p>
              <a:pPr indent="0" lvl="0" marL="0" rtl="0" algn="ctr">
                <a:spcBef>
                  <a:spcPts val="0"/>
                </a:spcBef>
                <a:spcAft>
                  <a:spcPts val="0"/>
                </a:spcAft>
                <a:buNone/>
              </a:pPr>
              <a:r>
                <a:t/>
              </a:r>
              <a:endParaRPr sz="1102"/>
            </a:p>
          </p:txBody>
        </p:sp>
      </p:grpSp>
      <p:sp>
        <p:nvSpPr>
          <p:cNvPr id="732" name="Google Shape;732;p51"/>
          <p:cNvSpPr txBox="1"/>
          <p:nvPr/>
        </p:nvSpPr>
        <p:spPr>
          <a:xfrm rot="5400000">
            <a:off x="3532840" y="4846240"/>
            <a:ext cx="375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a:t>
            </a:r>
            <a:endParaRPr/>
          </a:p>
        </p:txBody>
      </p:sp>
      <p:sp>
        <p:nvSpPr>
          <p:cNvPr id="733" name="Google Shape;733;p51"/>
          <p:cNvSpPr/>
          <p:nvPr/>
        </p:nvSpPr>
        <p:spPr>
          <a:xfrm>
            <a:off x="5415328" y="3807974"/>
            <a:ext cx="204600" cy="6588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4" name="Google Shape;734;p51"/>
          <p:cNvSpPr/>
          <p:nvPr/>
        </p:nvSpPr>
        <p:spPr>
          <a:xfrm>
            <a:off x="4874628" y="3807974"/>
            <a:ext cx="204600" cy="6588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5" name="Google Shape;735;p51"/>
          <p:cNvSpPr/>
          <p:nvPr/>
        </p:nvSpPr>
        <p:spPr>
          <a:xfrm>
            <a:off x="5826492" y="3807974"/>
            <a:ext cx="204600" cy="6588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6" name="Google Shape;736;p51"/>
          <p:cNvSpPr txBox="1"/>
          <p:nvPr/>
        </p:nvSpPr>
        <p:spPr>
          <a:xfrm>
            <a:off x="4634825" y="3391675"/>
            <a:ext cx="1631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Fused Embedding Fᵢⱼ</a:t>
            </a:r>
            <a:endParaRPr sz="1200">
              <a:solidFill>
                <a:schemeClr val="dk1"/>
              </a:solidFill>
            </a:endParaRPr>
          </a:p>
        </p:txBody>
      </p:sp>
      <p:sp>
        <p:nvSpPr>
          <p:cNvPr id="725" name="Google Shape;725;p51"/>
          <p:cNvSpPr/>
          <p:nvPr/>
        </p:nvSpPr>
        <p:spPr>
          <a:xfrm>
            <a:off x="5287453" y="3807974"/>
            <a:ext cx="204600" cy="65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7" name="Google Shape;737;p51"/>
          <p:cNvSpPr txBox="1"/>
          <p:nvPr/>
        </p:nvSpPr>
        <p:spPr>
          <a:xfrm>
            <a:off x="5541075" y="3934565"/>
            <a:ext cx="375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a:t>
            </a:r>
            <a:endParaRPr/>
          </a:p>
        </p:txBody>
      </p:sp>
      <p:sp>
        <p:nvSpPr>
          <p:cNvPr id="738" name="Google Shape;738;p51"/>
          <p:cNvSpPr txBox="1"/>
          <p:nvPr/>
        </p:nvSpPr>
        <p:spPr>
          <a:xfrm>
            <a:off x="6145021" y="4003675"/>
            <a:ext cx="383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Fᵢⱼ</a:t>
            </a:r>
            <a:endParaRPr sz="1200">
              <a:solidFill>
                <a:schemeClr val="dk1"/>
              </a:solidFill>
            </a:endParaRPr>
          </a:p>
        </p:txBody>
      </p:sp>
      <p:cxnSp>
        <p:nvCxnSpPr>
          <p:cNvPr id="739" name="Google Shape;739;p51"/>
          <p:cNvCxnSpPr>
            <a:stCxn id="738" idx="0"/>
            <a:endCxn id="658" idx="2"/>
          </p:cNvCxnSpPr>
          <p:nvPr/>
        </p:nvCxnSpPr>
        <p:spPr>
          <a:xfrm rot="10800000">
            <a:off x="6328471" y="3212875"/>
            <a:ext cx="8400" cy="790800"/>
          </a:xfrm>
          <a:prstGeom prst="straightConnector1">
            <a:avLst/>
          </a:prstGeom>
          <a:noFill/>
          <a:ln cap="flat" cmpd="sng" w="9525">
            <a:solidFill>
              <a:schemeClr val="dk2"/>
            </a:solidFill>
            <a:prstDash val="solid"/>
            <a:round/>
            <a:headEnd len="med" w="med" type="none"/>
            <a:tailEnd len="med" w="med" type="triangle"/>
          </a:ln>
        </p:spPr>
      </p:cxnSp>
      <p:sp>
        <p:nvSpPr>
          <p:cNvPr id="740" name="Google Shape;740;p51"/>
          <p:cNvSpPr txBox="1"/>
          <p:nvPr/>
        </p:nvSpPr>
        <p:spPr>
          <a:xfrm>
            <a:off x="5664304" y="763874"/>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741" name="Google Shape;741;p51"/>
          <p:cNvSpPr txBox="1"/>
          <p:nvPr/>
        </p:nvSpPr>
        <p:spPr>
          <a:xfrm>
            <a:off x="5923604" y="766099"/>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grpSp>
        <p:nvGrpSpPr>
          <p:cNvPr id="742" name="Google Shape;742;p51"/>
          <p:cNvGrpSpPr/>
          <p:nvPr/>
        </p:nvGrpSpPr>
        <p:grpSpPr>
          <a:xfrm>
            <a:off x="5712666" y="414158"/>
            <a:ext cx="1239098" cy="431951"/>
            <a:chOff x="5323827" y="2059450"/>
            <a:chExt cx="1239098" cy="393900"/>
          </a:xfrm>
        </p:grpSpPr>
        <p:sp>
          <p:nvSpPr>
            <p:cNvPr id="743" name="Google Shape;743;p51"/>
            <p:cNvSpPr/>
            <p:nvPr/>
          </p:nvSpPr>
          <p:spPr>
            <a:xfrm rot="10800000">
              <a:off x="5323827"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44" name="Google Shape;744;p51"/>
            <p:cNvSpPr/>
            <p:nvPr/>
          </p:nvSpPr>
          <p:spPr>
            <a:xfrm rot="10800000">
              <a:off x="5587843"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45" name="Google Shape;745;p51"/>
            <p:cNvSpPr/>
            <p:nvPr/>
          </p:nvSpPr>
          <p:spPr>
            <a:xfrm rot="10800000">
              <a:off x="5851881"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46" name="Google Shape;746;p51"/>
            <p:cNvSpPr/>
            <p:nvPr/>
          </p:nvSpPr>
          <p:spPr>
            <a:xfrm rot="10800000">
              <a:off x="6115898"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47" name="Google Shape;747;p51"/>
            <p:cNvSpPr/>
            <p:nvPr/>
          </p:nvSpPr>
          <p:spPr>
            <a:xfrm rot="10800000">
              <a:off x="6379925" y="2059450"/>
              <a:ext cx="183000" cy="393900"/>
            </a:xfrm>
            <a:prstGeom prst="rect">
              <a:avLst/>
            </a:prstGeom>
            <a:solidFill>
              <a:srgbClr val="3D85C6"/>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grpSp>
      <p:sp>
        <p:nvSpPr>
          <p:cNvPr id="748" name="Google Shape;748;p51"/>
          <p:cNvSpPr txBox="1"/>
          <p:nvPr/>
        </p:nvSpPr>
        <p:spPr>
          <a:xfrm>
            <a:off x="6171579" y="766099"/>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749" name="Google Shape;749;p51"/>
          <p:cNvSpPr txBox="1"/>
          <p:nvPr/>
        </p:nvSpPr>
        <p:spPr>
          <a:xfrm>
            <a:off x="6445899" y="766094"/>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750" name="Google Shape;750;p51"/>
          <p:cNvSpPr txBox="1"/>
          <p:nvPr/>
        </p:nvSpPr>
        <p:spPr>
          <a:xfrm>
            <a:off x="6701709" y="763589"/>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751" name="Google Shape;751;p51"/>
          <p:cNvSpPr txBox="1"/>
          <p:nvPr/>
        </p:nvSpPr>
        <p:spPr>
          <a:xfrm>
            <a:off x="3902013" y="444000"/>
            <a:ext cx="1761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Feature Embedding Eᵢⱼ</a:t>
            </a:r>
            <a:endParaRPr sz="1100">
              <a:solidFill>
                <a:schemeClr val="dk1"/>
              </a:solidFill>
            </a:endParaRPr>
          </a:p>
        </p:txBody>
      </p:sp>
      <p:grpSp>
        <p:nvGrpSpPr>
          <p:cNvPr id="752" name="Google Shape;752;p51"/>
          <p:cNvGrpSpPr/>
          <p:nvPr/>
        </p:nvGrpSpPr>
        <p:grpSpPr>
          <a:xfrm>
            <a:off x="7524106" y="925174"/>
            <a:ext cx="1358705" cy="961800"/>
            <a:chOff x="5290605" y="1744981"/>
            <a:chExt cx="1358705" cy="961800"/>
          </a:xfrm>
        </p:grpSpPr>
        <p:sp>
          <p:nvSpPr>
            <p:cNvPr id="753" name="Google Shape;753;p51"/>
            <p:cNvSpPr txBox="1"/>
            <p:nvPr/>
          </p:nvSpPr>
          <p:spPr>
            <a:xfrm>
              <a:off x="5290605" y="2293570"/>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754" name="Google Shape;754;p51"/>
            <p:cNvSpPr txBox="1"/>
            <p:nvPr/>
          </p:nvSpPr>
          <p:spPr>
            <a:xfrm>
              <a:off x="5549905" y="229579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grpSp>
          <p:nvGrpSpPr>
            <p:cNvPr id="755" name="Google Shape;755;p51"/>
            <p:cNvGrpSpPr/>
            <p:nvPr/>
          </p:nvGrpSpPr>
          <p:grpSpPr>
            <a:xfrm>
              <a:off x="5298225" y="1744981"/>
              <a:ext cx="1351085" cy="961800"/>
              <a:chOff x="5298225" y="1752601"/>
              <a:chExt cx="1351085" cy="961800"/>
            </a:xfrm>
          </p:grpSpPr>
          <p:sp>
            <p:nvSpPr>
              <p:cNvPr id="756" name="Google Shape;756;p51"/>
              <p:cNvSpPr/>
              <p:nvPr/>
            </p:nvSpPr>
            <p:spPr>
              <a:xfrm rot="5400000">
                <a:off x="5474025" y="1576801"/>
                <a:ext cx="961800" cy="13134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57" name="Google Shape;757;p51"/>
              <p:cNvGrpSpPr/>
              <p:nvPr/>
            </p:nvGrpSpPr>
            <p:grpSpPr>
              <a:xfrm>
                <a:off x="5338967" y="1951474"/>
                <a:ext cx="1239098" cy="431951"/>
                <a:chOff x="5323827" y="2059450"/>
                <a:chExt cx="1239098" cy="393900"/>
              </a:xfrm>
            </p:grpSpPr>
            <p:sp>
              <p:nvSpPr>
                <p:cNvPr id="758" name="Google Shape;758;p51"/>
                <p:cNvSpPr/>
                <p:nvPr/>
              </p:nvSpPr>
              <p:spPr>
                <a:xfrm rot="10800000">
                  <a:off x="5323827"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59" name="Google Shape;759;p51"/>
                <p:cNvSpPr/>
                <p:nvPr/>
              </p:nvSpPr>
              <p:spPr>
                <a:xfrm rot="10800000">
                  <a:off x="5587843"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60" name="Google Shape;760;p51"/>
                <p:cNvSpPr/>
                <p:nvPr/>
              </p:nvSpPr>
              <p:spPr>
                <a:xfrm rot="10800000">
                  <a:off x="5851881"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61" name="Google Shape;761;p51"/>
                <p:cNvSpPr/>
                <p:nvPr/>
              </p:nvSpPr>
              <p:spPr>
                <a:xfrm rot="10800000">
                  <a:off x="6115898"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sp>
              <p:nvSpPr>
                <p:cNvPr id="762" name="Google Shape;762;p51"/>
                <p:cNvSpPr/>
                <p:nvPr/>
              </p:nvSpPr>
              <p:spPr>
                <a:xfrm rot="10800000">
                  <a:off x="6379925" y="2059450"/>
                  <a:ext cx="183000" cy="393900"/>
                </a:xfrm>
                <a:prstGeom prst="rect">
                  <a:avLst/>
                </a:prstGeom>
                <a:solidFill>
                  <a:srgbClr val="EA9999"/>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grpSp>
          <p:sp>
            <p:nvSpPr>
              <p:cNvPr id="763" name="Google Shape;763;p51"/>
              <p:cNvSpPr txBox="1"/>
              <p:nvPr/>
            </p:nvSpPr>
            <p:spPr>
              <a:xfrm>
                <a:off x="5797880" y="230341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764" name="Google Shape;764;p51"/>
              <p:cNvSpPr txBox="1"/>
              <p:nvPr/>
            </p:nvSpPr>
            <p:spPr>
              <a:xfrm>
                <a:off x="6072200" y="2303410"/>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sp>
            <p:nvSpPr>
              <p:cNvPr id="765" name="Google Shape;765;p51"/>
              <p:cNvSpPr txBox="1"/>
              <p:nvPr/>
            </p:nvSpPr>
            <p:spPr>
              <a:xfrm>
                <a:off x="6328010" y="2300905"/>
                <a:ext cx="3213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100">
                    <a:solidFill>
                      <a:schemeClr val="dk1"/>
                    </a:solidFill>
                  </a:rPr>
                  <a:t>eᵢⱼ</a:t>
                </a:r>
                <a:endParaRPr/>
              </a:p>
            </p:txBody>
          </p:sp>
        </p:grpSp>
      </p:grpSp>
      <p:cxnSp>
        <p:nvCxnSpPr>
          <p:cNvPr id="766" name="Google Shape;766;p51"/>
          <p:cNvCxnSpPr>
            <a:stCxn id="690" idx="2"/>
            <a:endCxn id="756" idx="1"/>
          </p:cNvCxnSpPr>
          <p:nvPr/>
        </p:nvCxnSpPr>
        <p:spPr>
          <a:xfrm>
            <a:off x="8188425" y="766075"/>
            <a:ext cx="0" cy="159000"/>
          </a:xfrm>
          <a:prstGeom prst="straightConnector1">
            <a:avLst/>
          </a:prstGeom>
          <a:noFill/>
          <a:ln cap="flat" cmpd="sng" w="9525">
            <a:solidFill>
              <a:schemeClr val="dk2"/>
            </a:solidFill>
            <a:prstDash val="solid"/>
            <a:round/>
            <a:headEnd len="med" w="med" type="none"/>
            <a:tailEnd len="med" w="med" type="triangle"/>
          </a:ln>
        </p:spPr>
      </p:cxnSp>
      <p:sp>
        <p:nvSpPr>
          <p:cNvPr id="767" name="Google Shape;767;p51"/>
          <p:cNvSpPr txBox="1"/>
          <p:nvPr/>
        </p:nvSpPr>
        <p:spPr>
          <a:xfrm>
            <a:off x="7458513" y="1824346"/>
            <a:ext cx="1459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t>emission scores e</a:t>
            </a:r>
            <a:r>
              <a:rPr lang="zh-TW" sz="1100">
                <a:solidFill>
                  <a:schemeClr val="dk1"/>
                </a:solidFill>
              </a:rPr>
              <a:t>ᵢⱼ</a:t>
            </a:r>
            <a:endParaRPr sz="1200"/>
          </a:p>
        </p:txBody>
      </p:sp>
      <p:sp>
        <p:nvSpPr>
          <p:cNvPr id="768" name="Google Shape;768;p51"/>
          <p:cNvSpPr/>
          <p:nvPr/>
        </p:nvSpPr>
        <p:spPr>
          <a:xfrm>
            <a:off x="8341875" y="2259000"/>
            <a:ext cx="615600" cy="26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1200"/>
              <a:t>CRF</a:t>
            </a:r>
            <a:endParaRPr sz="1200"/>
          </a:p>
        </p:txBody>
      </p:sp>
      <p:cxnSp>
        <p:nvCxnSpPr>
          <p:cNvPr id="769" name="Google Shape;769;p51"/>
          <p:cNvCxnSpPr>
            <a:stCxn id="767" idx="1"/>
            <a:endCxn id="770" idx="1"/>
          </p:cNvCxnSpPr>
          <p:nvPr/>
        </p:nvCxnSpPr>
        <p:spPr>
          <a:xfrm>
            <a:off x="7458513" y="2008996"/>
            <a:ext cx="24600" cy="384300"/>
          </a:xfrm>
          <a:prstGeom prst="bentConnector3">
            <a:avLst>
              <a:gd fmla="val -967988" name="adj1"/>
            </a:avLst>
          </a:prstGeom>
          <a:noFill/>
          <a:ln cap="flat" cmpd="sng" w="9525">
            <a:solidFill>
              <a:schemeClr val="dk2"/>
            </a:solidFill>
            <a:prstDash val="solid"/>
            <a:round/>
            <a:headEnd len="med" w="med" type="none"/>
            <a:tailEnd len="med" w="med" type="triangle"/>
          </a:ln>
        </p:spPr>
      </p:cxnSp>
      <p:cxnSp>
        <p:nvCxnSpPr>
          <p:cNvPr id="771" name="Google Shape;771;p51"/>
          <p:cNvCxnSpPr>
            <a:stCxn id="768" idx="2"/>
            <a:endCxn id="772" idx="2"/>
          </p:cNvCxnSpPr>
          <p:nvPr/>
        </p:nvCxnSpPr>
        <p:spPr>
          <a:xfrm>
            <a:off x="8649675" y="2527800"/>
            <a:ext cx="0" cy="187200"/>
          </a:xfrm>
          <a:prstGeom prst="straightConnector1">
            <a:avLst/>
          </a:prstGeom>
          <a:noFill/>
          <a:ln cap="flat" cmpd="sng" w="9525">
            <a:solidFill>
              <a:schemeClr val="dk2"/>
            </a:solidFill>
            <a:prstDash val="solid"/>
            <a:round/>
            <a:headEnd len="med" w="med" type="none"/>
            <a:tailEnd len="med" w="med" type="triangle"/>
          </a:ln>
        </p:spPr>
      </p:cxnSp>
      <p:sp>
        <p:nvSpPr>
          <p:cNvPr id="773" name="Google Shape;773;p51"/>
          <p:cNvSpPr txBox="1"/>
          <p:nvPr/>
        </p:nvSpPr>
        <p:spPr>
          <a:xfrm>
            <a:off x="7350750" y="2609488"/>
            <a:ext cx="1160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200">
                <a:solidFill>
                  <a:schemeClr val="dk1"/>
                </a:solidFill>
              </a:rPr>
              <a:t>Predicted tag </a:t>
            </a:r>
            <a:endParaRPr sz="1200">
              <a:solidFill>
                <a:schemeClr val="dk1"/>
              </a:solidFill>
            </a:endParaRPr>
          </a:p>
          <a:p>
            <a:pPr indent="0" lvl="0" marL="0" rtl="0" algn="ctr">
              <a:spcBef>
                <a:spcPts val="0"/>
              </a:spcBef>
              <a:spcAft>
                <a:spcPts val="0"/>
              </a:spcAft>
              <a:buNone/>
            </a:pPr>
            <a:r>
              <a:rPr lang="zh-TW" sz="1200">
                <a:solidFill>
                  <a:schemeClr val="dk1"/>
                </a:solidFill>
              </a:rPr>
              <a:t>sequence</a:t>
            </a:r>
            <a:endParaRPr sz="1200">
              <a:solidFill>
                <a:schemeClr val="dk1"/>
              </a:solidFill>
            </a:endParaRPr>
          </a:p>
        </p:txBody>
      </p:sp>
      <p:sp>
        <p:nvSpPr>
          <p:cNvPr id="772" name="Google Shape;772;p51"/>
          <p:cNvSpPr/>
          <p:nvPr/>
        </p:nvSpPr>
        <p:spPr>
          <a:xfrm rot="10800000">
            <a:off x="8558167" y="2714999"/>
            <a:ext cx="183000" cy="432000"/>
          </a:xfrm>
          <a:prstGeom prst="rect">
            <a:avLst/>
          </a:prstGeom>
          <a:solidFill>
            <a:srgbClr val="CC0000"/>
          </a:solidFill>
          <a:ln cap="flat" cmpd="sng" w="8525">
            <a:solidFill>
              <a:schemeClr val="dk2"/>
            </a:solidFill>
            <a:prstDash val="solid"/>
            <a:round/>
            <a:headEnd len="sm" w="sm" type="none"/>
            <a:tailEnd len="sm" w="sm" type="none"/>
          </a:ln>
        </p:spPr>
        <p:txBody>
          <a:bodyPr anchorCtr="0" anchor="ctr" bIns="81725" lIns="81725" spcFirstLastPara="1" rIns="81725" wrap="square" tIns="81725">
            <a:noAutofit/>
          </a:bodyPr>
          <a:lstStyle/>
          <a:p>
            <a:pPr indent="0" lvl="0" marL="0" rtl="0" algn="ctr">
              <a:spcBef>
                <a:spcPts val="0"/>
              </a:spcBef>
              <a:spcAft>
                <a:spcPts val="0"/>
              </a:spcAft>
              <a:buNone/>
            </a:pPr>
            <a:r>
              <a:t/>
            </a:r>
            <a:endParaRPr sz="1252"/>
          </a:p>
        </p:txBody>
      </p:sp>
      <p:cxnSp>
        <p:nvCxnSpPr>
          <p:cNvPr id="774" name="Google Shape;774;p51"/>
          <p:cNvCxnSpPr>
            <a:endCxn id="772" idx="3"/>
          </p:cNvCxnSpPr>
          <p:nvPr/>
        </p:nvCxnSpPr>
        <p:spPr>
          <a:xfrm>
            <a:off x="8403667" y="2930699"/>
            <a:ext cx="154500" cy="300"/>
          </a:xfrm>
          <a:prstGeom prst="straightConnector1">
            <a:avLst/>
          </a:prstGeom>
          <a:noFill/>
          <a:ln cap="flat" cmpd="sng" w="9525">
            <a:solidFill>
              <a:schemeClr val="dk2"/>
            </a:solidFill>
            <a:prstDash val="solid"/>
            <a:round/>
            <a:headEnd len="med" w="med" type="none"/>
            <a:tailEnd len="med" w="med" type="none"/>
          </a:ln>
        </p:spPr>
      </p:cxnSp>
      <p:sp>
        <p:nvSpPr>
          <p:cNvPr id="770" name="Google Shape;770;p51"/>
          <p:cNvSpPr/>
          <p:nvPr/>
        </p:nvSpPr>
        <p:spPr>
          <a:xfrm>
            <a:off x="7483000" y="2259000"/>
            <a:ext cx="697800" cy="26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sz="1200"/>
              <a:t>O-Bias</a:t>
            </a:r>
            <a:endParaRPr sz="1200"/>
          </a:p>
        </p:txBody>
      </p:sp>
      <p:cxnSp>
        <p:nvCxnSpPr>
          <p:cNvPr id="775" name="Google Shape;775;p51"/>
          <p:cNvCxnSpPr>
            <a:stCxn id="770" idx="3"/>
            <a:endCxn id="768" idx="1"/>
          </p:cNvCxnSpPr>
          <p:nvPr/>
        </p:nvCxnSpPr>
        <p:spPr>
          <a:xfrm>
            <a:off x="8180800" y="2393400"/>
            <a:ext cx="161100" cy="0"/>
          </a:xfrm>
          <a:prstGeom prst="straightConnector1">
            <a:avLst/>
          </a:prstGeom>
          <a:noFill/>
          <a:ln cap="flat" cmpd="sng" w="9525">
            <a:solidFill>
              <a:schemeClr val="dk2"/>
            </a:solidFill>
            <a:prstDash val="solid"/>
            <a:round/>
            <a:headEnd len="med" w="med" type="none"/>
            <a:tailEnd len="med" w="med" type="triangle"/>
          </a:ln>
        </p:spPr>
      </p:cxnSp>
      <p:sp>
        <p:nvSpPr>
          <p:cNvPr id="776" name="Google Shape;77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0" name="Shape 780"/>
        <p:cNvGrpSpPr/>
        <p:nvPr/>
      </p:nvGrpSpPr>
      <p:grpSpPr>
        <a:xfrm>
          <a:off x="0" y="0"/>
          <a:ext cx="0" cy="0"/>
          <a:chOff x="0" y="0"/>
          <a:chExt cx="0" cy="0"/>
        </a:xfrm>
      </p:grpSpPr>
      <p:sp>
        <p:nvSpPr>
          <p:cNvPr id="781" name="Google Shape;781;p52"/>
          <p:cNvSpPr txBox="1"/>
          <p:nvPr>
            <p:ph type="title"/>
          </p:nvPr>
        </p:nvSpPr>
        <p:spPr>
          <a:xfrm>
            <a:off x="311700" y="181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數據評估 - </a:t>
            </a:r>
            <a:r>
              <a:rPr lang="zh-TW"/>
              <a:t>Anomaly Detection</a:t>
            </a:r>
            <a:endParaRPr/>
          </a:p>
        </p:txBody>
      </p:sp>
      <p:sp>
        <p:nvSpPr>
          <p:cNvPr id="782" name="Google Shape;782;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783" name="Google Shape;783;p52"/>
          <p:cNvPicPr preferRelativeResize="0"/>
          <p:nvPr/>
        </p:nvPicPr>
        <p:blipFill>
          <a:blip r:embed="rId3">
            <a:alphaModFix/>
          </a:blip>
          <a:stretch>
            <a:fillRect/>
          </a:stretch>
        </p:blipFill>
        <p:spPr>
          <a:xfrm>
            <a:off x="926525" y="2138825"/>
            <a:ext cx="7290949" cy="2616100"/>
          </a:xfrm>
          <a:prstGeom prst="rect">
            <a:avLst/>
          </a:prstGeom>
          <a:noFill/>
          <a:ln cap="flat" cmpd="sng" w="9525">
            <a:solidFill>
              <a:schemeClr val="dk2"/>
            </a:solidFill>
            <a:prstDash val="solid"/>
            <a:round/>
            <a:headEnd len="sm" w="sm" type="none"/>
            <a:tailEnd len="sm" w="sm" type="none"/>
          </a:ln>
        </p:spPr>
      </p:pic>
      <p:sp>
        <p:nvSpPr>
          <p:cNvPr id="784" name="Google Shape;784;p52"/>
          <p:cNvSpPr txBox="1"/>
          <p:nvPr>
            <p:ph idx="1" type="body"/>
          </p:nvPr>
        </p:nvSpPr>
        <p:spPr>
          <a:xfrm>
            <a:off x="294750" y="754650"/>
            <a:ext cx="8554500" cy="961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t/>
            </a:r>
            <a:endParaRPr sz="1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