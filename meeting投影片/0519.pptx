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2e656eb8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2e656eb8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因為casino每個隊伍有4個機器，而且有140隊，平均一隊產生833,808行log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2e656eb8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2e656eb8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雖然不同 Campaign 之間的 TTP 標籤存在重疊，但由於每個 Campaign 來自不同的威脅行為者（Threat Actor）或是在不同的主機環境中執行，其</a:t>
            </a:r>
            <a:r>
              <a:rPr b="1" lang="zh-TW">
                <a:solidFill>
                  <a:schemeClr val="dk1"/>
                </a:solidFill>
              </a:rPr>
              <a:t>底層的實作細節（Implementation artifacts）如檔案路徑、指令參數及執行順序皆有顯著差異</a:t>
            </a:r>
            <a:r>
              <a:rPr lang="zh-TW">
                <a:solidFill>
                  <a:schemeClr val="dk1"/>
                </a:solidFill>
              </a:rPr>
              <a:t>。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26ba0f8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b26ba0f8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雖然不同 Campaign 之間的 TTP 標籤存在重疊，但由於每個 Campaign 來自不同的威脅行為者（Threat Actor）或是在不同的主機環境中執行，其</a:t>
            </a:r>
            <a:r>
              <a:rPr b="1" lang="zh-TW">
                <a:solidFill>
                  <a:schemeClr val="dk1"/>
                </a:solidFill>
              </a:rPr>
              <a:t>底層的實作細節（Implementation artifacts）如檔案路徑、指令參數及執行順序皆有顯著差異</a:t>
            </a:r>
            <a:r>
              <a:rPr lang="zh-TW">
                <a:solidFill>
                  <a:schemeClr val="dk1"/>
                </a:solidFill>
              </a:rPr>
              <a:t>。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2e656eb8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2e656eb8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細節說明elastic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以event為單位(micro)一個以TTP(macro)為單位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2e656eb8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2e656eb8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OSS 20B</a:t>
            </a:r>
            <a:br>
              <a:rPr lang="zh-TW"/>
            </a:br>
            <a:r>
              <a:rPr lang="zh-TW"/>
              <a:t>分node去獲得敘述(src,dst) 測node的行為</a:t>
            </a:r>
            <a:br>
              <a:rPr lang="zh-TW"/>
            </a:br>
            <a:r>
              <a:rPr lang="zh-TW"/>
              <a:t>把node的正確答案寫在prompt裡面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2e656eb88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2e656eb88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2e656eb88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2e656eb88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2e656eb88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2e656eb88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2e656eb88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2e656eb88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2e656eb88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2e656eb88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e656eb88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2e656eb88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2e656eb8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2e656eb8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e656eb8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e2e656eb8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2e656eb8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2e656eb8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2e656eb8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e2e656eb8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9aca9343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9aca9343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 — 2層雙向 GRU，hidden=128，每層 forward + backward 各輸出 128H，concat 成 256D；初始隱狀態 h₀ 每個 batch 都重新從 N(0,1) 採樣（code 裡的 torch.randn）。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ea27043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ea27043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改attention 前 改multichunk。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ablation study做在其他資料集上。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attention 之中qkv要是誰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Audit log具有強烈的「先後因果關係」。雙向閘門循環單位 (BiGRU) 專門負責捕捉這種相鄰事件的局部依賴性 (Sequential Inductive Bias)。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 block 站在這個基礎上只需要學「哪些遠處的 event 和當前 event 有關」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post_rnn_norm 把 BiGRU 輸出的 activation scale 穩定下來再餵給 attention。</a:t>
            </a:r>
            <a:br>
              <a:rPr lang="zh-TW"/>
            </a:br>
            <a:r>
              <a:rPr lang="zh-TW"/>
              <a:t>Multi-head attention (8 heads)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每個 block 是標準 Pre-LN Transformer（norm 在前），8 heads、d_k=32。rel_pos_bias 作為一個可學習的 [8, T, T] 偏置加到 attention logits 上，讓模型學相對距離而非絕對位置。Pad mask 把 [B, T, 256] 裡的 padding 位置用 -1e9 擋掉，不讓它們參與 attention score 計算。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ab99993d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ab99993d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左右backborn要一樣 inference要用到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LLM加進去 multichunk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ab99993d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ab99993d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eea270432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eea27043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Audit log具有強烈的「先後因果關係」。雙向閘門循環單位 (BiGRU) 專門負責捕捉這種相鄰事件的局部依賴性 (Sequential Inductive Bias)。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Transformer block 站在這個基礎上只需要學「哪些遠處的 event 和當前 event 有關」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post_rnn_norm 把 BiGRU 輸出的 activation scale 穩定下來再餵給 attention。</a:t>
            </a:r>
            <a:br>
              <a:rPr lang="zh-TW"/>
            </a:br>
            <a:r>
              <a:rPr lang="zh-TW"/>
              <a:t>Multi-head attention (8 heads)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每個 block 是標準 Pre-LN Transformer（norm 在前），8 heads、d_k=32。rel_pos_bias 作為一個可學習的 [8, T, T] 偏置加到 attention logits 上，讓模型學相對距離而非絕對位置。Pad mask 把 [B, T, 256] 裡的 padding 位置用 -1e9 擋掉，不讓它們參與 attention score 計算。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2e656eb8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2e656eb8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多任務損失函數 (Multi-task Loss)</a:t>
            </a:r>
            <a:r>
              <a:rPr lang="zh-TW">
                <a:solidFill>
                  <a:schemeClr val="dk1"/>
                </a:solidFill>
              </a:rPr>
              <a:t>：模型同時學習 Tactic、Technique 和 Sub-technique。我們將三者的二元交叉熵 (BCE) 相加作為總損失。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解決類別不平衡 (Focal Loss)</a:t>
            </a:r>
            <a:r>
              <a:rPr lang="zh-TW">
                <a:solidFill>
                  <a:schemeClr val="dk1"/>
                </a:solidFill>
              </a:rPr>
              <a:t>：因為某些攻擊手法非常罕見，我們使用了 </a:t>
            </a:r>
            <a:r>
              <a:rPr b="1" lang="zh-TW">
                <a:solidFill>
                  <a:schemeClr val="dk1"/>
                </a:solidFill>
              </a:rPr>
              <a:t>Focal Loss ($\gamma=2$)</a:t>
            </a:r>
            <a:r>
              <a:rPr lang="zh-TW">
                <a:solidFill>
                  <a:schemeClr val="dk1"/>
                </a:solidFill>
              </a:rPr>
              <a:t>。這會強迫模型更專注於那些難學、少見的樣本，而不是被常見樣本淹沒。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訓練參數</a:t>
            </a:r>
            <a:r>
              <a:rPr lang="zh-TW">
                <a:solidFill>
                  <a:schemeClr val="dk1"/>
                </a:solidFill>
              </a:rPr>
              <a:t>：使用 </a:t>
            </a:r>
            <a:r>
              <a:rPr b="1" lang="zh-TW">
                <a:solidFill>
                  <a:schemeClr val="dk1"/>
                </a:solidFill>
              </a:rPr>
              <a:t>AdamW</a:t>
            </a:r>
            <a:r>
              <a:rPr lang="zh-TW">
                <a:solidFill>
                  <a:schemeClr val="dk1"/>
                </a:solidFill>
              </a:rPr>
              <a:t> 優化器（比一般 Adam 更適合處理權重衰減），學習率設為 $10^{-3}$。隱藏層為 64 維，並使用 40% 的 </a:t>
            </a:r>
            <a:r>
              <a:rPr b="1" lang="zh-TW">
                <a:solidFill>
                  <a:schemeClr val="dk1"/>
                </a:solidFill>
              </a:rPr>
              <a:t>Dropout</a:t>
            </a:r>
            <a:r>
              <a:rPr lang="zh-TW">
                <a:solidFill>
                  <a:schemeClr val="dk1"/>
                </a:solidFill>
              </a:rPr>
              <a:t> 來防止過擬合。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早停機制 (Early Stopping)</a:t>
            </a:r>
            <a:r>
              <a:rPr lang="zh-TW">
                <a:solidFill>
                  <a:schemeClr val="dk1"/>
                </a:solidFill>
              </a:rPr>
              <a:t>：如果訓練損失連續 30 個 Epoch 沒有下降，就停止訓練，避免模型學過頭。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chemeClr val="dk1"/>
                </a:solidFill>
              </a:rPr>
              <a:t>8-fold LOCO 驗證</a:t>
            </a:r>
            <a:r>
              <a:rPr lang="zh-TW">
                <a:solidFill>
                  <a:schemeClr val="dk1"/>
                </a:solidFill>
              </a:rPr>
              <a:t>：這是一種強大的驗證方式，確保模型對於沒看過的攻擊類別（Category）依然有偵測能力，而不只是死背資料。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閾值校準 (Threshold Calibration)</a:t>
            </a:r>
            <a:r>
              <a:rPr lang="zh-TW">
                <a:solidFill>
                  <a:schemeClr val="dk1"/>
                </a:solidFill>
              </a:rPr>
              <a:t>：模型輸出的機率 (0~1) 並不直接代表結果。我們根據每種手法在現實中出現的頻率（Prevalence），為每個類別量身打造最適合的判斷門檻（Threshold），這能顯著提升 F1-score。</a:t>
            </a:r>
            <a:br>
              <a:rPr lang="zh-TW">
                <a:solidFill>
                  <a:schemeClr val="dk1"/>
                </a:solidFill>
              </a:rPr>
            </a:br>
            <a:br>
              <a:rPr lang="zh-TW">
                <a:solidFill>
                  <a:schemeClr val="dk1"/>
                </a:solidFill>
              </a:rPr>
            </a:br>
            <a:r>
              <a:rPr b="1" lang="zh-TW">
                <a:solidFill>
                  <a:schemeClr val="dk1"/>
                </a:solidFill>
              </a:rPr>
              <a:t>8 個 fold，每個 fold 嚴格定義為：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fold C_k: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        test  = 整個 campaign C_k 的所有 unit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        train = 其餘 7 個 campaign 的 union（沒有任何 C_k 的 unit）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e49d54b3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e49d54b3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9aca9343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9aca934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用Trec&amp;zoomer的表達法去做</a:t>
            </a:r>
            <a:r>
              <a:rPr lang="zh-TW">
                <a:solidFill>
                  <a:schemeClr val="dk1"/>
                </a:solidFill>
              </a:rPr>
              <a:t>APT4kellect的實驗設計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用SFM的train法跑我的emb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sheet弄好看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becc574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ebecc574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用Trec&amp;zoomer的表達法去做</a:t>
            </a:r>
            <a:r>
              <a:rPr lang="zh-TW">
                <a:solidFill>
                  <a:schemeClr val="dk1"/>
                </a:solidFill>
              </a:rPr>
              <a:t>APT4kellect的實驗設計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用SFM的train法跑我的emb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sheet弄好看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ea73ab35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ea73ab35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ea73ab358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ea73ab358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eea270432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eea270432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改成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ea73ab35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ea73ab35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表格要改</a:t>
            </a:r>
            <a:br>
              <a:rPr lang="zh-TW"/>
            </a:br>
            <a:r>
              <a:rPr lang="zh-TW"/>
              <a:t> Kairos沒有用trace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ab99993d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eab99993d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表格要改</a:t>
            </a:r>
            <a:br>
              <a:rPr lang="zh-TW"/>
            </a:br>
            <a:r>
              <a:rPr lang="zh-TW"/>
              <a:t> Kairos沒有用trace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a73ab358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a73ab358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ab99993d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eab99993d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9aca9343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e9aca9343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MRR (Mean Reciprocal Rank) 第一個正確答案出現在第幾名？ 它會給予排名越靠前的正確答案越高的分數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Top@K ：模型給出的前 K 個預測中，是否「包含」正確答案？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a73ab358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a73ab358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e9aca9343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e9aca9343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9aca9343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e9aca9343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zoomer</a:t>
            </a:r>
            <a:r>
              <a:rPr lang="zh-TW"/>
              <a:t>也放進來 直接拿它表格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saga-tw.github.io/dataset/v2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Datasets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54975" y="1017725"/>
            <a:ext cx="32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SAGA-Known APT Campaign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Higaisa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admin338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APT28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FIN7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CobaltGroup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Gamaredon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Patchwork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GorgonGroup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3650" y="1190275"/>
            <a:ext cx="5440400" cy="30112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Training setting - Leave-One-Campaign-Out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449625"/>
            <a:ext cx="32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Higaisa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admin338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APT28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FIN7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CobaltGroup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Gamaredon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Patchwork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GorgonGroup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502375" y="1152475"/>
            <a:ext cx="633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每一次都拿7個Campaign做training，剩下來的1個Campaign當testing，總共做8次。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最後的分數是把每次做的分數做平均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384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Training setting - Original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449625"/>
            <a:ext cx="32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Higaisa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admin338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APT28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FIN7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CobaltGroup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Gamaredon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Patchwork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GorgonGroup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2502375" y="1192875"/>
            <a:ext cx="6330000" cy="229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與campaign無關的ability做training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每個ability都有100個sample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zh-TW">
                <a:solidFill>
                  <a:srgbClr val="FF0000"/>
                </a:solidFill>
              </a:rPr>
              <a:t>LLM嘗試:用LLM對ability的srcnode,dstnode,relation等資訊產生敘述-&gt;用securebert2.0做成embedding-&gt;PCA降維-&gt;Training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32996" y="3354825"/>
            <a:ext cx="5268749" cy="1612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5"/>
          <p:cNvSpPr txBox="1"/>
          <p:nvPr/>
        </p:nvSpPr>
        <p:spPr>
          <a:xfrm>
            <a:off x="5086800" y="0"/>
            <a:ext cx="40572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Total abilities : 16900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Total Eve</a:t>
            </a:r>
            <a:r>
              <a:rPr lang="zh-TW" sz="1600">
                <a:solidFill>
                  <a:schemeClr val="dk1"/>
                </a:solidFill>
              </a:rPr>
              <a:t>n</a:t>
            </a:r>
            <a:r>
              <a:rPr lang="zh-TW" sz="1600">
                <a:solidFill>
                  <a:schemeClr val="dk1"/>
                </a:solidFill>
              </a:rPr>
              <a:t>ts: 7,949,998</a:t>
            </a:r>
            <a:r>
              <a:rPr lang="zh-TW" sz="1600">
                <a:solidFill>
                  <a:schemeClr val="dk1"/>
                </a:solidFill>
              </a:rPr>
              <a:t> events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Benign : 4,146,957 events (52.16%)</a:t>
            </a:r>
            <a:br>
              <a:rPr lang="zh-TW" sz="1600">
                <a:solidFill>
                  <a:schemeClr val="dk1"/>
                </a:solidFill>
              </a:rPr>
            </a:br>
            <a:r>
              <a:rPr lang="zh-TW" sz="1600">
                <a:solidFill>
                  <a:schemeClr val="dk1"/>
                </a:solidFill>
              </a:rPr>
              <a:t>Malicious : 3,803,041 events(47.84%)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Elastic rules tagging</a:t>
            </a:r>
            <a:endParaRPr/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852" y="1272687"/>
            <a:ext cx="7706299" cy="2598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58300" y="209050"/>
            <a:ext cx="705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Method - Semantic</a:t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765675" y="1422550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log</a:t>
            </a:r>
            <a:endParaRPr sz="1600"/>
          </a:p>
        </p:txBody>
      </p:sp>
      <p:sp>
        <p:nvSpPr>
          <p:cNvPr id="86" name="Google Shape;86;p17"/>
          <p:cNvSpPr/>
          <p:nvPr/>
        </p:nvSpPr>
        <p:spPr>
          <a:xfrm>
            <a:off x="3919775" y="1422550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LLM</a:t>
            </a:r>
            <a:endParaRPr sz="1600"/>
          </a:p>
        </p:txBody>
      </p:sp>
      <p:cxnSp>
        <p:nvCxnSpPr>
          <p:cNvPr id="87" name="Google Shape;87;p17"/>
          <p:cNvCxnSpPr>
            <a:stCxn id="85" idx="3"/>
            <a:endCxn id="86" idx="1"/>
          </p:cNvCxnSpPr>
          <p:nvPr/>
        </p:nvCxnSpPr>
        <p:spPr>
          <a:xfrm>
            <a:off x="1744575" y="1632250"/>
            <a:ext cx="21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7"/>
          <p:cNvSpPr/>
          <p:nvPr/>
        </p:nvSpPr>
        <p:spPr>
          <a:xfrm>
            <a:off x="7073900" y="1422550"/>
            <a:ext cx="12438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Embedding</a:t>
            </a:r>
            <a:endParaRPr sz="1600"/>
          </a:p>
        </p:txBody>
      </p:sp>
      <p:cxnSp>
        <p:nvCxnSpPr>
          <p:cNvPr id="89" name="Google Shape;89;p17"/>
          <p:cNvCxnSpPr>
            <a:stCxn id="86" idx="3"/>
            <a:endCxn id="88" idx="1"/>
          </p:cNvCxnSpPr>
          <p:nvPr/>
        </p:nvCxnSpPr>
        <p:spPr>
          <a:xfrm>
            <a:off x="4898675" y="1632250"/>
            <a:ext cx="217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" name="Google Shape;90;p17"/>
          <p:cNvSpPr txBox="1"/>
          <p:nvPr/>
        </p:nvSpPr>
        <p:spPr>
          <a:xfrm>
            <a:off x="69975" y="2311450"/>
            <a:ext cx="3189000" cy="2327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把LOG丟進LLM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以Event為單位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以node為單位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考慮前後文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Prompt Engineering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以TTP框架為基底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讓LLM不要輕易標惡意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439775" y="2342650"/>
            <a:ext cx="2416500" cy="226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大LLM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GPT4o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Gemini Pro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Claude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小LLM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Mistral 7B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Llama 8B</a:t>
            </a:r>
            <a:endParaRPr sz="1600">
              <a:solidFill>
                <a:srgbClr val="FF0000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Qwen2.5 7B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6061675" y="2342650"/>
            <a:ext cx="2970900" cy="120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做Embedding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rgbClr val="FF0000"/>
                </a:solidFill>
              </a:rPr>
              <a:t>SecureBert2.0</a:t>
            </a:r>
            <a:r>
              <a:rPr lang="zh-TW" sz="1600">
                <a:solidFill>
                  <a:schemeClr val="dk1"/>
                </a:solidFill>
              </a:rPr>
              <a:t> (768)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CyBert 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800475" y="991438"/>
            <a:ext cx="2063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用log生成合理敘述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4954588" y="991438"/>
            <a:ext cx="20634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把敘述轉成emb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95" name="Google Shape;95;p17"/>
          <p:cNvCxnSpPr>
            <a:endCxn id="90" idx="0"/>
          </p:cNvCxnSpPr>
          <p:nvPr/>
        </p:nvCxnSpPr>
        <p:spPr>
          <a:xfrm flipH="1">
            <a:off x="1664475" y="1639750"/>
            <a:ext cx="885300" cy="67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7"/>
          <p:cNvCxnSpPr>
            <a:stCxn id="86" idx="2"/>
            <a:endCxn id="91" idx="0"/>
          </p:cNvCxnSpPr>
          <p:nvPr/>
        </p:nvCxnSpPr>
        <p:spPr>
          <a:xfrm>
            <a:off x="4409225" y="1841950"/>
            <a:ext cx="238800" cy="50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7"/>
          <p:cNvCxnSpPr>
            <a:endCxn id="92" idx="0"/>
          </p:cNvCxnSpPr>
          <p:nvPr/>
        </p:nvCxnSpPr>
        <p:spPr>
          <a:xfrm>
            <a:off x="6219925" y="1640050"/>
            <a:ext cx="1327200" cy="70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/>
        </p:nvSpPr>
        <p:spPr>
          <a:xfrm>
            <a:off x="8015400" y="913754"/>
            <a:ext cx="1128600" cy="431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</a:rPr>
              <a:t>dim&lt;768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outputs - anydesk</a:t>
            </a:r>
            <a:endParaRPr/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425" y="1705675"/>
            <a:ext cx="5960526" cy="2235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8"/>
          <p:cNvSpPr txBox="1"/>
          <p:nvPr/>
        </p:nvSpPr>
        <p:spPr>
          <a:xfrm>
            <a:off x="65975" y="2106325"/>
            <a:ext cx="30000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Ground truth (SAGA labels)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tactics : command-and-control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techniques : T1219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outputs - </a:t>
            </a:r>
            <a:r>
              <a:rPr lang="zh-TW"/>
              <a:t>rJxXgAcLrKwO</a:t>
            </a:r>
            <a:endParaRPr/>
          </a:p>
        </p:txBody>
      </p:sp>
      <p:sp>
        <p:nvSpPr>
          <p:cNvPr id="112" name="Google Shape;112;p19"/>
          <p:cNvSpPr txBox="1"/>
          <p:nvPr/>
        </p:nvSpPr>
        <p:spPr>
          <a:xfrm>
            <a:off x="116650" y="1307175"/>
            <a:ext cx="30000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1"/>
                </a:solidFill>
              </a:rPr>
              <a:t>Ground truth (SAGA labels)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tactics : execution, persistence, privilege-escalation, defense-evasion, discovery, lateral-movement, collection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techniques : T1005, T1021, T1033, T1059, T1518, T1547, T1548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sub-techniques: T1021.001, T1059.001, T1518.001, T1547.001, T1548.002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5139" y="1494325"/>
            <a:ext cx="5798212" cy="2154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LLM outputs - </a:t>
            </a:r>
            <a:r>
              <a:rPr lang="zh-TW"/>
              <a:t>TrustedInstaller.exe (Windows)</a:t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82850" y="2137650"/>
            <a:ext cx="3000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chemeClr val="dk1"/>
                </a:solidFill>
              </a:rPr>
              <a:t>Ground truth (SAGA labels)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Benign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0175" y="1357538"/>
            <a:ext cx="5722550" cy="23544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Embedding Method - Relation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/>
          <p:nvPr/>
        </p:nvSpPr>
        <p:spPr>
          <a:xfrm>
            <a:off x="629604" y="1821045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Relation</a:t>
            </a:r>
            <a:endParaRPr sz="1600"/>
          </a:p>
        </p:txBody>
      </p:sp>
      <p:cxnSp>
        <p:nvCxnSpPr>
          <p:cNvPr id="127" name="Google Shape;127;p21"/>
          <p:cNvCxnSpPr>
            <a:stCxn id="126" idx="3"/>
            <a:endCxn id="128" idx="1"/>
          </p:cNvCxnSpPr>
          <p:nvPr/>
        </p:nvCxnSpPr>
        <p:spPr>
          <a:xfrm>
            <a:off x="1608504" y="2030745"/>
            <a:ext cx="19533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" name="Google Shape;129;p21"/>
          <p:cNvSpPr/>
          <p:nvPr/>
        </p:nvSpPr>
        <p:spPr>
          <a:xfrm>
            <a:off x="3593004" y="1821045"/>
            <a:ext cx="12438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Embedding</a:t>
            </a:r>
            <a:endParaRPr sz="1600"/>
          </a:p>
        </p:txBody>
      </p:sp>
      <p:sp>
        <p:nvSpPr>
          <p:cNvPr id="130" name="Google Shape;130;p21"/>
          <p:cNvSpPr txBox="1"/>
          <p:nvPr/>
        </p:nvSpPr>
        <p:spPr>
          <a:xfrm>
            <a:off x="812304" y="2727092"/>
            <a:ext cx="3576900" cy="57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用SecureBert2.0轉成embedding</a:t>
            </a:r>
            <a:endParaRPr sz="1600">
              <a:solidFill>
                <a:schemeClr val="dk1"/>
              </a:solidFill>
            </a:endParaRPr>
          </a:p>
        </p:txBody>
      </p:sp>
      <p:cxnSp>
        <p:nvCxnSpPr>
          <p:cNvPr id="131" name="Google Shape;131;p21"/>
          <p:cNvCxnSpPr>
            <a:endCxn id="130" idx="0"/>
          </p:cNvCxnSpPr>
          <p:nvPr/>
        </p:nvCxnSpPr>
        <p:spPr>
          <a:xfrm flipH="1">
            <a:off x="2600754" y="2033192"/>
            <a:ext cx="9600" cy="69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1"/>
          <p:cNvSpPr/>
          <p:nvPr/>
        </p:nvSpPr>
        <p:spPr>
          <a:xfrm>
            <a:off x="5465754" y="1788495"/>
            <a:ext cx="1371600" cy="484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Semantic </a:t>
            </a:r>
            <a:r>
              <a:rPr lang="zh-TW" sz="1600"/>
              <a:t>Embedding</a:t>
            </a:r>
            <a:endParaRPr sz="1600"/>
          </a:p>
        </p:txBody>
      </p:sp>
      <p:grpSp>
        <p:nvGrpSpPr>
          <p:cNvPr id="133" name="Google Shape;133;p21"/>
          <p:cNvGrpSpPr/>
          <p:nvPr/>
        </p:nvGrpSpPr>
        <p:grpSpPr>
          <a:xfrm>
            <a:off x="4994823" y="1804781"/>
            <a:ext cx="548700" cy="393600"/>
            <a:chOff x="1436923" y="3812213"/>
            <a:chExt cx="548700" cy="393600"/>
          </a:xfrm>
        </p:grpSpPr>
        <p:sp>
          <p:nvSpPr>
            <p:cNvPr id="134" name="Google Shape;134;p21"/>
            <p:cNvSpPr/>
            <p:nvPr/>
          </p:nvSpPr>
          <p:spPr>
            <a:xfrm>
              <a:off x="1460250" y="3911850"/>
              <a:ext cx="268200" cy="2565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1"/>
            <p:cNvSpPr txBox="1"/>
            <p:nvPr/>
          </p:nvSpPr>
          <p:spPr>
            <a:xfrm>
              <a:off x="1436923" y="3812213"/>
              <a:ext cx="5487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800">
                  <a:solidFill>
                    <a:schemeClr val="dk2"/>
                  </a:solidFill>
                </a:rPr>
                <a:t>+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cxnSp>
        <p:nvCxnSpPr>
          <p:cNvPr id="136" name="Google Shape;136;p21"/>
          <p:cNvCxnSpPr>
            <a:stCxn id="128" idx="3"/>
            <a:endCxn id="137" idx="1"/>
          </p:cNvCxnSpPr>
          <p:nvPr/>
        </p:nvCxnSpPr>
        <p:spPr>
          <a:xfrm>
            <a:off x="6905329" y="2033956"/>
            <a:ext cx="95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1"/>
          <p:cNvSpPr/>
          <p:nvPr/>
        </p:nvSpPr>
        <p:spPr>
          <a:xfrm>
            <a:off x="3561829" y="1671256"/>
            <a:ext cx="3343500" cy="725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7856804" y="1824245"/>
            <a:ext cx="978900" cy="41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Model</a:t>
            </a:r>
            <a:endParaRPr sz="1600"/>
          </a:p>
        </p:txBody>
      </p:sp>
      <p:sp>
        <p:nvSpPr>
          <p:cNvPr id="138" name="Google Shape;138;p21"/>
          <p:cNvSpPr/>
          <p:nvPr/>
        </p:nvSpPr>
        <p:spPr>
          <a:xfrm>
            <a:off x="3771804" y="1281020"/>
            <a:ext cx="886200" cy="3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*512</a:t>
            </a:r>
            <a:endParaRPr sz="1600"/>
          </a:p>
        </p:txBody>
      </p:sp>
      <p:sp>
        <p:nvSpPr>
          <p:cNvPr id="139" name="Google Shape;139;p21"/>
          <p:cNvSpPr/>
          <p:nvPr/>
        </p:nvSpPr>
        <p:spPr>
          <a:xfrm>
            <a:off x="5708454" y="1281020"/>
            <a:ext cx="886200" cy="3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*512x2</a:t>
            </a:r>
            <a:endParaRPr sz="1600"/>
          </a:p>
        </p:txBody>
      </p:sp>
      <p:sp>
        <p:nvSpPr>
          <p:cNvPr id="140" name="Google Shape;140;p21"/>
          <p:cNvSpPr/>
          <p:nvPr/>
        </p:nvSpPr>
        <p:spPr>
          <a:xfrm>
            <a:off x="6938029" y="1281020"/>
            <a:ext cx="886200" cy="33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PCA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406200" y="312100"/>
            <a:ext cx="6218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mapping</a:t>
            </a:r>
            <a:r>
              <a:rPr lang="zh-TW"/>
              <a:t> - Auditd(44)</a:t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2875" y="1460650"/>
            <a:ext cx="6218249" cy="2222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406200" y="312100"/>
            <a:ext cx="739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mapping - ETW(32)</a:t>
            </a:r>
            <a:endParaRPr/>
          </a:p>
        </p:txBody>
      </p:sp>
      <p:sp>
        <p:nvSpPr>
          <p:cNvPr id="153" name="Google Shape;15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053" y="1389875"/>
            <a:ext cx="6733899" cy="2363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406200" y="312100"/>
            <a:ext cx="743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Event mapping - Procmon(53)</a:t>
            </a:r>
            <a:endParaRPr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375" y="901725"/>
            <a:ext cx="6761249" cy="3340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 rotWithShape="1">
          <a:blip r:embed="rId3">
            <a:alphaModFix/>
          </a:blip>
          <a:srcRect b="9016" l="6353" r="6257" t="8264"/>
          <a:stretch/>
        </p:blipFill>
        <p:spPr>
          <a:xfrm>
            <a:off x="3732250" y="1260100"/>
            <a:ext cx="4945225" cy="3160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69" name="Google Shape;169;p25"/>
          <p:cNvGrpSpPr/>
          <p:nvPr/>
        </p:nvGrpSpPr>
        <p:grpSpPr>
          <a:xfrm>
            <a:off x="212275" y="1411867"/>
            <a:ext cx="3102300" cy="2857200"/>
            <a:chOff x="212275" y="1369267"/>
            <a:chExt cx="3102300" cy="2857200"/>
          </a:xfrm>
        </p:grpSpPr>
        <p:sp>
          <p:nvSpPr>
            <p:cNvPr id="170" name="Google Shape;170;p25"/>
            <p:cNvSpPr/>
            <p:nvPr/>
          </p:nvSpPr>
          <p:spPr>
            <a:xfrm>
              <a:off x="212275" y="1369267"/>
              <a:ext cx="3102300" cy="2857200"/>
            </a:xfrm>
            <a:prstGeom prst="rect">
              <a:avLst/>
            </a:prstGeom>
            <a:solidFill>
              <a:srgbClr val="FFF2CC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/>
                <a:t>Input</a:t>
              </a:r>
              <a:endParaRPr sz="2400"/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414175" y="1899392"/>
              <a:ext cx="27255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 (src node) *512</a:t>
              </a:r>
              <a:endParaRPr sz="1600"/>
            </a:p>
          </p:txBody>
        </p:sp>
        <p:sp>
          <p:nvSpPr>
            <p:cNvPr id="172" name="Google Shape;172;p25"/>
            <p:cNvSpPr/>
            <p:nvPr/>
          </p:nvSpPr>
          <p:spPr>
            <a:xfrm>
              <a:off x="353275" y="3707742"/>
              <a:ext cx="28473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 (dest node) </a:t>
              </a:r>
              <a:r>
                <a:rPr lang="zh-TW" sz="1600">
                  <a:solidFill>
                    <a:schemeClr val="dk1"/>
                  </a:solidFill>
                </a:rPr>
                <a:t>*512</a:t>
              </a:r>
              <a:endParaRPr sz="1600"/>
            </a:p>
          </p:txBody>
        </p:sp>
        <p:sp>
          <p:nvSpPr>
            <p:cNvPr id="173" name="Google Shape;173;p25"/>
            <p:cNvSpPr/>
            <p:nvPr/>
          </p:nvSpPr>
          <p:spPr>
            <a:xfrm>
              <a:off x="414175" y="2803557"/>
              <a:ext cx="2725500" cy="419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600"/>
                <a:t>Embedding(relation) </a:t>
              </a:r>
              <a:r>
                <a:rPr lang="zh-TW" sz="1600">
                  <a:solidFill>
                    <a:schemeClr val="dk1"/>
                  </a:solidFill>
                </a:rPr>
                <a:t>*512</a:t>
              </a:r>
              <a:endParaRPr sz="1600"/>
            </a:p>
          </p:txBody>
        </p:sp>
        <p:grpSp>
          <p:nvGrpSpPr>
            <p:cNvPr id="174" name="Google Shape;174;p25"/>
            <p:cNvGrpSpPr/>
            <p:nvPr/>
          </p:nvGrpSpPr>
          <p:grpSpPr>
            <a:xfrm>
              <a:off x="1597311" y="2325070"/>
              <a:ext cx="548700" cy="393600"/>
              <a:chOff x="1436923" y="3812213"/>
              <a:chExt cx="548700" cy="393600"/>
            </a:xfrm>
          </p:grpSpPr>
          <p:sp>
            <p:nvSpPr>
              <p:cNvPr id="175" name="Google Shape;175;p25"/>
              <p:cNvSpPr/>
              <p:nvPr/>
            </p:nvSpPr>
            <p:spPr>
              <a:xfrm>
                <a:off x="1460250" y="3911850"/>
                <a:ext cx="268200" cy="256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5"/>
              <p:cNvSpPr txBox="1"/>
              <p:nvPr/>
            </p:nvSpPr>
            <p:spPr>
              <a:xfrm>
                <a:off x="1436923" y="3812213"/>
                <a:ext cx="548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+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  <p:grpSp>
          <p:nvGrpSpPr>
            <p:cNvPr id="177" name="Google Shape;177;p25"/>
            <p:cNvGrpSpPr/>
            <p:nvPr/>
          </p:nvGrpSpPr>
          <p:grpSpPr>
            <a:xfrm>
              <a:off x="1608975" y="3246905"/>
              <a:ext cx="548700" cy="393600"/>
              <a:chOff x="1436923" y="3812213"/>
              <a:chExt cx="548700" cy="393600"/>
            </a:xfrm>
          </p:grpSpPr>
          <p:sp>
            <p:nvSpPr>
              <p:cNvPr id="178" name="Google Shape;178;p25"/>
              <p:cNvSpPr/>
              <p:nvPr/>
            </p:nvSpPr>
            <p:spPr>
              <a:xfrm>
                <a:off x="1460250" y="3911850"/>
                <a:ext cx="268200" cy="2565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5"/>
              <p:cNvSpPr txBox="1"/>
              <p:nvPr/>
            </p:nvSpPr>
            <p:spPr>
              <a:xfrm>
                <a:off x="1436923" y="3812213"/>
                <a:ext cx="548700" cy="39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 sz="1800">
                    <a:solidFill>
                      <a:schemeClr val="dk2"/>
                    </a:solidFill>
                  </a:rPr>
                  <a:t>+</a:t>
                </a:r>
                <a:endParaRPr sz="1800">
                  <a:solidFill>
                    <a:schemeClr val="dk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</a:t>
            </a:r>
            <a:endParaRPr/>
          </a:p>
        </p:txBody>
      </p:sp>
      <p:sp>
        <p:nvSpPr>
          <p:cNvPr id="185" name="Google Shape;18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700" y="848775"/>
            <a:ext cx="3730599" cy="3966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MLP with Max Contraint Module</a:t>
            </a:r>
            <a:endParaRPr/>
          </a:p>
        </p:txBody>
      </p:sp>
      <p:sp>
        <p:nvSpPr>
          <p:cNvPr id="192" name="Google Shape;19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93" name="Google Shape;193;p27"/>
          <p:cNvSpPr txBox="1"/>
          <p:nvPr>
            <p:ph idx="1" type="body"/>
          </p:nvPr>
        </p:nvSpPr>
        <p:spPr>
          <a:xfrm>
            <a:off x="0" y="1301675"/>
            <a:ext cx="4751400" cy="10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Max Constriant Module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從technique和sub-tech的結果選一個機率比較大的technique作為technique的結果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94" name="Google Shape;19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0975" y="618650"/>
            <a:ext cx="3890174" cy="4296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SFM</a:t>
            </a:r>
            <a:endParaRPr/>
          </a:p>
        </p:txBody>
      </p:sp>
      <p:sp>
        <p:nvSpPr>
          <p:cNvPr id="200" name="Google Shape;200;p28"/>
          <p:cNvSpPr txBox="1"/>
          <p:nvPr>
            <p:ph idx="1" type="body"/>
          </p:nvPr>
        </p:nvSpPr>
        <p:spPr>
          <a:xfrm>
            <a:off x="311700" y="1152475"/>
            <a:ext cx="373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Node→100D、Edge→56D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forward + backward 各輸出 128H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436" y="1017725"/>
            <a:ext cx="4646239" cy="404020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/>
          <p:nvPr>
            <p:ph type="title"/>
          </p:nvPr>
        </p:nvSpPr>
        <p:spPr>
          <a:xfrm>
            <a:off x="164050" y="130875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</a:t>
            </a:r>
            <a:r>
              <a:rPr lang="zh-TW"/>
              <a:t> - TTP detection</a:t>
            </a:r>
            <a:endParaRPr/>
          </a:p>
        </p:txBody>
      </p:sp>
      <p:sp>
        <p:nvSpPr>
          <p:cNvPr id="207" name="Google Shape;207;p29"/>
          <p:cNvSpPr/>
          <p:nvPr/>
        </p:nvSpPr>
        <p:spPr>
          <a:xfrm>
            <a:off x="2119654" y="703575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2119679" y="1386450"/>
            <a:ext cx="1538100" cy="5727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</a:t>
            </a:r>
            <a:endParaRPr/>
          </a:p>
        </p:txBody>
      </p:sp>
      <p:cxnSp>
        <p:nvCxnSpPr>
          <p:cNvPr id="209" name="Google Shape;209;p29"/>
          <p:cNvCxnSpPr>
            <a:stCxn id="207" idx="2"/>
            <a:endCxn id="208" idx="0"/>
          </p:cNvCxnSpPr>
          <p:nvPr/>
        </p:nvCxnSpPr>
        <p:spPr>
          <a:xfrm>
            <a:off x="2888704" y="1161675"/>
            <a:ext cx="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9"/>
          <p:cNvSpPr/>
          <p:nvPr/>
        </p:nvSpPr>
        <p:spPr>
          <a:xfrm>
            <a:off x="2119679" y="2183925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LayerNorm</a:t>
            </a:r>
            <a:endParaRPr/>
          </a:p>
        </p:txBody>
      </p:sp>
      <p:cxnSp>
        <p:nvCxnSpPr>
          <p:cNvPr id="211" name="Google Shape;211;p29"/>
          <p:cNvCxnSpPr>
            <a:stCxn id="208" idx="2"/>
            <a:endCxn id="210" idx="0"/>
          </p:cNvCxnSpPr>
          <p:nvPr/>
        </p:nvCxnSpPr>
        <p:spPr>
          <a:xfrm>
            <a:off x="2888729" y="1959150"/>
            <a:ext cx="0" cy="22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2" name="Google Shape;212;p29"/>
          <p:cNvCxnSpPr>
            <a:stCxn id="210" idx="2"/>
            <a:endCxn id="213" idx="0"/>
          </p:cNvCxnSpPr>
          <p:nvPr/>
        </p:nvCxnSpPr>
        <p:spPr>
          <a:xfrm>
            <a:off x="2888729" y="2642025"/>
            <a:ext cx="0" cy="4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14" name="Google Shape;214;p29"/>
          <p:cNvGrpSpPr/>
          <p:nvPr/>
        </p:nvGrpSpPr>
        <p:grpSpPr>
          <a:xfrm>
            <a:off x="4628439" y="130877"/>
            <a:ext cx="4407188" cy="1781523"/>
            <a:chOff x="849589" y="3063102"/>
            <a:chExt cx="4407188" cy="1781523"/>
          </a:xfrm>
        </p:grpSpPr>
        <p:grpSp>
          <p:nvGrpSpPr>
            <p:cNvPr id="215" name="Google Shape;215;p29"/>
            <p:cNvGrpSpPr/>
            <p:nvPr/>
          </p:nvGrpSpPr>
          <p:grpSpPr>
            <a:xfrm>
              <a:off x="849589" y="3066225"/>
              <a:ext cx="4078200" cy="1778400"/>
              <a:chOff x="355113" y="3066225"/>
              <a:chExt cx="4078200" cy="1778400"/>
            </a:xfrm>
          </p:grpSpPr>
          <p:sp>
            <p:nvSpPr>
              <p:cNvPr id="216" name="Google Shape;216;p29"/>
              <p:cNvSpPr/>
              <p:nvPr/>
            </p:nvSpPr>
            <p:spPr>
              <a:xfrm>
                <a:off x="355113" y="3066225"/>
                <a:ext cx="4078200" cy="1778400"/>
              </a:xfrm>
              <a:prstGeom prst="rect">
                <a:avLst/>
              </a:prstGeom>
              <a:solidFill>
                <a:srgbClr val="FCE5CD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Attention Module</a:t>
                </a:r>
                <a:endParaRPr/>
              </a:p>
            </p:txBody>
          </p:sp>
          <p:sp>
            <p:nvSpPr>
              <p:cNvPr id="217" name="Google Shape;217;p29"/>
              <p:cNvSpPr/>
              <p:nvPr/>
            </p:nvSpPr>
            <p:spPr>
              <a:xfrm>
                <a:off x="498013" y="3382725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Multi-head attention</a:t>
                </a:r>
                <a:endParaRPr/>
              </a:p>
            </p:txBody>
          </p:sp>
          <p:sp>
            <p:nvSpPr>
              <p:cNvPr id="218" name="Google Shape;218;p29"/>
              <p:cNvSpPr/>
              <p:nvPr/>
            </p:nvSpPr>
            <p:spPr>
              <a:xfrm>
                <a:off x="498000" y="4147800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Residual + LayerNorm</a:t>
                </a:r>
                <a:endParaRPr/>
              </a:p>
            </p:txBody>
          </p:sp>
          <p:sp>
            <p:nvSpPr>
              <p:cNvPr id="219" name="Google Shape;219;p29"/>
              <p:cNvSpPr/>
              <p:nvPr/>
            </p:nvSpPr>
            <p:spPr>
              <a:xfrm>
                <a:off x="2494063" y="3382725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/>
                  <a:t>FFN</a:t>
                </a:r>
                <a:endParaRPr/>
              </a:p>
            </p:txBody>
          </p:sp>
          <p:sp>
            <p:nvSpPr>
              <p:cNvPr id="220" name="Google Shape;220;p29"/>
              <p:cNvSpPr/>
              <p:nvPr/>
            </p:nvSpPr>
            <p:spPr>
              <a:xfrm>
                <a:off x="2494038" y="4147800"/>
                <a:ext cx="1853100" cy="572700"/>
              </a:xfrm>
              <a:prstGeom prst="rect">
                <a:avLst/>
              </a:prstGeom>
              <a:solidFill>
                <a:srgbClr val="EFEFE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zh-TW">
                    <a:solidFill>
                      <a:schemeClr val="dk1"/>
                    </a:solidFill>
                  </a:rPr>
                  <a:t>Residual + LayerNorm</a:t>
                </a:r>
                <a:endParaRPr/>
              </a:p>
            </p:txBody>
          </p:sp>
          <p:cxnSp>
            <p:nvCxnSpPr>
              <p:cNvPr id="221" name="Google Shape;221;p29"/>
              <p:cNvCxnSpPr>
                <a:stCxn id="217" idx="2"/>
                <a:endCxn id="218" idx="0"/>
              </p:cNvCxnSpPr>
              <p:nvPr/>
            </p:nvCxnSpPr>
            <p:spPr>
              <a:xfrm>
                <a:off x="1424563" y="3955425"/>
                <a:ext cx="0" cy="1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22" name="Google Shape;222;p29"/>
              <p:cNvCxnSpPr>
                <a:stCxn id="218" idx="3"/>
                <a:endCxn id="219" idx="1"/>
              </p:cNvCxnSpPr>
              <p:nvPr/>
            </p:nvCxnSpPr>
            <p:spPr>
              <a:xfrm flipH="1" rot="10800000">
                <a:off x="2351100" y="3669150"/>
                <a:ext cx="143100" cy="765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23" name="Google Shape;223;p29"/>
              <p:cNvCxnSpPr>
                <a:stCxn id="219" idx="2"/>
                <a:endCxn id="220" idx="0"/>
              </p:cNvCxnSpPr>
              <p:nvPr/>
            </p:nvCxnSpPr>
            <p:spPr>
              <a:xfrm>
                <a:off x="3420613" y="3955425"/>
                <a:ext cx="0" cy="192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224" name="Google Shape;224;p29"/>
            <p:cNvSpPr txBox="1"/>
            <p:nvPr/>
          </p:nvSpPr>
          <p:spPr>
            <a:xfrm>
              <a:off x="4265576" y="3063102"/>
              <a:ext cx="991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*2</a:t>
              </a:r>
              <a:endParaRPr/>
            </a:p>
          </p:txBody>
        </p:sp>
      </p:grpSp>
      <p:sp>
        <p:nvSpPr>
          <p:cNvPr id="225" name="Google Shape;225;p29"/>
          <p:cNvSpPr/>
          <p:nvPr/>
        </p:nvSpPr>
        <p:spPr>
          <a:xfrm>
            <a:off x="6823093" y="2191539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LayerNorm</a:t>
            </a:r>
            <a:endParaRPr/>
          </a:p>
        </p:txBody>
      </p:sp>
      <p:cxnSp>
        <p:nvCxnSpPr>
          <p:cNvPr id="226" name="Google Shape;226;p29"/>
          <p:cNvCxnSpPr/>
          <p:nvPr/>
        </p:nvCxnSpPr>
        <p:spPr>
          <a:xfrm flipH="1" rot="10800000">
            <a:off x="4500925" y="1929125"/>
            <a:ext cx="626400" cy="120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9"/>
          <p:cNvSpPr/>
          <p:nvPr/>
        </p:nvSpPr>
        <p:spPr>
          <a:xfrm>
            <a:off x="6823093" y="2931714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cxnSp>
        <p:nvCxnSpPr>
          <p:cNvPr id="228" name="Google Shape;228;p29"/>
          <p:cNvCxnSpPr>
            <a:stCxn id="225" idx="2"/>
            <a:endCxn id="227" idx="0"/>
          </p:cNvCxnSpPr>
          <p:nvPr/>
        </p:nvCxnSpPr>
        <p:spPr>
          <a:xfrm>
            <a:off x="7592143" y="2649639"/>
            <a:ext cx="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29"/>
          <p:cNvSpPr/>
          <p:nvPr/>
        </p:nvSpPr>
        <p:spPr>
          <a:xfrm>
            <a:off x="6823093" y="3671889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CRF</a:t>
            </a:r>
            <a:endParaRPr/>
          </a:p>
        </p:txBody>
      </p:sp>
      <p:cxnSp>
        <p:nvCxnSpPr>
          <p:cNvPr id="230" name="Google Shape;230;p29"/>
          <p:cNvCxnSpPr>
            <a:stCxn id="227" idx="2"/>
            <a:endCxn id="229" idx="0"/>
          </p:cNvCxnSpPr>
          <p:nvPr/>
        </p:nvCxnSpPr>
        <p:spPr>
          <a:xfrm>
            <a:off x="7592143" y="3389814"/>
            <a:ext cx="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9"/>
          <p:cNvCxnSpPr>
            <a:stCxn id="229" idx="2"/>
            <a:endCxn id="232" idx="0"/>
          </p:cNvCxnSpPr>
          <p:nvPr/>
        </p:nvCxnSpPr>
        <p:spPr>
          <a:xfrm>
            <a:off x="7592143" y="4129989"/>
            <a:ext cx="0" cy="36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9"/>
          <p:cNvSpPr/>
          <p:nvPr/>
        </p:nvSpPr>
        <p:spPr>
          <a:xfrm>
            <a:off x="6823093" y="4492989"/>
            <a:ext cx="1538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sequence</a:t>
            </a:r>
            <a:endParaRPr/>
          </a:p>
        </p:txBody>
      </p:sp>
      <p:sp>
        <p:nvSpPr>
          <p:cNvPr id="233" name="Google Shape;233;p29"/>
          <p:cNvSpPr txBox="1"/>
          <p:nvPr/>
        </p:nvSpPr>
        <p:spPr>
          <a:xfrm>
            <a:off x="849600" y="1472700"/>
            <a:ext cx="11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2L, 128H </a:t>
            </a:r>
            <a:endParaRPr/>
          </a:p>
        </p:txBody>
      </p:sp>
      <p:sp>
        <p:nvSpPr>
          <p:cNvPr id="234" name="Google Shape;234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" name="Google Shape;235;p29"/>
          <p:cNvGrpSpPr/>
          <p:nvPr/>
        </p:nvGrpSpPr>
        <p:grpSpPr>
          <a:xfrm>
            <a:off x="372475" y="3138405"/>
            <a:ext cx="5032500" cy="1580519"/>
            <a:chOff x="549625" y="3138250"/>
            <a:chExt cx="5032500" cy="1397700"/>
          </a:xfrm>
        </p:grpSpPr>
        <p:sp>
          <p:nvSpPr>
            <p:cNvPr id="213" name="Google Shape;213;p29"/>
            <p:cNvSpPr/>
            <p:nvPr/>
          </p:nvSpPr>
          <p:spPr>
            <a:xfrm>
              <a:off x="549625" y="3138250"/>
              <a:ext cx="5032500" cy="1397700"/>
            </a:xfrm>
            <a:prstGeom prst="rect">
              <a:avLst/>
            </a:prstGeom>
            <a:solidFill>
              <a:srgbClr val="B6D7A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Multi-Chunks</a:t>
              </a: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634354" y="3489180"/>
              <a:ext cx="1538100" cy="458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Target Chunks</a:t>
              </a: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2282629" y="3489175"/>
              <a:ext cx="1538100" cy="458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Context</a:t>
              </a:r>
              <a:r>
                <a:rPr lang="zh-TW">
                  <a:solidFill>
                    <a:schemeClr val="dk1"/>
                  </a:solidFill>
                </a:rPr>
                <a:t> Chunks</a:t>
              </a: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3930904" y="3489180"/>
              <a:ext cx="1538100" cy="4581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Scale Chunks</a:t>
              </a:r>
              <a:endParaRPr/>
            </a:p>
          </p:txBody>
        </p:sp>
      </p:grpSp>
      <p:sp>
        <p:nvSpPr>
          <p:cNvPr id="239" name="Google Shape;239;p29"/>
          <p:cNvSpPr txBox="1"/>
          <p:nvPr/>
        </p:nvSpPr>
        <p:spPr>
          <a:xfrm>
            <a:off x="638250" y="4140950"/>
            <a:ext cx="11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主要chunk</a:t>
            </a:r>
            <a:r>
              <a:rPr lang="zh-TW"/>
              <a:t> </a:t>
            </a:r>
            <a:endParaRPr/>
          </a:p>
        </p:txBody>
      </p:sp>
      <p:sp>
        <p:nvSpPr>
          <p:cNvPr id="240" name="Google Shape;240;p29"/>
          <p:cNvSpPr txBox="1"/>
          <p:nvPr/>
        </p:nvSpPr>
        <p:spPr>
          <a:xfrm>
            <a:off x="2334925" y="4122375"/>
            <a:ext cx="11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前後</a:t>
            </a:r>
            <a:r>
              <a:rPr lang="zh-TW"/>
              <a:t>chunk </a:t>
            </a:r>
            <a:endParaRPr/>
          </a:p>
        </p:txBody>
      </p:sp>
      <p:sp>
        <p:nvSpPr>
          <p:cNvPr id="241" name="Google Shape;241;p29"/>
          <p:cNvSpPr txBox="1"/>
          <p:nvPr/>
        </p:nvSpPr>
        <p:spPr>
          <a:xfrm>
            <a:off x="3786125" y="4122375"/>
            <a:ext cx="145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前後</a:t>
            </a:r>
            <a:r>
              <a:rPr lang="zh-TW"/>
              <a:t>chunk</a:t>
            </a:r>
            <a:r>
              <a:rPr lang="zh-TW"/>
              <a:t>補充</a:t>
            </a:r>
            <a:endParaRPr/>
          </a:p>
        </p:txBody>
      </p:sp>
      <p:cxnSp>
        <p:nvCxnSpPr>
          <p:cNvPr id="242" name="Google Shape;242;p29"/>
          <p:cNvCxnSpPr/>
          <p:nvPr/>
        </p:nvCxnSpPr>
        <p:spPr>
          <a:xfrm>
            <a:off x="7592985" y="1912899"/>
            <a:ext cx="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 txBox="1"/>
          <p:nvPr>
            <p:ph type="title"/>
          </p:nvPr>
        </p:nvSpPr>
        <p:spPr>
          <a:xfrm>
            <a:off x="164050" y="130875"/>
            <a:ext cx="424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- TTP detection</a:t>
            </a:r>
            <a:endParaRPr/>
          </a:p>
        </p:txBody>
      </p:sp>
      <p:sp>
        <p:nvSpPr>
          <p:cNvPr id="248" name="Google Shape;248;p30"/>
          <p:cNvSpPr/>
          <p:nvPr/>
        </p:nvSpPr>
        <p:spPr>
          <a:xfrm>
            <a:off x="1624804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embedding</a:t>
            </a:r>
            <a:endParaRPr/>
          </a:p>
        </p:txBody>
      </p:sp>
      <p:sp>
        <p:nvSpPr>
          <p:cNvPr id="249" name="Google Shape;249;p30"/>
          <p:cNvSpPr/>
          <p:nvPr/>
        </p:nvSpPr>
        <p:spPr>
          <a:xfrm>
            <a:off x="458550" y="1360400"/>
            <a:ext cx="3870600" cy="10521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Siamese Network</a:t>
            </a:r>
            <a:endParaRPr/>
          </a:p>
        </p:txBody>
      </p:sp>
      <p:cxnSp>
        <p:nvCxnSpPr>
          <p:cNvPr id="250" name="Google Shape;250;p30"/>
          <p:cNvCxnSpPr>
            <a:stCxn id="248" idx="2"/>
            <a:endCxn id="249" idx="0"/>
          </p:cNvCxnSpPr>
          <p:nvPr/>
        </p:nvCxnSpPr>
        <p:spPr>
          <a:xfrm>
            <a:off x="2393854" y="1109350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30"/>
          <p:cNvCxnSpPr>
            <a:stCxn id="252" idx="2"/>
            <a:endCxn id="253" idx="0"/>
          </p:cNvCxnSpPr>
          <p:nvPr/>
        </p:nvCxnSpPr>
        <p:spPr>
          <a:xfrm>
            <a:off x="6711816" y="1109350"/>
            <a:ext cx="0" cy="2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4" name="Google Shape;254;p30"/>
          <p:cNvCxnSpPr>
            <a:stCxn id="249" idx="2"/>
            <a:endCxn id="255" idx="1"/>
          </p:cNvCxnSpPr>
          <p:nvPr/>
        </p:nvCxnSpPr>
        <p:spPr>
          <a:xfrm flipH="1" rot="-5400000">
            <a:off x="2899800" y="1906550"/>
            <a:ext cx="1266900" cy="227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56" name="Google Shape;256;p30"/>
          <p:cNvGrpSpPr/>
          <p:nvPr/>
        </p:nvGrpSpPr>
        <p:grpSpPr>
          <a:xfrm>
            <a:off x="4672714" y="1360400"/>
            <a:ext cx="4078200" cy="1778400"/>
            <a:chOff x="355113" y="3066225"/>
            <a:chExt cx="4078200" cy="1778400"/>
          </a:xfrm>
        </p:grpSpPr>
        <p:sp>
          <p:nvSpPr>
            <p:cNvPr id="253" name="Google Shape;253;p30"/>
            <p:cNvSpPr/>
            <p:nvPr/>
          </p:nvSpPr>
          <p:spPr>
            <a:xfrm>
              <a:off x="355113" y="3066225"/>
              <a:ext cx="4078200" cy="1778400"/>
            </a:xfrm>
            <a:prstGeom prst="rect">
              <a:avLst/>
            </a:prstGeom>
            <a:solidFill>
              <a:srgbClr val="FCE5CD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Graph Transformer</a:t>
              </a:r>
              <a:endParaRPr/>
            </a:p>
          </p:txBody>
        </p:sp>
        <p:sp>
          <p:nvSpPr>
            <p:cNvPr id="257" name="Google Shape;257;p30"/>
            <p:cNvSpPr/>
            <p:nvPr/>
          </p:nvSpPr>
          <p:spPr>
            <a:xfrm>
              <a:off x="498013" y="3382725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Multi-head attention</a:t>
              </a:r>
              <a:endParaRPr/>
            </a:p>
          </p:txBody>
        </p:sp>
        <p:sp>
          <p:nvSpPr>
            <p:cNvPr id="258" name="Google Shape;258;p30"/>
            <p:cNvSpPr/>
            <p:nvPr/>
          </p:nvSpPr>
          <p:spPr>
            <a:xfrm>
              <a:off x="498000" y="4147800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Residual + LayerNorm</a:t>
              </a:r>
              <a:endParaRPr/>
            </a:p>
          </p:txBody>
        </p:sp>
        <p:sp>
          <p:nvSpPr>
            <p:cNvPr id="259" name="Google Shape;259;p30"/>
            <p:cNvSpPr/>
            <p:nvPr/>
          </p:nvSpPr>
          <p:spPr>
            <a:xfrm>
              <a:off x="2494063" y="3382725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/>
                <a:t>FFN</a:t>
              </a:r>
              <a:endParaRPr/>
            </a:p>
          </p:txBody>
        </p:sp>
        <p:sp>
          <p:nvSpPr>
            <p:cNvPr id="260" name="Google Shape;260;p30"/>
            <p:cNvSpPr/>
            <p:nvPr/>
          </p:nvSpPr>
          <p:spPr>
            <a:xfrm>
              <a:off x="2494038" y="4147800"/>
              <a:ext cx="1853100" cy="572700"/>
            </a:xfrm>
            <a:prstGeom prst="rect">
              <a:avLst/>
            </a:prstGeom>
            <a:solidFill>
              <a:srgbClr val="EFEFE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>
                  <a:solidFill>
                    <a:schemeClr val="dk1"/>
                  </a:solidFill>
                </a:rPr>
                <a:t>Residual + LayerNorm</a:t>
              </a:r>
              <a:endParaRPr/>
            </a:p>
          </p:txBody>
        </p:sp>
        <p:cxnSp>
          <p:nvCxnSpPr>
            <p:cNvPr id="261" name="Google Shape;261;p30"/>
            <p:cNvCxnSpPr>
              <a:stCxn id="257" idx="2"/>
              <a:endCxn id="258" idx="0"/>
            </p:cNvCxnSpPr>
            <p:nvPr/>
          </p:nvCxnSpPr>
          <p:spPr>
            <a:xfrm>
              <a:off x="1424563" y="3955425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2" name="Google Shape;262;p30"/>
            <p:cNvCxnSpPr>
              <a:stCxn id="258" idx="3"/>
              <a:endCxn id="259" idx="1"/>
            </p:cNvCxnSpPr>
            <p:nvPr/>
          </p:nvCxnSpPr>
          <p:spPr>
            <a:xfrm flipH="1" rot="10800000">
              <a:off x="2351100" y="3669150"/>
              <a:ext cx="143100" cy="76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3" name="Google Shape;263;p30"/>
            <p:cNvCxnSpPr>
              <a:stCxn id="259" idx="2"/>
              <a:endCxn id="260" idx="0"/>
            </p:cNvCxnSpPr>
            <p:nvPr/>
          </p:nvCxnSpPr>
          <p:spPr>
            <a:xfrm>
              <a:off x="3420613" y="3955425"/>
              <a:ext cx="0" cy="192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64" name="Google Shape;264;p30"/>
          <p:cNvCxnSpPr>
            <a:stCxn id="253" idx="2"/>
            <a:endCxn id="255" idx="0"/>
          </p:cNvCxnSpPr>
          <p:nvPr/>
        </p:nvCxnSpPr>
        <p:spPr>
          <a:xfrm rot="5400000">
            <a:off x="5734264" y="2472950"/>
            <a:ext cx="311700" cy="1643400"/>
          </a:xfrm>
          <a:prstGeom prst="bentConnector3">
            <a:avLst>
              <a:gd fmla="val 4999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0"/>
          <p:cNvSpPr/>
          <p:nvPr/>
        </p:nvSpPr>
        <p:spPr>
          <a:xfrm>
            <a:off x="517123" y="1779075"/>
            <a:ext cx="7911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GNN</a:t>
            </a:r>
            <a:endParaRPr/>
          </a:p>
        </p:txBody>
      </p:sp>
      <p:cxnSp>
        <p:nvCxnSpPr>
          <p:cNvPr id="267" name="Google Shape;267;p30"/>
          <p:cNvCxnSpPr>
            <a:stCxn id="266" idx="3"/>
            <a:endCxn id="268" idx="1"/>
          </p:cNvCxnSpPr>
          <p:nvPr/>
        </p:nvCxnSpPr>
        <p:spPr>
          <a:xfrm>
            <a:off x="1308223" y="2008125"/>
            <a:ext cx="245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30"/>
          <p:cNvSpPr/>
          <p:nvPr/>
        </p:nvSpPr>
        <p:spPr>
          <a:xfrm>
            <a:off x="1553867" y="1779075"/>
            <a:ext cx="14505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Contrastive loss</a:t>
            </a:r>
            <a:endParaRPr/>
          </a:p>
        </p:txBody>
      </p:sp>
      <p:sp>
        <p:nvSpPr>
          <p:cNvPr id="269" name="Google Shape;269;p30"/>
          <p:cNvSpPr/>
          <p:nvPr/>
        </p:nvSpPr>
        <p:spPr>
          <a:xfrm>
            <a:off x="3179292" y="1779075"/>
            <a:ext cx="1107600" cy="458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Prototypes</a:t>
            </a:r>
            <a:endParaRPr/>
          </a:p>
        </p:txBody>
      </p:sp>
      <p:cxnSp>
        <p:nvCxnSpPr>
          <p:cNvPr id="270" name="Google Shape;270;p30"/>
          <p:cNvCxnSpPr>
            <a:stCxn id="268" idx="3"/>
            <a:endCxn id="269" idx="1"/>
          </p:cNvCxnSpPr>
          <p:nvPr/>
        </p:nvCxnSpPr>
        <p:spPr>
          <a:xfrm>
            <a:off x="3004367" y="2008125"/>
            <a:ext cx="17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p30"/>
          <p:cNvSpPr/>
          <p:nvPr/>
        </p:nvSpPr>
        <p:spPr>
          <a:xfrm>
            <a:off x="5942766" y="651250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</a:t>
            </a:r>
            <a:endParaRPr/>
          </a:p>
        </p:txBody>
      </p:sp>
      <p:sp>
        <p:nvSpPr>
          <p:cNvPr id="255" name="Google Shape;255;p30"/>
          <p:cNvSpPr/>
          <p:nvPr/>
        </p:nvSpPr>
        <p:spPr>
          <a:xfrm>
            <a:off x="4672725" y="34504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sp>
        <p:nvSpPr>
          <p:cNvPr id="271" name="Google Shape;271;p30"/>
          <p:cNvSpPr/>
          <p:nvPr/>
        </p:nvSpPr>
        <p:spPr>
          <a:xfrm>
            <a:off x="5795325" y="3450475"/>
            <a:ext cx="791100" cy="4581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GT</a:t>
            </a:r>
            <a:endParaRPr/>
          </a:p>
        </p:txBody>
      </p:sp>
      <p:cxnSp>
        <p:nvCxnSpPr>
          <p:cNvPr id="272" name="Google Shape;272;p30"/>
          <p:cNvCxnSpPr>
            <a:stCxn id="255" idx="3"/>
            <a:endCxn id="271" idx="1"/>
          </p:cNvCxnSpPr>
          <p:nvPr/>
        </p:nvCxnSpPr>
        <p:spPr>
          <a:xfrm>
            <a:off x="5463825" y="3679525"/>
            <a:ext cx="33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30"/>
          <p:cNvCxnSpPr>
            <a:stCxn id="271" idx="3"/>
            <a:endCxn id="274" idx="1"/>
          </p:cNvCxnSpPr>
          <p:nvPr/>
        </p:nvCxnSpPr>
        <p:spPr>
          <a:xfrm>
            <a:off x="6586425" y="3679525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30"/>
          <p:cNvSpPr/>
          <p:nvPr/>
        </p:nvSpPr>
        <p:spPr>
          <a:xfrm>
            <a:off x="6794663" y="3450475"/>
            <a:ext cx="7911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Linear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2222075" y="2845838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Q</a:t>
            </a:r>
            <a:endParaRPr/>
          </a:p>
        </p:txBody>
      </p:sp>
      <p:cxnSp>
        <p:nvCxnSpPr>
          <p:cNvPr id="276" name="Google Shape;276;p30"/>
          <p:cNvCxnSpPr>
            <a:stCxn id="274" idx="3"/>
            <a:endCxn id="277" idx="1"/>
          </p:cNvCxnSpPr>
          <p:nvPr/>
        </p:nvCxnSpPr>
        <p:spPr>
          <a:xfrm>
            <a:off x="7585763" y="3679525"/>
            <a:ext cx="20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7" name="Google Shape;277;p30"/>
          <p:cNvSpPr/>
          <p:nvPr/>
        </p:nvSpPr>
        <p:spPr>
          <a:xfrm>
            <a:off x="7794025" y="3450475"/>
            <a:ext cx="9276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Sigmoid</a:t>
            </a:r>
            <a:endParaRPr/>
          </a:p>
        </p:txBody>
      </p:sp>
      <p:sp>
        <p:nvSpPr>
          <p:cNvPr id="278" name="Google Shape;278;p30"/>
          <p:cNvSpPr/>
          <p:nvPr/>
        </p:nvSpPr>
        <p:spPr>
          <a:xfrm>
            <a:off x="5520675" y="4371775"/>
            <a:ext cx="23823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Predicted label</a:t>
            </a:r>
            <a:endParaRPr/>
          </a:p>
        </p:txBody>
      </p:sp>
      <p:cxnSp>
        <p:nvCxnSpPr>
          <p:cNvPr id="279" name="Google Shape;279;p30"/>
          <p:cNvCxnSpPr>
            <a:stCxn id="277" idx="2"/>
            <a:endCxn id="278" idx="0"/>
          </p:cNvCxnSpPr>
          <p:nvPr/>
        </p:nvCxnSpPr>
        <p:spPr>
          <a:xfrm rot="5400000">
            <a:off x="7253275" y="3367225"/>
            <a:ext cx="463200" cy="1545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30"/>
          <p:cNvSpPr txBox="1"/>
          <p:nvPr/>
        </p:nvSpPr>
        <p:spPr>
          <a:xfrm>
            <a:off x="5762775" y="3825550"/>
            <a:ext cx="8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(</a:t>
            </a:r>
            <a:r>
              <a:rPr lang="zh-TW">
                <a:solidFill>
                  <a:schemeClr val="dk1"/>
                </a:solidFill>
              </a:rPr>
              <a:t>Q,K,V)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6999600" y="0"/>
            <a:ext cx="214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(Q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chemeClr val="dk1"/>
                </a:solidFill>
              </a:rPr>
              <a:t>目標節點 </a:t>
            </a:r>
            <a:r>
              <a:rPr lang="zh-TW">
                <a:solidFill>
                  <a:schemeClr val="dk1"/>
                </a:solidFill>
              </a:rPr>
              <a:t>,K</a:t>
            </a:r>
            <a:r>
              <a:rPr lang="zh-TW">
                <a:solidFill>
                  <a:schemeClr val="dk1"/>
                </a:solidFill>
              </a:rPr>
              <a:t> 鄰居節點 </a:t>
            </a:r>
            <a:r>
              <a:rPr lang="zh-TW">
                <a:solidFill>
                  <a:schemeClr val="dk1"/>
                </a:solidFill>
              </a:rPr>
              <a:t>,V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chemeClr val="dk1"/>
                </a:solidFill>
              </a:rPr>
              <a:t>鄰居節點的特徵)</a:t>
            </a:r>
            <a:endParaRPr/>
          </a:p>
        </p:txBody>
      </p:sp>
      <p:sp>
        <p:nvSpPr>
          <p:cNvPr id="282" name="Google Shape;282;p30"/>
          <p:cNvSpPr txBox="1"/>
          <p:nvPr/>
        </p:nvSpPr>
        <p:spPr>
          <a:xfrm>
            <a:off x="4640175" y="3825550"/>
            <a:ext cx="8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(Q,K,V)</a:t>
            </a:r>
            <a:endParaRPr/>
          </a:p>
        </p:txBody>
      </p:sp>
      <p:cxnSp>
        <p:nvCxnSpPr>
          <p:cNvPr id="283" name="Google Shape;283;p30"/>
          <p:cNvCxnSpPr>
            <a:endCxn id="281" idx="2"/>
          </p:cNvCxnSpPr>
          <p:nvPr/>
        </p:nvCxnSpPr>
        <p:spPr>
          <a:xfrm rot="10800000">
            <a:off x="8071800" y="615600"/>
            <a:ext cx="294000" cy="75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4" name="Google Shape;284;p30"/>
          <p:cNvSpPr txBox="1"/>
          <p:nvPr/>
        </p:nvSpPr>
        <p:spPr>
          <a:xfrm>
            <a:off x="2393850" y="3854725"/>
            <a:ext cx="214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(Q prototype ,K h1,V h1)</a:t>
            </a:r>
            <a:endParaRPr/>
          </a:p>
        </p:txBody>
      </p:sp>
      <p:sp>
        <p:nvSpPr>
          <p:cNvPr id="285" name="Google Shape;285;p30"/>
          <p:cNvSpPr txBox="1"/>
          <p:nvPr/>
        </p:nvSpPr>
        <p:spPr>
          <a:xfrm>
            <a:off x="6552339" y="3067861"/>
            <a:ext cx="63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h1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1" name="Google Shape;2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58538"/>
            <a:ext cx="8839200" cy="222641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2"/>
          <p:cNvSpPr txBox="1"/>
          <p:nvPr>
            <p:ph type="title"/>
          </p:nvPr>
        </p:nvSpPr>
        <p:spPr>
          <a:xfrm>
            <a:off x="164050" y="130875"/>
            <a:ext cx="475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- Anamoly Detecion</a:t>
            </a:r>
            <a:endParaRPr/>
          </a:p>
        </p:txBody>
      </p:sp>
      <p:pic>
        <p:nvPicPr>
          <p:cNvPr id="297" name="Google Shape;2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975" y="0"/>
            <a:ext cx="5407825" cy="6274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p32"/>
          <p:cNvSpPr/>
          <p:nvPr/>
        </p:nvSpPr>
        <p:spPr>
          <a:xfrm>
            <a:off x="411954" y="703575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A</a:t>
            </a:r>
            <a:endParaRPr/>
          </a:p>
        </p:txBody>
      </p:sp>
      <p:cxnSp>
        <p:nvCxnSpPr>
          <p:cNvPr id="299" name="Google Shape;299;p32"/>
          <p:cNvCxnSpPr>
            <a:stCxn id="298" idx="2"/>
            <a:endCxn id="300" idx="0"/>
          </p:cNvCxnSpPr>
          <p:nvPr/>
        </p:nvCxnSpPr>
        <p:spPr>
          <a:xfrm>
            <a:off x="1181004" y="1161675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0" name="Google Shape;300;p32"/>
          <p:cNvSpPr/>
          <p:nvPr/>
        </p:nvSpPr>
        <p:spPr>
          <a:xfrm>
            <a:off x="411954" y="1481663"/>
            <a:ext cx="1538100" cy="458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</a:t>
            </a:r>
            <a:endParaRPr/>
          </a:p>
        </p:txBody>
      </p:sp>
      <p:cxnSp>
        <p:nvCxnSpPr>
          <p:cNvPr id="301" name="Google Shape;301;p32"/>
          <p:cNvCxnSpPr>
            <a:stCxn id="302" idx="2"/>
            <a:endCxn id="303" idx="0"/>
          </p:cNvCxnSpPr>
          <p:nvPr/>
        </p:nvCxnSpPr>
        <p:spPr>
          <a:xfrm>
            <a:off x="3211229" y="1195038"/>
            <a:ext cx="0" cy="2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3" name="Google Shape;303;p32"/>
          <p:cNvSpPr/>
          <p:nvPr/>
        </p:nvSpPr>
        <p:spPr>
          <a:xfrm>
            <a:off x="2442179" y="1481675"/>
            <a:ext cx="1538100" cy="4581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BiGRU</a:t>
            </a:r>
            <a:endParaRPr/>
          </a:p>
        </p:txBody>
      </p:sp>
      <p:sp>
        <p:nvSpPr>
          <p:cNvPr id="302" name="Google Shape;302;p32"/>
          <p:cNvSpPr/>
          <p:nvPr/>
        </p:nvSpPr>
        <p:spPr>
          <a:xfrm>
            <a:off x="2442179" y="736938"/>
            <a:ext cx="1538100" cy="4581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Embedding B</a:t>
            </a:r>
            <a:endParaRPr/>
          </a:p>
        </p:txBody>
      </p:sp>
      <p:sp>
        <p:nvSpPr>
          <p:cNvPr id="304" name="Google Shape;304;p32"/>
          <p:cNvSpPr/>
          <p:nvPr/>
        </p:nvSpPr>
        <p:spPr>
          <a:xfrm>
            <a:off x="411954" y="2259750"/>
            <a:ext cx="15381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mean pooling</a:t>
            </a:r>
            <a:endParaRPr/>
          </a:p>
        </p:txBody>
      </p:sp>
      <p:sp>
        <p:nvSpPr>
          <p:cNvPr id="305" name="Google Shape;305;p32"/>
          <p:cNvSpPr/>
          <p:nvPr/>
        </p:nvSpPr>
        <p:spPr>
          <a:xfrm>
            <a:off x="2442179" y="2226400"/>
            <a:ext cx="1538100" cy="45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mean pooling</a:t>
            </a:r>
            <a:endParaRPr/>
          </a:p>
        </p:txBody>
      </p:sp>
      <p:cxnSp>
        <p:nvCxnSpPr>
          <p:cNvPr id="306" name="Google Shape;306;p32"/>
          <p:cNvCxnSpPr>
            <a:stCxn id="300" idx="2"/>
            <a:endCxn id="304" idx="0"/>
          </p:cNvCxnSpPr>
          <p:nvPr/>
        </p:nvCxnSpPr>
        <p:spPr>
          <a:xfrm>
            <a:off x="1181004" y="1939763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32"/>
          <p:cNvCxnSpPr/>
          <p:nvPr/>
        </p:nvCxnSpPr>
        <p:spPr>
          <a:xfrm>
            <a:off x="1333404" y="2092163"/>
            <a:ext cx="0" cy="32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Performance of All Models</a:t>
            </a:r>
            <a:endParaRPr/>
          </a:p>
        </p:txBody>
      </p:sp>
      <p:sp>
        <p:nvSpPr>
          <p:cNvPr id="313" name="Google Shape;31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314" name="Google Shape;314;p33"/>
          <p:cNvPicPr preferRelativeResize="0"/>
          <p:nvPr/>
        </p:nvPicPr>
        <p:blipFill rotWithShape="1">
          <a:blip r:embed="rId3">
            <a:alphaModFix/>
          </a:blip>
          <a:srcRect b="2105" l="0" r="0" t="0"/>
          <a:stretch/>
        </p:blipFill>
        <p:spPr>
          <a:xfrm>
            <a:off x="852725" y="1017725"/>
            <a:ext cx="7438551" cy="3740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 on Campaign only (SAGA C1~C8)</a:t>
            </a:r>
            <a:endParaRPr/>
          </a:p>
        </p:txBody>
      </p:sp>
      <p:pic>
        <p:nvPicPr>
          <p:cNvPr id="320" name="Google Shape;32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050" y="1180226"/>
            <a:ext cx="8197899" cy="27830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34"/>
          <p:cNvSpPr txBox="1"/>
          <p:nvPr>
            <p:ph type="title"/>
          </p:nvPr>
        </p:nvSpPr>
        <p:spPr>
          <a:xfrm>
            <a:off x="473050" y="4125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Fixed -&gt; train:C2,4,6 ; test:C1,3,5,7,8</a:t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1272289"/>
            <a:ext cx="7079400" cy="270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 on Original dataset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2300" y="1272289"/>
            <a:ext cx="7079400" cy="2703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3" name="Google Shape;33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Train on Original dataset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/>
          <p:nvPr>
            <p:ph type="title"/>
          </p:nvPr>
        </p:nvSpPr>
        <p:spPr>
          <a:xfrm>
            <a:off x="311700" y="18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TTP dection</a:t>
            </a:r>
            <a:endParaRPr/>
          </a:p>
        </p:txBody>
      </p:sp>
      <p:pic>
        <p:nvPicPr>
          <p:cNvPr id="339" name="Google Shape;3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1750" y="1180125"/>
            <a:ext cx="4413875" cy="1758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0" name="Google Shape;34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825" y="2747300"/>
            <a:ext cx="7934325" cy="1771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1" name="Google Shape;34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0225" y="755900"/>
            <a:ext cx="7503550" cy="1824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My method Anamoly Detection</a:t>
            </a:r>
            <a:endParaRPr/>
          </a:p>
        </p:txBody>
      </p:sp>
      <p:pic>
        <p:nvPicPr>
          <p:cNvPr id="347" name="Google Shape;34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2088" y="1873038"/>
            <a:ext cx="4859825" cy="1397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50" y="1323975"/>
            <a:ext cx="6515100" cy="2495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/>
          <p:nvPr>
            <p:ph type="title"/>
          </p:nvPr>
        </p:nvSpPr>
        <p:spPr>
          <a:xfrm>
            <a:off x="311700" y="148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</a:t>
            </a:r>
            <a:endParaRPr/>
          </a:p>
        </p:txBody>
      </p:sp>
      <p:pic>
        <p:nvPicPr>
          <p:cNvPr id="359" name="Google Shape;35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8837" y="721450"/>
            <a:ext cx="4666324" cy="4130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/>
          <p:nvPr>
            <p:ph type="title"/>
          </p:nvPr>
        </p:nvSpPr>
        <p:spPr>
          <a:xfrm>
            <a:off x="311700" y="1487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Anomaly Detection</a:t>
            </a:r>
            <a:endParaRPr/>
          </a:p>
        </p:txBody>
      </p:sp>
      <p:pic>
        <p:nvPicPr>
          <p:cNvPr id="365" name="Google Shape;36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5987" y="721450"/>
            <a:ext cx="4666324" cy="41305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6" name="Google Shape;366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075" y="1234650"/>
            <a:ext cx="3861187" cy="26742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 txBox="1"/>
          <p:nvPr>
            <p:ph type="title"/>
          </p:nvPr>
        </p:nvSpPr>
        <p:spPr>
          <a:xfrm>
            <a:off x="311700" y="118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</a:t>
            </a:r>
            <a:endParaRPr/>
          </a:p>
        </p:txBody>
      </p:sp>
      <p:pic>
        <p:nvPicPr>
          <p:cNvPr id="372" name="Google Shape;37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8574" y="691148"/>
            <a:ext cx="5146849" cy="4104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3"/>
          <p:cNvSpPr txBox="1"/>
          <p:nvPr>
            <p:ph type="title"/>
          </p:nvPr>
        </p:nvSpPr>
        <p:spPr>
          <a:xfrm>
            <a:off x="311700" y="118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Detection </a:t>
            </a:r>
            <a:endParaRPr/>
          </a:p>
        </p:txBody>
      </p:sp>
      <p:pic>
        <p:nvPicPr>
          <p:cNvPr id="378" name="Google Shape;37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7149" y="691148"/>
            <a:ext cx="5146849" cy="4104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9" name="Google Shape;379;p43"/>
          <p:cNvSpPr/>
          <p:nvPr/>
        </p:nvSpPr>
        <p:spPr>
          <a:xfrm>
            <a:off x="3997150" y="2454575"/>
            <a:ext cx="1606500" cy="777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43"/>
          <p:cNvSpPr txBox="1"/>
          <p:nvPr>
            <p:ph type="title"/>
          </p:nvPr>
        </p:nvSpPr>
        <p:spPr>
          <a:xfrm>
            <a:off x="3151725" y="2615675"/>
            <a:ext cx="692400" cy="455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Test</a:t>
            </a:r>
            <a:endParaRPr sz="1600"/>
          </a:p>
        </p:txBody>
      </p:sp>
      <p:sp>
        <p:nvSpPr>
          <p:cNvPr id="381" name="Google Shape;381;p43"/>
          <p:cNvSpPr txBox="1"/>
          <p:nvPr>
            <p:ph type="title"/>
          </p:nvPr>
        </p:nvSpPr>
        <p:spPr>
          <a:xfrm>
            <a:off x="3151725" y="4182625"/>
            <a:ext cx="692400" cy="4557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Test</a:t>
            </a:r>
            <a:endParaRPr sz="1600"/>
          </a:p>
        </p:txBody>
      </p:sp>
      <p:sp>
        <p:nvSpPr>
          <p:cNvPr id="382" name="Google Shape;382;p43"/>
          <p:cNvSpPr/>
          <p:nvPr/>
        </p:nvSpPr>
        <p:spPr>
          <a:xfrm>
            <a:off x="3987046" y="4001317"/>
            <a:ext cx="1606500" cy="777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8" name="Google Shape;38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9275"/>
            <a:ext cx="8839200" cy="204495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 txBox="1"/>
          <p:nvPr>
            <p:ph type="title"/>
          </p:nvPr>
        </p:nvSpPr>
        <p:spPr>
          <a:xfrm>
            <a:off x="311700" y="18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CHT</a:t>
            </a:r>
            <a:endParaRPr/>
          </a:p>
        </p:txBody>
      </p:sp>
      <p:pic>
        <p:nvPicPr>
          <p:cNvPr id="394" name="Google Shape;3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925" y="856150"/>
            <a:ext cx="8058150" cy="3781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686" y="195987"/>
            <a:ext cx="3498625" cy="4751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6" name="Google Shape;4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863" y="1017725"/>
            <a:ext cx="5423319" cy="38209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