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embeddedFontLst>
    <p:embeddedFont>
      <p:font typeface="Lat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4B27EDC-295F-46FA-B243-79E54FC392A8}">
  <a:tblStyle styleId="{54B27EDC-295F-46FA-B243-79E54FC392A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Lato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Lato-italic.fntdata"/><Relationship Id="rId12" Type="http://schemas.openxmlformats.org/officeDocument/2006/relationships/slide" Target="slides/slide6.xml"/><Relationship Id="rId34" Type="http://schemas.openxmlformats.org/officeDocument/2006/relationships/font" Target="fonts/Lato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Lato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gitlab.inria.fr/pirat-public/manatee" TargetMode="Externa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1.資安與攻擊防護的組織(Team)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2.法國軍備總局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3.法國國防部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4.法國資安公司</a:t>
            </a:r>
            <a:br>
              <a:rPr lang="zh-TW"/>
            </a:br>
            <a:br>
              <a:rPr lang="zh-TW"/>
            </a:br>
            <a:r>
              <a:rPr lang="zh-TW"/>
              <a:t>RAID是</a:t>
            </a:r>
            <a:r>
              <a:rPr lang="zh-TW">
                <a:solidFill>
                  <a:schemeClr val="dk1"/>
                </a:solidFill>
              </a:rPr>
              <a:t>資安領域一個</a:t>
            </a:r>
            <a:r>
              <a:rPr b="1" lang="zh-TW">
                <a:solidFill>
                  <a:schemeClr val="dk1"/>
                </a:solidFill>
              </a:rPr>
              <a:t>頂會</a:t>
            </a:r>
            <a:r>
              <a:rPr lang="zh-TW">
                <a:solidFill>
                  <a:schemeClr val="dk1"/>
                </a:solidFill>
              </a:rPr>
              <a:t>。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fc2d8463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9fc2d8463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120個機器只有99個team有在玩，其中15個設備被玩到鎖住，所以用了backup的15台，但backup有20台所以又有5台沒玩。</a:t>
            </a:r>
            <a:br>
              <a:rPr lang="zh-TW"/>
            </a:br>
            <a:r>
              <a:rPr lang="zh-TW"/>
              <a:t>所以總共沒玩的機器有26個。</a:t>
            </a:r>
            <a:br>
              <a:rPr lang="zh-TW"/>
            </a:br>
            <a:br>
              <a:rPr lang="zh-TW"/>
            </a:br>
            <a:r>
              <a:rPr lang="zh-TW" u="sng">
                <a:solidFill>
                  <a:schemeClr val="hlink"/>
                </a:solidFill>
                <a:hlinkClick r:id="rId2"/>
              </a:rPr>
              <a:t>pirat-public / Manatee · GitLab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fc2d8463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9fc2d8463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240809e4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240809e4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1c4f08fd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1c4f08fd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882f97ae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882f97ae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T1021 T1125 T1068 T1190 T1485 T1114</a:t>
            </a:r>
            <a:br>
              <a:rPr lang="zh-TW"/>
            </a:br>
            <a:r>
              <a:rPr lang="zh-TW"/>
              <a:t>9243</a:t>
            </a:r>
            <a:br>
              <a:rPr lang="zh-TW"/>
            </a:br>
            <a:br>
              <a:rPr lang="zh-TW"/>
            </a:br>
            <a:br>
              <a:rPr lang="zh-TW"/>
            </a:br>
            <a:r>
              <a:rPr lang="zh-TW"/>
              <a:t>T1125  6,845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T1021  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T1068 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T1190 T1485 T1114 0</a:t>
            </a:r>
            <a:br>
              <a:rPr lang="zh-TW">
                <a:solidFill>
                  <a:schemeClr val="dk1"/>
                </a:solidFill>
              </a:rPr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分析audit log裡面的ttp有幾個event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0dd441ca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0dd441ca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c4f08fd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c4f08fd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a2f0b80f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a2f0b80f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1c4f08fd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1c4f08fd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fc2d8463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9fc2d8463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fc2d8463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9fc2d8463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紅色的欄位都是有malicious才會記錄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a1714bc2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a1714bc2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在 SYSCALL 和 EXECVE 類型的紀錄中，我們可以清楚看到被執行的程式：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SYSCALL Log:exe="/usr/bin/id" comm="id"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這行告訴我們，系統呼叫（System Call）執行了 /usr/bin/id 這個執行檔。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EXECVE Log:a0="id" a1="-u"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這紀錄了執行的參數。a0 是指令本身，a1 是參數。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組合起來，使用者執行了 id -u。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id -u 的作用是僅顯示使用者的 ID (User ID)。這是一種非常輕量且明確的「偵察」行為，用來確認當前帳戶的權限級別（例如：是否為 root，UID 0）。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補充證據：Proctitle 解碼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PROCTITLE Log: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proctitle=6964002D75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這是執行指令的十六進位編碼。如果將其解碼：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69 -&gt; 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64 -&gt; 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00 -&gt; (null separator)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2D -&gt; 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75 -&gt; 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解碼結果再次證實為：id -u。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a2f0b80f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a2f0b80f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在 SYSCALL 和 EXECVE 類型的紀錄中，我們可以清楚看到被執行的程式：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SYSCALL Log:exe="/usr/bin/id" comm="id"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這行告訴我們，系統呼叫（System Call）執行了 /usr/bin/id 這個執行檔。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EXECVE Log:a0="id" a1="-u"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這紀錄了執行的參數。a0 是指令本身，a1 是參數。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組合起來，使用者執行了 id -u。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id -u 的作用是僅顯示使用者的 ID (User ID)。這是一種非常輕量且明確的「偵察」行為，用來確認當前帳戶的權限級別（例如：是否為 root，UID 0）。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補充證據：Proctitle 解碼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PROCTITLE Log: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proctitle=6964002D75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這是執行指令的十六進位編碼。如果將其解碼：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69 -&gt; 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64 -&gt; 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00 -&gt; (null separator)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2D -&gt; 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75 -&gt; 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解碼結果再次證實為：id -u。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a2f0b80fc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a2f0b80fc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在 SYSCALL 和 EXECVE 類型的紀錄中，我們可以清楚看到被執行的程式：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SYSCALL Log:exe="/usr/bin/id" comm="id"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這行告訴我們，系統呼叫（System Call）執行了 /usr/bin/id 這個執行檔。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EXECVE Log:a0="id" a1="-u"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這紀錄了執行的參數。a0 是指令本身，a1 是參數。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組合起來，使用者執行了 id -u。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id -u 的作用是僅顯示使用者的 ID (User ID)。這是一種非常輕量且明確的「偵察」行為，用來確認當前帳戶的權限級別（例如：是否為 root，UID 0）。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補充證據：Proctitle 解碼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PROCTITLE Log: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proctitle=6964002D75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這是執行指令的十六進位編碼。如果將其解碼：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69 -&gt; 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64 -&gt; 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00 -&gt; (null separator)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2D -&gt; 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75 -&gt; 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解碼結果再次證實為：id -u。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a2f0b80f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aa2f0b80f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在 SYSCALL 和 EXECVE 類型的紀錄中，我們可以清楚看到被執行的程式：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SYSCALL Log:exe="/usr/bin/id" comm="id"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這行告訴我們，系統呼叫（System Call）執行了 /usr/bin/id 這個執行檔。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EXECVE Log:a0="id" a1="-u"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這紀錄了執行的參數。a0 是指令本身，a1 是參數。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組合起來，使用者執行了 id -u。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id -u 的作用是僅顯示使用者的 ID (User ID)。這是一種非常輕量且明確的「偵察」行為，用來確認當前帳戶的權限級別（例如：是否為 root，UID 0）。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補充證據：Proctitle 解碼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PROCTITLE Log: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proctitle=6964002D75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這是執行指令的十六進位編碼。如果將其解碼：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69 -&gt; 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64 -&gt; 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00 -&gt; (null separator)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2D -&gt; 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75 -&gt; 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解碼結果再次證實為：id -u。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a2f0b80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aa2f0b80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a2f0b80fc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aa2f0b80fc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第一段日誌是系統呼叫（System Call）的審計記錄：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type=SYSCALL ... comm="nmap" exe="/usr/bin/nmap" ... key="network_socket_created" ... syscall=41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comm="nmap" / exe="/usr/bin/nmap": 這是最直接的證據。Nmap (Network Mapper) 是全球最著名的網路掃描與嗅探工具。雖然它可以用於合法的網路管理，但攻擊者也必定會使用它來探測目標環境。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syscall=41: 在 x86_64 架構中，41 代表 socket。這表示該程式正在建立網路連線插座（Socket）。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key="network_socket_created": 這是一個 Auditd 的規則標籤，說明這個事件觸發了監控「建立網路連線」的規則。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結論： 系統偵測到一個名為 nmap 的程式正在建立網路連線，這是掃描行為的技術基礎。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a2f0b80fc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aa2f0b80fc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第一段日誌是系統呼叫（System Call）的審計記錄：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type=SYSCALL ... comm="nmap" exe="/usr/bin/nmap" ... key="network_socket_created" ... syscall=41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comm="nmap" / exe="/usr/bin/nmap": 這是最直接的證據。Nmap (Network Mapper) 是全球最著名的網路掃描與嗅探工具。雖然它可以用於合法的網路管理，但攻擊者也必定會使用它來探測目標環境。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syscall=41: 在 x86_64 架構中，41 代表 socket。這表示該程式正在建立網路連線插座（Socket）。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key="network_socket_created": 這是一個 Auditd 的規則標籤，說明這個事件觸發了監控「建立網路連線」的規則。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結論： 系統偵測到一個名為 nmap 的程式正在建立網路連線，這是掃描行為的技術基礎。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a2f0b80fc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aa2f0b80fc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a2f0b80fc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aa2f0b80fc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a2f0b80f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aa2f0b80f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aa2f0b80f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aa2f0b80f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bbcd69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abbcd69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abbcd69d4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abbcd69d4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9fc2d8463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9fc2d8463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CasinoLimit: An Offensive Dataset Labeled with MITRE ATT&amp;CK Techniques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797175"/>
            <a:ext cx="8520600" cy="10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/>
              <a:t>Sébastien Kilian (1) , Valérie Viet Triem Tong (1) , Jean-François Lalande (1) , Frédéric Majorczyk (1, 2, 3) , Alexandre Sanchez (1) , Natan Talon (1, 4) , Pierre-Victor Besson (1) , Hélène Orsini (1) , Pierre Lledo (1, 2, 3) , Pierre-François Gimenez (1)</a:t>
            </a:r>
            <a:endParaRPr sz="1400"/>
          </a:p>
        </p:txBody>
      </p:sp>
      <p:sp>
        <p:nvSpPr>
          <p:cNvPr id="56" name="Google Shape;56;p13"/>
          <p:cNvSpPr txBox="1"/>
          <p:nvPr/>
        </p:nvSpPr>
        <p:spPr>
          <a:xfrm>
            <a:off x="1922400" y="3649675"/>
            <a:ext cx="52992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zh-TW" sz="1200">
                <a:solidFill>
                  <a:schemeClr val="dk1"/>
                </a:solidFill>
              </a:rPr>
              <a:t>PIRAT - Protection de l’information et résistances aux attaques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zh-TW" sz="1200">
                <a:solidFill>
                  <a:schemeClr val="dk1"/>
                </a:solidFill>
              </a:rPr>
              <a:t>DGA - Direction générale de l'armement [France]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zh-TW" sz="1200">
                <a:solidFill>
                  <a:schemeClr val="dk1"/>
                </a:solidFill>
              </a:rPr>
              <a:t>Ministère des armées – Ministère de la défense [France] (1946-....)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zh-TW" sz="1200">
                <a:solidFill>
                  <a:schemeClr val="dk1"/>
                </a:solidFill>
              </a:rPr>
              <a:t>Hackuity [Lyon]</a:t>
            </a:r>
            <a:endParaRPr sz="1200"/>
          </a:p>
        </p:txBody>
      </p:sp>
      <p:sp>
        <p:nvSpPr>
          <p:cNvPr id="57" name="Google Shape;57;p13"/>
          <p:cNvSpPr txBox="1"/>
          <p:nvPr/>
        </p:nvSpPr>
        <p:spPr>
          <a:xfrm>
            <a:off x="4898700" y="4589400"/>
            <a:ext cx="4245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200">
                <a:solidFill>
                  <a:srgbClr val="303030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The 28th International Symposium on Research in Attacks, Intrusions and Defenses (RAID 2025)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The CasinoLimit Challenge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4328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TW" sz="1400">
                <a:solidFill>
                  <a:schemeClr val="dk1"/>
                </a:solidFill>
              </a:rPr>
              <a:t>Each of the 120 teams was allocated an instance, An instance is composed of 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 sz="1400">
                <a:solidFill>
                  <a:schemeClr val="dk1"/>
                </a:solidFill>
              </a:rPr>
              <a:t>1 gateway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 sz="1400">
                <a:solidFill>
                  <a:schemeClr val="dk1"/>
                </a:solidFill>
              </a:rPr>
              <a:t>2 hosts running Debian 12 (start and meetingcam)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 sz="1400">
                <a:solidFill>
                  <a:schemeClr val="dk1"/>
                </a:solidFill>
              </a:rPr>
              <a:t>2 hosts running Ubuntu 22.04 (bastion and intranet).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4076" y="1555348"/>
            <a:ext cx="3884026" cy="26106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Overview</a:t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3">
            <a:alphaModFix/>
          </a:blip>
          <a:srcRect b="0" l="3735" r="0" t="0"/>
          <a:stretch/>
        </p:blipFill>
        <p:spPr>
          <a:xfrm>
            <a:off x="5278400" y="432050"/>
            <a:ext cx="3476126" cy="42794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375" y="1212550"/>
            <a:ext cx="4596275" cy="34988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3053725"/>
            <a:ext cx="8520600" cy="19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把Audit Log 只留使用者的指令造成的Log -&gt;TTY Event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透過Manatee去</a:t>
            </a:r>
            <a:r>
              <a:rPr lang="zh-TW">
                <a:solidFill>
                  <a:srgbClr val="FF0000"/>
                </a:solidFill>
              </a:rPr>
              <a:t>自動標記Audit Logs</a:t>
            </a:r>
            <a:r>
              <a:rPr lang="zh-TW">
                <a:solidFill>
                  <a:schemeClr val="dk1"/>
                </a:solidFill>
              </a:rPr>
              <a:t>的TTP以及把Network flows與Process連結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zh-TW">
                <a:solidFill>
                  <a:schemeClr val="dk1"/>
                </a:solidFill>
              </a:rPr>
              <a:t>標記與連結的過程都是經過人工認證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zh-TW">
                <a:solidFill>
                  <a:schemeClr val="dk1"/>
                </a:solidFill>
              </a:rPr>
              <a:t>標記的人工認證會找Junior和Senior Expert做認證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把標記好的Audit log的label傳播至連結到的</a:t>
            </a:r>
            <a:r>
              <a:rPr lang="zh-TW">
                <a:solidFill>
                  <a:schemeClr val="dk1"/>
                </a:solidFill>
              </a:rPr>
              <a:t>Network flows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# Manatee的標記方法是通過已知的指令與TTP做連結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650" y="1122775"/>
            <a:ext cx="8716677" cy="1825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1" name="Google Shape;81;p16"/>
          <p:cNvSpPr txBox="1"/>
          <p:nvPr/>
        </p:nvSpPr>
        <p:spPr>
          <a:xfrm>
            <a:off x="1546625" y="72917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1.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2744800" y="72917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2</a:t>
            </a:r>
            <a:r>
              <a:rPr lang="zh-TW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6611950" y="72917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3</a:t>
            </a:r>
            <a:r>
              <a:rPr lang="zh-TW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525" y="501125"/>
            <a:ext cx="8014952" cy="41412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1" name="Google Shape;91;p17"/>
          <p:cNvSpPr/>
          <p:nvPr/>
        </p:nvSpPr>
        <p:spPr>
          <a:xfrm>
            <a:off x="1830200" y="2948700"/>
            <a:ext cx="2392800" cy="175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" name="Google Shape;92;p17"/>
          <p:cNvCxnSpPr>
            <a:stCxn id="91" idx="3"/>
          </p:cNvCxnSpPr>
          <p:nvPr/>
        </p:nvCxnSpPr>
        <p:spPr>
          <a:xfrm flipH="1" rot="10800000">
            <a:off x="4223000" y="1815300"/>
            <a:ext cx="3123900" cy="12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" name="Google Shape;93;p17"/>
          <p:cNvSpPr/>
          <p:nvPr/>
        </p:nvSpPr>
        <p:spPr>
          <a:xfrm>
            <a:off x="7403325" y="645050"/>
            <a:ext cx="1136700" cy="2046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Casino - Labeled Flow</a:t>
            </a:r>
            <a:endParaRPr/>
          </a:p>
        </p:txBody>
      </p:sp>
      <p:grpSp>
        <p:nvGrpSpPr>
          <p:cNvPr id="100" name="Google Shape;100;p18"/>
          <p:cNvGrpSpPr/>
          <p:nvPr/>
        </p:nvGrpSpPr>
        <p:grpSpPr>
          <a:xfrm>
            <a:off x="564025" y="990266"/>
            <a:ext cx="8024953" cy="3490524"/>
            <a:chOff x="564025" y="1115412"/>
            <a:chExt cx="8024953" cy="3490524"/>
          </a:xfrm>
        </p:grpSpPr>
        <p:pic>
          <p:nvPicPr>
            <p:cNvPr id="101" name="Google Shape;101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64025" y="1115412"/>
              <a:ext cx="3581926" cy="3490524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02" name="Google Shape;102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980978" y="1183162"/>
              <a:ext cx="2608000" cy="3355025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cxnSp>
          <p:nvCxnSpPr>
            <p:cNvPr id="103" name="Google Shape;103;p18"/>
            <p:cNvCxnSpPr>
              <a:stCxn id="101" idx="3"/>
              <a:endCxn id="102" idx="1"/>
            </p:cNvCxnSpPr>
            <p:nvPr/>
          </p:nvCxnSpPr>
          <p:spPr>
            <a:xfrm>
              <a:off x="4145951" y="2860674"/>
              <a:ext cx="1835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4" name="Google Shape;104;p18"/>
            <p:cNvSpPr txBox="1"/>
            <p:nvPr/>
          </p:nvSpPr>
          <p:spPr>
            <a:xfrm>
              <a:off x="4242063" y="2349900"/>
              <a:ext cx="1642800" cy="44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1"/>
                  </a:solidFill>
                </a:rPr>
                <a:t>Linked events</a:t>
              </a:r>
              <a:endParaRPr sz="1800">
                <a:solidFill>
                  <a:schemeClr val="dk1"/>
                </a:solidFill>
              </a:endParaRPr>
            </a:p>
          </p:txBody>
        </p:sp>
      </p:grpSp>
      <p:sp>
        <p:nvSpPr>
          <p:cNvPr id="105" name="Google Shape;105;p18"/>
          <p:cNvSpPr txBox="1"/>
          <p:nvPr/>
        </p:nvSpPr>
        <p:spPr>
          <a:xfrm>
            <a:off x="5772460" y="4477137"/>
            <a:ext cx="3000000" cy="615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Total benign events: 32365532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Total malicious events: 62609868</a:t>
            </a:r>
            <a:endParaRPr/>
          </a:p>
        </p:txBody>
      </p:sp>
      <p:sp>
        <p:nvSpPr>
          <p:cNvPr id="106" name="Google Shape;106;p18"/>
          <p:cNvSpPr txBox="1"/>
          <p:nvPr/>
        </p:nvSpPr>
        <p:spPr>
          <a:xfrm>
            <a:off x="842860" y="4527912"/>
            <a:ext cx="3000000" cy="615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Total benign processes: </a:t>
            </a:r>
            <a:r>
              <a:rPr lang="zh-TW"/>
              <a:t>404,637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Total malicious processes: </a:t>
            </a:r>
            <a:r>
              <a:rPr lang="zh-TW">
                <a:solidFill>
                  <a:schemeClr val="dk1"/>
                </a:solidFill>
              </a:rPr>
              <a:t>9243</a:t>
            </a:r>
            <a:endParaRPr b="1"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13" name="Google Shape;11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5525" y="1269963"/>
            <a:ext cx="2569350" cy="33668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4" name="Google Shape;11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875" y="1112950"/>
            <a:ext cx="4012975" cy="36809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15" name="Google Shape;115;p19"/>
          <p:cNvCxnSpPr>
            <a:stCxn id="114" idx="3"/>
            <a:endCxn id="113" idx="1"/>
          </p:cNvCxnSpPr>
          <p:nvPr/>
        </p:nvCxnSpPr>
        <p:spPr>
          <a:xfrm>
            <a:off x="4460850" y="2953413"/>
            <a:ext cx="1634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6" name="Google Shape;116;p19"/>
          <p:cNvSpPr txBox="1"/>
          <p:nvPr/>
        </p:nvSpPr>
        <p:spPr>
          <a:xfrm>
            <a:off x="4456788" y="2455300"/>
            <a:ext cx="16428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Linked events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Casino - System labels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23" name="Google Shape;123;p20"/>
          <p:cNvGraphicFramePr/>
          <p:nvPr/>
        </p:nvGraphicFramePr>
        <p:xfrm>
          <a:off x="260575" y="1562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{54B27EDC-295F-46FA-B243-79E54FC392A8}</a:tableStyleId>
              </a:tblPr>
              <a:tblGrid>
                <a:gridCol w="964875"/>
                <a:gridCol w="4661825"/>
                <a:gridCol w="2996150"/>
              </a:tblGrid>
              <a:tr h="428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chemeClr val="dk1"/>
                          </a:solidFill>
                        </a:rPr>
                        <a:t>欄位 (Field)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chemeClr val="dk1"/>
                          </a:solidFill>
                        </a:rPr>
                        <a:t>說明 (Description)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chemeClr val="dk1"/>
                          </a:solidFill>
                        </a:rPr>
                        <a:t>範例值 (Example Value)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9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chemeClr val="dk1"/>
                          </a:solidFill>
                        </a:rPr>
                        <a:t>id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唯一識別此事件或技術實例的 ID。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chemeClr val="dk1"/>
                          </a:solidFill>
                        </a:rPr>
                        <a:t>abf0bb9343e74b8987b696ae0f21c171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chemeClr val="dk1"/>
                          </a:solidFill>
                        </a:rPr>
                        <a:t>technique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MITRE ATT&amp;CK 技術代號與名稱，代表此事件涉及的攻擊手法。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chemeClr val="dk1"/>
                          </a:solidFill>
                        </a:rPr>
                        <a:t>T1033: System Owner/User Discovery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chemeClr val="dk1"/>
                          </a:solidFill>
                        </a:rPr>
                        <a:t>event_uids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相關事件的唯一識別碼列表，通常用於追蹤具體觸發的事件。&lt;auditd_id&gt;-&lt;machine_name&gt;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chemeClr val="dk1"/>
                          </a:solidFill>
                        </a:rPr>
                        <a:t>["49322-start"]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chemeClr val="dk1"/>
                          </a:solidFill>
                        </a:rPr>
                        <a:t>instance_name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執行者。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chemeClr val="dk1"/>
                          </a:solidFill>
                        </a:rPr>
                        <a:t>aerien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4" name="Google Shape;124;p20"/>
          <p:cNvSpPr txBox="1"/>
          <p:nvPr/>
        </p:nvSpPr>
        <p:spPr>
          <a:xfrm>
            <a:off x="0" y="4533625"/>
            <a:ext cx="9144000" cy="523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type=PATH msg=audit(1715994529.336:94050): item=0 name="/etc/shadow" inode=4842 dev=08:01 mode=0100640 ouid=0 ogid=42 rdev=00:00 nametype=NORMAL cap_fp=0 cap_fi=0 cap_fe=0 cap_fver=0 cap_frootid=0 OUID="root" OGID="shadow"......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5" name="Google Shape;125;p20"/>
          <p:cNvSpPr/>
          <p:nvPr/>
        </p:nvSpPr>
        <p:spPr>
          <a:xfrm>
            <a:off x="5887275" y="2991250"/>
            <a:ext cx="3004200" cy="602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6" name="Google Shape;126;p20"/>
          <p:cNvCxnSpPr>
            <a:stCxn id="125" idx="3"/>
          </p:cNvCxnSpPr>
          <p:nvPr/>
        </p:nvCxnSpPr>
        <p:spPr>
          <a:xfrm>
            <a:off x="8891475" y="3292300"/>
            <a:ext cx="142200" cy="1242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Casino - System labels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33" name="Google Shape;133;p21"/>
          <p:cNvGraphicFramePr/>
          <p:nvPr/>
        </p:nvGraphicFramePr>
        <p:xfrm>
          <a:off x="260575" y="1562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{54B27EDC-295F-46FA-B243-79E54FC392A8}</a:tableStyleId>
              </a:tblPr>
              <a:tblGrid>
                <a:gridCol w="964875"/>
                <a:gridCol w="4661825"/>
                <a:gridCol w="2996150"/>
              </a:tblGrid>
              <a:tr h="428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chemeClr val="dk1"/>
                          </a:solidFill>
                        </a:rPr>
                        <a:t>欄位 (Field)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chemeClr val="dk1"/>
                          </a:solidFill>
                        </a:rPr>
                        <a:t>說明 (Description)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chemeClr val="dk1"/>
                          </a:solidFill>
                        </a:rPr>
                        <a:t>範例值 (Example Value)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9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chemeClr val="dk1"/>
                          </a:solidFill>
                        </a:rPr>
                        <a:t>id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唯一識別此事件或技術實例的 ID。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chemeClr val="dk1"/>
                          </a:solidFill>
                        </a:rPr>
                        <a:t>abf0bb9343e74b8987b696ae0f21c171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chemeClr val="dk1"/>
                          </a:solidFill>
                        </a:rPr>
                        <a:t>technique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MITRE ATT&amp;CK 技術代號與名稱，代表此事件涉及的攻擊手法。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chemeClr val="dk1"/>
                          </a:solidFill>
                        </a:rPr>
                        <a:t>T1033: System Owner/User Discovery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chemeClr val="dk1"/>
                          </a:solidFill>
                        </a:rPr>
                        <a:t>event_uids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相關事件的唯一識別碼列表，通常用於追蹤具體觸發的事件。&lt;auditd_id&gt;-&lt;machine_name&gt;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chemeClr val="dk1"/>
                          </a:solidFill>
                        </a:rPr>
                        <a:t>["49322-start"]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chemeClr val="dk1"/>
                          </a:solidFill>
                        </a:rPr>
                        <a:t>instance_name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執行者。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chemeClr val="dk1"/>
                          </a:solidFill>
                        </a:rPr>
                        <a:t>aerien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4" name="Google Shape;134;p21"/>
          <p:cNvSpPr txBox="1"/>
          <p:nvPr/>
        </p:nvSpPr>
        <p:spPr>
          <a:xfrm>
            <a:off x="0" y="4533625"/>
            <a:ext cx="9144000" cy="523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type=PATH msg=audit(1715994529.336:94050): item=0 name="/etc/shadow" inode=4842 dev=08:01 mode=0100640 ouid=0 ogid=42 rdev=00:00 nametype=NORMAL cap_fp=0 cap_fi=0 cap_fe=0 cap_fver=0 cap_frootid=0 OUID="root" OGID="shadow"......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35" name="Google Shape;135;p21"/>
          <p:cNvCxnSpPr>
            <a:stCxn id="134" idx="0"/>
            <a:endCxn id="136" idx="1"/>
          </p:cNvCxnSpPr>
          <p:nvPr/>
        </p:nvCxnSpPr>
        <p:spPr>
          <a:xfrm rot="-5400000">
            <a:off x="4308000" y="2954425"/>
            <a:ext cx="1843200" cy="13152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" name="Google Shape;136;p21"/>
          <p:cNvSpPr/>
          <p:nvPr/>
        </p:nvSpPr>
        <p:spPr>
          <a:xfrm>
            <a:off x="5887275" y="2389300"/>
            <a:ext cx="3004200" cy="602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TW"/>
              <a:t>Casino - System labels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143" name="Google Shape;143;p22"/>
          <p:cNvGraphicFramePr/>
          <p:nvPr/>
        </p:nvGraphicFramePr>
        <p:xfrm>
          <a:off x="222050" y="1343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{54B27EDC-295F-46FA-B243-79E54FC392A8}</a:tableStyleId>
              </a:tblPr>
              <a:tblGrid>
                <a:gridCol w="977700"/>
                <a:gridCol w="4723775"/>
                <a:gridCol w="3035975"/>
              </a:tblGrid>
              <a:tr h="604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chemeClr val="dk1"/>
                          </a:solidFill>
                        </a:rPr>
                        <a:t>欄位 (Field)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chemeClr val="dk1"/>
                          </a:solidFill>
                        </a:rPr>
                        <a:t>說明 (Description)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chemeClr val="dk1"/>
                          </a:solidFill>
                        </a:rPr>
                        <a:t>範例值 (Example Value)</a:t>
                      </a:r>
                      <a:endParaRPr b="1" i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4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chemeClr val="dk1"/>
                          </a:solidFill>
                        </a:rPr>
                        <a:t>explanation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人工或系統對該事件的補充說明或推論。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zh-TW" sz="1100">
                          <a:solidFill>
                            <a:schemeClr val="dk1"/>
                          </a:solidFill>
                        </a:rPr>
                        <a:t>(空白)</a:t>
                      </a:r>
                      <a:endParaRPr i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chemeClr val="dk1"/>
                          </a:solidFill>
                        </a:rPr>
                        <a:t>doubt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是否對該標記結果存疑，布林值 (true/false)。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chemeClr val="dk1"/>
                          </a:solidFill>
                        </a:rPr>
                        <a:t>false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chemeClr val="dk1"/>
                          </a:solidFill>
                        </a:rPr>
                        <a:t>labelled_by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標記來源與時間，通常記錄由哪個系統或人員在何時進行標記。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chemeClr val="dk1"/>
                          </a:solidFill>
                        </a:rPr>
                        <a:t>[["auto-triggers", "12/09/2024 8:00:00"]]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chemeClr val="dk1"/>
                          </a:solidFill>
                        </a:rPr>
                        <a:t>rejected_by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若該標記被否決，記錄否決者資訊；若為空表示未被否決。(</a:t>
                      </a:r>
                      <a:r>
                        <a:rPr lang="zh-TW">
                          <a:solidFill>
                            <a:schemeClr val="dk1"/>
                          </a:solidFill>
                        </a:rPr>
                        <a:t>目前沒用到)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chemeClr val="dk1"/>
                          </a:solidFill>
                        </a:rPr>
                        <a:t>[]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Casino - Labeled Flows</a:t>
            </a:r>
            <a:endParaRPr/>
          </a:p>
        </p:txBody>
      </p:sp>
      <p:graphicFrame>
        <p:nvGraphicFramePr>
          <p:cNvPr id="149" name="Google Shape;149;p23"/>
          <p:cNvGraphicFramePr/>
          <p:nvPr/>
        </p:nvGraphicFramePr>
        <p:xfrm>
          <a:off x="908850" y="1057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{54B27EDC-295F-46FA-B243-79E54FC392A8}</a:tableStyleId>
              </a:tblPr>
              <a:tblGrid>
                <a:gridCol w="1275325"/>
                <a:gridCol w="3391800"/>
                <a:gridCol w="2659175"/>
              </a:tblGrid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>
                          <a:solidFill>
                            <a:srgbClr val="1B1C1D"/>
                          </a:solidFill>
                        </a:rPr>
                        <a:t>欄位 (Field)</a:t>
                      </a:r>
                      <a:endParaRPr b="1" sz="12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>
                          <a:solidFill>
                            <a:srgbClr val="1B1C1D"/>
                          </a:solidFill>
                        </a:rPr>
                        <a:t>說明 (Description)</a:t>
                      </a:r>
                      <a:endParaRPr b="1" sz="12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>
                          <a:solidFill>
                            <a:srgbClr val="1B1C1D"/>
                          </a:solidFill>
                        </a:rPr>
                        <a:t>範例值 (Example Value)</a:t>
                      </a:r>
                      <a:endParaRPr b="1" sz="12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>
                          <a:solidFill>
                            <a:srgbClr val="1B1C1D"/>
                          </a:solidFill>
                        </a:rPr>
                        <a:t>machine_name</a:t>
                      </a:r>
                      <a:endParaRPr b="1" sz="12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rgbClr val="1B1C1D"/>
                          </a:solidFill>
                        </a:rPr>
                        <a:t>產生或觀察到事件的主機名稱（hostname / sensor ID）。</a:t>
                      </a:r>
                      <a:endParaRPr sz="12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bastion.casinolimit.bzh</a:t>
                      </a:r>
                      <a:r>
                        <a:rPr lang="zh-TW" sz="1200">
                          <a:solidFill>
                            <a:srgbClr val="1B1C1D"/>
                          </a:solidFill>
                        </a:rPr>
                        <a:t>、</a:t>
                      </a:r>
                      <a:r>
                        <a:rPr lang="zh-TW" sz="12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meetingcam</a:t>
                      </a:r>
                      <a:r>
                        <a:rPr lang="zh-TW" sz="1200">
                          <a:solidFill>
                            <a:srgbClr val="1B1C1D"/>
                          </a:solidFill>
                        </a:rPr>
                        <a:t>、</a:t>
                      </a:r>
                      <a:r>
                        <a:rPr lang="zh-TW" sz="12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start</a:t>
                      </a:r>
                      <a:endParaRPr sz="12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>
                          <a:solidFill>
                            <a:srgbClr val="1B1C1D"/>
                          </a:solidFill>
                        </a:rPr>
                        <a:t>timestamp</a:t>
                      </a:r>
                      <a:endParaRPr b="1" sz="12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rgbClr val="1B1C1D"/>
                          </a:solidFill>
                        </a:rPr>
                        <a:t>事件發生的精確時間（日期 + 時分秒 + 毫秒）。</a:t>
                      </a:r>
                      <a:endParaRPr sz="12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2024-05-17 23:57:14.557</a:t>
                      </a:r>
                      <a:endParaRPr sz="12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>
                          <a:solidFill>
                            <a:srgbClr val="1B1C1D"/>
                          </a:solidFill>
                        </a:rPr>
                        <a:t>duration</a:t>
                      </a:r>
                      <a:endParaRPr b="1" sz="12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rgbClr val="1B1C1D"/>
                          </a:solidFill>
                        </a:rPr>
                        <a:t>此網路連線或事件持續的時間。格式通常為 HH:MM:SS.sss。</a:t>
                      </a:r>
                      <a:endParaRPr sz="12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00:00:00.000</a:t>
                      </a:r>
                      <a:r>
                        <a:rPr lang="zh-TW" sz="1200">
                          <a:solidFill>
                            <a:srgbClr val="1B1C1D"/>
                          </a:solidFill>
                        </a:rPr>
                        <a:t>（表示非常短或瞬間的掃描連線）</a:t>
                      </a:r>
                      <a:endParaRPr sz="12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>
                          <a:solidFill>
                            <a:srgbClr val="1B1C1D"/>
                          </a:solidFill>
                        </a:rPr>
                        <a:t>src_ip</a:t>
                      </a:r>
                      <a:endParaRPr b="1" sz="12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rgbClr val="1B1C1D"/>
                          </a:solidFill>
                        </a:rPr>
                        <a:t>Source IP — 來源端的 IP 位址，發起連線的主機。</a:t>
                      </a:r>
                      <a:endParaRPr sz="12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10.35.180.10</a:t>
                      </a:r>
                      <a:endParaRPr sz="12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200">
                          <a:solidFill>
                            <a:srgbClr val="1B1C1D"/>
                          </a:solidFill>
                        </a:rPr>
                        <a:t>dst_ip</a:t>
                      </a:r>
                      <a:endParaRPr b="1" sz="12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rgbClr val="1B1C1D"/>
                          </a:solidFill>
                        </a:rPr>
                        <a:t>Destination IP — 目標端的 IP 位址，連線的接收者。</a:t>
                      </a:r>
                      <a:endParaRPr sz="12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10.35.180.20</a:t>
                      </a:r>
                      <a:endParaRPr sz="12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" name="Google Shape;15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TW"/>
              <a:t>Casino - Labeled Flows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</p:txBody>
      </p:sp>
      <p:graphicFrame>
        <p:nvGraphicFramePr>
          <p:cNvPr id="156" name="Google Shape;156;p24"/>
          <p:cNvGraphicFramePr/>
          <p:nvPr/>
        </p:nvGraphicFramePr>
        <p:xfrm>
          <a:off x="94335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{54B27EDC-295F-46FA-B243-79E54FC392A8}</a:tableStyleId>
              </a:tblPr>
              <a:tblGrid>
                <a:gridCol w="1263300"/>
                <a:gridCol w="3359850"/>
                <a:gridCol w="2634125"/>
              </a:tblGrid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B1C1D"/>
                          </a:solidFill>
                        </a:rPr>
                        <a:t>欄位 (Field)</a:t>
                      </a:r>
                      <a:endParaRPr b="1" sz="11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B1C1D"/>
                          </a:solidFill>
                        </a:rPr>
                        <a:t>說明 (Description)</a:t>
                      </a:r>
                      <a:endParaRPr b="1" sz="11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B1C1D"/>
                          </a:solidFill>
                        </a:rPr>
                        <a:t>範例值 (Example Value)</a:t>
                      </a:r>
                      <a:endParaRPr b="1" sz="1100">
                        <a:solidFill>
                          <a:srgbClr val="1B1C1D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05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B1C1D"/>
                          </a:solidFill>
                        </a:rPr>
                        <a:t>src_port</a:t>
                      </a:r>
                      <a:endParaRPr b="1" sz="11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B1C1D"/>
                          </a:solidFill>
                        </a:rPr>
                        <a:t>Source Port — 來源端口。</a:t>
                      </a:r>
                      <a:endParaRPr sz="11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55736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B1C1D"/>
                          </a:solidFill>
                        </a:rPr>
                        <a:t>dst_port</a:t>
                      </a:r>
                      <a:endParaRPr b="1" sz="11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B1C1D"/>
                          </a:solidFill>
                        </a:rPr>
                        <a:t>Destination Port — 目標端口號。</a:t>
                      </a:r>
                      <a:endParaRPr sz="11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2718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B1C1D"/>
                          </a:solidFill>
                        </a:rPr>
                        <a:t>bytes</a:t>
                      </a:r>
                      <a:endParaRPr b="1" sz="11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B1C1D"/>
                          </a:solidFill>
                        </a:rPr>
                        <a:t>此連線傳輸的總位元組數（資料大小）。</a:t>
                      </a:r>
                      <a:endParaRPr sz="11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60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B1C1D"/>
                          </a:solidFill>
                        </a:rPr>
                        <a:t>packets</a:t>
                      </a:r>
                      <a:endParaRPr b="1" sz="11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B1C1D"/>
                          </a:solidFill>
                        </a:rPr>
                        <a:t>傳送的封包（packet）數量。</a:t>
                      </a:r>
                      <a:endParaRPr sz="11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B1C1D"/>
                          </a:solidFill>
                        </a:rPr>
                        <a:t>protocol</a:t>
                      </a:r>
                      <a:endParaRPr b="1" sz="11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B1C1D"/>
                          </a:solidFill>
                        </a:rPr>
                        <a:t>使用的網路通訊協定，例如 TCP、UDP、ICMP 等。</a:t>
                      </a:r>
                      <a:endParaRPr sz="11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TCP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FF0000"/>
                          </a:solidFill>
                        </a:rPr>
                        <a:t>proctitles</a:t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B1C1D"/>
                          </a:solidFill>
                        </a:rPr>
                        <a:t>觸發這個連線的</a:t>
                      </a:r>
                      <a:r>
                        <a:rPr lang="zh-TW" sz="1100">
                          <a:solidFill>
                            <a:srgbClr val="1B1C1D"/>
                          </a:solidFill>
                        </a:rPr>
                        <a:t>程序</a:t>
                      </a:r>
                      <a:r>
                        <a:rPr lang="zh-TW" sz="1100">
                          <a:solidFill>
                            <a:srgbClr val="1B1C1D"/>
                          </a:solidFill>
                        </a:rPr>
                        <a:t>（process）名稱或命令列資訊。</a:t>
                      </a:r>
                      <a:endParaRPr sz="11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['nmap -Pn 10.35.180.10/24']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FF0000"/>
                          </a:solidFill>
                        </a:rPr>
                        <a:t>labels</a:t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B1C1D"/>
                          </a:solidFill>
                        </a:rPr>
                        <a:t>分析或標註資訊，常用於威脅偵測標記（MITRE ATT&amp;CK ID、事件 UID 等）。</a:t>
                      </a:r>
                      <a:endParaRPr sz="1100">
                        <a:solidFill>
                          <a:srgbClr val="1B1C1D"/>
                        </a:solidFill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[{'event_uid': '62473-start', 'label_id': '...'}]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B1C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7" name="Google Shape;15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T1033: System Owner/User Discovery</a:t>
            </a:r>
            <a:endParaRPr/>
          </a:p>
        </p:txBody>
      </p:sp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"94043": [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    "type=</a:t>
            </a:r>
            <a:r>
              <a:rPr lang="zh-TW">
                <a:solidFill>
                  <a:srgbClr val="FF0000"/>
                </a:solidFill>
              </a:rPr>
              <a:t>SYSCALL</a:t>
            </a:r>
            <a:r>
              <a:rPr lang="zh-TW">
                <a:solidFill>
                  <a:schemeClr val="dk1"/>
                </a:solidFill>
              </a:rPr>
              <a:t> msg=audit(1715994494.258:94043): arch=c000003e syscall=59 success=yes exit=0 a0=5620f4114610 a1=5620f4115150 a2=5620f4111e60 a3=8 items=3 ppid=24962 pid=24963 auid=1001 uid=1001 gid=1001 euid=1001 suid=1001 fsuid=1001 egid=1001 sgid=1001 fsgid=1001 tty=pts0 ses=59 comm=\"id\" exe=\"</a:t>
            </a:r>
            <a:r>
              <a:rPr lang="zh-TW">
                <a:solidFill>
                  <a:srgbClr val="FF0000"/>
                </a:solidFill>
              </a:rPr>
              <a:t>/usr/bin/id\</a:t>
            </a:r>
            <a:r>
              <a:rPr lang="zh-TW">
                <a:solidFill>
                  <a:schemeClr val="dk1"/>
                </a:solidFill>
              </a:rPr>
              <a:t>" subj=unconfined key=\"recon\"\u001dARCH=x86_64 SYSCALL=execve AUID=\"tbenedict\" UID=\"tbenedict\" GID=\"tbenedict\" EUID=\"tbenedict\" SUID=\"tbenedict\" FSUID=\"tbenedict\" EGID=\"tbenedict\" SGID=\"tbenedict\" FSGID=\"tbenedict\"",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    "type=</a:t>
            </a:r>
            <a:r>
              <a:rPr lang="zh-TW">
                <a:solidFill>
                  <a:srgbClr val="FF0000"/>
                </a:solidFill>
              </a:rPr>
              <a:t>EXECVE</a:t>
            </a:r>
            <a:r>
              <a:rPr lang="zh-TW">
                <a:solidFill>
                  <a:schemeClr val="dk1"/>
                </a:solidFill>
              </a:rPr>
              <a:t> msg=audit(1715994494.258:94043): argc=2 a0=\"id\" a1=\"-u\"",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    "type=PATH msg=audit(1715994494.258:94043): item=0 name=\"</a:t>
            </a:r>
            <a:r>
              <a:rPr lang="zh-TW">
                <a:solidFill>
                  <a:srgbClr val="FF0000"/>
                </a:solidFill>
              </a:rPr>
              <a:t>/usr/bin/id\</a:t>
            </a:r>
            <a:r>
              <a:rPr lang="zh-TW">
                <a:solidFill>
                  <a:schemeClr val="dk1"/>
                </a:solidFill>
              </a:rPr>
              <a:t>" inode=720 dev=08:01 mode=0100755 ouid=0 ogid=0 rdev=00:00 nametype=NORMAL cap_fp=0 cap_fi=0 cap_fe=0 cap_fver=0 cap_frootid=0\u001dOUID=\"root\" OGID=\"root\"",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    "type=PATH msg=audit(1715994494.258:94043): item=1 name=\"</a:t>
            </a:r>
            <a:r>
              <a:rPr lang="zh-TW">
                <a:solidFill>
                  <a:srgbClr val="FF0000"/>
                </a:solidFill>
              </a:rPr>
              <a:t>/usr/bin/id\</a:t>
            </a:r>
            <a:r>
              <a:rPr lang="zh-TW">
                <a:solidFill>
                  <a:schemeClr val="dk1"/>
                </a:solidFill>
              </a:rPr>
              <a:t>" inode=720 dev=08:01 mode=0100755 ouid=0 ogid=0 rdev=00:00 nametype=NORMAL cap_fp=0 cap_fi=0 cap_fe=0 cap_fver=0 cap_frootid=0\u001dOUID=\"root\" OGID=\"root\"",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    "type=PATH msg=audit(1715994494.258:94043): item=2 name=\"/lib64/ld-linux-x86-64.so.2\" inode=2060 dev=08:01 mode=0100755 ouid=0 ogid=0 rdev=00:00 nametype=NORMAL cap_fp=0 cap_fi=0 cap_fe=0 cap_fver=0 cap_frootid=0\u001dOUID=\"root\" OGID=\"root\"",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    "type=PROCTITLE msg=audit(1715994494.258:94043): proctitle=</a:t>
            </a:r>
            <a:r>
              <a:rPr lang="zh-TW">
                <a:solidFill>
                  <a:srgbClr val="FF0000"/>
                </a:solidFill>
              </a:rPr>
              <a:t>6964002D75</a:t>
            </a:r>
            <a:r>
              <a:rPr lang="zh-TW">
                <a:solidFill>
                  <a:schemeClr val="dk1"/>
                </a:solidFill>
              </a:rPr>
              <a:t>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]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4" name="Google Shape;16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65" name="Google Shape;165;p25"/>
          <p:cNvSpPr txBox="1"/>
          <p:nvPr/>
        </p:nvSpPr>
        <p:spPr>
          <a:xfrm>
            <a:off x="2944200" y="929725"/>
            <a:ext cx="5460300" cy="523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SYSCALL Log:exe="/usr/bin/id" comm="id"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這行告訴我們，系統呼叫（System Call）執行了 /usr/bin/id 這個執行檔。</a:t>
            </a:r>
            <a:endParaRPr/>
          </a:p>
        </p:txBody>
      </p:sp>
      <p:sp>
        <p:nvSpPr>
          <p:cNvPr id="166" name="Google Shape;166;p25"/>
          <p:cNvSpPr/>
          <p:nvPr/>
        </p:nvSpPr>
        <p:spPr>
          <a:xfrm>
            <a:off x="311700" y="1524375"/>
            <a:ext cx="8470500" cy="788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type="title"/>
          </p:nvPr>
        </p:nvSpPr>
        <p:spPr>
          <a:xfrm>
            <a:off x="311700" y="94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T1033: System Owner/User Discovery</a:t>
            </a:r>
            <a:endParaRPr/>
          </a:p>
        </p:txBody>
      </p:sp>
      <p:sp>
        <p:nvSpPr>
          <p:cNvPr id="172" name="Google Shape;17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"94043": [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    "type=</a:t>
            </a:r>
            <a:r>
              <a:rPr lang="zh-TW">
                <a:solidFill>
                  <a:srgbClr val="FF0000"/>
                </a:solidFill>
              </a:rPr>
              <a:t>SYSCALL</a:t>
            </a:r>
            <a:r>
              <a:rPr lang="zh-TW">
                <a:solidFill>
                  <a:schemeClr val="dk1"/>
                </a:solidFill>
              </a:rPr>
              <a:t> msg=audit(1715994494.258:94043): arch=c000003e syscall=59 success=yes exit=0 a0=5620f4114610 a1=5620f4115150 a2=5620f4111e60 a3=8 items=3 ppid=24962 pid=24963 auid=1001 uid=1001 gid=1001 euid=1001 suid=1001 fsuid=1001 egid=1001 sgid=1001 fsgid=1001 tty=pts0 ses=59 comm=\"id\" exe=\"</a:t>
            </a:r>
            <a:r>
              <a:rPr lang="zh-TW">
                <a:solidFill>
                  <a:srgbClr val="FF0000"/>
                </a:solidFill>
              </a:rPr>
              <a:t>/usr/bin/id\</a:t>
            </a:r>
            <a:r>
              <a:rPr lang="zh-TW">
                <a:solidFill>
                  <a:schemeClr val="dk1"/>
                </a:solidFill>
              </a:rPr>
              <a:t>" subj=unconfined key=\"recon\"\u001dARCH=x86_64 SYSCALL=execve AUID=\"tbenedict\" UID=\"tbenedict\" GID=\"tbenedict\" EUID=\"tbenedict\" SUID=\"tbenedict\" FSUID=\"tbenedict\" EGID=\"tbenedict\" SGID=\"tbenedict\" FSGID=\"tbenedict\"",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    "type=</a:t>
            </a:r>
            <a:r>
              <a:rPr lang="zh-TW">
                <a:solidFill>
                  <a:srgbClr val="FF0000"/>
                </a:solidFill>
              </a:rPr>
              <a:t>EXECVE</a:t>
            </a:r>
            <a:r>
              <a:rPr lang="zh-TW">
                <a:solidFill>
                  <a:schemeClr val="dk1"/>
                </a:solidFill>
              </a:rPr>
              <a:t> msg=audit(1715994494.258:94043): argc=2 a0=\"id\" a1=\"-u\"",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    "type=PATH msg=audit(1715994494.258:94043): item=0 name=\"</a:t>
            </a:r>
            <a:r>
              <a:rPr lang="zh-TW">
                <a:solidFill>
                  <a:srgbClr val="FF0000"/>
                </a:solidFill>
              </a:rPr>
              <a:t>/usr/bin/id\</a:t>
            </a:r>
            <a:r>
              <a:rPr lang="zh-TW">
                <a:solidFill>
                  <a:schemeClr val="dk1"/>
                </a:solidFill>
              </a:rPr>
              <a:t>" inode=720 dev=08:01 mode=0100755 ouid=0 ogid=0 rdev=00:00 nametype=NORMAL cap_fp=0 cap_fi=0 cap_fe=0 cap_fver=0 cap_frootid=0\u001dOUID=\"root\" OGID=\"root\"",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    "type=PATH msg=audit(1715994494.258:94043): item=1 name=\"</a:t>
            </a:r>
            <a:r>
              <a:rPr lang="zh-TW">
                <a:solidFill>
                  <a:srgbClr val="FF0000"/>
                </a:solidFill>
              </a:rPr>
              <a:t>/usr/bin/id\</a:t>
            </a:r>
            <a:r>
              <a:rPr lang="zh-TW">
                <a:solidFill>
                  <a:schemeClr val="dk1"/>
                </a:solidFill>
              </a:rPr>
              <a:t>" inode=720 dev=08:01 mode=0100755 ouid=0 ogid=0 rdev=00:00 nametype=NORMAL cap_fp=0 cap_fi=0 cap_fe=0 cap_fver=0 cap_frootid=0\u001dOUID=\"root\" OGID=\"root\"",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    "type=PATH msg=audit(1715994494.258:94043): item=2 name=\"</a:t>
            </a:r>
            <a:r>
              <a:rPr lang="zh-TW">
                <a:solidFill>
                  <a:srgbClr val="FF0000"/>
                </a:solidFill>
              </a:rPr>
              <a:t>/lib64/ld-linux-x86-64.so.2</a:t>
            </a:r>
            <a:r>
              <a:rPr lang="zh-TW">
                <a:solidFill>
                  <a:schemeClr val="dk1"/>
                </a:solidFill>
              </a:rPr>
              <a:t>\" inode=2060 dev=08:01 mode=0100755 ouid=0 ogid=0 rdev=00:00 nametype=NORMAL cap_fp=0 cap_fi=0 cap_fe=0 cap_fver=0 cap_frootid=0\u001dOUID=\"root\" OGID=\"root\"",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    "type=PROCTITLE msg=audit(1715994494.258:94043): proctitle=</a:t>
            </a:r>
            <a:r>
              <a:rPr lang="zh-TW">
                <a:solidFill>
                  <a:srgbClr val="FF0000"/>
                </a:solidFill>
              </a:rPr>
              <a:t>6964002D75</a:t>
            </a:r>
            <a:r>
              <a:rPr lang="zh-TW">
                <a:solidFill>
                  <a:schemeClr val="dk1"/>
                </a:solidFill>
              </a:rPr>
              <a:t>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]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3" name="Google Shape;17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74" name="Google Shape;174;p26"/>
          <p:cNvSpPr txBox="1"/>
          <p:nvPr/>
        </p:nvSpPr>
        <p:spPr>
          <a:xfrm>
            <a:off x="2763550" y="667375"/>
            <a:ext cx="6199800" cy="861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EXECVE Log:a0="id" a1="-u"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這紀錄了執行的參數。a0 是指令本身，a1 是參數。 組合起來，使用者執行了 id -u。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id -u 的作用是僅顯示使用者的 ID (User ID)。這是一種非常輕量且明確的「偵察」行為，用來確認當前帳戶的權限級別（例如：是否為 root，UID 0）。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893850" y="2367925"/>
            <a:ext cx="4872000" cy="203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>
            <p:ph type="title"/>
          </p:nvPr>
        </p:nvSpPr>
        <p:spPr>
          <a:xfrm>
            <a:off x="311700" y="94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T1033: System Owner/User Discovery</a:t>
            </a:r>
            <a:endParaRPr/>
          </a:p>
        </p:txBody>
      </p:sp>
      <p:sp>
        <p:nvSpPr>
          <p:cNvPr id="181" name="Google Shape;181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"94043": [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    "type=</a:t>
            </a:r>
            <a:r>
              <a:rPr lang="zh-TW">
                <a:solidFill>
                  <a:srgbClr val="FF0000"/>
                </a:solidFill>
              </a:rPr>
              <a:t>SYSCALL</a:t>
            </a:r>
            <a:r>
              <a:rPr lang="zh-TW">
                <a:solidFill>
                  <a:schemeClr val="dk1"/>
                </a:solidFill>
              </a:rPr>
              <a:t> msg=audit(1715994494.258:94043): arch=c000003e syscall=59 success=yes exit=0 a0=5620f4114610 a1=5620f4115150 a2=5620f4111e60 a3=8 items=3 ppid=24962 pid=24963 auid=1001 uid=1001 gid=1001 euid=1001 suid=1001 fsuid=1001 egid=1001 sgid=1001 fsgid=1001 tty=pts0 ses=59 comm=\"id\" exe=\"</a:t>
            </a:r>
            <a:r>
              <a:rPr lang="zh-TW">
                <a:solidFill>
                  <a:srgbClr val="FF0000"/>
                </a:solidFill>
              </a:rPr>
              <a:t>/usr/bin/id\</a:t>
            </a:r>
            <a:r>
              <a:rPr lang="zh-TW">
                <a:solidFill>
                  <a:schemeClr val="dk1"/>
                </a:solidFill>
              </a:rPr>
              <a:t>" subj=unconfined key=\"recon\"\u001dARCH=x86_64 SYSCALL=execve AUID=\"tbenedict\" UID=\"tbenedict\" GID=\"tbenedict\" EUID=\"tbenedict\" SUID=\"tbenedict\" FSUID=\"tbenedict\" EGID=\"tbenedict\" SGID=\"tbenedict\" FSGID=\"tbenedict\"",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    "type=</a:t>
            </a:r>
            <a:r>
              <a:rPr lang="zh-TW">
                <a:solidFill>
                  <a:srgbClr val="FF0000"/>
                </a:solidFill>
              </a:rPr>
              <a:t>EXECVE</a:t>
            </a:r>
            <a:r>
              <a:rPr lang="zh-TW">
                <a:solidFill>
                  <a:schemeClr val="dk1"/>
                </a:solidFill>
              </a:rPr>
              <a:t> msg=audit(1715994494.258:94043): argc=2 a0=\"id\" a1=\"-u\"",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    "type=PATH msg=audit(1715994494.258:94043): item=0 name=\"</a:t>
            </a:r>
            <a:r>
              <a:rPr lang="zh-TW">
                <a:solidFill>
                  <a:srgbClr val="FF0000"/>
                </a:solidFill>
              </a:rPr>
              <a:t>/usr/bin/id\</a:t>
            </a:r>
            <a:r>
              <a:rPr lang="zh-TW">
                <a:solidFill>
                  <a:schemeClr val="dk1"/>
                </a:solidFill>
              </a:rPr>
              <a:t>" inode=720 dev=08:01 mode=0100755 ouid=0 ogid=0 rdev=00:00 nametype=NORMAL cap_fp=0 cap_fi=0 cap_fe=0 cap_fver=0 cap_frootid=0\u001dOUID=\"root\" OGID=\"root\"",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    "type=PATH msg=audit(1715994494.258:94043): item=1 name=\"</a:t>
            </a:r>
            <a:r>
              <a:rPr lang="zh-TW">
                <a:solidFill>
                  <a:srgbClr val="FF0000"/>
                </a:solidFill>
              </a:rPr>
              <a:t>/usr/bin/id\</a:t>
            </a:r>
            <a:r>
              <a:rPr lang="zh-TW">
                <a:solidFill>
                  <a:schemeClr val="dk1"/>
                </a:solidFill>
              </a:rPr>
              <a:t>" inode=720 dev=08:01 mode=0100755 ouid=0 ogid=0 rdev=00:00 nametype=NORMAL cap_fp=0 cap_fi=0 cap_fe=0 cap_fver=0 cap_frootid=0\u001dOUID=\"root\" OGID=\"root\"",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    "type=PATH msg=audit(1715994494.258:94043): item=2 name=\"</a:t>
            </a:r>
            <a:r>
              <a:rPr lang="zh-TW">
                <a:solidFill>
                  <a:srgbClr val="FF0000"/>
                </a:solidFill>
              </a:rPr>
              <a:t>/lib64/ld-linux-x86-64.so.2\</a:t>
            </a:r>
            <a:r>
              <a:rPr lang="zh-TW">
                <a:solidFill>
                  <a:schemeClr val="dk1"/>
                </a:solidFill>
              </a:rPr>
              <a:t>" inode=2060 dev=08:01 mode=0100755 ouid=0 ogid=0 rdev=00:00 nametype=NORMAL cap_fp=0 cap_fi=0 cap_fe=0 cap_fver=0 cap_frootid=0\u001dOUID=\"root\" OGID=\"root\"",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    "type=PROCTITLE msg=audit(1715994494.258:94043): proctitle=</a:t>
            </a:r>
            <a:r>
              <a:rPr lang="zh-TW">
                <a:solidFill>
                  <a:srgbClr val="FF0000"/>
                </a:solidFill>
              </a:rPr>
              <a:t>6964002D75</a:t>
            </a:r>
            <a:r>
              <a:rPr lang="zh-TW">
                <a:solidFill>
                  <a:schemeClr val="dk1"/>
                </a:solidFill>
              </a:rPr>
              <a:t>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]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2" name="Google Shape;18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83" name="Google Shape;183;p27"/>
          <p:cNvSpPr txBox="1"/>
          <p:nvPr/>
        </p:nvSpPr>
        <p:spPr>
          <a:xfrm>
            <a:off x="2068350" y="667375"/>
            <a:ext cx="6813000" cy="861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補充證據：Proctitle 解碼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PROCTITLE Log: proctitle=6964002D75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這是執行指令的十六進位編碼。如果將其解碼：69 -&gt; i ,64 -&gt; d ,00 -&gt; (null separator) , 2D -&gt; -, 75 -&gt; u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解碼結果再次證實為：id -u。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4" name="Google Shape;184;p27"/>
          <p:cNvSpPr/>
          <p:nvPr/>
        </p:nvSpPr>
        <p:spPr>
          <a:xfrm>
            <a:off x="899325" y="3993750"/>
            <a:ext cx="4872000" cy="203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T1033: System Owner/User Discovery</a:t>
            </a:r>
            <a:endParaRPr/>
          </a:p>
        </p:txBody>
      </p:sp>
      <p:sp>
        <p:nvSpPr>
          <p:cNvPr id="190" name="Google Shape;19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"94043": [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    "type=</a:t>
            </a:r>
            <a:r>
              <a:rPr lang="zh-TW">
                <a:solidFill>
                  <a:srgbClr val="FF0000"/>
                </a:solidFill>
              </a:rPr>
              <a:t>SYSCALL</a:t>
            </a:r>
            <a:r>
              <a:rPr lang="zh-TW">
                <a:solidFill>
                  <a:schemeClr val="dk1"/>
                </a:solidFill>
              </a:rPr>
              <a:t> msg=audit(1715994494.258:94043): arch=c000003e syscall=59 success=yes exit=0 a0=5620f4114610 a1=5620f4115150 a2=5620f4111e60 a3=8 items=3 ppid=24962 pid=24963 auid=1001 uid=1001 gid=1001 euid=1001 suid=1001 fsuid=1001 egid=1001 sgid=1001 fsgid=1001 tty=pts0 ses=59 comm=\"id\" exe=\"</a:t>
            </a:r>
            <a:r>
              <a:rPr lang="zh-TW">
                <a:solidFill>
                  <a:srgbClr val="FF0000"/>
                </a:solidFill>
              </a:rPr>
              <a:t>/usr/bin/id\</a:t>
            </a:r>
            <a:r>
              <a:rPr lang="zh-TW">
                <a:solidFill>
                  <a:schemeClr val="dk1"/>
                </a:solidFill>
              </a:rPr>
              <a:t>" subj=unconfined key=\"recon\"\u001dARCH=x86_64 SYSCALL=execve AUID=\"tbenedict\" UID=\"tbenedict\" GID=\"tbenedict\" EUID=\"tbenedict\" SUID=\"tbenedict\" FSUID=\"tbenedict\" EGID=\"tbenedict\" SGID=\"tbenedict\" FSGID=\"tbenedict\"",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    "type=</a:t>
            </a:r>
            <a:r>
              <a:rPr lang="zh-TW">
                <a:solidFill>
                  <a:srgbClr val="FF0000"/>
                </a:solidFill>
              </a:rPr>
              <a:t>EXECVE</a:t>
            </a:r>
            <a:r>
              <a:rPr lang="zh-TW">
                <a:solidFill>
                  <a:schemeClr val="dk1"/>
                </a:solidFill>
              </a:rPr>
              <a:t> msg=audit(1715994494.258:94043): argc=2 a0=\"id\" a1=\"-u\"",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    "type=PATH msg=audit(1715994494.258:94043): item=0 name=\"</a:t>
            </a:r>
            <a:r>
              <a:rPr lang="zh-TW">
                <a:solidFill>
                  <a:srgbClr val="FF0000"/>
                </a:solidFill>
              </a:rPr>
              <a:t>/usr/bin/id\</a:t>
            </a:r>
            <a:r>
              <a:rPr lang="zh-TW">
                <a:solidFill>
                  <a:schemeClr val="dk1"/>
                </a:solidFill>
              </a:rPr>
              <a:t>" inode=720 dev=08:01 mode=0100755 ouid=0 ogid=0 rdev=00:00 nametype=NORMAL cap_fp=0 cap_fi=0 cap_fe=0 cap_fver=0 cap_frootid=0\u001dOUID=\"root\" OGID=\"root\"",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    "type=PATH msg=audit(1715994494.258:94043): item=1 name=\"</a:t>
            </a:r>
            <a:r>
              <a:rPr lang="zh-TW">
                <a:solidFill>
                  <a:srgbClr val="FF0000"/>
                </a:solidFill>
              </a:rPr>
              <a:t>/usr/bin/id\</a:t>
            </a:r>
            <a:r>
              <a:rPr lang="zh-TW">
                <a:solidFill>
                  <a:schemeClr val="dk1"/>
                </a:solidFill>
              </a:rPr>
              <a:t>" inode=720 dev=08:01 mode=0100755 ouid=0 ogid=0 rdev=00:00 nametype=NORMAL cap_fp=0 cap_fi=0 cap_fe=0 cap_fver=0 cap_frootid=0\u001dOUID=\"root\" OGID=\"root\"",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    "type=PATH msg=audit(1715994494.258:94043): item=2 name=\"/lib64/ld-linux-x86-64.so.2\" inode=2060 dev=08:01 mode=0100755 ouid=0 ogid=0 rdev=00:00 nametype=NORMAL cap_fp=0 cap_fi=0 cap_fe=0 cap_fver=0 cap_frootid=0\u001dOUID=\"root\" OGID=\"root\"",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    "type=PROCTITLE msg=audit(1715994494.258:94043): proctitle=</a:t>
            </a:r>
            <a:r>
              <a:rPr lang="zh-TW">
                <a:solidFill>
                  <a:srgbClr val="FF0000"/>
                </a:solidFill>
              </a:rPr>
              <a:t>6964002D75</a:t>
            </a:r>
            <a:r>
              <a:rPr lang="zh-TW">
                <a:solidFill>
                  <a:schemeClr val="dk1"/>
                </a:solidFill>
              </a:rPr>
              <a:t>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    ]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1" name="Google Shape;19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92" name="Google Shape;192;p28"/>
          <p:cNvSpPr/>
          <p:nvPr/>
        </p:nvSpPr>
        <p:spPr>
          <a:xfrm>
            <a:off x="4106525" y="4004225"/>
            <a:ext cx="1333800" cy="207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3" name="Google Shape;193;p28"/>
          <p:cNvCxnSpPr>
            <a:stCxn id="192" idx="3"/>
            <a:endCxn id="194" idx="0"/>
          </p:cNvCxnSpPr>
          <p:nvPr/>
        </p:nvCxnSpPr>
        <p:spPr>
          <a:xfrm>
            <a:off x="5440325" y="4108025"/>
            <a:ext cx="523500" cy="20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4" name="Google Shape;194;p28"/>
          <p:cNvSpPr txBox="1"/>
          <p:nvPr/>
        </p:nvSpPr>
        <p:spPr>
          <a:xfrm>
            <a:off x="3880225" y="4309225"/>
            <a:ext cx="4167300" cy="354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69 -&gt; i</a:t>
            </a:r>
            <a:r>
              <a:rPr lang="zh-TW" sz="1100">
                <a:solidFill>
                  <a:schemeClr val="dk1"/>
                </a:solidFill>
              </a:rPr>
              <a:t> ,</a:t>
            </a:r>
            <a:r>
              <a:rPr lang="zh-TW" sz="1100">
                <a:solidFill>
                  <a:schemeClr val="dk1"/>
                </a:solidFill>
              </a:rPr>
              <a:t>64 -&gt; d,</a:t>
            </a:r>
            <a:r>
              <a:rPr lang="zh-TW" sz="1100">
                <a:solidFill>
                  <a:schemeClr val="dk1"/>
                </a:solidFill>
              </a:rPr>
              <a:t> </a:t>
            </a:r>
            <a:r>
              <a:rPr lang="zh-TW" sz="1100">
                <a:solidFill>
                  <a:schemeClr val="dk1"/>
                </a:solidFill>
              </a:rPr>
              <a:t>00 -&gt; (null separator),</a:t>
            </a:r>
            <a:r>
              <a:rPr lang="zh-TW" sz="1100">
                <a:solidFill>
                  <a:schemeClr val="dk1"/>
                </a:solidFill>
              </a:rPr>
              <a:t> </a:t>
            </a:r>
            <a:r>
              <a:rPr lang="zh-TW" sz="1100">
                <a:solidFill>
                  <a:schemeClr val="dk1"/>
                </a:solidFill>
              </a:rPr>
              <a:t>2D -&gt; -</a:t>
            </a:r>
            <a:r>
              <a:rPr lang="zh-TW" sz="1100">
                <a:solidFill>
                  <a:schemeClr val="dk1"/>
                </a:solidFill>
              </a:rPr>
              <a:t> ,</a:t>
            </a:r>
            <a:r>
              <a:rPr lang="zh-TW" sz="1100">
                <a:solidFill>
                  <a:schemeClr val="dk1"/>
                </a:solidFill>
              </a:rPr>
              <a:t>75 -&gt; u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02" name="Google Shape;20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325" y="21500"/>
            <a:ext cx="8237375" cy="510052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3" name="Google Shape;203;p29"/>
          <p:cNvSpPr/>
          <p:nvPr/>
        </p:nvSpPr>
        <p:spPr>
          <a:xfrm>
            <a:off x="2630700" y="1648375"/>
            <a:ext cx="5072400" cy="207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/>
          <p:nvPr>
            <p:ph type="title"/>
          </p:nvPr>
        </p:nvSpPr>
        <p:spPr>
          <a:xfrm>
            <a:off x="311700" y="111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T1046: Network Service Discovery</a:t>
            </a:r>
            <a:endParaRPr/>
          </a:p>
        </p:txBody>
      </p:sp>
      <p:sp>
        <p:nvSpPr>
          <p:cNvPr id="209" name="Google Shape;209;p30"/>
          <p:cNvSpPr txBox="1"/>
          <p:nvPr>
            <p:ph idx="1" type="body"/>
          </p:nvPr>
        </p:nvSpPr>
        <p:spPr>
          <a:xfrm>
            <a:off x="311700" y="16217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</a:rPr>
              <a:t>  {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</a:rPr>
              <a:t>            "start:491432": [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</a:rPr>
              <a:t>                "type=SYSCALL msg=audit(1715983482.036:491432): arch=c000003e </a:t>
            </a:r>
            <a:r>
              <a:rPr lang="zh-TW" sz="1000">
                <a:solidFill>
                  <a:srgbClr val="FF0000"/>
                </a:solidFill>
              </a:rPr>
              <a:t>syscall=41</a:t>
            </a:r>
            <a:r>
              <a:rPr lang="zh-TW" sz="1000">
                <a:solidFill>
                  <a:schemeClr val="dk1"/>
                </a:solidFill>
              </a:rPr>
              <a:t> success=yes exit=5 a0=2 a1=1 a2=6 a3=55e9a25fc3b0 items=0 ppid=25186 pid=25352 auid=1001 uid=1001 gid=1001 euid=1001 suid=1001 fsuid=1001 egid=1001 sgid=1001 fsgid=1001 tty=pts1 ses=64 comm=\"</a:t>
            </a:r>
            <a:r>
              <a:rPr lang="zh-TW" sz="1000">
                <a:solidFill>
                  <a:srgbClr val="FF0000"/>
                </a:solidFill>
              </a:rPr>
              <a:t>nmap\</a:t>
            </a:r>
            <a:r>
              <a:rPr lang="zh-TW" sz="1000">
                <a:solidFill>
                  <a:schemeClr val="dk1"/>
                </a:solidFill>
              </a:rPr>
              <a:t>" exe=\"</a:t>
            </a:r>
            <a:r>
              <a:rPr lang="zh-TW" sz="1000">
                <a:solidFill>
                  <a:srgbClr val="FF0000"/>
                </a:solidFill>
              </a:rPr>
              <a:t>/usr/bin/nmap\</a:t>
            </a:r>
            <a:r>
              <a:rPr lang="zh-TW" sz="1000">
                <a:solidFill>
                  <a:schemeClr val="dk1"/>
                </a:solidFill>
              </a:rPr>
              <a:t>" subj=unconfined key=\"</a:t>
            </a:r>
            <a:r>
              <a:rPr lang="zh-TW" sz="1000">
                <a:solidFill>
                  <a:srgbClr val="FF0000"/>
                </a:solidFill>
              </a:rPr>
              <a:t>network_socket_created\</a:t>
            </a:r>
            <a:r>
              <a:rPr lang="zh-TW" sz="1000">
                <a:solidFill>
                  <a:schemeClr val="dk1"/>
                </a:solidFill>
              </a:rPr>
              <a:t>"\u001dARCH=x86_64 SYSCALL=socket AUID=\"tbenedict\" UID=\"tbenedict\" GID=\"tbenedict\" EUID=\"tbenedict\" SUID=\"tbenedict\" FSUID=\"tbenedict\" EGID=\"tbenedict\" SGID=\"tbenedict\" FSGID=\"tbenedict\"",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</a:rPr>
              <a:t>                "type=PROCTITLE msg=audit(1715983482.036:491432): proctitle=6E6D61700031302E33352E3138302E3131002D702D002D2D7363726970743D76756C6E002D76002D7343"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</a:rPr>
              <a:t>            </a:t>
            </a:r>
            <a:r>
              <a:rPr lang="zh-TW" sz="1000">
                <a:solidFill>
                  <a:schemeClr val="dk1"/>
                </a:solidFill>
              </a:rPr>
              <a:t>]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000">
                <a:solidFill>
                  <a:schemeClr val="dk1"/>
                </a:solidFill>
              </a:rPr>
              <a:t>        }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10" name="Google Shape;21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11" name="Google Shape;211;p30"/>
          <p:cNvSpPr txBox="1"/>
          <p:nvPr/>
        </p:nvSpPr>
        <p:spPr>
          <a:xfrm>
            <a:off x="1187000" y="683800"/>
            <a:ext cx="7743000" cy="1031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type=SYSCALL ... comm="nmap" exe="/usr/bin/nmap" ... key="network_socket_created" ... syscall=41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comm="nmap" / exe="/usr/bin/nmap": </a:t>
            </a:r>
            <a:br>
              <a:rPr lang="zh-TW" sz="1100">
                <a:solidFill>
                  <a:schemeClr val="dk1"/>
                </a:solidFill>
              </a:rPr>
            </a:br>
            <a:r>
              <a:rPr lang="zh-TW" sz="1100">
                <a:solidFill>
                  <a:schemeClr val="dk1"/>
                </a:solidFill>
              </a:rPr>
              <a:t>nmap:  </a:t>
            </a:r>
            <a:r>
              <a:rPr lang="zh-TW" sz="1100">
                <a:solidFill>
                  <a:schemeClr val="dk1"/>
                </a:solidFill>
              </a:rPr>
              <a:t>攻擊者正在使用nmap去掃描主機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syscall=41: 在 x86_64 架構中，41 代表 socket。這表示該程式正在建立網路連線插座（Socket）。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key="network_socket_created": 這是一個 Auditd 的規則標籤，說明這個事件觸發了監控「建立網路連線」的規則。</a:t>
            </a:r>
            <a:endParaRPr/>
          </a:p>
        </p:txBody>
      </p:sp>
      <p:sp>
        <p:nvSpPr>
          <p:cNvPr id="212" name="Google Shape;212;p30"/>
          <p:cNvSpPr/>
          <p:nvPr/>
        </p:nvSpPr>
        <p:spPr>
          <a:xfrm>
            <a:off x="1972250" y="2718275"/>
            <a:ext cx="4948500" cy="203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 txBox="1"/>
          <p:nvPr>
            <p:ph type="title"/>
          </p:nvPr>
        </p:nvSpPr>
        <p:spPr>
          <a:xfrm>
            <a:off x="311700" y="111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T1046: Network Service Discovery</a:t>
            </a:r>
            <a:endParaRPr/>
          </a:p>
        </p:txBody>
      </p:sp>
      <p:sp>
        <p:nvSpPr>
          <p:cNvPr id="218" name="Google Shape;218;p31"/>
          <p:cNvSpPr txBox="1"/>
          <p:nvPr>
            <p:ph idx="1" type="body"/>
          </p:nvPr>
        </p:nvSpPr>
        <p:spPr>
          <a:xfrm>
            <a:off x="311700" y="1142313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</a:rPr>
              <a:t>  {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</a:rPr>
              <a:t>            "start:491432": [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</a:rPr>
              <a:t>                "type=SYSCALL msg=audit(1715983482.036:491432): arch=c000003e </a:t>
            </a:r>
            <a:r>
              <a:rPr lang="zh-TW" sz="1000">
                <a:solidFill>
                  <a:srgbClr val="FF0000"/>
                </a:solidFill>
              </a:rPr>
              <a:t>syscall=41</a:t>
            </a:r>
            <a:r>
              <a:rPr lang="zh-TW" sz="1000">
                <a:solidFill>
                  <a:schemeClr val="dk1"/>
                </a:solidFill>
              </a:rPr>
              <a:t> success=yes exit=5 a0=2 a1=1 a2=6 a3=55e9a25fc3b0 items=0 ppid=25186 pid=25352 auid=1001 uid=1001 gid=1001 euid=1001 suid=1001 fsuid=1001 egid=1001 sgid=1001 fsgid=1001 tty=pts1 ses=64 comm=\"</a:t>
            </a:r>
            <a:r>
              <a:rPr lang="zh-TW" sz="1000">
                <a:solidFill>
                  <a:srgbClr val="FF0000"/>
                </a:solidFill>
              </a:rPr>
              <a:t>nmap\</a:t>
            </a:r>
            <a:r>
              <a:rPr lang="zh-TW" sz="1000">
                <a:solidFill>
                  <a:schemeClr val="dk1"/>
                </a:solidFill>
              </a:rPr>
              <a:t>" exe=\"</a:t>
            </a:r>
            <a:r>
              <a:rPr lang="zh-TW" sz="1000">
                <a:solidFill>
                  <a:srgbClr val="FF0000"/>
                </a:solidFill>
              </a:rPr>
              <a:t>/usr/bin/nmap\</a:t>
            </a:r>
            <a:r>
              <a:rPr lang="zh-TW" sz="1000">
                <a:solidFill>
                  <a:schemeClr val="dk1"/>
                </a:solidFill>
              </a:rPr>
              <a:t>" subj=unconfined key=\"</a:t>
            </a:r>
            <a:r>
              <a:rPr lang="zh-TW" sz="1000">
                <a:solidFill>
                  <a:srgbClr val="FF0000"/>
                </a:solidFill>
              </a:rPr>
              <a:t>network_socket_created\</a:t>
            </a:r>
            <a:r>
              <a:rPr lang="zh-TW" sz="1000">
                <a:solidFill>
                  <a:schemeClr val="dk1"/>
                </a:solidFill>
              </a:rPr>
              <a:t>"\u001dARCH=x86_64 SYSCALL=socket AUID=\"tbenedict\" UID=\"tbenedict\" GID=\"tbenedict\" EUID=\"tbenedict\" SUID=\"tbenedict\" FSUID=\"tbenedict\" EGID=\"tbenedict\" SGID=\"tbenedict\" FSGID=\"tbenedict\"",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</a:rPr>
              <a:t>                "type=PROCTITLE msg=audit(1715983482.036:491432): proctitle=6E6D61700031302E33352E3138302E3131002D702D002D2D7363726970743D76756C6E002D76002D7343"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chemeClr val="dk1"/>
                </a:solidFill>
              </a:rPr>
              <a:t>            ]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000">
                <a:solidFill>
                  <a:schemeClr val="dk1"/>
                </a:solidFill>
              </a:rPr>
              <a:t>        }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19" name="Google Shape;21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20" name="Google Shape;220;p31"/>
          <p:cNvSpPr txBox="1"/>
          <p:nvPr/>
        </p:nvSpPr>
        <p:spPr>
          <a:xfrm>
            <a:off x="2320500" y="3782100"/>
            <a:ext cx="28599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nmap 10.35.180.11 -p- --script=vuln -v -sC</a:t>
            </a:r>
            <a:endParaRPr/>
          </a:p>
        </p:txBody>
      </p:sp>
      <p:sp>
        <p:nvSpPr>
          <p:cNvPr id="221" name="Google Shape;221;p31"/>
          <p:cNvSpPr/>
          <p:nvPr/>
        </p:nvSpPr>
        <p:spPr>
          <a:xfrm>
            <a:off x="311700" y="3096000"/>
            <a:ext cx="6877500" cy="203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2" name="Google Shape;222;p31"/>
          <p:cNvCxnSpPr>
            <a:stCxn id="221" idx="2"/>
            <a:endCxn id="220" idx="0"/>
          </p:cNvCxnSpPr>
          <p:nvPr/>
        </p:nvCxnSpPr>
        <p:spPr>
          <a:xfrm>
            <a:off x="3750450" y="3299700"/>
            <a:ext cx="0" cy="48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30" name="Google Shape;23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69684"/>
            <a:ext cx="9144003" cy="151358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1" name="Google Shape;231;p32"/>
          <p:cNvSpPr/>
          <p:nvPr/>
        </p:nvSpPr>
        <p:spPr>
          <a:xfrm>
            <a:off x="3231300" y="2860625"/>
            <a:ext cx="5310000" cy="203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39" name="Google Shape;23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325" y="21500"/>
            <a:ext cx="8237375" cy="510052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0" name="Google Shape;240;p33"/>
          <p:cNvSpPr/>
          <p:nvPr/>
        </p:nvSpPr>
        <p:spPr>
          <a:xfrm>
            <a:off x="2652600" y="2825300"/>
            <a:ext cx="5072400" cy="207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48" name="Google Shape;24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03797"/>
            <a:ext cx="9144003" cy="153590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9" name="Google Shape;249;p34"/>
          <p:cNvSpPr/>
          <p:nvPr/>
        </p:nvSpPr>
        <p:spPr>
          <a:xfrm>
            <a:off x="2822025" y="2571750"/>
            <a:ext cx="6199200" cy="207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"/>
          <p:cNvSpPr txBox="1"/>
          <p:nvPr>
            <p:ph type="title"/>
          </p:nvPr>
        </p:nvSpPr>
        <p:spPr>
          <a:xfrm>
            <a:off x="311700" y="111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Data given</a:t>
            </a:r>
            <a:endParaRPr/>
          </a:p>
        </p:txBody>
      </p:sp>
      <p:sp>
        <p:nvSpPr>
          <p:cNvPr id="255" name="Google Shape;255;p35"/>
          <p:cNvSpPr txBox="1"/>
          <p:nvPr>
            <p:ph idx="1" type="body"/>
          </p:nvPr>
        </p:nvSpPr>
        <p:spPr>
          <a:xfrm>
            <a:off x="311700" y="683800"/>
            <a:ext cx="2355900" cy="37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1"/>
                </a:solidFill>
              </a:rPr>
              <a:t>資料形式:</a:t>
            </a:r>
            <a:endParaRPr sz="1700">
              <a:solidFill>
                <a:schemeClr val="dk1"/>
              </a:solidFill>
            </a:endParaRPr>
          </a:p>
          <a:p>
            <a:pPr indent="-32845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TW" sz="1700">
                <a:solidFill>
                  <a:schemeClr val="dk1"/>
                </a:solidFill>
              </a:rPr>
              <a:t>cache</a:t>
            </a:r>
            <a:endParaRPr sz="1700">
              <a:solidFill>
                <a:schemeClr val="dk1"/>
              </a:solidFill>
            </a:endParaRPr>
          </a:p>
          <a:p>
            <a:pPr indent="-304959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zh-TW" sz="1300">
                <a:solidFill>
                  <a:schemeClr val="dk1"/>
                </a:solidFill>
              </a:rPr>
              <a:t>syslog</a:t>
            </a:r>
            <a:endParaRPr sz="1300">
              <a:solidFill>
                <a:schemeClr val="dk1"/>
              </a:solidFill>
            </a:endParaRPr>
          </a:p>
          <a:p>
            <a:pPr indent="-32845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TW" sz="1700">
                <a:solidFill>
                  <a:schemeClr val="dk1"/>
                </a:solidFill>
              </a:rPr>
              <a:t>flow_zeek</a:t>
            </a:r>
            <a:endParaRPr sz="1700">
              <a:solidFill>
                <a:schemeClr val="dk1"/>
              </a:solidFill>
            </a:endParaRPr>
          </a:p>
          <a:p>
            <a:pPr indent="-304959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zh-TW" sz="1300">
                <a:solidFill>
                  <a:schemeClr val="dk1"/>
                </a:solidFill>
              </a:rPr>
              <a:t>“team_name”</a:t>
            </a:r>
            <a:endParaRPr sz="1300">
              <a:solidFill>
                <a:schemeClr val="dk1"/>
              </a:solidFill>
            </a:endParaRPr>
          </a:p>
          <a:p>
            <a:pPr indent="-304959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zh-TW" sz="1300">
                <a:solidFill>
                  <a:schemeClr val="dk1"/>
                </a:solidFill>
              </a:rPr>
              <a:t>M1~M4</a:t>
            </a:r>
            <a:endParaRPr sz="1300">
              <a:solidFill>
                <a:schemeClr val="dk1"/>
              </a:solidFill>
            </a:endParaRPr>
          </a:p>
          <a:p>
            <a:pPr indent="-32845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TW" sz="1700">
                <a:solidFill>
                  <a:schemeClr val="dk1"/>
                </a:solidFill>
              </a:rPr>
              <a:t>labeled_flows</a:t>
            </a:r>
            <a:endParaRPr sz="1700">
              <a:solidFill>
                <a:schemeClr val="dk1"/>
              </a:solidFill>
            </a:endParaRPr>
          </a:p>
          <a:p>
            <a:pPr indent="-304959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zh-TW" sz="1300">
                <a:solidFill>
                  <a:schemeClr val="dk1"/>
                </a:solidFill>
              </a:rPr>
              <a:t>“network_logs”</a:t>
            </a:r>
            <a:endParaRPr sz="1300">
              <a:solidFill>
                <a:schemeClr val="dk1"/>
              </a:solidFill>
            </a:endParaRPr>
          </a:p>
          <a:p>
            <a:pPr indent="-32845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TW" sz="1700">
                <a:solidFill>
                  <a:schemeClr val="dk1"/>
                </a:solidFill>
              </a:rPr>
              <a:t>output</a:t>
            </a:r>
            <a:endParaRPr sz="1700">
              <a:solidFill>
                <a:schemeClr val="dk1"/>
              </a:solidFill>
            </a:endParaRPr>
          </a:p>
          <a:p>
            <a:pPr indent="-304959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zh-TW" sz="1300">
                <a:solidFill>
                  <a:schemeClr val="dk1"/>
                </a:solidFill>
              </a:rPr>
              <a:t>relations</a:t>
            </a:r>
            <a:endParaRPr sz="1300">
              <a:solidFill>
                <a:schemeClr val="dk1"/>
              </a:solidFill>
            </a:endParaRPr>
          </a:p>
          <a:p>
            <a:pPr indent="-304959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zh-TW" sz="1300">
                <a:solidFill>
                  <a:schemeClr val="dk1"/>
                </a:solidFill>
              </a:rPr>
              <a:t>system_labels</a:t>
            </a:r>
            <a:endParaRPr sz="1300">
              <a:solidFill>
                <a:schemeClr val="dk1"/>
              </a:solidFill>
            </a:endParaRPr>
          </a:p>
          <a:p>
            <a:pPr indent="-304959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zh-TW" sz="1300">
                <a:solidFill>
                  <a:schemeClr val="dk1"/>
                </a:solidFill>
              </a:rPr>
              <a:t>validation</a:t>
            </a:r>
            <a:endParaRPr sz="1300">
              <a:solidFill>
                <a:schemeClr val="dk1"/>
              </a:solidFill>
            </a:endParaRPr>
          </a:p>
          <a:p>
            <a:pPr indent="-32845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TW" sz="1700">
                <a:solidFill>
                  <a:schemeClr val="dk1"/>
                </a:solidFill>
              </a:rPr>
              <a:t>syslogs</a:t>
            </a:r>
            <a:endParaRPr sz="1700">
              <a:solidFill>
                <a:schemeClr val="dk1"/>
              </a:solidFill>
            </a:endParaRPr>
          </a:p>
          <a:p>
            <a:pPr indent="-304959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zh-TW" sz="1300">
                <a:solidFill>
                  <a:schemeClr val="dk1"/>
                </a:solidFill>
              </a:rPr>
              <a:t>“team_name”</a:t>
            </a:r>
            <a:endParaRPr sz="1300">
              <a:solidFill>
                <a:schemeClr val="dk1"/>
              </a:solidFill>
            </a:endParaRPr>
          </a:p>
          <a:p>
            <a:pPr indent="-304959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zh-TW" sz="1300">
                <a:solidFill>
                  <a:schemeClr val="dk1"/>
                </a:solidFill>
              </a:rPr>
              <a:t>M1~M4</a:t>
            </a:r>
            <a:endParaRPr sz="1700">
              <a:solidFill>
                <a:schemeClr val="dk1"/>
              </a:solidFill>
            </a:endParaRPr>
          </a:p>
          <a:p>
            <a:pPr indent="-32845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TW" sz="1700">
                <a:solidFill>
                  <a:schemeClr val="dk1"/>
                </a:solidFill>
              </a:rPr>
              <a:t>system_labels</a:t>
            </a:r>
            <a:endParaRPr sz="1700">
              <a:solidFill>
                <a:schemeClr val="dk1"/>
              </a:solidFill>
            </a:endParaRPr>
          </a:p>
          <a:p>
            <a:pPr indent="-302022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zh-TW" sz="1250">
                <a:solidFill>
                  <a:schemeClr val="dk1"/>
                </a:solidFill>
              </a:rPr>
              <a:t>“audit_logs”</a:t>
            </a:r>
            <a:endParaRPr sz="1250">
              <a:solidFill>
                <a:schemeClr val="dk1"/>
              </a:solidFill>
            </a:endParaRPr>
          </a:p>
        </p:txBody>
      </p:sp>
      <p:sp>
        <p:nvSpPr>
          <p:cNvPr id="256" name="Google Shape;256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57" name="Google Shape;257;p35"/>
          <p:cNvSpPr/>
          <p:nvPr/>
        </p:nvSpPr>
        <p:spPr>
          <a:xfrm>
            <a:off x="1194900" y="1377100"/>
            <a:ext cx="689700" cy="203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5"/>
          <p:cNvSpPr/>
          <p:nvPr/>
        </p:nvSpPr>
        <p:spPr>
          <a:xfrm>
            <a:off x="1380150" y="1951025"/>
            <a:ext cx="1019100" cy="203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5"/>
          <p:cNvSpPr/>
          <p:nvPr/>
        </p:nvSpPr>
        <p:spPr>
          <a:xfrm>
            <a:off x="1291675" y="2368050"/>
            <a:ext cx="1019100" cy="203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5"/>
          <p:cNvSpPr/>
          <p:nvPr/>
        </p:nvSpPr>
        <p:spPr>
          <a:xfrm>
            <a:off x="1257950" y="2750375"/>
            <a:ext cx="1052700" cy="572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5"/>
          <p:cNvSpPr/>
          <p:nvPr/>
        </p:nvSpPr>
        <p:spPr>
          <a:xfrm>
            <a:off x="1380150" y="3675475"/>
            <a:ext cx="1019100" cy="203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5"/>
          <p:cNvSpPr/>
          <p:nvPr/>
        </p:nvSpPr>
        <p:spPr>
          <a:xfrm>
            <a:off x="1291675" y="4085175"/>
            <a:ext cx="883200" cy="203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5"/>
          <p:cNvSpPr txBox="1"/>
          <p:nvPr/>
        </p:nvSpPr>
        <p:spPr>
          <a:xfrm>
            <a:off x="2703350" y="1301950"/>
            <a:ext cx="19020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所有team最原始的audit_log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64" name="Google Shape;264;p35"/>
          <p:cNvSpPr txBox="1"/>
          <p:nvPr/>
        </p:nvSpPr>
        <p:spPr>
          <a:xfrm>
            <a:off x="2703350" y="1875875"/>
            <a:ext cx="30132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所有team的network_log(沒label,分機器)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65" name="Google Shape;265;p35"/>
          <p:cNvSpPr txBox="1"/>
          <p:nvPr/>
        </p:nvSpPr>
        <p:spPr>
          <a:xfrm>
            <a:off x="7242000" y="4163200"/>
            <a:ext cx="1468800" cy="861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M1:start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M2:meetingcam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M3:bastion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M4:intranet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66" name="Google Shape;266;p35"/>
          <p:cNvSpPr txBox="1"/>
          <p:nvPr/>
        </p:nvSpPr>
        <p:spPr>
          <a:xfrm>
            <a:off x="2703350" y="2274100"/>
            <a:ext cx="30132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所有team的network_log(</a:t>
            </a:r>
            <a:r>
              <a:rPr lang="zh-TW" sz="1100">
                <a:solidFill>
                  <a:schemeClr val="dk1"/>
                </a:solidFill>
              </a:rPr>
              <a:t>有label</a:t>
            </a:r>
            <a:r>
              <a:rPr lang="zh-TW" sz="1100">
                <a:solidFill>
                  <a:schemeClr val="dk1"/>
                </a:solidFill>
              </a:rPr>
              <a:t>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67" name="Google Shape;267;p35"/>
          <p:cNvSpPr txBox="1"/>
          <p:nvPr/>
        </p:nvSpPr>
        <p:spPr>
          <a:xfrm>
            <a:off x="2703350" y="2750363"/>
            <a:ext cx="3519600" cy="692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TW" sz="1100">
                <a:solidFill>
                  <a:schemeClr val="dk1"/>
                </a:solidFill>
              </a:rPr>
              <a:t>audit_log裡面與network的連結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TW" sz="1100">
                <a:solidFill>
                  <a:schemeClr val="dk1"/>
                </a:solidFill>
              </a:rPr>
              <a:t>有label的audit_log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TW" sz="1100">
                <a:solidFill>
                  <a:schemeClr val="dk1"/>
                </a:solidFill>
              </a:rPr>
              <a:t>專家們對於log的審核紀錄(紀錄是誰審核的)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68" name="Google Shape;268;p35"/>
          <p:cNvSpPr txBox="1"/>
          <p:nvPr/>
        </p:nvSpPr>
        <p:spPr>
          <a:xfrm>
            <a:off x="2703350" y="3587125"/>
            <a:ext cx="30132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所有team的audit_log(</a:t>
            </a:r>
            <a:r>
              <a:rPr lang="zh-TW" sz="1100">
                <a:solidFill>
                  <a:schemeClr val="dk1"/>
                </a:solidFill>
              </a:rPr>
              <a:t>沒</a:t>
            </a:r>
            <a:r>
              <a:rPr lang="zh-TW" sz="1100">
                <a:solidFill>
                  <a:schemeClr val="dk1"/>
                </a:solidFill>
              </a:rPr>
              <a:t>label,</a:t>
            </a:r>
            <a:r>
              <a:rPr lang="zh-TW" sz="1100">
                <a:solidFill>
                  <a:schemeClr val="dk1"/>
                </a:solidFill>
              </a:rPr>
              <a:t>有</a:t>
            </a:r>
            <a:r>
              <a:rPr lang="zh-TW" sz="1100">
                <a:solidFill>
                  <a:schemeClr val="dk1"/>
                </a:solidFill>
              </a:rPr>
              <a:t>分機器)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69" name="Google Shape;269;p35"/>
          <p:cNvSpPr txBox="1"/>
          <p:nvPr/>
        </p:nvSpPr>
        <p:spPr>
          <a:xfrm>
            <a:off x="2703350" y="4039300"/>
            <a:ext cx="30132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所有team的audit_log(有label)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</a:t>
            </a:r>
            <a:r>
              <a:rPr lang="zh-TW"/>
              <a:t>ache</a:t>
            </a:r>
            <a:endParaRPr/>
          </a:p>
        </p:txBody>
      </p:sp>
      <p:sp>
        <p:nvSpPr>
          <p:cNvPr id="275" name="Google Shape;27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76" name="Google Shape;27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68275"/>
            <a:ext cx="8839204" cy="2006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83" name="Google Shape;283;p37"/>
          <p:cNvPicPr preferRelativeResize="0"/>
          <p:nvPr/>
        </p:nvPicPr>
        <p:blipFill rotWithShape="1">
          <a:blip r:embed="rId3">
            <a:alphaModFix/>
          </a:blip>
          <a:srcRect b="0" l="27220" r="0" t="26568"/>
          <a:stretch/>
        </p:blipFill>
        <p:spPr>
          <a:xfrm>
            <a:off x="2034307" y="57250"/>
            <a:ext cx="5075379" cy="4918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Dataset Information</a:t>
            </a:r>
            <a:endParaRPr/>
          </a:p>
        </p:txBody>
      </p:sp>
      <p:sp>
        <p:nvSpPr>
          <p:cNvPr id="289" name="Google Shape;289;p38"/>
          <p:cNvSpPr txBox="1"/>
          <p:nvPr>
            <p:ph idx="1" type="body"/>
          </p:nvPr>
        </p:nvSpPr>
        <p:spPr>
          <a:xfrm>
            <a:off x="311700" y="1152475"/>
            <a:ext cx="8520600" cy="20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91" name="Google Shape;29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850" y="3315536"/>
            <a:ext cx="8832300" cy="148793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