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7acbdc20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7acbdc20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7acbdc20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7acbdc20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現今的偵測方法有以下問題: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zh-TW"/>
              <a:t>定義TTP的影響界定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zh-TW"/>
              <a:t>與時俱進TTP的演化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zh-TW"/>
              <a:t>辨識細緻的TTP語意用作鑑識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7acbdc20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7acbdc20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7acbdc20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7acbdc20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7e9aa59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7e9aa59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7e9aa59e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7e9aa59e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7e9aa59e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7e9aa59e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7e9aa59e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7e9aa59e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a0cdf200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a0cdf20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7e9aa59e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7e9aa59e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a0cdf200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a0cdf200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基於架構精神和TTP的辨識需求所以他們選擇強化這個架構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a0cdf200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a0cdf20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這是一種用於「小樣本學習 (few-shot learning)」的框架 。學習建立一個具有鑑別度的矩陣空間 (metric space) 。</a:t>
            </a:r>
            <a:br>
              <a:rPr lang="zh-TW"/>
            </a:br>
            <a:r>
              <a:rPr lang="zh-TW"/>
              <a:t>非常像孿生網路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7e9aa59e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7e9aa59e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a0cdf200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a0cdf200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前提假設：底層架構是可信的 (Trusted Infrastructure)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攻擊者能力：基於 ATT&amp;CK 的攻擊行為 (Adversary Capabilities)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範圍排除：無法被審計日誌捕捉的威脅 (Out of Scope)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核心語意假設：TTP 特徵的區別性 (Semantic Assumption)</a:t>
            </a:r>
            <a:br>
              <a:rPr lang="zh-TW"/>
            </a:b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a0cdf200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da0cdf200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a0cdf200d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a0cdf200d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(KAIROS)</a:t>
            </a:r>
            <a:br>
              <a:rPr lang="zh-TW"/>
            </a:br>
            <a:r>
              <a:rPr lang="zh-TW"/>
              <a:t>ch command line is decomposed into hierarchical substrings. For example, given a command line “C:\Windows\regedit.exe”, </a:t>
            </a:r>
            <a:br>
              <a:rPr lang="zh-TW"/>
            </a:br>
            <a:r>
              <a:rPr lang="zh-TW"/>
              <a:t>we generate its hierarchical substrings s1= “C:”, s2= “C:\Windows” and s3=“C:\Windows\regedit.exe”.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a0cdf200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a0cdf200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ZOOMER 嚴格依照事件發生的時間戳記，針對 NOI 進行向後（傳入邊緣，逆時針）與向前（傳出邊緣，順時針）的廣度優先展開，並將範圍限制在 2 跳 (2-hop) 以內控制運算成本 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子圖修剪:大量benign和既有路徑(像是執行exe時讀取dll之類的既有路徑)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a0cdf200d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a0cdf200d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which assigns adaptive attention weights to neighbors rather than treating them uniformly as in conventional GNNs.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GAT相較於GNN之下，GAT可以利用鄰居的影響力調整attention weights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a3496ba01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da3496ba01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which assigns adaptive attention weights to neighbors rather than treating them uniformly as in conventional GNNs.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GAT相較於GNN之下，GAT可以利用鄰居的影響力調整attention weights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利用分群演算法，將每個特徵維度切分成幾個不重疊的數值區間 。例如，將「系統檔操作次數」切分為 [0,20], [21,34], [35,46], [47,60] 等區間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One-hot 編碼：接著，將實際數值映射到對應的區間，轉換成 One-hot 向量。假設某個行為發生了 24 次，它落在第二個區間，就會被編碼為 [0, 1, 0, 0]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成效：這使得原本難以捉摸的連續數值，變成了模型容易消化的類別特徵向量（記為 h cat），大幅突顯了常態出現的行為模式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ci is a randomly sampled binary indicator that determines whether the i-th feature is included (1) or excluded(0), and d is the feature dimensionality.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a3496ba0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a3496ba0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具體設定：ZOOMER 使用 32-way 3-shot 的設定，代表每次訓練挑選 32 種 TTP，每種只給 3 個樣本來學習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模型會將某個 TTP 類別（例如 k 類別）的所有樣本向量加總平均，得到一個最能代表這個類別的代表向量，也就是原型向量ck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公式中的 f_phi 就是我們上一階段談論的 Deep &amp; Wide 特徵萃取模組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a3496ba0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a3496ba0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特徵轉換：首先將 x 送入 Deep &amp; Wide 模組，算出一串數學向量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計算距離並分類：將這個向量與空間中所有已知的 TTP 原型 c_k 計算歐幾里得距離 (Euclidean distance)。距離誰最近，它就被判定為哪種 TTP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安全閾值：如果算出來的最短距離，還是大於系統預設的「極限閾值」，代表這個子圖跟所有已知的 TTP 都長得不像。這時系統會觸發決策限制，將這個樣本直接歸類為「正常行為 (benign)」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a3496ba0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a3496ba0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異常節點 (NOI) 偵測子集：利用威脅情資 (IoC) 將範圍 2 跳 (2-hop) 內的節點標記為 NOI，共得 647 個異常節點 。</a:t>
            </a:r>
            <a:br>
              <a:rPr lang="zh-TW"/>
            </a:br>
            <a:r>
              <a:rPr lang="zh-TW"/>
              <a:t>另收集了 23.9 GB 的純正常日誌（12,743 個節點）作為基準 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保留至少有 5 個不同樣本的技術標籤，最終精選出 160 張溯源圖 。這批圖又分為兩種：人工萃取的「完美基準子圖 (gTSG)」與系統自動生成的「實戰採樣子圖 (sTSG)」 。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a3496ba01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a3496ba01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TTP recognition 越往上層分類越簡單（標籤從 32 種縮減到 7 種），但分析的洞察深度也會相對降低。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a3496ba01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da3496ba01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da3496ba0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da3496ba0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結果：隨著鄰居數量 n 變大，模型的表現反而穩定下降 。這表示找太多鄰居反而會引入過多無關的正常行為雜訊，導致異常特徵被稀釋。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結果：當 θ 設為 12 時，F1-score 達到最高峰 。這代表距離基準點超過 12 的節點，最有可能真的是惡意行程。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da3496ba0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da3496ba0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結果：維度越大表現越好，但在 d = 128 時達到飽和 。因為維度太小（如 64）會裝不下 TTP 複雜的行為語意；但維度太大（如 256）反而會裝進太多無用的雜訊，導致效能衰退 。</a:t>
            </a:r>
            <a:br>
              <a:rPr lang="zh-TW"/>
            </a:br>
            <a:r>
              <a:rPr lang="zh-TW"/>
              <a:t>結果：只有 1 層 (l = 1) 時表現很差，但在 3 層 (l = 3) 時達到最高峰 。因為 1 層代表模型只能看到「直接相連的鄰居（一階聚合）」，這對於捕捉複雜的攻擊上下文來說遠遠不夠 。推展到 3 層，代表模型能吸收「鄰居的鄰居的鄰居（三階互動）」的資訊，這剛好足以捕捉完整的上下文語意 。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a3496ba0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a3496ba0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發現一：1 + 1 &gt; 2，完全體展現實戰韌性結合了 Deep 與 Wide 的模型在所有的 TTP 識別粒度（戰術、技術、子技術）上，都毫無懸念地擊敗了單一模型，取得了最高的準確率 。更重要的是，</a:t>
            </a:r>
            <a:r>
              <a:rPr lang="zh-TW">
                <a:highlight>
                  <a:schemeClr val="accent4"/>
                </a:highlight>
              </a:rPr>
              <a:t>即使是拿那些從真實世界溯源圖中自動採樣出來、帶有雜訊的子圖 (sTSG) 來測試，ZOOMER 依然保持了強大的效能，證明了它在實際部署環境中的韌性與可靠度 。</a:t>
            </a:r>
            <a:endParaRPr>
              <a:highlight>
                <a:schemeClr val="accent4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發現二：只靠「死記硬背」會失去舉一反三的能力 (Wide-only 的敗局)當系統只剩下 Wide 模型時，</a:t>
            </a:r>
            <a:r>
              <a:rPr lang="zh-TW">
                <a:highlight>
                  <a:schemeClr val="accent4"/>
                </a:highlight>
              </a:rPr>
              <a:t>整體的準確率大跌了約 16%</a:t>
            </a:r>
            <a:r>
              <a:rPr lang="zh-TW"/>
              <a:t> 。這明確指出，如果</a:t>
            </a:r>
            <a:r>
              <a:rPr lang="zh-TW">
                <a:highlight>
                  <a:schemeClr val="accent4"/>
                </a:highlight>
              </a:rPr>
              <a:t>沒有 Deep 模型去捕捉深層的語意特徵，系統就會失去「泛化能力 (Generalization)」</a:t>
            </a:r>
            <a:r>
              <a:rPr lang="zh-TW"/>
              <a:t>。也就是說，模型只認得看過的具體特徵，稍微變個花樣它就認不出來了。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發現三：只靠「神經網路」會忽略寶貴的專家經驗 (Deep-only 的敗局)當系統只剩下 Deep 模型時，準確率跌得更慘，落後了 12% 到 23% ！這是一個非常重要的警訊：在資安領域，不能只把資料丟給神經網路這種「黑盒子」就了事。</a:t>
            </a:r>
            <a:r>
              <a:rPr lang="zh-TW">
                <a:highlight>
                  <a:schemeClr val="accent4"/>
                </a:highlight>
              </a:rPr>
              <a:t>將先驗知識 (prior knowledge) 與特徵交互作用融入 Wide 模型是非常有價值的 </a:t>
            </a:r>
            <a:r>
              <a:rPr lang="zh-TW"/>
              <a:t>。這些專家特徵能夠精準捕捉到同一類 TTP 中反覆出現的特定模式，進而大幅推升識別的準確率 。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a3496ba0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a3496ba0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結果：維度越大表現越好，但在 d = 128 時達到飽和 。因為維度太小（如 64）會裝不下 TTP 複雜的行為語意；但維度太大（如 256）反而會裝進太多無用的雜訊，導致效能衰退 。</a:t>
            </a:r>
            <a:br>
              <a:rPr lang="zh-TW"/>
            </a:br>
            <a:r>
              <a:rPr lang="zh-TW"/>
              <a:t>結果：只有 1 層 (l = 1) 時表現很差，但在 3 層 (l = 3) 時達到最高峰 。因為 1 層代表模型只能看到「直接相連的鄰居（一階聚合）」，這對於捕捉複雜的攻擊上下文來說遠遠不夠 。推展到 3 層，代表模型能吸收「鄰居的鄰居的鄰居（三階互動）」的資訊，這剛好足以捕捉完整的上下文語意 。</a:t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da3496ba01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da3496ba0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人工寫的規則太死板了！真實世界的 APT 攻擊千變萬化，單靠專家寫的黑白名單，很容易把長得很像的 TTP 搞混（誤報），或是漏抓變種攻擊（漏報）。ZOOMER 是自己「學」出來的，適應力強得多。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a3496ba01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da3496ba01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NeuroMatch、GHunter、ProvG-Searcher：這三款系統的運作邏輯很像，它們都是拿威脅情資 (CTI) 畫出「已知攻擊的子圖（當作模板）」，然後去龐大的系統日誌圖裡面做「子圖匹配 (Subgraph matching)」，看能不能對得上。</a:t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a3496ba01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a3496ba01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戰術層級 (Tactic-level) 穩如泰山：表現最為強健，無論雜訊多高，準確率始終維持在 87% 以上。這部分是因為戰術層級的分類標籤較少（只有 7 種），任務相對簡單。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技術層級 (Technique-level) 輕微下滑：準確率只有出現非常輕微的下降趨勢。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子技術層級 (Sub-technique) 損傷可控：雖然在最細粒度的子技術識別上，準確率掉得最多，但最大的跌幅也被控制在大約 9% 以內。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a3496ba0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da3496ba0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結論：第一道防線的負擔極低，可以毫無壓力地即時處理日誌串流。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a3496ba01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a3496ba01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當圖變大時，採樣出的 TTP 子圖 (TSG) 大小並不會跟著等比例無限膨脹。這證明了 ZOOMER 的修剪演算法非常成功，它能有效切斷無關的雜訊鄰居，避免了圖分析中常見的「依賴爆炸 (dependency explosion)」災難。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a3496ba01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a3496ba01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當圖變大時，採樣出的 TTP 子圖 (TSG) 大小並不會跟著等比例無限膨脹。這證明了 ZOOMER 的修剪演算法非常成功，它能有效切斷無關的雜訊鄰居，避免了圖分析中常見的「依賴爆炸 (dependency explosion)」災難。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a3496ba01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da3496ba01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沒看過（如 T1083：檔案與目錄發現、T1018：遠端系統發現）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a3496ba01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a3496ba01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① 初始存取 (Initial Access)：攻擊從一個看似無害的 Notepad++ 更新開始。它偷偷下載了 update.exe，藉此植入惡名昭彰的 Meterpreter 後門載荷。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② 系統發現 (Discovery)：駭客站穩腳跟後，呼叫了命令提示字元 (cmd.exe)，開始四處探查本地系統、網路環境與共用資源，摸清地形。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③ 憑證取得 (Credential Access)：為了躲避防毒軟體，惡意程式「遷移 (migrate)」到了負責系統安全認證的合法行程 lsass.exe 裡面。接著，它直接從 LSASS 的記憶體中把使用者的帳號密碼倒出來 (Dump credentials)。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④ 建立持久性 (Persistence)：為了確保就算電腦重開機，後門依然存在，駭客部署了腳本並修改了系統登錄檔 (Registry)。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⑤ 權限提升 (Privilege Escalation)：最後，駭客用偷來的權限建立了一個全新的管理員帳號，確保未來可以隨時遠端連線進來。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精準切割邊界：ZOOMER 透過子圖採樣技術，把那一團亂麻的毛線球，精準剪裁成一個個以異常節點為中心的「TTP 子圖 (TSG)」。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賦予清晰語意：它接著把這些乾淨的子圖，對齊到特定的 APT 戰術上（就像上面列出的 5 個階段）。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最終價值：產出一個「簡潔、邊界明確、且具備高度可解釋性」的攻擊表徵圖。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da3496ba01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da3496ba01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a3496ba0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da3496ba0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computer.org/csdl/journal/tq" TargetMode="External"/><Relationship Id="rId4" Type="http://schemas.openxmlformats.org/officeDocument/2006/relationships/hyperlink" Target="https://www.computer.org/csdl/journal/t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ieeexplore.ieee.org/document/10041816/" TargetMode="External"/><Relationship Id="rId4" Type="http://schemas.openxmlformats.org/officeDocument/2006/relationships/hyperlink" Target="https://ieeexplore.ieee.org/document/10041816/" TargetMode="External"/><Relationship Id="rId11" Type="http://schemas.openxmlformats.org/officeDocument/2006/relationships/hyperlink" Target="https://www.computer.org/csdl/proceedings-article/trustcom/2022/942500a747/1LFLUemOpt6" TargetMode="External"/><Relationship Id="rId10" Type="http://schemas.openxmlformats.org/officeDocument/2006/relationships/hyperlink" Target="https://www.usenix.org/system/files/usenixsecurity23-ding-hailun-airtag.pdf" TargetMode="External"/><Relationship Id="rId12" Type="http://schemas.openxmlformats.org/officeDocument/2006/relationships/hyperlink" Target="https://ieeexplore.ieee.org/document/9484532/" TargetMode="External"/><Relationship Id="rId9" Type="http://schemas.openxmlformats.org/officeDocument/2006/relationships/hyperlink" Target="https://www.usenix.org/system/files/sec21-alsaheel.pdf" TargetMode="External"/><Relationship Id="rId5" Type="http://schemas.openxmlformats.org/officeDocument/2006/relationships/hyperlink" Target="https://dl.acm.org/doi/epdf/10.1145/3576915.3623187" TargetMode="External"/><Relationship Id="rId6" Type="http://schemas.openxmlformats.org/officeDocument/2006/relationships/hyperlink" Target="https://dl.acm.org/doi/epdf/10.1145/3564625.3567997" TargetMode="External"/><Relationship Id="rId7" Type="http://schemas.openxmlformats.org/officeDocument/2006/relationships/hyperlink" Target="https://www.ndss-symposium.org/wp-content/uploads/2019/02/ndss2019_03B-1-3_UlHassan_paper.pdf" TargetMode="External"/><Relationship Id="rId8" Type="http://schemas.openxmlformats.org/officeDocument/2006/relationships/hyperlink" Target="https://www.ndss-symposium.org/wp-content/uploads/2019/02/ndss2019_03B-1-3_UlHassan_paper.pdf" TargetMode="External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ieeexplore.ieee.org/document/10041816/" TargetMode="External"/><Relationship Id="rId10" Type="http://schemas.openxmlformats.org/officeDocument/2006/relationships/hyperlink" Target="https://arxiv.org/pdf/2101.12434" TargetMode="External"/><Relationship Id="rId13" Type="http://schemas.openxmlformats.org/officeDocument/2006/relationships/hyperlink" Target="https://www.ieee-security.org/TC/SP2019/SP19-Slides-pdfs/Sadegh_Momeni_-_13-Sadegh-Momeni-Real_time_APT_Detection_through_Correlation_of_Suspicious_Information_Flows.pdf" TargetMode="External"/><Relationship Id="rId12" Type="http://schemas.openxmlformats.org/officeDocument/2006/relationships/hyperlink" Target="https://www.usenix.org/system/files/sec21-alsaheel.pdf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rxiv.org/pdf/2111.04333" TargetMode="External"/><Relationship Id="rId4" Type="http://schemas.openxmlformats.org/officeDocument/2006/relationships/hyperlink" Target="https://arxiv.org/pdf/2111.04333" TargetMode="External"/><Relationship Id="rId9" Type="http://schemas.openxmlformats.org/officeDocument/2006/relationships/hyperlink" Target="https://ieeexplore.ieee.org/document/9999407/" TargetMode="External"/><Relationship Id="rId14" Type="http://schemas.openxmlformats.org/officeDocument/2006/relationships/hyperlink" Target="https://users.cs.northwestern.edu/~ychen/Papers/CONAN_TDSC.pdf" TargetMode="External"/><Relationship Id="rId5" Type="http://schemas.openxmlformats.org/officeDocument/2006/relationships/hyperlink" Target="https://arxiv.org/pdf/2111.04333" TargetMode="External"/><Relationship Id="rId6" Type="http://schemas.openxmlformats.org/officeDocument/2006/relationships/hyperlink" Target="https://arxiv.org/pdf/2111.04333" TargetMode="External"/><Relationship Id="rId7" Type="http://schemas.openxmlformats.org/officeDocument/2006/relationships/hyperlink" Target="https://www.usenix.org/system/files/sec23winter-prepub-490-jia.pdf" TargetMode="External"/><Relationship Id="rId8" Type="http://schemas.openxmlformats.org/officeDocument/2006/relationships/hyperlink" Target="https://dartlab.org/assets/pdf/flash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l.acm.org/doi/epdf/10.1145/2988450.2988454" TargetMode="External"/><Relationship Id="rId4" Type="http://schemas.openxmlformats.org/officeDocument/2006/relationships/hyperlink" Target="https://dl.acm.org/doi/epdf/10.1145/2988450.2988454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arxiv.org/pdf/1703.05175" TargetMode="External"/><Relationship Id="rId4" Type="http://schemas.openxmlformats.org/officeDocument/2006/relationships/hyperlink" Target="https://arxiv.org/pdf/1703.05175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hyperlink" Target="https://arxiv.org/pdf/1710.10903" TargetMode="External"/><Relationship Id="rId9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ieeexplore.ieee.org/document/9899459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25750"/>
            <a:ext cx="8520600" cy="20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800"/>
              <a:t>ZOOMER: An APT TTP Recognition System via Deep &amp; Wide Provenance Graph Learning</a:t>
            </a:r>
            <a:endParaRPr sz="3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Xuebo Qiu, Mingqi Lv, </a:t>
            </a:r>
            <a:r>
              <a:rPr b="1" lang="zh-TW"/>
              <a:t>Tieming Chen</a:t>
            </a:r>
            <a:r>
              <a:rPr lang="zh-TW"/>
              <a:t>, Tiantian Zhu, Qijie Song and Zhiling Zhu</a:t>
            </a:r>
            <a:endParaRPr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-30430" y="3874651"/>
            <a:ext cx="93291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organization of authors is not memtioned, but i noticed some of them are same members in TREC-APT (Zhejian University and </a:t>
            </a:r>
            <a:r>
              <a:rPr lang="zh-TW" sz="1800"/>
              <a:t>Zhejian University of Science and Technology</a:t>
            </a:r>
            <a:r>
              <a:rPr lang="zh-TW" sz="1800"/>
              <a:t>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4743300"/>
            <a:ext cx="705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2025 I</a:t>
            </a:r>
            <a:r>
              <a:rPr lang="zh-TW" u="sng">
                <a:solidFill>
                  <a:schemeClr val="hlink"/>
                </a:solidFill>
                <a:hlinkClick r:id="rId4"/>
              </a:rPr>
              <a:t>EEE TRANSACTIONS ON DEPENDABLE AND SECURE COMPUTING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140429" y="1152475"/>
            <a:ext cx="4696200" cy="3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Abstract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Introduction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Problems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RELATED WORK AND LIMITATIONS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APT Detection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TTP Recognition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Threat Hunting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Background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Definitions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Problem Statement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zh-TW" sz="1800">
                <a:solidFill>
                  <a:schemeClr val="dk1"/>
                </a:solidFill>
              </a:rPr>
              <a:t>Threat Model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836625" y="1152475"/>
            <a:ext cx="4164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System Design 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EXPERIMENT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DISCUSSION AND LIMITATIONS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 sz="1800">
                <a:solidFill>
                  <a:schemeClr val="dk1"/>
                </a:solidFill>
              </a:rPr>
              <a:t>Future work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Abstract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017725"/>
            <a:ext cx="8520600" cy="38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Advanced Persistent Threats (APTs) commonly manifest through a sequence of attack steps, known as Tactics, Techniques, and Procedures (TTPs).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Recent methods face persistent challenges: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determining the impact boundaries of TTP activities.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adapting to evolving TTP stacks.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recognizing fine-grained TTP semantics for deeper forensic insights.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we present ZOOMER, a novel TTP recognition framework that 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segments provenance graphs into multiple TTP subgraphs</a:t>
            </a:r>
            <a:r>
              <a:rPr lang="zh-TW">
                <a:solidFill>
                  <a:schemeClr val="dk1"/>
                </a:solidFill>
              </a:rPr>
              <a:t> with multi-granular annotations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Introduction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25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In practice, an investigation typically begins when an Endpoint Detection and Response (EDR) system raises an alert.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Provenance graphs have empowered attack investigation via graph-theoretic techniques, such as graph compression to alleviate analytical complexity [5]–[7], contextual behavior correlation to filter false alarms [8]–[15], and automated causal tracing to reconstruct attack scenarios [16]–[21].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0" y="3810525"/>
            <a:ext cx="9144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[6] </a:t>
            </a:r>
            <a:r>
              <a:rPr lang="zh-TW" u="sng">
                <a:solidFill>
                  <a:schemeClr val="hlink"/>
                </a:solidFill>
                <a:hlinkClick r:id="rId4"/>
              </a:rPr>
              <a:t>Aptshield: A stable, efficient and real-time apt detection system for linux hosts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5"/>
              </a:rPr>
              <a:t>[7] Provg-searcher: A graph representation learning approach for efficient provenance graph search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6"/>
              </a:rPr>
              <a:t>[8] Rapid: Real-time alert investigation with context-aware prioritization for efficient threat discovery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7"/>
              </a:rPr>
              <a:t>[9] Nodoze</a:t>
            </a:r>
            <a:r>
              <a:rPr lang="zh-TW" u="sng">
                <a:solidFill>
                  <a:schemeClr val="hlink"/>
                </a:solidFill>
              </a:rPr>
              <a:t> , </a:t>
            </a:r>
            <a:r>
              <a:rPr lang="zh-TW" u="sng">
                <a:solidFill>
                  <a:schemeClr val="hlink"/>
                </a:solidFill>
                <a:hlinkClick r:id="rId8"/>
              </a:rPr>
              <a:t>[10] Deepcase</a:t>
            </a:r>
            <a:endParaRPr u="sng">
              <a:solidFill>
                <a:schemeClr val="hlink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9"/>
              </a:rPr>
              <a:t>[16] Atlas</a:t>
            </a:r>
            <a:r>
              <a:rPr lang="zh-TW" u="sng">
                <a:solidFill>
                  <a:schemeClr val="hlink"/>
                </a:solidFill>
              </a:rPr>
              <a:t> , </a:t>
            </a:r>
            <a:r>
              <a:rPr lang="zh-TW" u="sng">
                <a:solidFill>
                  <a:schemeClr val="hlink"/>
                </a:solidFill>
                <a:hlinkClick r:id="rId10"/>
              </a:rPr>
              <a:t>[17] AIRTAG</a:t>
            </a:r>
            <a:r>
              <a:rPr lang="zh-TW" u="sng">
                <a:solidFill>
                  <a:schemeClr val="hlink"/>
                </a:solidFill>
              </a:rPr>
              <a:t> , </a:t>
            </a:r>
            <a:r>
              <a:rPr lang="zh-TW" u="sng">
                <a:solidFill>
                  <a:schemeClr val="hlink"/>
                </a:solidFill>
                <a:hlinkClick r:id="rId11"/>
              </a:rPr>
              <a:t>[19] DeepPro</a:t>
            </a:r>
            <a:r>
              <a:rPr lang="zh-TW" u="sng">
                <a:solidFill>
                  <a:schemeClr val="hlink"/>
                </a:solidFill>
              </a:rPr>
              <a:t> , </a:t>
            </a:r>
            <a:r>
              <a:rPr lang="zh-TW" u="sng">
                <a:solidFill>
                  <a:schemeClr val="hlink"/>
                </a:solidFill>
                <a:hlinkClick r:id="rId12"/>
              </a:rPr>
              <a:t>[21] Actracker</a:t>
            </a:r>
            <a:endParaRPr u="sng">
              <a:solidFill>
                <a:schemeClr val="hlink"/>
              </a:solidFill>
            </a:endParaRPr>
          </a:p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Introduction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25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Although intrusion detection systems can reduce the search space by sifting through this background noise to pinpoint suspicious entities [23]–[27], their coarse binary classifications (benign or malicious) yield only 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fragmented anomalies</a:t>
            </a:r>
            <a:r>
              <a:rPr lang="zh-TW">
                <a:solidFill>
                  <a:schemeClr val="dk1"/>
                </a:solidFill>
              </a:rPr>
              <a:t> and 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fail to reveal the potential attack intents</a:t>
            </a:r>
            <a:r>
              <a:rPr lang="zh-TW">
                <a:solidFill>
                  <a:schemeClr val="dk1"/>
                </a:solidFill>
              </a:rPr>
              <a:t>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To alleviate these issues, prior research has attempted to link system events to TTPs using expert-crafted rules [6],[16], [28], [29].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53400" y="3724975"/>
            <a:ext cx="9037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[</a:t>
            </a:r>
            <a:r>
              <a:rPr lang="zh-TW" u="sng">
                <a:solidFill>
                  <a:schemeClr val="hlink"/>
                </a:solidFill>
                <a:hlinkClick r:id="rId4"/>
              </a:rPr>
              <a:t>23</a:t>
            </a:r>
            <a:r>
              <a:rPr lang="zh-TW" u="sng">
                <a:solidFill>
                  <a:schemeClr val="hlink"/>
                </a:solidFill>
                <a:hlinkClick r:id="rId5"/>
              </a:rPr>
              <a:t>] </a:t>
            </a:r>
            <a:r>
              <a:rPr lang="zh-TW" u="sng">
                <a:solidFill>
                  <a:schemeClr val="hlink"/>
                </a:solidFill>
                <a:hlinkClick r:id="rId6"/>
              </a:rPr>
              <a:t>Threatrace: Detecting and tracing host-based threats in node level through provenance graph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7"/>
              </a:rPr>
              <a:t>[24] Magic: Detecting advanced persistent threats via masked graph representation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8"/>
              </a:rPr>
              <a:t>[25] Flash: A comprehensive approach to intrusion detection via provenance graph representation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9"/>
              </a:rPr>
              <a:t>[26] Apt-kgl</a:t>
            </a:r>
            <a:r>
              <a:rPr lang="zh-TW">
                <a:solidFill>
                  <a:schemeClr val="dk1"/>
                </a:solidFill>
              </a:rPr>
              <a:t> , </a:t>
            </a:r>
            <a:r>
              <a:rPr lang="zh-TW" u="sng">
                <a:solidFill>
                  <a:schemeClr val="hlink"/>
                </a:solidFill>
                <a:hlinkClick r:id="rId10"/>
              </a:rPr>
              <a:t>[27] Peeler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accent5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[6] Aptshield</a:t>
            </a:r>
            <a:r>
              <a:rPr lang="zh-TW">
                <a:solidFill>
                  <a:schemeClr val="dk1"/>
                </a:solidFill>
              </a:rPr>
              <a:t>, </a:t>
            </a:r>
            <a:r>
              <a:rPr lang="zh-TW" u="sng">
                <a:solidFill>
                  <a:schemeClr val="accent5"/>
                </a:solidFill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[16] Atlas</a:t>
            </a:r>
            <a:r>
              <a:rPr lang="zh-TW">
                <a:solidFill>
                  <a:schemeClr val="dk1"/>
                </a:solidFill>
              </a:rPr>
              <a:t>, </a:t>
            </a:r>
            <a:r>
              <a:rPr lang="zh-TW" u="sng">
                <a:solidFill>
                  <a:schemeClr val="hlink"/>
                </a:solidFill>
                <a:hlinkClick r:id="rId13"/>
              </a:rPr>
              <a:t>[28]Holmes</a:t>
            </a:r>
            <a:r>
              <a:rPr lang="zh-TW">
                <a:solidFill>
                  <a:schemeClr val="dk1"/>
                </a:solidFill>
              </a:rPr>
              <a:t>, </a:t>
            </a:r>
            <a:r>
              <a:rPr lang="zh-TW" u="sng">
                <a:solidFill>
                  <a:schemeClr val="hlink"/>
                </a:solidFill>
                <a:hlinkClick r:id="rId14"/>
              </a:rPr>
              <a:t>[29]CONAN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Introduction - Problems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0" y="1152475"/>
            <a:ext cx="9144000" cy="3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training fine-grained TTP recognition models over large-scale provenance graphs introduces the following unique challenges.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zh-TW" sz="1600">
                <a:solidFill>
                  <a:schemeClr val="dk1"/>
                </a:solidFill>
              </a:rPr>
              <a:t>Ambiguous Recognition Targets</a:t>
            </a:r>
            <a:endParaRPr b="1"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在 Provenance </a:t>
            </a:r>
            <a:r>
              <a:rPr lang="zh-TW" sz="1600">
                <a:solidFill>
                  <a:schemeClr val="dk1"/>
                </a:solidFill>
              </a:rPr>
              <a:t>Graph之中很難去界定TTP之間的邊界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zh-TW" sz="1600">
                <a:solidFill>
                  <a:schemeClr val="dk1"/>
                </a:solidFill>
              </a:rPr>
              <a:t>Expansive and Evolving Label Space</a:t>
            </a:r>
            <a:endParaRPr b="1"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TTP的種類很多，要對每個TTP都做標記有點困難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zh-TW" sz="1600">
                <a:solidFill>
                  <a:schemeClr val="dk1"/>
                </a:solidFill>
              </a:rPr>
              <a:t>Complexity and Diversity of TTP Features</a:t>
            </a:r>
            <a:endParaRPr b="1"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許多TTP之間的行為差異不大，容易混淆，導致準確識別非常困難 。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zh-TW" sz="1600">
                <a:solidFill>
                  <a:schemeClr val="dk1"/>
                </a:solidFill>
              </a:rPr>
              <a:t>Scarcity of TTP Samples</a:t>
            </a:r>
            <a:endParaRPr b="1"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基於TTP的種類眾多且現有資料集(APT)不僅TTP種類不均又有某些TTP數量不足。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95" name="Google Shape;95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130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RELATED WORK AND LIMITATIONS - APT Detection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807575"/>
            <a:ext cx="8520600" cy="41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Rule-based Methods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運算效率高，因為只是單純的規則匹配 。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但無法泛化並偵測出未知的全新攻擊手法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Learning-based Methods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Supervised Learning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使用標註好的攻擊樣本來訓練模型 。但真實世界的 APT 標註資料非常稀缺。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Unsupervised Learning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只要系統行為偏離正常分佈，就會被標記為潛在的 APT 攻擊 。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Graph Neural Network</a:t>
            </a:r>
            <a:endParaRPr sz="1600">
              <a:solidFill>
                <a:schemeClr val="dk1"/>
              </a:solidFill>
            </a:endParaRPr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</a:pPr>
            <a:r>
              <a:rPr lang="zh-TW" sz="1600">
                <a:solidFill>
                  <a:schemeClr val="dk1"/>
                </a:solidFill>
              </a:rPr>
              <a:t>現今主流的偵測器廣泛使用 GNN 結合Self-</a:t>
            </a:r>
            <a:r>
              <a:rPr lang="zh-TW" sz="1600">
                <a:solidFill>
                  <a:schemeClr val="dk1"/>
                </a:solidFill>
              </a:rPr>
              <a:t>Supervised Learning</a:t>
            </a:r>
            <a:r>
              <a:rPr lang="zh-TW" sz="1600">
                <a:solidFill>
                  <a:schemeClr val="dk1"/>
                </a:solidFill>
              </a:rPr>
              <a:t>來捕捉正常行為的高階語意與結構模式 。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以上作法皆無將底層log投射到TTP等級或是定義TTP之間的邊界。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RELATED WORK AND LIMITATIONS - </a:t>
            </a:r>
            <a:r>
              <a:rPr lang="zh-TW"/>
              <a:t>TTP Recognition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Rule-based High False Positives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Holmes 的 rule-based method 導致高誤報率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E-Audit 把出現 Powershell 的Process定義成 T1059: Command and Script Interpreter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引入上下文後，仍受限於</a:t>
            </a:r>
            <a:r>
              <a:rPr lang="zh-TW">
                <a:solidFill>
                  <a:schemeClr val="dk1"/>
                </a:solidFill>
              </a:rPr>
              <a:t>Rule-based的作品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APTShield 透過state transition rule和 黑名單來定義tatic</a:t>
            </a:r>
            <a:endParaRPr sz="16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 sz="1600">
                <a:solidFill>
                  <a:schemeClr val="dk1"/>
                </a:solidFill>
              </a:rPr>
              <a:t>Conan 使用有限狀態自動機 (FSA) 框架來捕捉狀態轉換 </a:t>
            </a:r>
            <a:br>
              <a:rPr lang="zh-TW" sz="1600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對於人工規則的介入會導致Coarse-grained &amp; Lack of Boundaries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RELATED WORK AND LIMITATIONS - </a:t>
            </a:r>
            <a:r>
              <a:rPr lang="zh-TW"/>
              <a:t>Threat Hunting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22500"/>
            <a:ext cx="8520600" cy="35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Graph pattern matching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Poirot採用heuristic queries檢索與 CTI 報告中相似的異常系統活動。</a:t>
            </a:r>
            <a:endParaRPr sz="16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Graph Neural Network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GHunter透過order embeddings學習階層式的行為特徵，藉此預測 CTI 攻擊圖與Provenance graph之間近似的子圖關聯。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zh-TW" sz="1600">
                <a:solidFill>
                  <a:schemeClr val="dk1"/>
                </a:solidFill>
              </a:rPr>
              <a:t>ProvG-Searcher為了解決圖形過大導致的 dependency explosion 以及 GNN 常見的over-smoothing，所以先對圖形進行分割與壓縮，隨後才進行以Process為中心的subgraph entailment prediction。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以上作法都只能做到anomaly detection且無法確定威脅細節並且難以區分不同 TTP之間的變化與差異 。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16" name="Google Shape;11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245138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 sz="1800">
                <a:solidFill>
                  <a:srgbClr val="000000"/>
                </a:solidFill>
              </a:rPr>
              <a:t>Provenance Graph: A provenance graph is defined as 𝑃𝐺 = (𝑉,𝐸),where the node set 𝑉 represents all system entities and the edge set 𝐸 represents all system events. Each edge 𝑒 = (𝑢,𝑣,</a:t>
            </a:r>
            <a:r>
              <a:rPr lang="zh-TW" sz="1800"/>
              <a:t>a</a:t>
            </a:r>
            <a:r>
              <a:rPr lang="zh-TW" sz="1800">
                <a:solidFill>
                  <a:srgbClr val="000000"/>
                </a:solidFill>
              </a:rPr>
              <a:t>) denotes that system entity 𝑢 (called subject) performs operation </a:t>
            </a:r>
            <a:r>
              <a:rPr lang="zh-TW" sz="1800"/>
              <a:t>a</a:t>
            </a:r>
            <a:r>
              <a:rPr lang="zh-TW" sz="1800">
                <a:solidFill>
                  <a:srgbClr val="000000"/>
                </a:solidFill>
              </a:rPr>
              <a:t> on system entity 𝑣 (called object).</a:t>
            </a:r>
            <a:br>
              <a:rPr lang="zh-TW" sz="1800">
                <a:solidFill>
                  <a:srgbClr val="000000"/>
                </a:solidFill>
              </a:rPr>
            </a:br>
            <a:endParaRPr sz="1800">
              <a:solidFill>
                <a:srgbClr val="000000"/>
              </a:solidFill>
            </a:endParaRPr>
          </a:p>
        </p:txBody>
      </p:sp>
      <p:sp>
        <p:nvSpPr>
          <p:cNvPr id="122" name="Google Shape;122;p22"/>
          <p:cNvSpPr txBox="1"/>
          <p:nvPr/>
        </p:nvSpPr>
        <p:spPr>
          <a:xfrm>
            <a:off x="2112363" y="4107175"/>
            <a:ext cx="1321500" cy="461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rgbClr val="000000"/>
                </a:solidFill>
              </a:rPr>
              <a:t>𝑒 = (𝑢,𝑣,</a:t>
            </a:r>
            <a:r>
              <a:rPr lang="zh-TW" sz="1800"/>
              <a:t>a</a:t>
            </a:r>
            <a:r>
              <a:rPr lang="zh-TW" sz="1800">
                <a:solidFill>
                  <a:srgbClr val="000000"/>
                </a:solidFill>
              </a:rPr>
              <a:t>)</a:t>
            </a:r>
            <a:endParaRPr/>
          </a:p>
        </p:txBody>
      </p:sp>
      <p:grpSp>
        <p:nvGrpSpPr>
          <p:cNvPr id="123" name="Google Shape;123;p22"/>
          <p:cNvGrpSpPr/>
          <p:nvPr/>
        </p:nvGrpSpPr>
        <p:grpSpPr>
          <a:xfrm>
            <a:off x="245136" y="2943625"/>
            <a:ext cx="5687515" cy="1034400"/>
            <a:chOff x="727948" y="2742175"/>
            <a:chExt cx="5687515" cy="1034400"/>
          </a:xfrm>
        </p:grpSpPr>
        <p:pic>
          <p:nvPicPr>
            <p:cNvPr id="124" name="Google Shape;124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7948" y="3203875"/>
              <a:ext cx="5687515" cy="572700"/>
            </a:xfrm>
            <a:prstGeom prst="rect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125" name="Google Shape;125;p22"/>
            <p:cNvSpPr txBox="1"/>
            <p:nvPr/>
          </p:nvSpPr>
          <p:spPr>
            <a:xfrm>
              <a:off x="1402550" y="2742175"/>
              <a:ext cx="40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1800">
                  <a:solidFill>
                    <a:srgbClr val="000000"/>
                  </a:solidFill>
                </a:rPr>
                <a:t>𝑢</a:t>
              </a:r>
              <a:endParaRPr/>
            </a:p>
          </p:txBody>
        </p:sp>
        <p:sp>
          <p:nvSpPr>
            <p:cNvPr id="126" name="Google Shape;126;p22"/>
            <p:cNvSpPr txBox="1"/>
            <p:nvPr/>
          </p:nvSpPr>
          <p:spPr>
            <a:xfrm>
              <a:off x="5291950" y="2742175"/>
              <a:ext cx="607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1800">
                  <a:solidFill>
                    <a:srgbClr val="000000"/>
                  </a:solidFill>
                </a:rPr>
                <a:t>𝑣</a:t>
              </a:r>
              <a:endParaRPr/>
            </a:p>
          </p:txBody>
        </p:sp>
        <p:sp>
          <p:nvSpPr>
            <p:cNvPr id="127" name="Google Shape;127;p22"/>
            <p:cNvSpPr txBox="1"/>
            <p:nvPr/>
          </p:nvSpPr>
          <p:spPr>
            <a:xfrm>
              <a:off x="2933050" y="2742175"/>
              <a:ext cx="4086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zh-TW" sz="1800"/>
                <a:t>a</a:t>
              </a:r>
              <a:endParaRPr/>
            </a:p>
          </p:txBody>
        </p:sp>
      </p:grpSp>
      <p:pic>
        <p:nvPicPr>
          <p:cNvPr id="128" name="Google Shape;128;p22"/>
          <p:cNvPicPr preferRelativeResize="0"/>
          <p:nvPr/>
        </p:nvPicPr>
        <p:blipFill rotWithShape="1">
          <a:blip r:embed="rId4">
            <a:alphaModFix/>
          </a:blip>
          <a:srcRect b="39853" l="0" r="0" t="0"/>
          <a:stretch/>
        </p:blipFill>
        <p:spPr>
          <a:xfrm>
            <a:off x="6079333" y="2786400"/>
            <a:ext cx="2819529" cy="1782475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2"/>
          <p:cNvSpPr txBox="1"/>
          <p:nvPr/>
        </p:nvSpPr>
        <p:spPr>
          <a:xfrm>
            <a:off x="6828350" y="4584563"/>
            <a:ext cx="1321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rgbClr val="000000"/>
                </a:solidFill>
              </a:rPr>
              <a:t>𝑃 = (𝑉,𝐸)</a:t>
            </a:r>
            <a:endParaRPr/>
          </a:p>
        </p:txBody>
      </p:sp>
      <p:sp>
        <p:nvSpPr>
          <p:cNvPr id="130" name="Google Shape;130;p22"/>
          <p:cNvSpPr txBox="1"/>
          <p:nvPr/>
        </p:nvSpPr>
        <p:spPr>
          <a:xfrm>
            <a:off x="3998563" y="4326056"/>
            <a:ext cx="1934100" cy="780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rgbClr val="000000"/>
                </a:solidFill>
              </a:rPr>
              <a:t>大𝑉是node集合</a:t>
            </a:r>
            <a:br>
              <a:rPr lang="zh-TW" sz="1800">
                <a:solidFill>
                  <a:srgbClr val="000000"/>
                </a:solidFill>
              </a:rPr>
            </a:br>
            <a:r>
              <a:rPr lang="zh-TW" sz="1800">
                <a:solidFill>
                  <a:srgbClr val="000000"/>
                </a:solidFill>
              </a:rPr>
              <a:t>大E是edge集合</a:t>
            </a:r>
            <a:endParaRPr sz="1800">
              <a:solidFill>
                <a:srgbClr val="000000"/>
              </a:solidFill>
            </a:endParaRPr>
          </a:p>
        </p:txBody>
      </p:sp>
      <p:cxnSp>
        <p:nvCxnSpPr>
          <p:cNvPr id="131" name="Google Shape;131;p22"/>
          <p:cNvCxnSpPr>
            <a:stCxn id="130" idx="3"/>
            <a:endCxn id="129" idx="1"/>
          </p:cNvCxnSpPr>
          <p:nvPr/>
        </p:nvCxnSpPr>
        <p:spPr>
          <a:xfrm>
            <a:off x="5932663" y="4716206"/>
            <a:ext cx="895800" cy="99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 - Definitions</a:t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>
            <p:ph type="title"/>
          </p:nvPr>
        </p:nvSpPr>
        <p:spPr>
          <a:xfrm>
            <a:off x="311700" y="165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 - Definitions - TTP Subgraph</a:t>
            </a:r>
            <a:endParaRPr/>
          </a:p>
        </p:txBody>
      </p:sp>
      <p:pic>
        <p:nvPicPr>
          <p:cNvPr id="139" name="Google Shape;13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400" y="891075"/>
            <a:ext cx="5595899" cy="3361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0" name="Google Shape;140;p23"/>
          <p:cNvSpPr txBox="1"/>
          <p:nvPr/>
        </p:nvSpPr>
        <p:spPr>
          <a:xfrm>
            <a:off x="93250" y="1617450"/>
            <a:ext cx="3000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We define a TTP subgraph (TSG) as a provenance graph segment corresponding to a procedure under a specific technique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or sub-technique, presented by the dashed boxes</a:t>
            </a:r>
            <a:endParaRPr sz="1600"/>
          </a:p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 - Definitions - Deep &amp; Wide Architecture</a:t>
            </a:r>
            <a:endParaRPr/>
          </a:p>
        </p:txBody>
      </p:sp>
      <p:sp>
        <p:nvSpPr>
          <p:cNvPr id="147" name="Google Shape;147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The Deep &amp; Wide architecture enhances user preference prediction in recommender systems [33].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It combines a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wide linear model</a:t>
            </a:r>
            <a:r>
              <a:rPr lang="zh-TW">
                <a:solidFill>
                  <a:schemeClr val="dk1"/>
                </a:solidFill>
              </a:rPr>
              <a:t> that captures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explicit feature interactions</a:t>
            </a:r>
            <a:r>
              <a:rPr lang="zh-TW">
                <a:solidFill>
                  <a:schemeClr val="dk1"/>
                </a:solidFill>
              </a:rPr>
              <a:t> to memorize user preferences, and a </a:t>
            </a: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deep neural network</a:t>
            </a:r>
            <a:r>
              <a:rPr lang="zh-TW">
                <a:solidFill>
                  <a:schemeClr val="dk1"/>
                </a:solidFill>
              </a:rPr>
              <a:t> that extracts </a:t>
            </a:r>
            <a:r>
              <a:rPr lang="zh-TW">
                <a:solidFill>
                  <a:schemeClr val="dk1"/>
                </a:solidFill>
                <a:highlight>
                  <a:srgbClr val="FF9900"/>
                </a:highlight>
              </a:rPr>
              <a:t>dense embeddings</a:t>
            </a:r>
            <a:r>
              <a:rPr lang="zh-TW">
                <a:solidFill>
                  <a:schemeClr val="dk1"/>
                </a:solidFill>
              </a:rPr>
              <a:t> to support generalization.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we adapt this architecture to jointly learn knowledge-driven and data-driven TTP representations.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0" y="4743300"/>
            <a:ext cx="435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[33] </a:t>
            </a:r>
            <a:r>
              <a:rPr lang="zh-TW" u="sng">
                <a:solidFill>
                  <a:schemeClr val="hlink"/>
                </a:solidFill>
                <a:hlinkClick r:id="rId4"/>
              </a:rPr>
              <a:t>Wide &amp; deep learning for recommender systems</a:t>
            </a:r>
            <a:endParaRPr/>
          </a:p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 - Definitions</a:t>
            </a:r>
            <a:r>
              <a:rPr lang="zh-TW"/>
              <a:t> - Prototypical Network</a:t>
            </a:r>
            <a:endParaRPr/>
          </a:p>
        </p:txBody>
      </p:sp>
      <p:sp>
        <p:nvSpPr>
          <p:cNvPr id="155" name="Google Shape;155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The prototypical network [53] is a few-shot learning framework that learns a discriminative metric space, where classification can be performed by measuring the distance between query samples and class prototypes.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This approach enables effective generalization from limited labeled data, making it well-suited for TTP recognition, where annotated samples are inherently scarce.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25"/>
          <p:cNvSpPr txBox="1"/>
          <p:nvPr/>
        </p:nvSpPr>
        <p:spPr>
          <a:xfrm>
            <a:off x="0" y="4703625"/>
            <a:ext cx="430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[53] </a:t>
            </a:r>
            <a:r>
              <a:rPr lang="zh-TW" u="sng">
                <a:solidFill>
                  <a:schemeClr val="hlink"/>
                </a:solidFill>
                <a:hlinkClick r:id="rId4"/>
              </a:rPr>
              <a:t>Prototypical networks for few-shot learning</a:t>
            </a:r>
            <a:endParaRPr/>
          </a:p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 - </a:t>
            </a:r>
            <a:r>
              <a:rPr lang="zh-TW"/>
              <a:t>Problem Statement</a:t>
            </a:r>
            <a:endParaRPr/>
          </a:p>
        </p:txBody>
      </p:sp>
      <p:sp>
        <p:nvSpPr>
          <p:cNvPr id="164" name="Google Shape;164;p26"/>
          <p:cNvSpPr txBox="1"/>
          <p:nvPr>
            <p:ph idx="1" type="body"/>
          </p:nvPr>
        </p:nvSpPr>
        <p:spPr>
          <a:xfrm>
            <a:off x="311700" y="1017725"/>
            <a:ext cx="8520600" cy="40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核心目標：本研究的重點在於劃定溯源圖中 TTP 行為的邊界，並識別TTP的tatic, technique,sub-techinique 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具體任務與挑戰：在面對包含大量正常行為與極少量惡意行為的Audit-log時，必須精準提取出 TTP 子圖 (TSGs)。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超越傳統的二元偵測：傳統架構只能給出二元預測，ZOOMER 旨在處理攻擊調查時的語意匯報 (semantic insights) 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界定研究範圍：這項工作不同於 APT attribution(找出發動攻擊的特定威脅行為者) 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ZOOMER 所產出的豐富 TTP 語意資訊，可以作為後續資安鑑識的資料。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5" name="Google Shape;165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 - </a:t>
            </a:r>
            <a:r>
              <a:rPr lang="zh-TW"/>
              <a:t>Threat model (same as TREC)</a:t>
            </a:r>
            <a:endParaRPr/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311700" y="1017725"/>
            <a:ext cx="8520600" cy="40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First, we assume the integrity of the operation system and audit modules, and thus the provenance data are considered credible. 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Second, we assume that the attackers can use any tactics and techniques to conduct APT attacks, but their malicious behaviors are captured by the audit modules.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In addition, we also assume that APT techniques have distinct patterns, which can be captured by statistical or semantic features .</a:t>
            </a:r>
            <a:endParaRPr>
              <a:solidFill>
                <a:schemeClr val="dk1"/>
              </a:solidFill>
              <a:highlight>
                <a:schemeClr val="accent6"/>
              </a:highlight>
            </a:endParaRPr>
          </a:p>
        </p:txBody>
      </p:sp>
      <p:sp>
        <p:nvSpPr>
          <p:cNvPr id="172" name="Google Shape;17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117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SYSTEM DESIGN - Overview</a:t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337" y="901825"/>
            <a:ext cx="7543326" cy="3339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117100"/>
            <a:ext cx="28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SYSTEM DESIGN 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750" y="143556"/>
            <a:ext cx="3937255" cy="1743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6" name="Google Shape;186;p29"/>
          <p:cNvSpPr/>
          <p:nvPr/>
        </p:nvSpPr>
        <p:spPr>
          <a:xfrm>
            <a:off x="5052040" y="117100"/>
            <a:ext cx="2806500" cy="82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 txBox="1"/>
          <p:nvPr/>
        </p:nvSpPr>
        <p:spPr>
          <a:xfrm>
            <a:off x="0" y="647700"/>
            <a:ext cx="49818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為了解決「</a:t>
            </a:r>
            <a:r>
              <a:rPr lang="zh-TW"/>
              <a:t>大海撈針</a:t>
            </a:r>
            <a:r>
              <a:rPr lang="zh-TW"/>
              <a:t>」的運算成本問題，系統會先找出可疑的「關注節點 (Nodes of Interest, NOIs)」作為錨點 。</a:t>
            </a:r>
            <a:br>
              <a:rPr lang="zh-TW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Provenance Graph</a:t>
            </a:r>
            <a:r>
              <a:rPr lang="zh-TW"/>
              <a:t> Construction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結構特徵 (Structural Feature)：統計 37 種輸入與輸出邊緣的事件類型數量，形成 </a:t>
            </a:r>
            <a:r>
              <a:rPr lang="zh-TW">
                <a:highlight>
                  <a:srgbClr val="FFFF00"/>
                </a:highlight>
              </a:rPr>
              <a:t>74 維</a:t>
            </a:r>
            <a:r>
              <a:rPr lang="zh-TW"/>
              <a:t>的向量 。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語意特徵 (Semantic Feature)：Hierarchical Hashing將Process的cmdline + arg 表示為 32 維的特徵向量 。</a:t>
            </a:r>
            <a:br>
              <a:rPr lang="zh-TW"/>
            </a:b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NOI detection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We employ a k-nearest neighbors (KNN) detector for distance-based anomaly detection.</a:t>
            </a:r>
            <a:br>
              <a:rPr lang="zh-TW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The baseline feature space F is constructed from feature vectors of process nodes in benign provenance graphs, representing the distribution of normal behaviors.</a:t>
            </a:r>
            <a:endParaRPr/>
          </a:p>
        </p:txBody>
      </p:sp>
      <p:pic>
        <p:nvPicPr>
          <p:cNvPr id="188" name="Google Shape;18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1675" y="2400475"/>
            <a:ext cx="4117700" cy="22385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9" name="Google Shape;189;p29"/>
          <p:cNvSpPr txBox="1"/>
          <p:nvPr/>
        </p:nvSpPr>
        <p:spPr>
          <a:xfrm>
            <a:off x="4840025" y="4639025"/>
            <a:ext cx="440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/>
              <a:t>ht</a:t>
            </a:r>
            <a:r>
              <a:rPr lang="zh-TW" sz="1800">
                <a:solidFill>
                  <a:srgbClr val="000000"/>
                </a:solidFill>
              </a:rPr>
              <a:t> = [𝑎1,𝑎2, ...,𝑎</a:t>
            </a:r>
            <a:r>
              <a:rPr lang="zh-TW" sz="1800"/>
              <a:t>37</a:t>
            </a:r>
            <a:r>
              <a:rPr lang="zh-TW" sz="1800">
                <a:solidFill>
                  <a:srgbClr val="000000"/>
                </a:solidFill>
              </a:rPr>
              <a:t>,𝑎22,𝑎23, ...,𝑎</a:t>
            </a:r>
            <a:r>
              <a:rPr lang="zh-TW" sz="1800"/>
              <a:t>74</a:t>
            </a:r>
            <a:r>
              <a:rPr lang="zh-TW" sz="1800">
                <a:solidFill>
                  <a:srgbClr val="000000"/>
                </a:solidFill>
              </a:rPr>
              <a:t>]</a:t>
            </a:r>
            <a:endParaRPr/>
          </a:p>
        </p:txBody>
      </p:sp>
      <p:sp>
        <p:nvSpPr>
          <p:cNvPr id="190" name="Google Shape;190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11700" y="117100"/>
            <a:ext cx="28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SYSTEM DESIGN </a:t>
            </a:r>
            <a:endParaRPr/>
          </a:p>
        </p:txBody>
      </p:sp>
      <p:pic>
        <p:nvPicPr>
          <p:cNvPr id="196" name="Google Shape;19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750" y="143556"/>
            <a:ext cx="3937255" cy="1743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30"/>
          <p:cNvSpPr/>
          <p:nvPr/>
        </p:nvSpPr>
        <p:spPr>
          <a:xfrm>
            <a:off x="7795574" y="117100"/>
            <a:ext cx="1280100" cy="820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0" y="647700"/>
            <a:ext cx="50175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TTP Subgraph Sampling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以找出的 NOI 為中心，系統開始精準劃定攻擊行為的邊界，形成可供識別的 TTP 子圖 (TSG) 。</a:t>
            </a:r>
            <a:br>
              <a:rPr lang="zh-TW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Suspicious Subgraph Sampling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we propose a temporal-aware breadth-first traversal that </a:t>
            </a:r>
            <a:r>
              <a:rPr lang="zh-TW"/>
              <a:t>s</a:t>
            </a:r>
            <a:r>
              <a:rPr lang="zh-TW"/>
              <a:t>amples both backward (incoming) and forward (outgoing) dependencies while strictly following event timestamps.(2-hops)</a:t>
            </a:r>
            <a:br>
              <a:rPr lang="zh-TW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Subgraph Pruning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large volumes of benign interactions that obscure TTP activities.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sampled TSG encapsulate edges that are part of routine tasks</a:t>
            </a:r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6825" y="2808600"/>
            <a:ext cx="2591175" cy="1634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 txBox="1"/>
          <p:nvPr>
            <p:ph type="title"/>
          </p:nvPr>
        </p:nvSpPr>
        <p:spPr>
          <a:xfrm>
            <a:off x="311700" y="117100"/>
            <a:ext cx="28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SYSTEM DESIGN </a:t>
            </a:r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750" y="143556"/>
            <a:ext cx="3937255" cy="1743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31"/>
          <p:cNvSpPr/>
          <p:nvPr/>
        </p:nvSpPr>
        <p:spPr>
          <a:xfrm>
            <a:off x="5062325" y="886875"/>
            <a:ext cx="2463300" cy="86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1"/>
          <p:cNvSpPr txBox="1"/>
          <p:nvPr/>
        </p:nvSpPr>
        <p:spPr>
          <a:xfrm>
            <a:off x="0" y="647700"/>
            <a:ext cx="50175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Semantic Subgraph Representation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以</a:t>
            </a:r>
            <a:r>
              <a:rPr lang="zh-TW"/>
              <a:t>圖3為例，a和b具有相似的子圖結構但是不同TTP，c和d有不同的子圖但是相同TTP</a:t>
            </a:r>
            <a:br>
              <a:rPr lang="zh-TW"/>
            </a:b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Deep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Specifically, we employ the Graph Attention Network (GAT) [</a:t>
            </a:r>
            <a:r>
              <a:rPr lang="zh-TW" u="sng">
                <a:solidFill>
                  <a:schemeClr val="hlink"/>
                </a:solidFill>
                <a:hlinkClick r:id="rId4"/>
              </a:rPr>
              <a:t>61</a:t>
            </a:r>
            <a:r>
              <a:rPr lang="zh-TW"/>
              <a:t>].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which assigns adaptive attention weights to neighbors rather than treating them </a:t>
            </a:r>
            <a:r>
              <a:rPr lang="zh-TW"/>
              <a:t>u</a:t>
            </a:r>
            <a:r>
              <a:rPr lang="zh-TW"/>
              <a:t>niformly as in conventional GNNs.</a:t>
            </a:r>
            <a:endParaRPr/>
          </a:p>
        </p:txBody>
      </p:sp>
      <p:pic>
        <p:nvPicPr>
          <p:cNvPr id="209" name="Google Shape;209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2742" y="2959650"/>
            <a:ext cx="2831575" cy="3885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0" name="Google Shape;21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28017" y="3536125"/>
            <a:ext cx="1796225" cy="5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1" name="Google Shape;211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14950" y="4221768"/>
            <a:ext cx="3219362" cy="53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2" name="Google Shape;212;p31"/>
          <p:cNvSpPr txBox="1"/>
          <p:nvPr/>
        </p:nvSpPr>
        <p:spPr>
          <a:xfrm>
            <a:off x="-144600" y="2959657"/>
            <a:ext cx="3812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Ni is the neighbor set of node i.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K denotes the parallel multi-head attention.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After stacking t-layer GATs, we obtain the final set of node embeddings X.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4725" y="4221786"/>
            <a:ext cx="1930536" cy="721989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4" name="Google Shape;214;p3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68549" y="2705819"/>
            <a:ext cx="2606701" cy="2048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5" name="Google Shape;21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2"/>
          <p:cNvSpPr txBox="1"/>
          <p:nvPr>
            <p:ph type="title"/>
          </p:nvPr>
        </p:nvSpPr>
        <p:spPr>
          <a:xfrm>
            <a:off x="311700" y="117100"/>
            <a:ext cx="28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SYSTEM DESIGN </a:t>
            </a:r>
            <a:endParaRPr/>
          </a:p>
        </p:txBody>
      </p:sp>
      <p:pic>
        <p:nvPicPr>
          <p:cNvPr id="221" name="Google Shape;22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0735" y="117101"/>
            <a:ext cx="3316262" cy="1468301"/>
          </a:xfrm>
          <a:prstGeom prst="rect">
            <a:avLst/>
          </a:prstGeom>
          <a:noFill/>
          <a:ln cap="flat" cmpd="sng" w="80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2" name="Google Shape;222;p32"/>
          <p:cNvSpPr/>
          <p:nvPr/>
        </p:nvSpPr>
        <p:spPr>
          <a:xfrm>
            <a:off x="5715951" y="743182"/>
            <a:ext cx="2074800" cy="731400"/>
          </a:xfrm>
          <a:prstGeom prst="rect">
            <a:avLst/>
          </a:prstGeom>
          <a:noFill/>
          <a:ln cap="flat" cmpd="sng" w="16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000" lIns="77000" spcFirstLastPara="1" rIns="77000" wrap="square" tIns="77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9"/>
          </a:p>
        </p:txBody>
      </p:sp>
      <p:sp>
        <p:nvSpPr>
          <p:cNvPr id="223" name="Google Shape;223;p32"/>
          <p:cNvSpPr txBox="1"/>
          <p:nvPr/>
        </p:nvSpPr>
        <p:spPr>
          <a:xfrm>
            <a:off x="-108775" y="647700"/>
            <a:ext cx="50175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Semantic Subgraph Representatio</a:t>
            </a:r>
            <a:r>
              <a:rPr lang="zh-TW"/>
              <a:t>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Wide  Model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The wide model is implemented as a generalized linear model designed to capture explicit feature interactions.</a:t>
            </a:r>
            <a:br>
              <a:rPr lang="zh-TW"/>
            </a:b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Abstract Node Feature (18 dim):將節點進行語意分類（例如將某個特定路徑的 dll 檔抽象化為 system_file 和 dll_file）。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Edge Feature (37 dim):統計sub-graph中的edge種類和數量。例如 T1485:資料破壞會有大量的檔案操作。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2"/>
          <p:cNvSpPr txBox="1"/>
          <p:nvPr/>
        </p:nvSpPr>
        <p:spPr>
          <a:xfrm>
            <a:off x="1257174" y="3796569"/>
            <a:ext cx="71694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For unstructured CTI sources, we apply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regex-based </a:t>
            </a:r>
            <a:r>
              <a:rPr lang="zh-TW">
                <a:solidFill>
                  <a:schemeClr val="dk1"/>
                </a:solidFill>
              </a:rPr>
              <a:t>matching to identify IoCs and their associated tactics.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For structured sources, we directly parse formatted fields (e.g., YAML entries)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zh-TW">
                <a:solidFill>
                  <a:schemeClr val="dk1"/>
                </a:solidFill>
              </a:rPr>
              <a:t>這些 IoC 包含 file paths、registry keys、C&amp;C domains(3*11=33 dim) 。coveraged 11 ATT&amp;CK Tactics 。</a:t>
            </a:r>
            <a:endParaRPr/>
          </a:p>
        </p:txBody>
      </p:sp>
      <p:sp>
        <p:nvSpPr>
          <p:cNvPr id="225" name="Google Shape;225;p32"/>
          <p:cNvSpPr txBox="1"/>
          <p:nvPr/>
        </p:nvSpPr>
        <p:spPr>
          <a:xfrm>
            <a:off x="-93200" y="3487350"/>
            <a:ext cx="865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IoC Feature  (33 dim - </a:t>
            </a:r>
            <a:r>
              <a:rPr lang="zh-TW">
                <a:solidFill>
                  <a:schemeClr val="dk1"/>
                </a:solidFill>
                <a:highlight>
                  <a:srgbClr val="FFFF00"/>
                </a:highlight>
              </a:rPr>
              <a:t>occurrence frequency</a:t>
            </a:r>
            <a:r>
              <a:rPr lang="zh-TW">
                <a:solidFill>
                  <a:schemeClr val="dk1"/>
                </a:solidFill>
              </a:rPr>
              <a:t> of IoCs associated with a specific tactic.):</a:t>
            </a:r>
            <a:endParaRPr/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8387" y="1705501"/>
            <a:ext cx="2360950" cy="612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7" name="Google Shape;227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77831" y="2438402"/>
            <a:ext cx="3866168" cy="2610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8" name="Google Shape;228;p32"/>
          <p:cNvSpPr txBox="1"/>
          <p:nvPr/>
        </p:nvSpPr>
        <p:spPr>
          <a:xfrm>
            <a:off x="5277825" y="2763575"/>
            <a:ext cx="3866100" cy="73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200">
                <a:solidFill>
                  <a:schemeClr val="dk1"/>
                </a:solidFill>
              </a:rPr>
              <a:t>ci is a randomly sampled binary indicator that determines whether the i-th feature is included (1) or excluded (0), and d is the feature dimensionality.</a:t>
            </a:r>
            <a:endParaRPr sz="1200"/>
          </a:p>
        </p:txBody>
      </p:sp>
      <p:sp>
        <p:nvSpPr>
          <p:cNvPr id="229" name="Google Shape;22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3"/>
          <p:cNvSpPr txBox="1"/>
          <p:nvPr>
            <p:ph type="title"/>
          </p:nvPr>
        </p:nvSpPr>
        <p:spPr>
          <a:xfrm>
            <a:off x="311700" y="117100"/>
            <a:ext cx="28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SYSTEM DESIGN </a:t>
            </a:r>
            <a:endParaRPr/>
          </a:p>
        </p:txBody>
      </p:sp>
      <p:pic>
        <p:nvPicPr>
          <p:cNvPr id="235" name="Google Shape;23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750" y="143556"/>
            <a:ext cx="3937255" cy="1743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6" name="Google Shape;236;p33"/>
          <p:cNvSpPr/>
          <p:nvPr/>
        </p:nvSpPr>
        <p:spPr>
          <a:xfrm>
            <a:off x="7504625" y="893875"/>
            <a:ext cx="1524300" cy="86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3"/>
          <p:cNvSpPr txBox="1"/>
          <p:nvPr/>
        </p:nvSpPr>
        <p:spPr>
          <a:xfrm>
            <a:off x="-128962" y="648900"/>
            <a:ext cx="50175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TTP Recognition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Model Training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The prototypical network is trained in a N-way K-shot setting, where N denotes the number of classes and K denotes the number of samples per class.</a:t>
            </a:r>
            <a:br>
              <a:rPr lang="zh-TW"/>
            </a:b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Training episodes are constructed from the KELLECT4APT dataset. Each episode consists of a support set covering 32 TTP classes with 3 samples per class (32-way 3-shot)</a:t>
            </a:r>
            <a:br>
              <a:rPr lang="zh-TW"/>
            </a:b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while the query set is formed from the remaining 2-3 samples per class. The prototype vector ck for the k-th TTP class is derived by averaging the embeddings of its support samples 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9708" y="2285400"/>
            <a:ext cx="1801330" cy="572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9" name="Google Shape;23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311700" y="117100"/>
            <a:ext cx="289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SYSTEM DESIGN </a:t>
            </a:r>
            <a:endParaRPr/>
          </a:p>
        </p:txBody>
      </p:sp>
      <p:pic>
        <p:nvPicPr>
          <p:cNvPr id="245" name="Google Shape;24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750" y="143556"/>
            <a:ext cx="3937255" cy="17432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34"/>
          <p:cNvSpPr/>
          <p:nvPr/>
        </p:nvSpPr>
        <p:spPr>
          <a:xfrm>
            <a:off x="7504625" y="893875"/>
            <a:ext cx="1524300" cy="8682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4"/>
          <p:cNvSpPr txBox="1"/>
          <p:nvPr/>
        </p:nvSpPr>
        <p:spPr>
          <a:xfrm>
            <a:off x="-66787" y="647700"/>
            <a:ext cx="50175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zh-TW"/>
              <a:t>TTP Recognition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zh-TW"/>
              <a:t>Model Inference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a sampled TSG is provided as input x and embedded via the subgraph representation module fϕ.</a:t>
            </a:r>
            <a:br>
              <a:rPr lang="zh-TW"/>
            </a:b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The embedding is then compared against all TTP prototypes {ck}k∈C in the learned metric space, and the predicted class is determined based on the nearest prototype under Euclidean distance</a:t>
            </a:r>
            <a:br>
              <a:rPr lang="zh-TW"/>
            </a:b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zh-TW"/>
              <a:t>To reduce false positives, a decision constraint is imposed: if the minimum distance to any prototype exceeds a predefined threshold, the sample is classified as benign.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0813" y="2206425"/>
            <a:ext cx="3399125" cy="435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- Experiment Setup</a:t>
            </a:r>
            <a:endParaRPr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11700" y="1152475"/>
            <a:ext cx="8520600" cy="38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Dataset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Existing public datasets typically provide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only graph-level binary labels</a:t>
            </a:r>
            <a:r>
              <a:rPr lang="zh-TW">
                <a:solidFill>
                  <a:schemeClr val="dk1"/>
                </a:solidFill>
              </a:rPr>
              <a:t> or </a:t>
            </a:r>
            <a:r>
              <a:rPr lang="zh-TW">
                <a:solidFill>
                  <a:schemeClr val="dk1"/>
                </a:solidFill>
                <a:highlight>
                  <a:schemeClr val="accent6"/>
                </a:highlight>
              </a:rPr>
              <a:t>coarse attack descriptions</a:t>
            </a:r>
            <a:r>
              <a:rPr lang="zh-TW">
                <a:solidFill>
                  <a:schemeClr val="dk1"/>
                </a:solidFill>
              </a:rPr>
              <a:t>. So they use KELLECT4APT only.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NOI Detection Subset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To establish ground truth, we adopted the annotation strategy described in [</a:t>
            </a:r>
            <a:r>
              <a:rPr lang="zh-TW" u="sng">
                <a:solidFill>
                  <a:schemeClr val="hlink"/>
                </a:solidFill>
                <a:hlinkClick r:id="rId3"/>
              </a:rPr>
              <a:t>Threatrace</a:t>
            </a:r>
            <a:r>
              <a:rPr lang="zh-TW">
                <a:solidFill>
                  <a:schemeClr val="dk1"/>
                </a:solidFill>
              </a:rPr>
              <a:t>].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All process nodes within 2 hops of the matched nodes were subsequently labeled as NOIs, resulting in a total of 647 process NOIs.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In addition, we deployed KELLECT on multiple hosts to collect benign evaluation data.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This process yielded 23.9 GB of audit logs with 12,743 process nodes.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TTP Recognition Subset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retained only technique labels supported by at least five distinct scripts (i.e., each label has five different samples).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This process yielded 160 provenance graphs covering 7 tactics and 32 distinct sub-techniques/techniques.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這批圖又分為兩種：人工萃取的基準子圖 (gTSG)與系統生成的採樣子圖 (sTSG)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- Experiment Setup</a:t>
            </a:r>
            <a:endParaRPr/>
          </a:p>
        </p:txBody>
      </p:sp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Evaluation Strategies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NOI Detection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這是一個極度不平衡的資料集（正常與惡意節點比例為 6:1）。正常的節點以 7:3 切分為訓練集與測試集，而那 647 個惡意節點則全部丟進測試集中 。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評估指標採用常見的 Recall、FPR、Accuracy、Precision、F1-score 以及 AUC 分數 。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TTP Recognition (under gTSG and sTSG)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準確率評估分為： Sub-technique、Technique、Tactic。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為了確保統計上的可靠性，所有結果都是跑了 10 次隨機種子後的「平均值」 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- Experiment Setup</a:t>
            </a:r>
            <a:endParaRPr/>
          </a:p>
        </p:txBody>
      </p:sp>
      <p:sp>
        <p:nvSpPr>
          <p:cNvPr id="269" name="Google Shape;26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Experiment Environment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All experiments were conducted on a server featuring Intel Xeon Gold 5128 CPUs,NVIDIA RTX 4090 GPUs, and 128GB of RAM.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The implementation of ZOOMER contains about 7,500 lines of Python codes.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We utilized NetworkX for provenance graph construction, and the NOI detection model was built with ScikitLearn.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The Deep &amp; Wide model and the subgraph sampling algorithm were developed using PyTorch and DGL.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0" name="Google Shape;27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</a:t>
            </a:r>
            <a:endParaRPr/>
          </a:p>
        </p:txBody>
      </p:sp>
      <p:sp>
        <p:nvSpPr>
          <p:cNvPr id="276" name="Google Shape;276;p38"/>
          <p:cNvSpPr txBox="1"/>
          <p:nvPr>
            <p:ph idx="1" type="body"/>
          </p:nvPr>
        </p:nvSpPr>
        <p:spPr>
          <a:xfrm>
            <a:off x="311700" y="1152475"/>
            <a:ext cx="469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Parameter Tuning for NOI Detection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the number of nearest neighbors (n) 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將 n 的值從 5 測試到 20，並觀察 AUC 分數的變化 。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anomaly threshold</a:t>
            </a:r>
            <a:r>
              <a:rPr lang="zh-TW">
                <a:solidFill>
                  <a:schemeClr val="dk1"/>
                </a:solidFill>
              </a:rPr>
              <a:t> (θ) 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固定 n 之後，將閾值 θ 從 7 調整到 15，並觀察 F1-score 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作者最終選擇 n = 5 與 θ = 12  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7" name="Google Shape;27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4750" y="1598537"/>
            <a:ext cx="3919500" cy="1946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8" name="Google Shape;27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</a:t>
            </a:r>
            <a:endParaRPr/>
          </a:p>
        </p:txBody>
      </p:sp>
      <p:sp>
        <p:nvSpPr>
          <p:cNvPr id="284" name="Google Shape;284;p39"/>
          <p:cNvSpPr txBox="1"/>
          <p:nvPr>
            <p:ph idx="1" type="body"/>
          </p:nvPr>
        </p:nvSpPr>
        <p:spPr>
          <a:xfrm>
            <a:off x="311700" y="1075500"/>
            <a:ext cx="469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Parameter Tuning for Subgraph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embedding dimension (d)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將維度從 64 測試到 256。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GAT layers (l) 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將 GAT 層數從 1 層測試到 4 層 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作者最終選擇</a:t>
            </a:r>
            <a:r>
              <a:rPr lang="zh-TW">
                <a:solidFill>
                  <a:schemeClr val="dk1"/>
                </a:solidFill>
              </a:rPr>
              <a:t> d = 128 與 l = 3 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85" name="Google Shape;28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400" y="1613313"/>
            <a:ext cx="3832799" cy="210766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6" name="Google Shape;286;p39"/>
          <p:cNvSpPr txBox="1"/>
          <p:nvPr/>
        </p:nvSpPr>
        <p:spPr>
          <a:xfrm>
            <a:off x="4058812" y="1084668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1800">
                <a:solidFill>
                  <a:schemeClr val="dk1"/>
                </a:solidFill>
              </a:rPr>
              <a:t>Representation</a:t>
            </a:r>
            <a:endParaRPr/>
          </a:p>
        </p:txBody>
      </p:sp>
      <p:sp>
        <p:nvSpPr>
          <p:cNvPr id="287" name="Google Shape;287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</a:t>
            </a:r>
            <a:endParaRPr/>
          </a:p>
        </p:txBody>
      </p:sp>
      <p:sp>
        <p:nvSpPr>
          <p:cNvPr id="293" name="Google Shape;293;p40"/>
          <p:cNvSpPr txBox="1"/>
          <p:nvPr>
            <p:ph idx="1" type="body"/>
          </p:nvPr>
        </p:nvSpPr>
        <p:spPr>
          <a:xfrm>
            <a:off x="311700" y="1075500"/>
            <a:ext cx="8165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Ablation Study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Wide: It utilizes the wide model for TTP representation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Deep: It utilizes the deep model for TTP representation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Deep &amp; Wide: It merges both deep and wide models for TTP representation.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94" name="Google Shape;29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300" y="2741825"/>
            <a:ext cx="6508500" cy="14745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5" name="Google Shape;29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</a:t>
            </a:r>
            <a:endParaRPr/>
          </a:p>
        </p:txBody>
      </p:sp>
      <p:sp>
        <p:nvSpPr>
          <p:cNvPr id="301" name="Google Shape;301;p41"/>
          <p:cNvSpPr txBox="1"/>
          <p:nvPr>
            <p:ph idx="1" type="body"/>
          </p:nvPr>
        </p:nvSpPr>
        <p:spPr>
          <a:xfrm>
            <a:off x="311700" y="1047500"/>
            <a:ext cx="782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Comparative Experiment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NOI Detection Comparison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ZOOMER 在召回率 (Recall)、準確率 (Accuracy) 與 F1-score 上全面勝出。對手們雖然也能抓出異常，但往往無法平衡Recall與FPR，導致 F1-score 偏低。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02" name="Google Shape;3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9400" y="3758302"/>
            <a:ext cx="5705201" cy="1178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3" name="Google Shape;30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</a:t>
            </a:r>
            <a:endParaRPr/>
          </a:p>
        </p:txBody>
      </p:sp>
      <p:sp>
        <p:nvSpPr>
          <p:cNvPr id="309" name="Google Shape;309;p42"/>
          <p:cNvSpPr txBox="1"/>
          <p:nvPr>
            <p:ph idx="1" type="body"/>
          </p:nvPr>
        </p:nvSpPr>
        <p:spPr>
          <a:xfrm>
            <a:off x="311700" y="1047500"/>
            <a:ext cx="782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Comparative Experiment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TTP Recognition Comparison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ZOOMER 以 17% (勝 Holmes) 與 30% (勝 APTShield) 的巨大差距輾壓對手。而且這兩個對手因為技術限制，只能勉強識別出Tactic，根本無法做到Sub-Technique識別。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0" name="Google Shape;31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1438" y="3343650"/>
            <a:ext cx="3261125" cy="16029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1" name="Google Shape;311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</a:t>
            </a:r>
            <a:endParaRPr/>
          </a:p>
        </p:txBody>
      </p:sp>
      <p:sp>
        <p:nvSpPr>
          <p:cNvPr id="317" name="Google Shape;317;p43"/>
          <p:cNvSpPr txBox="1"/>
          <p:nvPr>
            <p:ph idx="1" type="body"/>
          </p:nvPr>
        </p:nvSpPr>
        <p:spPr>
          <a:xfrm>
            <a:off x="311700" y="1047500"/>
            <a:ext cx="782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Comparative Experiment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C</a:t>
            </a:r>
            <a:r>
              <a:rPr lang="zh-TW">
                <a:solidFill>
                  <a:schemeClr val="dk1"/>
                </a:solidFill>
              </a:rPr>
              <a:t>omparison with Learning-basedMethods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ZOOMER 在所有 TTP 識別粒度上，都以超過 20% 的差距擊敗對手。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18" name="Google Shape;31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9124" y="3711174"/>
            <a:ext cx="4645750" cy="14323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9" name="Google Shape;31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</a:t>
            </a:r>
            <a:endParaRPr/>
          </a:p>
        </p:txBody>
      </p:sp>
      <p:sp>
        <p:nvSpPr>
          <p:cNvPr id="325" name="Google Shape;325;p44"/>
          <p:cNvSpPr txBox="1"/>
          <p:nvPr>
            <p:ph idx="1" type="body"/>
          </p:nvPr>
        </p:nvSpPr>
        <p:spPr>
          <a:xfrm>
            <a:off x="311700" y="1047500"/>
            <a:ext cx="448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Sensitivity Analysis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在真實的系統環境中，採樣出來的TSG會有noise。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這段實驗就是要測試：如果 ZOOMER 抓到的圖裡面混入了雜質，它還能認出正確的攻擊手法嗎？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為了模擬真實世界中子圖可能出現的誤差，作者刻意在原本乾淨的 TSG 中，注入了那些能繞過採樣規則的「無害節點」。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26" name="Google Shape;32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8900" y="1644087"/>
            <a:ext cx="4217050" cy="22232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7" name="Google Shape;327;p44"/>
          <p:cNvSpPr txBox="1"/>
          <p:nvPr/>
        </p:nvSpPr>
        <p:spPr>
          <a:xfrm>
            <a:off x="5467425" y="40098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zh-TW">
                <a:solidFill>
                  <a:schemeClr val="dk1"/>
                </a:solidFill>
              </a:rPr>
              <a:t>noise ratio r ∈ [0,1]</a:t>
            </a:r>
            <a:endParaRPr/>
          </a:p>
        </p:txBody>
      </p:sp>
      <p:sp>
        <p:nvSpPr>
          <p:cNvPr id="328" name="Google Shape;328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</a:t>
            </a:r>
            <a:endParaRPr/>
          </a:p>
        </p:txBody>
      </p:sp>
      <p:sp>
        <p:nvSpPr>
          <p:cNvPr id="334" name="Google Shape;334;p45"/>
          <p:cNvSpPr txBox="1"/>
          <p:nvPr>
            <p:ph idx="1" type="body"/>
          </p:nvPr>
        </p:nvSpPr>
        <p:spPr>
          <a:xfrm>
            <a:off x="311700" y="1047500"/>
            <a:ext cx="503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Overhead Experiment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Overhead of NOI Detection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運算時間：為 1,000 個節點萃取特徵只需要 0.71 秒；計算它們與 5 個最近鄰居的距離只要 0.05 秒。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記憶體消耗：萃取特徵幾乎不佔空間（小於 1MB），而距離計算大約需要 48MB（主要是用來把「正常節點的基準特徵」存在記憶體裡備查）。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35" name="Google Shape;33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725" y="1965051"/>
            <a:ext cx="3647276" cy="1693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36" name="Google Shape;33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</a:t>
            </a:r>
            <a:endParaRPr/>
          </a:p>
        </p:txBody>
      </p:sp>
      <p:sp>
        <p:nvSpPr>
          <p:cNvPr id="342" name="Google Shape;342;p46"/>
          <p:cNvSpPr txBox="1"/>
          <p:nvPr>
            <p:ph idx="1" type="body"/>
          </p:nvPr>
        </p:nvSpPr>
        <p:spPr>
          <a:xfrm>
            <a:off x="311700" y="1047500"/>
            <a:ext cx="503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Overhead Experiment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Overhead of Subgraph Sampling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基本開銷：處理一個 1,000 節點的子圖，平均只要 2.25 秒 與 3MB 的記憶體。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真實規模壓力測試：作者將原始溯源圖放大到 1,500 甚至 50,000 個節點（模擬真實企業環境）。結果顯示，採樣時間始終穩定落在 1 秒到 5 秒之間。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43" name="Google Shape;34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725" y="1965051"/>
            <a:ext cx="3647276" cy="1693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44" name="Google Shape;344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</a:t>
            </a:r>
            <a:endParaRPr/>
          </a:p>
        </p:txBody>
      </p:sp>
      <p:sp>
        <p:nvSpPr>
          <p:cNvPr id="350" name="Google Shape;350;p47"/>
          <p:cNvSpPr txBox="1"/>
          <p:nvPr>
            <p:ph idx="1" type="body"/>
          </p:nvPr>
        </p:nvSpPr>
        <p:spPr>
          <a:xfrm>
            <a:off x="311700" y="1047500"/>
            <a:ext cx="5030700" cy="4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Overhead Experiment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Overhead of TTP Recognition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Wide 模型：需要約 258MB 的固定記憶體（用來存放CTI的IoC知識庫）。</a:t>
            </a:r>
            <a:br>
              <a:rPr lang="zh-TW">
                <a:solidFill>
                  <a:schemeClr val="dk1"/>
                </a:solidFill>
              </a:rPr>
            </a:br>
            <a:r>
              <a:rPr lang="zh-TW">
                <a:solidFill>
                  <a:schemeClr val="dk1"/>
                </a:solidFill>
              </a:rPr>
              <a:t>因為經過前面的pruning，子圖通常小於 1,000 個節點，所以運算時間可以在 2 秒內。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Deep 模型：載入預訓練好的 GAT 圖神經網路需要固定約 468MB 的記憶體。而且運算時間幾乎不受圖形大小影響。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原型匹配 (Prototype Matching)：最後跟資料庫裡的 TTP 原型比對，只需 150MB 記憶體與 0.05 秒。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1" name="Google Shape;35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8725" y="1965051"/>
            <a:ext cx="3647276" cy="1693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52" name="Google Shape;352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</a:t>
            </a:r>
            <a:endParaRPr/>
          </a:p>
        </p:txBody>
      </p:sp>
      <p:sp>
        <p:nvSpPr>
          <p:cNvPr id="358" name="Google Shape;358;p48"/>
          <p:cNvSpPr txBox="1"/>
          <p:nvPr>
            <p:ph idx="1" type="body"/>
          </p:nvPr>
        </p:nvSpPr>
        <p:spPr>
          <a:xfrm>
            <a:off x="311700" y="1047500"/>
            <a:ext cx="5030700" cy="4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Overhead Experiment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Real-World Attack Evaluation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ZOOMER 在 APT 戰術 (Tactic) 級別的識別準確率超過了 80%。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系統確實在某些技術上發生了誤判，因為他沒看過那個TTP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系統遇到了一個它從來沒學過的攻擊手法 T1195（Supply Chain Compromise）。但他mapping到T1566也是mapping到了同一個tactic底下。表示具有一定的泛化能力。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59" name="Google Shape;35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400" y="1513025"/>
            <a:ext cx="3496800" cy="237558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0" name="Google Shape;36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</a:t>
            </a:r>
            <a:endParaRPr/>
          </a:p>
        </p:txBody>
      </p:sp>
      <p:sp>
        <p:nvSpPr>
          <p:cNvPr id="366" name="Google Shape;366;p49"/>
          <p:cNvSpPr txBox="1"/>
          <p:nvPr>
            <p:ph idx="1" type="body"/>
          </p:nvPr>
        </p:nvSpPr>
        <p:spPr>
          <a:xfrm>
            <a:off x="311700" y="1047500"/>
            <a:ext cx="8606400" cy="11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Case Study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當真實的駭客打進來時，ZOOMER 到底能幫在第一線看螢幕的資安分析師省下多少麻煩？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zh-TW">
                <a:solidFill>
                  <a:schemeClr val="dk1"/>
                </a:solidFill>
              </a:rPr>
              <a:t>在ZOOMER的輔助下，資安分析師可以看到不同的tactic區塊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67" name="Google Shape;36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1786" y="2876075"/>
            <a:ext cx="5846224" cy="214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>
            <p:ph type="title"/>
          </p:nvPr>
        </p:nvSpPr>
        <p:spPr>
          <a:xfrm>
            <a:off x="354600" y="10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DISCUSSION AND LIMITATIONS</a:t>
            </a:r>
            <a:endParaRPr/>
          </a:p>
        </p:txBody>
      </p:sp>
      <p:sp>
        <p:nvSpPr>
          <p:cNvPr id="374" name="Google Shape;374;p50"/>
          <p:cNvSpPr txBox="1"/>
          <p:nvPr>
            <p:ph idx="1" type="body"/>
          </p:nvPr>
        </p:nvSpPr>
        <p:spPr>
          <a:xfrm>
            <a:off x="311700" y="690364"/>
            <a:ext cx="8606400" cy="4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邊界模糊</a:t>
            </a:r>
            <a:r>
              <a:rPr lang="zh-TW">
                <a:solidFill>
                  <a:schemeClr val="dk1"/>
                </a:solidFill>
              </a:rPr>
              <a:t>：過去很難界定攻擊範圍。ZOOMER 透過「啟發式子圖採樣」，精準劃出單一攻擊行為的邊界。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特徵微小且易混淆</a:t>
            </a:r>
            <a:r>
              <a:rPr lang="zh-TW">
                <a:solidFill>
                  <a:schemeClr val="dk1"/>
                </a:solidFill>
              </a:rPr>
              <a:t>：不同攻擊可能長得很像。ZOOMER 引入「Deep &amp; Wide 雙塔架構」融合結構與專家語意</a:t>
            </a:r>
            <a:r>
              <a:rPr lang="zh-TW">
                <a:solidFill>
                  <a:schemeClr val="dk1"/>
                </a:solidFill>
              </a:rPr>
              <a:t>來</a:t>
            </a:r>
            <a:r>
              <a:rPr lang="zh-TW">
                <a:solidFill>
                  <a:schemeClr val="dk1"/>
                </a:solidFill>
              </a:rPr>
              <a:t>精準分辨。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標籤無限擴張與樣本稀缺</a:t>
            </a:r>
            <a:r>
              <a:rPr lang="zh-TW">
                <a:solidFill>
                  <a:schemeClr val="dk1"/>
                </a:solidFill>
              </a:rPr>
              <a:t>：ATT&amp;CK 攻擊手法不斷增加，且真實攻擊數據極少。ZOOMER 放棄傳統分類器，改用「小樣本原型網路」，把分類問題變成空間距離匹配問題。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開源資料集</a:t>
            </a:r>
            <a:r>
              <a:rPr lang="zh-TW">
                <a:solidFill>
                  <a:schemeClr val="dk1"/>
                </a:solidFill>
              </a:rPr>
              <a:t>：作者親自建構並釋出了全世界第一個具備全面 TTP 標註的核心級溯源資料集 KELLECT4APT。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擊敗SOTA</a:t>
            </a:r>
            <a:r>
              <a:rPr lang="zh-TW">
                <a:solidFill>
                  <a:schemeClr val="dk1"/>
                </a:solidFill>
              </a:rPr>
              <a:t>：在基準測試中，ZOOMER 在 TTP 識別的準確率上，以以巨大差距擊敗了現有的 NeuroMatch、GHunter 等圖學習 SOTA 模型。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效能卓越</a:t>
            </a:r>
            <a:r>
              <a:rPr lang="zh-TW">
                <a:solidFill>
                  <a:schemeClr val="dk1"/>
                </a:solidFill>
              </a:rPr>
              <a:t>：在Sub-technique層級達到 88% 的準確率，在Tactic層級達到 94%。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輕量且快速</a:t>
            </a:r>
            <a:r>
              <a:rPr lang="zh-TW">
                <a:solidFill>
                  <a:schemeClr val="dk1"/>
                </a:solidFill>
              </a:rPr>
              <a:t>：處理一個警報的平均時間不到 2 秒，記憶體消耗極低，每小時可處理高達 1,200 個警報，完全具備企業級落地部署的實力。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75" name="Google Shape;375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/>
          <p:nvPr>
            <p:ph type="title"/>
          </p:nvPr>
        </p:nvSpPr>
        <p:spPr>
          <a:xfrm>
            <a:off x="354600" y="10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FUTURE WORK</a:t>
            </a:r>
            <a:endParaRPr/>
          </a:p>
        </p:txBody>
      </p:sp>
      <p:sp>
        <p:nvSpPr>
          <p:cNvPr id="381" name="Google Shape;381;p51"/>
          <p:cNvSpPr txBox="1"/>
          <p:nvPr>
            <p:ph idx="1" type="body"/>
          </p:nvPr>
        </p:nvSpPr>
        <p:spPr>
          <a:xfrm>
            <a:off x="311700" y="674825"/>
            <a:ext cx="8606400" cy="42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擴充跨平台資料集</a:t>
            </a:r>
            <a:r>
              <a:rPr lang="zh-TW">
                <a:solidFill>
                  <a:schemeClr val="dk1"/>
                </a:solidFill>
              </a:rPr>
              <a:t>：目前的 KELLECT4APT 資料集主要基於 Windows，未來計畫透過在不同平台（例如 Linux）上生成更多 TTP 樣本來擴充資料庫，藉此強化系統辨識新興攻擊模式的能力。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引入對抗性訓練</a:t>
            </a:r>
            <a:r>
              <a:rPr lang="zh-TW">
                <a:solidFill>
                  <a:schemeClr val="dk1"/>
                </a:solidFill>
              </a:rPr>
              <a:t> (Adversarial Training)：為了防止高階駭客刻意製造雜訊或假動作來騙過 AI，未來將為圖形偵測模型引入對抗性訓練，讓模型在面對蓄意欺騙時更具防禦力。</a:t>
            </a:r>
            <a:br>
              <a:rPr lang="zh-TW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zh-TW">
                <a:solidFill>
                  <a:schemeClr val="dk1"/>
                </a:solidFill>
              </a:rPr>
              <a:t>整合不確定性量化</a:t>
            </a:r>
            <a:r>
              <a:rPr lang="zh-TW">
                <a:solidFill>
                  <a:schemeClr val="dk1"/>
                </a:solidFill>
              </a:rPr>
              <a:t> (Uncertainty Quantification)：計畫將不確定性評估機制整合進 TTP 識別中，這能幫助系統在遇到沒把握的未知攻擊時給出「信心指數」，進一步提升面對具備高適應力的高階攻擊者時的系統韌性。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2" name="Google Shape;38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