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Roboto Mon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03DA90-B49B-43DB-9F7A-66925020D7B7}">
  <a:tblStyle styleId="{D903DA90-B49B-43DB-9F7A-66925020D7B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Mono-bold.fntdata"/><Relationship Id="rId52" Type="http://schemas.openxmlformats.org/officeDocument/2006/relationships/font" Target="fonts/RobotoMono-regular.fntdata"/><Relationship Id="rId11" Type="http://schemas.openxmlformats.org/officeDocument/2006/relationships/slide" Target="slides/slide5.xml"/><Relationship Id="rId55" Type="http://schemas.openxmlformats.org/officeDocument/2006/relationships/font" Target="fonts/RobotoMono-boldItalic.fntdata"/><Relationship Id="rId10" Type="http://schemas.openxmlformats.org/officeDocument/2006/relationships/slide" Target="slides/slide4.xml"/><Relationship Id="rId54" Type="http://schemas.openxmlformats.org/officeDocument/2006/relationships/font" Target="fonts/RobotoMono-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l.acm.org/doi/pdf/10.5555/3495724.3496377"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Xidian = </a:t>
            </a:r>
            <a:r>
              <a:rPr lang="zh-TW"/>
              <a:t>西安電子科技大學</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a984a17d4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a984a17d4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9f765360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99f765360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9f765360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9f765360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zh-TW"/>
              <a:t>進階持續性滲透攻擊 (APTs) 是一種複雜的網路攻擊，其特徵在於能夠長期潛伏於受害者系統中而不被發現，旨在竊取敏感數據或破壞營運。</a:t>
            </a:r>
            <a:endParaRPr/>
          </a:p>
          <a:p>
            <a:pPr indent="-298450" lvl="0" marL="457200" rtl="0" algn="l">
              <a:spcBef>
                <a:spcPts val="0"/>
              </a:spcBef>
              <a:spcAft>
                <a:spcPts val="0"/>
              </a:spcAft>
              <a:buSzPts val="1100"/>
              <a:buAutoNum type="arabicPeriod"/>
            </a:pPr>
            <a:r>
              <a:rPr lang="zh-TW"/>
              <a:t>現有的偵測方法通常難以有效識別這些複雜威脅、建構攻擊鏈以輔助防禦，或抵禦對抗式攻擊。</a:t>
            </a:r>
            <a:endParaRPr/>
          </a:p>
          <a:p>
            <a:pPr indent="-298450" lvl="0" marL="457200" rtl="0" algn="l">
              <a:spcBef>
                <a:spcPts val="0"/>
              </a:spcBef>
              <a:spcAft>
                <a:spcPts val="0"/>
              </a:spcAft>
              <a:buSzPts val="1100"/>
              <a:buAutoNum type="arabicPeriod"/>
            </a:pPr>
            <a:r>
              <a:rPr lang="zh-TW">
                <a:solidFill>
                  <a:schemeClr val="dk1"/>
                </a:solidFill>
              </a:rPr>
              <a:t>為克服這些挑戰，我們提出了 </a:t>
            </a:r>
            <a:r>
              <a:rPr b="1" lang="zh-TW">
                <a:solidFill>
                  <a:schemeClr val="dk1"/>
                </a:solidFill>
              </a:rPr>
              <a:t>Slot</a:t>
            </a:r>
            <a:r>
              <a:rPr lang="zh-TW">
                <a:solidFill>
                  <a:schemeClr val="dk1"/>
                </a:solidFill>
              </a:rPr>
              <a:t>，一種基於溯源圖 (Provenance Graphs) 和圖強化學習 (Graph Reinforcement Learning) 的先進 APT 偵測方法。</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7d086f7e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7d086f7e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zh-TW"/>
              <a:t>APT是一個精緻的駭客攻擊鍊，主要是未授權的惡意行為，匿蹤偷取敏感資料或破壞系統運作</a:t>
            </a:r>
            <a:endParaRPr/>
          </a:p>
          <a:p>
            <a:pPr indent="-298450" lvl="0" marL="457200" rtl="0" algn="l">
              <a:spcBef>
                <a:spcPts val="0"/>
              </a:spcBef>
              <a:spcAft>
                <a:spcPts val="0"/>
              </a:spcAft>
              <a:buSzPts val="1100"/>
              <a:buChar char="●"/>
            </a:pPr>
            <a:r>
              <a:rPr lang="zh-TW"/>
              <a:t>若要有效對抗 APT，關鍵在於能兼具</a:t>
            </a:r>
            <a:r>
              <a:rPr lang="zh-TW">
                <a:solidFill>
                  <a:srgbClr val="FF0000"/>
                </a:solidFill>
              </a:rPr>
              <a:t>時效性</a:t>
            </a:r>
            <a:r>
              <a:rPr lang="zh-TW"/>
              <a:t>與</a:t>
            </a:r>
            <a:r>
              <a:rPr lang="zh-TW">
                <a:solidFill>
                  <a:srgbClr val="FF0000"/>
                </a:solidFill>
              </a:rPr>
              <a:t>精準度</a:t>
            </a:r>
            <a:r>
              <a:rPr lang="zh-TW"/>
              <a:t>地進行早期偵測。 傳統偵測方法在面對這類複雜且持久的攻擊時往往力有未逮，經常導致準確率不足，或是需要耗費過多時間才能產出偵測結果。</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7d086f7e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7d086f7e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基於統計的方法：將「罕見事件」視為可疑，但因只看表面連結而忽略圖中的深層語意，導致誤報率過高。</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基於規範的方法：仰賴專家制定的啟發式規則雖能降低誤報，但規則需不斷人工提煉與維護，極度消耗人力資源。</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基於學習的方法：結合 GNN 雖能達到不錯的偵測效能，卻無法抵禦對抗式攻擊，容易被模仿正常用戶的攻擊者欺騙。</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7d086f7e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7d086f7e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Graph Construction Module (圖建構模組) 將原始的系統日誌轉化為能夠反映系統行為邏輯的初始溯源圖（Provenance Graph）。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Latent Behavior Mining Module (潛在行為挖掘模組) 利用注意力機制與圖轉換技術，深入挖掘圖結構中隱藏的關聯性與節點關係。</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Embedding Module (嵌入模組) 透過圖強化學習演算法，將圖節點的語義特徵與拓撲結構特徵映射為向量形式。</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Threat Detection Model (威脅偵測模型) 結合多層感知機 (MLP) 與孤立森林 (iForest) 演算法，以全面識別進階持續性威脅 (APT)。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Attack Chain Reconstruction Module (攻擊鏈重建模組) 藉由對相關聯的節點進行聚類分析，回溯並還原出完整的攻擊路徑。</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7d086f7e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7d086f7e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1.有把實驗做在三個公開APTdataset上</a:t>
            </a:r>
            <a:endParaRPr/>
          </a:p>
          <a:p>
            <a:pPr indent="0" lvl="0" marL="0" rtl="0" algn="l">
              <a:spcBef>
                <a:spcPts val="0"/>
              </a:spcBef>
              <a:spcAft>
                <a:spcPts val="0"/>
              </a:spcAft>
              <a:buNone/>
            </a:pPr>
            <a:r>
              <a:rPr lang="zh-TW"/>
              <a:t>2.evaluation可以看到表現準確率都是99% 贏SOTA</a:t>
            </a:r>
            <a:endParaRPr/>
          </a:p>
          <a:p>
            <a:pPr indent="0" lvl="0" marL="0" rtl="0" algn="l">
              <a:spcBef>
                <a:spcPts val="0"/>
              </a:spcBef>
              <a:spcAft>
                <a:spcPts val="0"/>
              </a:spcAft>
              <a:buNone/>
            </a:pPr>
            <a:r>
              <a:rPr lang="zh-TW"/>
              <a:t>3.which involve altering the neighborhood of nodes in the attack graph to resemble benign nodes.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92c457ce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92c457ce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Slot 能在大規模審計日誌中有效識別惡意活動，並透過重建攻擊鏈來協助制定針對性的防禦策略。 </a:t>
            </a:r>
            <a:endParaRPr/>
          </a:p>
          <a:p>
            <a:pPr indent="0" lvl="0" marL="0" rtl="0" algn="l">
              <a:spcBef>
                <a:spcPts val="0"/>
              </a:spcBef>
              <a:spcAft>
                <a:spcPts val="0"/>
              </a:spcAft>
              <a:buNone/>
            </a:pPr>
            <a:r>
              <a:rPr lang="zh-TW"/>
              <a:t>我們提出一種先進的圖挖掘技術，能高效揭示圖結構中如因果、上下文及間接連接等多層次的隱藏關係。 </a:t>
            </a:r>
            <a:endParaRPr/>
          </a:p>
          <a:p>
            <a:pPr indent="0" lvl="0" marL="0" rtl="0" algn="l">
              <a:spcBef>
                <a:spcPts val="0"/>
              </a:spcBef>
              <a:spcAft>
                <a:spcPts val="0"/>
              </a:spcAft>
              <a:buNone/>
            </a:pPr>
            <a:r>
              <a:rPr lang="zh-TW"/>
              <a:t>Slot 透過高效的標籤相似度計算，在標籤有限的情況下實現半監督學習，從而顯著提升檢測效能與模型的強健性。</a:t>
            </a:r>
            <a:endParaRPr/>
          </a:p>
          <a:p>
            <a:pPr indent="0" lvl="0" marL="0" rtl="0" algn="l">
              <a:spcBef>
                <a:spcPts val="0"/>
              </a:spcBef>
              <a:spcAft>
                <a:spcPts val="0"/>
              </a:spcAft>
              <a:buNone/>
            </a:pPr>
            <a:r>
              <a:rPr lang="zh-TW"/>
              <a:t>我們將強化學習整合至溯源圖分析中，藉由嵌入語義與拓撲特徵並利用強化學習的自適應動態，使 Slot 能有效應對高度對抗的環境。 </a:t>
            </a:r>
            <a:endParaRPr/>
          </a:p>
          <a:p>
            <a:pPr indent="0" lvl="0" marL="0" rtl="0" algn="l">
              <a:spcBef>
                <a:spcPts val="0"/>
              </a:spcBef>
              <a:spcAft>
                <a:spcPts val="0"/>
              </a:spcAft>
              <a:buNone/>
            </a:pPr>
            <a:r>
              <a:rPr lang="zh-TW"/>
              <a:t>經真實數據集的全面評估，證實了 Slot 在偵測進階持續性威脅（APT）、抵禦對抗性攻擊及支援防禦策略制定上的卓越成效。</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931c68c72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931c68c72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92c457c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92c457c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1. Threat Report（威脅報告能力）</a:t>
            </a:r>
            <a:endParaRPr/>
          </a:p>
          <a:p>
            <a:pPr indent="0" lvl="0" marL="0" rtl="0" algn="l">
              <a:spcBef>
                <a:spcPts val="0"/>
              </a:spcBef>
              <a:spcAft>
                <a:spcPts val="0"/>
              </a:spcAft>
              <a:buNone/>
            </a:pPr>
            <a:r>
              <a:rPr lang="zh-TW"/>
              <a:t>這個模型是否能夠產生可讀的攻擊報告或解釋性輸出。</a:t>
            </a:r>
            <a:endParaRPr/>
          </a:p>
          <a:p>
            <a:pPr indent="0" lvl="0" marL="0" rtl="0" algn="l">
              <a:spcBef>
                <a:spcPts val="0"/>
              </a:spcBef>
              <a:spcAft>
                <a:spcPts val="0"/>
              </a:spcAft>
              <a:buNone/>
            </a:pPr>
            <a:r>
              <a:rPr lang="zh-TW"/>
              <a:t>✔：能提供人類可理解的攻擊描述、摘要或報告（例如：攻擊步驟、攻擊者行為）。</a:t>
            </a:r>
            <a:endParaRPr/>
          </a:p>
          <a:p>
            <a:pPr indent="0" lvl="0" marL="0" rtl="0" algn="l">
              <a:spcBef>
                <a:spcPts val="0"/>
              </a:spcBef>
              <a:spcAft>
                <a:spcPts val="0"/>
              </a:spcAft>
              <a:buNone/>
            </a:pPr>
            <a:r>
              <a:rPr lang="zh-TW"/>
              <a:t>✘：只能做檢測或標記，但無法產生高層語義的報告。</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2. Semantic Encoding（語義編碼能力）</a:t>
            </a:r>
            <a:endParaRPr/>
          </a:p>
          <a:p>
            <a:pPr indent="0" lvl="0" marL="0" rtl="0" algn="l">
              <a:spcBef>
                <a:spcPts val="0"/>
              </a:spcBef>
              <a:spcAft>
                <a:spcPts val="0"/>
              </a:spcAft>
              <a:buNone/>
            </a:pPr>
            <a:r>
              <a:rPr lang="zh-TW"/>
              <a:t>模型是否能將系統行為、事件或節點做語義層次的嵌入（semantic embedding）。</a:t>
            </a:r>
            <a:endParaRPr/>
          </a:p>
          <a:p>
            <a:pPr indent="0" lvl="0" marL="0" rtl="0" algn="l">
              <a:spcBef>
                <a:spcPts val="0"/>
              </a:spcBef>
              <a:spcAft>
                <a:spcPts val="0"/>
              </a:spcAft>
              <a:buNone/>
            </a:pPr>
            <a:r>
              <a:rPr lang="zh-TW"/>
              <a:t>✔：模型會把 event/process/file 等行為嵌入成語義向量，捕捉「行為意義」。</a:t>
            </a:r>
            <a:endParaRPr/>
          </a:p>
          <a:p>
            <a:pPr indent="0" lvl="0" marL="0" rtl="0" algn="l">
              <a:spcBef>
                <a:spcPts val="0"/>
              </a:spcBef>
              <a:spcAft>
                <a:spcPts val="0"/>
              </a:spcAft>
              <a:buNone/>
            </a:pPr>
            <a:r>
              <a:rPr lang="zh-TW"/>
              <a:t>✘：模型只做 pattern matching、規則或 shallow features，不理解語義。</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3. Attack Reconstruction（攻擊重建能力）</a:t>
            </a:r>
            <a:endParaRPr/>
          </a:p>
          <a:p>
            <a:pPr indent="0" lvl="0" marL="0" rtl="0" algn="l">
              <a:spcBef>
                <a:spcPts val="0"/>
              </a:spcBef>
              <a:spcAft>
                <a:spcPts val="0"/>
              </a:spcAft>
              <a:buNone/>
            </a:pPr>
            <a:r>
              <a:rPr lang="zh-TW"/>
              <a:t>是否能根據檢測到的事件，把整個攻擊路徑串回來。</a:t>
            </a:r>
            <a:endParaRPr/>
          </a:p>
          <a:p>
            <a:pPr indent="0" lvl="0" marL="0" rtl="0" algn="l">
              <a:spcBef>
                <a:spcPts val="0"/>
              </a:spcBef>
              <a:spcAft>
                <a:spcPts val="0"/>
              </a:spcAft>
              <a:buNone/>
            </a:pPr>
            <a:r>
              <a:rPr lang="zh-TW"/>
              <a:t>✔：模型可以重新構建攻擊鏈（attack chain）、找出因果關係、還原攻擊階段。</a:t>
            </a:r>
            <a:endParaRPr/>
          </a:p>
          <a:p>
            <a:pPr indent="0" lvl="0" marL="0" rtl="0" algn="l">
              <a:spcBef>
                <a:spcPts val="0"/>
              </a:spcBef>
              <a:spcAft>
                <a:spcPts val="0"/>
              </a:spcAft>
              <a:buNone/>
            </a:pPr>
            <a:r>
              <a:rPr lang="zh-TW"/>
              <a:t>✘：模型只能告訴你某個事件「看起來怪」，但不知道整體攻擊流程是什麼。</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4. Adversarial Robustness（對抗樣本的魯棒性）</a:t>
            </a:r>
            <a:endParaRPr/>
          </a:p>
          <a:p>
            <a:pPr indent="0" lvl="0" marL="0" rtl="0" algn="l">
              <a:spcBef>
                <a:spcPts val="0"/>
              </a:spcBef>
              <a:spcAft>
                <a:spcPts val="0"/>
              </a:spcAft>
              <a:buNone/>
            </a:pPr>
            <a:r>
              <a:rPr lang="zh-TW"/>
              <a:t>模型是否能抵禦攻擊者刻意混淆、隱藏或規避偵測的行為（例如投毒、log obfuscation）。</a:t>
            </a:r>
            <a:endParaRPr/>
          </a:p>
          <a:p>
            <a:pPr indent="0" lvl="0" marL="0" rtl="0" algn="l">
              <a:spcBef>
                <a:spcPts val="0"/>
              </a:spcBef>
              <a:spcAft>
                <a:spcPts val="0"/>
              </a:spcAft>
              <a:buNone/>
            </a:pPr>
            <a:r>
              <a:rPr lang="zh-TW"/>
              <a:t>✔：對攻擊者刻意操作（例如 event 隱藏、噪音）仍保持高偵測效果。</a:t>
            </a:r>
            <a:endParaRPr/>
          </a:p>
          <a:p>
            <a:pPr indent="0" lvl="0" marL="0" rtl="0" algn="l">
              <a:spcBef>
                <a:spcPts val="0"/>
              </a:spcBef>
              <a:spcAft>
                <a:spcPts val="0"/>
              </a:spcAft>
              <a:buNone/>
            </a:pPr>
            <a:r>
              <a:rPr lang="zh-TW"/>
              <a:t>✘：容易被攻擊者逃避、被小修改欺騙（例如少加幾個 benign event 就騙過模型）。</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931c68c72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931c68c72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38 47 related work 因為有attack reconstruction, audit -&gt; TTP -&gt; attack or not</a:t>
            </a:r>
            <a:endParaRPr/>
          </a:p>
          <a:p>
            <a:pPr indent="0" lvl="0" marL="0" rtl="0" algn="l">
              <a:spcBef>
                <a:spcPts val="0"/>
              </a:spcBef>
              <a:spcAft>
                <a:spcPts val="0"/>
              </a:spcAft>
              <a:buNone/>
            </a:pPr>
            <a:r>
              <a:rPr lang="zh-TW"/>
              <a:t>log對象 幾host 環境</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931c68c72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931c68c72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931c68c72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931c68c72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強化學習（RL）近期在機器人、遊戲與自然語言處理等領域取得成功，且研究證實 RL 能透過分析節點與連結，有效探索圖的拓撲結構與屬性。雖然現有研究（如 SUGAR 等）已證明 RL 在圖表示學習與關鍵子圖篩選上的成效，但目前尚未有將「圖強化學習」應用於「日誌溯源檢測」領域的嘗試。</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t>SUGAR：用 RL（Q-learning）選子圖 → 適合用於自動化挑出最 discriminative 的事件子結構（可作 detection module 的前端或 pooling）。</a:t>
            </a:r>
            <a:endParaRPr/>
          </a:p>
          <a:p>
            <a:pPr indent="457200" lvl="0" marL="0" rtl="0" algn="l">
              <a:spcBef>
                <a:spcPts val="0"/>
              </a:spcBef>
              <a:spcAft>
                <a:spcPts val="0"/>
              </a:spcAft>
              <a:buClr>
                <a:schemeClr val="dk1"/>
              </a:buClr>
              <a:buSzPts val="1100"/>
              <a:buFont typeface="Arial"/>
              <a:buNone/>
            </a:pPr>
            <a:r>
              <a:rPr lang="zh-TW"/>
              <a:t>AI 透過「試誤（Trial and Error）」來學會**「在什麼情況下，做什麼動作最好」**的強化學習演算法。</a:t>
            </a:r>
            <a:endParaRPr/>
          </a:p>
          <a:p>
            <a:pPr indent="0" lvl="0" marL="0" rtl="0" algn="l">
              <a:spcBef>
                <a:spcPts val="0"/>
              </a:spcBef>
              <a:spcAft>
                <a:spcPts val="0"/>
              </a:spcAft>
              <a:buClr>
                <a:schemeClr val="dk1"/>
              </a:buClr>
              <a:buSzPts val="1100"/>
              <a:buFont typeface="Arial"/>
              <a:buNone/>
            </a:pPr>
            <a:r>
              <a:rPr lang="zh-TW"/>
              <a:t>Bachu et al. ([8])：用 input perturbation + multi-objective optimization 做 post-hoc 解釋 → 適用於驗證/說明 GNN 為何把某子圖判為惡意。</a:t>
            </a:r>
            <a:endParaRPr/>
          </a:p>
          <a:p>
            <a:pPr indent="457200" lvl="0" marL="0" rtl="0" algn="l">
              <a:spcBef>
                <a:spcPts val="0"/>
              </a:spcBef>
              <a:spcAft>
                <a:spcPts val="0"/>
              </a:spcAft>
              <a:buClr>
                <a:schemeClr val="dk1"/>
              </a:buClr>
              <a:buSzPts val="1100"/>
              <a:buFont typeface="Arial"/>
              <a:buNone/>
            </a:pPr>
            <a:r>
              <a:rPr lang="zh-TW"/>
              <a:t>這是一種透過**「故意搞破壞（微調輸入）」**來測試模型反應，藉此找出關鍵特徵或解釋模型決策的方法。</a:t>
            </a:r>
            <a:endParaRPr/>
          </a:p>
          <a:p>
            <a:pPr indent="0" lvl="0" marL="0" rtl="0" algn="l">
              <a:spcBef>
                <a:spcPts val="0"/>
              </a:spcBef>
              <a:spcAft>
                <a:spcPts val="0"/>
              </a:spcAft>
              <a:buClr>
                <a:schemeClr val="dk1"/>
              </a:buClr>
              <a:buSzPts val="1100"/>
              <a:buFont typeface="Arial"/>
              <a:buNone/>
            </a:pPr>
            <a:r>
              <a:rPr lang="zh-TW"/>
              <a:t>Jiang et al. ([28])：把 GNN 當 state encoder、RL 當 policy learner 用在 multi-agent 場景 </a:t>
            </a:r>
            <a:r>
              <a:rPr lang="zh-TW">
                <a:solidFill>
                  <a:srgbClr val="FF0000"/>
                </a:solidFill>
              </a:rPr>
              <a:t>(與資安無關)</a:t>
            </a:r>
            <a:endParaRPr>
              <a:solidFill>
                <a:srgbClr val="FF0000"/>
              </a:solidFill>
            </a:endParaRPr>
          </a:p>
          <a:p>
            <a:pPr indent="0" lvl="0" marL="0" rtl="0" algn="l">
              <a:spcBef>
                <a:spcPts val="0"/>
              </a:spcBef>
              <a:spcAft>
                <a:spcPts val="0"/>
              </a:spcAft>
              <a:buClr>
                <a:schemeClr val="dk1"/>
              </a:buClr>
              <a:buSzPts val="1100"/>
              <a:buFont typeface="Arial"/>
              <a:buNone/>
            </a:pPr>
            <a:r>
              <a:rPr lang="zh-TW"/>
              <a:t>SubgraphX ([61])：用子圖探索 (MCTS-like) + 評分 → 強調「子圖級」的可解釋性 </a:t>
            </a:r>
            <a:r>
              <a:rPr lang="zh-TW">
                <a:solidFill>
                  <a:srgbClr val="FF0000"/>
                </a:solidFill>
              </a:rPr>
              <a:t>(與資安無關)</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931c68c72_3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931c68c72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我們透過 DARPA 真實攻擊場景揭示現有溯源檢測系統面對複雜攻擊的侷限。</a:t>
            </a:r>
            <a:endParaRPr/>
          </a:p>
          <a:p>
            <a:pPr indent="0" lvl="0" marL="0" rtl="0" algn="l">
              <a:spcBef>
                <a:spcPts val="0"/>
              </a:spcBef>
              <a:spcAft>
                <a:spcPts val="0"/>
              </a:spcAft>
              <a:buNone/>
            </a:pPr>
            <a:r>
              <a:rPr lang="zh-TW"/>
              <a:t>並定義 Slot 旨在解決的特定威脅場景，以致力於提升檢測準確率、降低誤報率並增強響應速度。</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931c68c72_3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931c68c72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a:solidFill>
                  <a:schemeClr val="dk1"/>
                </a:solidFill>
              </a:rPr>
              <a:t>接觸惡意源：</a:t>
            </a:r>
            <a:r>
              <a:rPr lang="zh-TW">
                <a:solidFill>
                  <a:schemeClr val="dk1"/>
                </a:solidFill>
              </a:rPr>
              <a:t> 受害者的電腦運行著有漏洞的 Firefox 版本（54.0.1），在不知情的情況下與位於 </a:t>
            </a:r>
            <a:r>
              <a:rPr lang="zh-TW">
                <a:solidFill>
                  <a:srgbClr val="188038"/>
                </a:solidFill>
                <a:latin typeface="Roboto Mono"/>
                <a:ea typeface="Roboto Mono"/>
                <a:cs typeface="Roboto Mono"/>
                <a:sym typeface="Roboto Mono"/>
              </a:rPr>
              <a:t>146.153.68.151</a:t>
            </a:r>
            <a:r>
              <a:rPr lang="zh-TW">
                <a:solidFill>
                  <a:schemeClr val="dk1"/>
                </a:solidFill>
              </a:rPr>
              <a:t> 的惡意廣告伺服器進行互動。</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注入惡意程式：</a:t>
            </a:r>
            <a:r>
              <a:rPr lang="zh-TW">
                <a:solidFill>
                  <a:schemeClr val="dk1"/>
                </a:solidFill>
              </a:rPr>
              <a:t> 該伺服器利用 Firefox 的後門漏洞，將名為「</a:t>
            </a:r>
            <a:r>
              <a:rPr b="1" lang="zh-TW">
                <a:solidFill>
                  <a:schemeClr val="dk1"/>
                </a:solidFill>
              </a:rPr>
              <a:t>Drakon</a:t>
            </a:r>
            <a:r>
              <a:rPr lang="zh-TW">
                <a:solidFill>
                  <a:schemeClr val="dk1"/>
                </a:solidFill>
              </a:rPr>
              <a:t>」的二進制執行檔注入到進程記憶體（Process Memory）中。</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提升權限：</a:t>
            </a:r>
            <a:r>
              <a:rPr lang="zh-TW">
                <a:solidFill>
                  <a:schemeClr val="dk1"/>
                </a:solidFill>
              </a:rPr>
              <a:t> 「Drakon」隨後生成一個具有 </a:t>
            </a:r>
            <a:r>
              <a:rPr b="1" lang="zh-TW">
                <a:solidFill>
                  <a:schemeClr val="dk1"/>
                </a:solidFill>
              </a:rPr>
              <a:t>Root 權限</a:t>
            </a:r>
            <a:r>
              <a:rPr lang="zh-TW">
                <a:solidFill>
                  <a:schemeClr val="dk1"/>
                </a:solidFill>
              </a:rPr>
              <a:t> 的新進程（路徑為 </a:t>
            </a:r>
            <a:r>
              <a:rPr lang="zh-TW">
                <a:solidFill>
                  <a:srgbClr val="188038"/>
                </a:solidFill>
                <a:latin typeface="Roboto Mono"/>
                <a:ea typeface="Roboto Mono"/>
                <a:cs typeface="Roboto Mono"/>
                <a:sym typeface="Roboto Mono"/>
              </a:rPr>
              <a:t>/home/admin/profile</a:t>
            </a:r>
            <a:r>
              <a:rPr lang="zh-TW">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建立連線與控制：</a:t>
            </a:r>
            <a:r>
              <a:rPr lang="zh-TW">
                <a:solidFill>
                  <a:schemeClr val="dk1"/>
                </a:solidFill>
              </a:rPr>
              <a:t> 該 Root 進程主動連線至攻擊者的伺服器（</a:t>
            </a:r>
            <a:r>
              <a:rPr lang="zh-TW">
                <a:solidFill>
                  <a:srgbClr val="188038"/>
                </a:solidFill>
                <a:latin typeface="Roboto Mono"/>
                <a:ea typeface="Roboto Mono"/>
                <a:cs typeface="Roboto Mono"/>
                <a:sym typeface="Roboto Mono"/>
              </a:rPr>
              <a:t>161.116.88.72</a:t>
            </a:r>
            <a:r>
              <a:rPr lang="zh-TW">
                <a:solidFill>
                  <a:schemeClr val="dk1"/>
                </a:solidFill>
              </a:rPr>
              <a:t>），使攻擊者獲得受害者電腦的完全控制權。</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931c68c72_3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931c68c72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研究焦點： 本研究專注於攻擊者利用軟體漏洞與後門來獲取系統控制權及長期潛伏的攻擊場景。</a:t>
            </a:r>
            <a:endParaRPr/>
          </a:p>
          <a:p>
            <a:pPr indent="0" lvl="0" marL="0" rtl="0" algn="l">
              <a:spcBef>
                <a:spcPts val="0"/>
              </a:spcBef>
              <a:spcAft>
                <a:spcPts val="0"/>
              </a:spcAft>
              <a:buClr>
                <a:schemeClr val="dk1"/>
              </a:buClr>
              <a:buSzPts val="1100"/>
              <a:buFont typeface="Arial"/>
              <a:buNone/>
            </a:pPr>
            <a:r>
              <a:rPr lang="zh-TW"/>
              <a:t>排除範圍： 我們排除無法經由審計日誌偵測到的硬體層面攻擊（如硬體木馬與側信道攻擊）。</a:t>
            </a:r>
            <a:endParaRPr/>
          </a:p>
          <a:p>
            <a:pPr indent="0" lvl="0" marL="0" rtl="0" algn="l">
              <a:spcBef>
                <a:spcPts val="0"/>
              </a:spcBef>
              <a:spcAft>
                <a:spcPts val="0"/>
              </a:spcAft>
              <a:buClr>
                <a:schemeClr val="dk1"/>
              </a:buClr>
              <a:buSzPts val="1100"/>
              <a:buFont typeface="Arial"/>
              <a:buNone/>
            </a:pPr>
            <a:r>
              <a:rPr lang="zh-TW"/>
              <a:t>攻擊者能力假設： 假定攻擊者熟悉系統正常行為，因此具備發動「模仿攻擊」進行偽裝的能力。</a:t>
            </a:r>
            <a:endParaRPr/>
          </a:p>
          <a:p>
            <a:pPr indent="0" lvl="0" marL="0" rtl="0" algn="l">
              <a:spcBef>
                <a:spcPts val="0"/>
              </a:spcBef>
              <a:spcAft>
                <a:spcPts val="0"/>
              </a:spcAft>
              <a:buClr>
                <a:schemeClr val="dk1"/>
              </a:buClr>
              <a:buSzPts val="1100"/>
              <a:buFont typeface="Arial"/>
              <a:buNone/>
            </a:pPr>
            <a:r>
              <a:rPr lang="zh-TW"/>
              <a:t>數據可信度假設： 基於日誌防篡改技術，我們視審計日誌數據為安全可信，確保溯源圖能作為可靠的檢測基礎。</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931c68c72_3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931c68c72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931c68c72_3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931c68c72_3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圖建構 (Graph Construction)： 基於系統調用日誌構建實體關係圖，並從中提取語義資訊作為節點的初始特徵。</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潛在行為挖掘 (Latent Behavior Mining)： 結合系統調用關係以構建更深層的路徑連接，從而豐富事件行為特徵並加速資訊在圖中的傳播。</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圖強化學習嵌入 (Embedding with Graph RL)： 結合節點的語義與拓撲特徵計算實體相似度，並利用強化學習策略依據此相似度來指導圖神經網路（GNN）的關係選擇與聚合。</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931c68c72_3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931c68c72_3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931c68c72_3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931c68c72_3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94c8314e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94c8314e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數據來源與圖建構：利用 Windows ETW、Linux Audit 及 CamFlow (CamFlow is a Linux Security Module (LSM)) 等審計數據構建全方位的系統溯源圖。</a:t>
            </a:r>
            <a:endParaRPr/>
          </a:p>
          <a:p>
            <a:pPr indent="0" lvl="0" marL="0" rtl="0" algn="l">
              <a:spcBef>
                <a:spcPts val="0"/>
              </a:spcBef>
              <a:spcAft>
                <a:spcPts val="0"/>
              </a:spcAft>
              <a:buClr>
                <a:schemeClr val="dk1"/>
              </a:buClr>
              <a:buSzPts val="1100"/>
              <a:buFont typeface="Arial"/>
              <a:buNone/>
            </a:pPr>
            <a:r>
              <a:rPr lang="zh-TW"/>
              <a:t>圖結構定義： 採用標準定義，將事件抽象化為「主體（進程/線程）」、「關係（系統調用）」與「客體（檔案/Socket）」的 G(S, R, O) 結構。</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94c8314e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94c8314e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ri</a:t>
            </a:r>
            <a:r>
              <a:rPr lang="zh-TW"/>
              <a:t>是query rj是key</a:t>
            </a:r>
            <a:endParaRPr/>
          </a:p>
          <a:p>
            <a:pPr indent="0" lvl="0" marL="0" rtl="0" algn="l">
              <a:spcBef>
                <a:spcPts val="0"/>
              </a:spcBef>
              <a:spcAft>
                <a:spcPts val="0"/>
              </a:spcAft>
              <a:buNone/>
            </a:pPr>
            <a:r>
              <a:rPr lang="zh-TW"/>
              <a:t>用 softmax 得到最適合的rj</a:t>
            </a:r>
            <a:endParaRPr/>
          </a:p>
          <a:p>
            <a:pPr indent="0" lvl="0" marL="0" rtl="0" algn="l">
              <a:spcBef>
                <a:spcPts val="0"/>
              </a:spcBef>
              <a:spcAft>
                <a:spcPts val="0"/>
              </a:spcAft>
              <a:buNone/>
            </a:pPr>
            <a:r>
              <a:rPr lang="zh-TW"/>
              <a:t>重複L次形成multihop路徑</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solidFill>
                  <a:srgbClr val="FF0000"/>
                </a:solidFill>
              </a:rPr>
              <a:t>r edge怎麼算</a:t>
            </a:r>
            <a:endParaRPr>
              <a:solidFill>
                <a:srgbClr val="FF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94c8314e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94c8314e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Ar1 hop 1 次</a:t>
            </a:r>
            <a:endParaRPr>
              <a:solidFill>
                <a:schemeClr val="dk1"/>
              </a:solidFill>
            </a:endParaRPr>
          </a:p>
          <a:p>
            <a:pPr indent="0" lvl="0" marL="0" rtl="0" algn="l">
              <a:spcBef>
                <a:spcPts val="0"/>
              </a:spcBef>
              <a:spcAft>
                <a:spcPts val="0"/>
              </a:spcAft>
              <a:buNone/>
            </a:pPr>
            <a:r>
              <a:rPr lang="zh-TW">
                <a:solidFill>
                  <a:schemeClr val="dk1"/>
                </a:solidFill>
              </a:rPr>
              <a:t>Ar2 hop 2 次</a:t>
            </a:r>
            <a:endParaRPr>
              <a:solidFill>
                <a:schemeClr val="dk1"/>
              </a:solidFill>
            </a:endParaRPr>
          </a:p>
          <a:p>
            <a:pPr indent="0" lvl="0" marL="0" rtl="0" algn="l">
              <a:spcBef>
                <a:spcPts val="0"/>
              </a:spcBef>
              <a:spcAft>
                <a:spcPts val="0"/>
              </a:spcAft>
              <a:buNone/>
            </a:pPr>
            <a:r>
              <a:rPr lang="zh-TW">
                <a:solidFill>
                  <a:schemeClr val="dk1"/>
                </a:solidFill>
              </a:rPr>
              <a:t>因為矩陣相乘成本太高 所以用近似的方式去取Apik</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因為 adjacency 的本質是「兩個節點在某種關係下是否互動」。</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Slot 用 embedding（語意向量）＋關係向量 r，把「互動程度」近似成二者向量的加權相似度。</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where 𝐸 represents the matrix of entity embeddings ,and 𝑑𝑖𝑎𝑔(𝑟𝑖𝑙) transforms the relationship embedding 𝑟𝑖𝑙 into a diagonal matrix form.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zh-TW">
                <a:solidFill>
                  <a:schemeClr val="dk1"/>
                </a:solidFill>
              </a:rPr>
              <a:t>E*diag為甚麼可以近似:</a:t>
            </a:r>
            <a:br>
              <a:rPr lang="zh-TW">
                <a:solidFill>
                  <a:schemeClr val="dk1"/>
                </a:solidFill>
              </a:rPr>
            </a:br>
            <a:r>
              <a:rPr lang="zh-TW">
                <a:solidFill>
                  <a:srgbClr val="FF0000"/>
                </a:solidFill>
              </a:rPr>
              <a:t>為什麼可以用特徵矩陣乘積來近似鄰接矩陣？</a:t>
            </a:r>
            <a:r>
              <a:rPr lang="zh-TW">
                <a:solidFill>
                  <a:schemeClr val="dk1"/>
                </a:solidFill>
              </a:rPr>
              <a:t>因為我們假設連線不是隨機發生的，而是基於節點本身的「性質（特徵）」決定的。</a:t>
            </a:r>
            <a:endParaRPr>
              <a:solidFill>
                <a:schemeClr val="dk1"/>
              </a:solidFill>
            </a:endParaRPr>
          </a:p>
          <a:p>
            <a:pPr indent="0" lvl="0" marL="0" rtl="0" algn="l">
              <a:spcBef>
                <a:spcPts val="0"/>
              </a:spcBef>
              <a:spcAft>
                <a:spcPts val="0"/>
              </a:spcAft>
              <a:buNone/>
            </a:pPr>
            <a:r>
              <a:rPr lang="zh-TW">
                <a:solidFill>
                  <a:schemeClr val="dk1"/>
                </a:solidFill>
              </a:rPr>
              <a:t>你是「Process」，他是「File」，中間才可能有「讀寫」關係。</a:t>
            </a:r>
            <a:endParaRPr>
              <a:solidFill>
                <a:schemeClr val="dk1"/>
              </a:solidFill>
            </a:endParaRPr>
          </a:p>
          <a:p>
            <a:pPr indent="0" lvl="0" marL="0" rtl="0" algn="l">
              <a:spcBef>
                <a:spcPts val="0"/>
              </a:spcBef>
              <a:spcAft>
                <a:spcPts val="0"/>
              </a:spcAft>
              <a:buNone/>
            </a:pPr>
            <a:r>
              <a:rPr lang="zh-TW">
                <a:solidFill>
                  <a:schemeClr val="dk1"/>
                </a:solidFill>
              </a:rPr>
              <a:t>你是「Process」，他是「IP」，中間才可能有「連線」關係。E*p*Et就是在數學上計算這種「性質上的門當戶對」，以此來還原（近似）圖上的連接結構。</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 if a relation corresponds to a translation vector V and assume ya V yb 0 when Bpa bq holds,then we have the property that ya V1 ybandyb V2 yc implies ya pV1 V2q yc;</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931c68c72_3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931c68c72_3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chemeClr val="dk1"/>
                </a:solidFill>
              </a:rPr>
              <a:t>把節點的語意資訊與結構資訊 embedding 化，做成向量。</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整合多種關係（系統呼叫 ＋ 隱含多跳路徑），用 GNN 聚合成更強的 node embedding。</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用節點相似度 + RL（Bandit）決定哪些鄰居該參考、哪些要忽略。</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94c8314ee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94c8314ee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hv</a:t>
            </a:r>
            <a:r>
              <a:rPr lang="zh-TW"/>
              <a:t>是aggregation的結果</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這一步是為了過濾camo-neighbor</a:t>
            </a:r>
            <a:endParaRPr/>
          </a:p>
          <a:p>
            <a:pPr indent="0" lvl="0" marL="0" rtl="0" algn="l">
              <a:spcBef>
                <a:spcPts val="0"/>
              </a:spcBef>
              <a:spcAft>
                <a:spcPts val="0"/>
              </a:spcAft>
              <a:buNone/>
            </a:pPr>
            <a:r>
              <a:rPr lang="zh-TW"/>
              <a:t>X是只有node的資訊</a:t>
            </a:r>
            <a:br>
              <a:rPr lang="zh-TW"/>
            </a:br>
            <a:r>
              <a:rPr lang="zh-TW"/>
              <a:t>A是只有topology的結構</a:t>
            </a:r>
            <a:br>
              <a:rPr lang="zh-TW"/>
            </a:br>
            <a:r>
              <a:rPr lang="zh-TW"/>
              <a:t>hA;hX是把X和A分別MLP然後concate起來</a:t>
            </a:r>
            <a:endParaRPr/>
          </a:p>
          <a:p>
            <a:pPr indent="0" lvl="0" marL="0" rtl="0" algn="l">
              <a:spcBef>
                <a:spcPts val="0"/>
              </a:spcBef>
              <a:spcAft>
                <a:spcPts val="0"/>
              </a:spcAft>
              <a:buNone/>
            </a:pPr>
            <a:r>
              <a:rPr lang="zh-TW"/>
              <a:t>W是把拓樸與特徵的訊息融合後投影回同一個維度把拓樸與特徵的訊息融合後投影回同一個維度的weight matrix</a:t>
            </a:r>
            <a:br>
              <a:rPr lang="zh-TW"/>
            </a:br>
            <a:r>
              <a:rPr lang="zh-TW"/>
              <a:t>最後再MLPf映射一次。</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要這麼做是因為:</a:t>
            </a:r>
            <a:r>
              <a:rPr lang="zh-TW" u="sng">
                <a:solidFill>
                  <a:schemeClr val="hlink"/>
                </a:solidFill>
                <a:hlinkClick r:id="rId2"/>
              </a:rPr>
              <a:t>Beyond homophily in graph neural networks: Current limitations and effective designs.</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931c68c72_3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931c68c72_3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chemeClr val="dk1"/>
                </a:solidFill>
              </a:rPr>
              <a:t>SLOT 用 Top-p sampling：只保留相似度最高的前P百分比鄰居。</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931c68c72_3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931c68c72_3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她的RL是用Multi arm bandit</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94c8314ee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94c8314ee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如果某種關係類型的過濾閾值很高（保留很多鄰居），代表該關係很重要，因此在聚合資訊時，該關係會被賦予更大的權重。</a:t>
            </a:r>
            <a:endParaRPr/>
          </a:p>
          <a:p>
            <a:pPr indent="0" lvl="0" marL="0" rtl="0" algn="l">
              <a:spcBef>
                <a:spcPts val="0"/>
              </a:spcBef>
              <a:spcAft>
                <a:spcPts val="0"/>
              </a:spcAft>
              <a:buNone/>
            </a:pPr>
            <a:r>
              <a:rPr lang="zh-TW"/>
              <a:t>先聚合單一關係內的鄰居資訊，再加權整合不同關係的資訊，從而生成更具代表性的節點特徵向量。</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把節點 v 在關係 r 下的所有鄰居 v' 的特徵抓過來，用 GNN 融合。</a:t>
            </a:r>
            <a:endParaRPr/>
          </a:p>
          <a:p>
            <a:pPr indent="0" lvl="0" marL="0" rtl="0" algn="l">
              <a:spcBef>
                <a:spcPts val="0"/>
              </a:spcBef>
              <a:spcAft>
                <a:spcPts val="0"/>
              </a:spcAft>
              <a:buNone/>
            </a:pPr>
            <a:r>
              <a:rPr lang="zh-TW"/>
              <a:t>E^{(l)}_r： 代表第 l 層中，屬於 r 類型關係的連線。</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hvl-1是節點自己原本的特徵（上一層的樣子），用上一層去concate鄰居的資訊</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intra是</a:t>
            </a:r>
            <a:r>
              <a:rPr lang="zh-TW">
                <a:solidFill>
                  <a:schemeClr val="dk1"/>
                </a:solidFill>
              </a:rPr>
              <a:t>針對</a:t>
            </a:r>
            <a:r>
              <a:rPr b="1" lang="zh-TW">
                <a:solidFill>
                  <a:schemeClr val="dk1"/>
                </a:solidFill>
              </a:rPr>
              <a:t>特定的一種關係 r</a:t>
            </a:r>
            <a:r>
              <a:rPr lang="zh-TW">
                <a:solidFill>
                  <a:schemeClr val="dk1"/>
                </a:solidFill>
              </a:rPr>
              <a:t>（例如「讀取檔案」），將經過 Top-p 篩選後的鄰居節點特徵聚合起來，形成該關係下的特徵表示。</a:t>
            </a:r>
            <a:endParaRPr>
              <a:solidFill>
                <a:schemeClr val="dk1"/>
              </a:solidFill>
            </a:endParaRPr>
          </a:p>
          <a:p>
            <a:pPr indent="0" lvl="0" marL="0" rtl="0" algn="l">
              <a:spcBef>
                <a:spcPts val="0"/>
              </a:spcBef>
              <a:spcAft>
                <a:spcPts val="0"/>
              </a:spcAft>
              <a:buNone/>
            </a:pPr>
            <a:r>
              <a:rPr lang="zh-TW">
                <a:solidFill>
                  <a:schemeClr val="dk1"/>
                </a:solidFill>
              </a:rPr>
              <a:t>inter是將</a:t>
            </a:r>
            <a:r>
              <a:rPr b="1" lang="zh-TW">
                <a:solidFill>
                  <a:schemeClr val="dk1"/>
                </a:solidFill>
              </a:rPr>
              <a:t>所有不同關係</a:t>
            </a:r>
            <a:r>
              <a:rPr lang="zh-TW">
                <a:solidFill>
                  <a:schemeClr val="dk1"/>
                </a:solidFill>
              </a:rPr>
              <a:t>（r=1 到 R）計算出的特徵 h^{(l)}_{v,r} 結合起來。</a:t>
            </a:r>
            <a:endParaRPr>
              <a:solidFill>
                <a:schemeClr val="dk1"/>
              </a:solidFill>
            </a:endParaRPr>
          </a:p>
          <a:p>
            <a:pPr indent="0" lvl="0" marL="0" rtl="0" algn="l">
              <a:spcBef>
                <a:spcPts val="0"/>
              </a:spcBef>
              <a:spcAft>
                <a:spcPts val="0"/>
              </a:spcAft>
              <a:buNone/>
            </a:pPr>
            <a:r>
              <a:rPr lang="zh-TW">
                <a:solidFill>
                  <a:schemeClr val="dk1"/>
                </a:solidFill>
              </a:rPr>
              <a:t>inter是所有的intra的aggregation起來</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931c68c72_3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931c68c72_3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SLOT 用 Top-p sampling：只保留相似度最高的前P百分比鄰居。</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sz="1400">
                <a:solidFill>
                  <a:schemeClr val="dk1"/>
                </a:solidFill>
              </a:rPr>
              <a:t>Isolation Forest:</a:t>
            </a:r>
            <a:endParaRPr>
              <a:solidFill>
                <a:schemeClr val="dk1"/>
              </a:solidFill>
            </a:endParaRPr>
          </a:p>
          <a:p>
            <a:pPr indent="0" lvl="0" marL="0" rtl="0" algn="l">
              <a:spcBef>
                <a:spcPts val="0"/>
              </a:spcBef>
              <a:spcAft>
                <a:spcPts val="0"/>
              </a:spcAft>
              <a:buNone/>
            </a:pPr>
            <a:r>
              <a:rPr lang="zh-TW">
                <a:solidFill>
                  <a:schemeClr val="dk1"/>
                </a:solidFill>
              </a:rPr>
              <a:t>從整體資料中隨機取樣子集（例如 256 筆資料）。</a:t>
            </a:r>
            <a:br>
              <a:rPr lang="zh-TW">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對子集進行遞迴分裂：</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隨機選取一個 feature。</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在該 feature 的最小值與最大值之間隨機選一個閾值。</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根據閾值把資料分成左右兩邊。</a:t>
            </a:r>
            <a:br>
              <a:rPr lang="zh-TW">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重複這個過程直到：</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每個節點只剩一筆資料，或達到最大深度限制。</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只要有紅和橘就是警報</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94c8314e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a94c8314e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核心策略： 採用半監督學習 (Semi-supervised Learning)。</a:t>
            </a:r>
            <a:endParaRPr/>
          </a:p>
          <a:p>
            <a:pPr indent="0" lvl="0" marL="457200" rtl="0" algn="l">
              <a:spcBef>
                <a:spcPts val="0"/>
              </a:spcBef>
              <a:spcAft>
                <a:spcPts val="0"/>
              </a:spcAft>
              <a:buClr>
                <a:schemeClr val="dk1"/>
              </a:buClr>
              <a:buSzPts val="1100"/>
              <a:buFont typeface="Arial"/>
              <a:buNone/>
            </a:pPr>
            <a:r>
              <a:rPr lang="zh-TW"/>
              <a:t>數據處理： 只使用極少量（10%）的攻擊數據標籤，配合過採樣（Oversampling）技術來處理數據不平衡問題。</a:t>
            </a:r>
            <a:endParaRPr/>
          </a:p>
          <a:p>
            <a:pPr indent="0" lvl="0" marL="457200" rtl="0" algn="l">
              <a:spcBef>
                <a:spcPts val="0"/>
              </a:spcBef>
              <a:spcAft>
                <a:spcPts val="0"/>
              </a:spcAft>
              <a:buNone/>
            </a:pPr>
            <a:r>
              <a:rPr lang="zh-TW"/>
              <a:t>聯合訓練 (Joint Training)： 同時優化「相似度度量」與「GNN 模型」。</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solidFill>
                  <a:schemeClr val="dk1"/>
                </a:solidFill>
              </a:rPr>
              <a:t>L_{GNN}： GNN 最終分類的損失。</a:t>
            </a:r>
            <a:endParaRPr/>
          </a:p>
          <a:p>
            <a:pPr indent="0" lvl="0" marL="0" rtl="0" algn="l">
              <a:spcBef>
                <a:spcPts val="0"/>
              </a:spcBef>
              <a:spcAft>
                <a:spcPts val="0"/>
              </a:spcAft>
              <a:buNone/>
            </a:pPr>
            <a:r>
              <a:rPr lang="zh-TW"/>
              <a:t>L_{Simi}： 第一層相似度學習的損失（確保相似鄰居被正確聚合）。(最簡單的NLL loss)</a:t>
            </a:r>
            <a:br>
              <a:rPr lang="zh-TW"/>
            </a:br>
            <a:r>
              <a:rPr lang="zh-TW"/>
              <a:t>	</a:t>
            </a:r>
            <a:r>
              <a:rPr lang="zh-TW" sz="1300">
                <a:solidFill>
                  <a:schemeClr val="dk1"/>
                </a:solidFill>
              </a:rPr>
              <a:t>λ1</a:t>
            </a:r>
            <a:r>
              <a:rPr lang="zh-TW"/>
              <a:t>用來控制「相似度輔助損失」的重要性。如果設得大，代表強迫模型在第一層就要分得很清楚。</a:t>
            </a:r>
            <a:endParaRPr>
              <a:solidFill>
                <a:schemeClr val="dk1"/>
              </a:solidFill>
            </a:endParaRPr>
          </a:p>
          <a:p>
            <a:pPr indent="0" lvl="0" marL="0" rtl="0" algn="l">
              <a:spcBef>
                <a:spcPts val="0"/>
              </a:spcBef>
              <a:spcAft>
                <a:spcPts val="0"/>
              </a:spcAft>
              <a:buNone/>
            </a:pPr>
            <a:r>
              <a:rPr lang="zh-TW"/>
              <a:t>Regularization： 模型參數的正則化項（防止過擬合）。</a:t>
            </a:r>
            <a:endParaRPr/>
          </a:p>
          <a:p>
            <a:pPr indent="0" lvl="0" marL="0" rtl="0" algn="l">
              <a:spcBef>
                <a:spcPts val="0"/>
              </a:spcBef>
              <a:spcAft>
                <a:spcPts val="0"/>
              </a:spcAft>
              <a:buNone/>
            </a:pPr>
            <a:r>
              <a:rPr lang="zh-TW"/>
              <a:t>	</a:t>
            </a:r>
            <a:r>
              <a:rPr lang="zh-TW" sz="1300">
                <a:solidFill>
                  <a:schemeClr val="dk1"/>
                </a:solidFill>
              </a:rPr>
              <a:t>λ2</a:t>
            </a:r>
            <a:r>
              <a:rPr lang="zh-TW"/>
              <a:t>用來控制「懲罰力度」。設得越大，模型會越傾向選擇數值較小的參數，模型會越平滑、越不容易死背數據。</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b="1" lang="zh-TW">
                <a:solidFill>
                  <a:schemeClr val="dk1"/>
                </a:solidFill>
              </a:rPr>
              <a:t>z_v：</a:t>
            </a:r>
            <a:r>
              <a:rPr lang="zh-TW">
                <a:solidFill>
                  <a:schemeClr val="dk1"/>
                </a:solidFill>
              </a:rPr>
              <a:t> 節點最終的嵌入向量（Final Embedding）。</a:t>
            </a:r>
            <a:endParaRPr>
              <a:solidFill>
                <a:schemeClr val="dk1"/>
              </a:solidFill>
            </a:endParaRPr>
          </a:p>
          <a:p>
            <a:pPr indent="0" lvl="0" marL="0" rtl="0" algn="l">
              <a:lnSpc>
                <a:spcPct val="115000"/>
              </a:lnSpc>
              <a:spcBef>
                <a:spcPts val="0"/>
              </a:spcBef>
              <a:spcAft>
                <a:spcPts val="0"/>
              </a:spcAft>
              <a:buNone/>
            </a:pPr>
            <a:r>
              <a:rPr b="1" lang="zh-TW">
                <a:solidFill>
                  <a:schemeClr val="dk1"/>
                </a:solidFill>
              </a:rPr>
              <a:t>意義：</a:t>
            </a:r>
            <a:r>
              <a:rPr lang="zh-TW">
                <a:solidFill>
                  <a:schemeClr val="dk1"/>
                </a:solidFill>
              </a:rPr>
              <a:t> 這是最終分類的準確度指標。</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94c8314ee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94c8314ee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監督學習只能識別「學過」的模式，無法應對未知的異常（Unknown Anomalies）。</a:t>
            </a:r>
            <a:endParaRPr/>
          </a:p>
          <a:p>
            <a:pPr indent="0" lvl="0" marL="0" rtl="0" algn="l">
              <a:spcBef>
                <a:spcPts val="0"/>
              </a:spcBef>
              <a:spcAft>
                <a:spcPts val="0"/>
              </a:spcAft>
              <a:buNone/>
            </a:pPr>
            <a:r>
              <a:rPr lang="zh-TW"/>
              <a:t>score</a:t>
            </a:r>
            <a:endParaRPr/>
          </a:p>
          <a:p>
            <a:pPr indent="0" lvl="0" marL="0" rtl="0" algn="l">
              <a:spcBef>
                <a:spcPts val="0"/>
              </a:spcBef>
              <a:spcAft>
                <a:spcPts val="0"/>
              </a:spcAft>
              <a:buNone/>
            </a:pPr>
            <a:r>
              <a:rPr lang="zh-TW"/>
              <a:t>l 代表 Path Length</a:t>
            </a:r>
            <a:endParaRPr/>
          </a:p>
          <a:p>
            <a:pPr indent="0" lvl="0" marL="0" rtl="0" algn="l">
              <a:spcBef>
                <a:spcPts val="0"/>
              </a:spcBef>
              <a:spcAft>
                <a:spcPts val="0"/>
              </a:spcAft>
              <a:buNone/>
            </a:pPr>
            <a:r>
              <a:rPr lang="zh-TW"/>
              <a:t>E 代表 期望值</a:t>
            </a:r>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l </a:t>
            </a:r>
            <a:r>
              <a:rPr lang="zh-TW">
                <a:solidFill>
                  <a:schemeClr val="dk1"/>
                </a:solidFill>
              </a:rPr>
              <a:t>：你在</a:t>
            </a:r>
            <a:r>
              <a:rPr b="1" lang="zh-TW">
                <a:solidFill>
                  <a:schemeClr val="dk1"/>
                </a:solidFill>
              </a:rPr>
              <a:t>這一棵樹</a:t>
            </a:r>
            <a:r>
              <a:rPr lang="zh-TW">
                <a:solidFill>
                  <a:schemeClr val="dk1"/>
                </a:solidFill>
              </a:rPr>
              <a:t>裡被切了幾刀。</a:t>
            </a:r>
            <a:endParaRPr>
              <a:solidFill>
                <a:schemeClr val="dk1"/>
              </a:solidFill>
            </a:endParaRPr>
          </a:p>
          <a:p>
            <a:pPr indent="0" lvl="0" marL="0" rtl="0" algn="l">
              <a:lnSpc>
                <a:spcPct val="115000"/>
              </a:lnSpc>
              <a:spcBef>
                <a:spcPts val="0"/>
              </a:spcBef>
              <a:spcAft>
                <a:spcPts val="0"/>
              </a:spcAft>
              <a:buNone/>
            </a:pPr>
            <a:r>
              <a:rPr b="1" lang="zh-TW">
                <a:solidFill>
                  <a:schemeClr val="dk1"/>
                </a:solidFill>
              </a:rPr>
              <a:t>E </a:t>
            </a:r>
            <a:r>
              <a:rPr lang="zh-TW">
                <a:solidFill>
                  <a:schemeClr val="dk1"/>
                </a:solidFill>
              </a:rPr>
              <a:t>：你在</a:t>
            </a:r>
            <a:r>
              <a:rPr b="1" lang="zh-TW">
                <a:solidFill>
                  <a:schemeClr val="dk1"/>
                </a:solidFill>
              </a:rPr>
              <a:t>所有樹</a:t>
            </a:r>
            <a:r>
              <a:rPr lang="zh-TW">
                <a:solidFill>
                  <a:schemeClr val="dk1"/>
                </a:solidFill>
              </a:rPr>
              <a:t>裡平均被切了幾刀。</a:t>
            </a:r>
            <a:endParaRPr/>
          </a:p>
          <a:p>
            <a:pPr indent="0" lvl="0" marL="0" rtl="0" algn="l">
              <a:spcBef>
                <a:spcPts val="0"/>
              </a:spcBef>
              <a:spcAft>
                <a:spcPts val="0"/>
              </a:spcAft>
              <a:buClr>
                <a:schemeClr val="dk1"/>
              </a:buClr>
              <a:buSzPts val="1100"/>
              <a:buFont typeface="Arial"/>
              <a:buNone/>
            </a:pPr>
            <a:r>
              <a:rPr lang="zh-TW">
                <a:solidFill>
                  <a:schemeClr val="dk1"/>
                </a:solidFill>
              </a:rPr>
              <a:t>𝐸(𝑙(h′)) 平均路徑長度</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𝑐(𝑛) 平均值的基準線 - 在有 n 個樣本的情況下，一個『普通節點』平均應該被砍幾刀（路徑長度）」。</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如何挑砍的地方？</a:t>
            </a:r>
            <a:endParaRPr>
              <a:solidFill>
                <a:schemeClr val="dk1"/>
              </a:solidFill>
            </a:endParaRPr>
          </a:p>
          <a:p>
            <a:pPr indent="0" lvl="0" marL="0" rtl="0" algn="l">
              <a:spcBef>
                <a:spcPts val="0"/>
              </a:spcBef>
              <a:spcAft>
                <a:spcPts val="0"/>
              </a:spcAft>
              <a:buNone/>
            </a:pPr>
            <a:r>
              <a:rPr lang="zh-TW"/>
              <a:t>第一步：隨機選屬性 (Random Feature) 系統會從這 64 個特徵維度中，隨機挑選一個維度（例如：第 3 維，代表「連線頻率」）。</a:t>
            </a:r>
            <a:endParaRPr/>
          </a:p>
          <a:p>
            <a:pPr indent="0" lvl="0" marL="0" rtl="0" algn="l">
              <a:spcBef>
                <a:spcPts val="0"/>
              </a:spcBef>
              <a:spcAft>
                <a:spcPts val="0"/>
              </a:spcAft>
              <a:buNone/>
            </a:pPr>
            <a:r>
              <a:rPr lang="zh-TW"/>
              <a:t>第二步：隨機選切點 (Random Split Value) 系統會看當前節點內所有數據在該維度上的最大值 (Max) 和最小值 (Min)。 然後，在 Max 和 Min 之間 隨機選一個數值 作為切點 (Split Point)。</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如何算砍完？</a:t>
            </a:r>
            <a:endParaRPr/>
          </a:p>
          <a:p>
            <a:pPr indent="0" lvl="0" marL="0" rtl="0" algn="l">
              <a:spcBef>
                <a:spcPts val="0"/>
              </a:spcBef>
              <a:spcAft>
                <a:spcPts val="0"/>
              </a:spcAft>
              <a:buNone/>
            </a:pPr>
            <a:r>
              <a:rPr lang="zh-TW"/>
              <a:t>條件 A：孤立成功 (Isolated)切到這個節點時，裡面 只剩下 1 筆資料。這時，我們就數它總共被切了幾刀（路徑長度 $l$），這就是它的深度。SLOT 的邏輯：異常點通常很快就會觸發這個條件 (深度淺)。</a:t>
            </a:r>
            <a:endParaRPr/>
          </a:p>
          <a:p>
            <a:pPr indent="0" lvl="0" marL="0" rtl="0" algn="l">
              <a:spcBef>
                <a:spcPts val="0"/>
              </a:spcBef>
              <a:spcAft>
                <a:spcPts val="0"/>
              </a:spcAft>
              <a:buNone/>
            </a:pPr>
            <a:r>
              <a:rPr lang="zh-TW"/>
              <a:t>條件 B：切不動了 (Duplicate)節點內還有多筆資料，但它們的特徵數值完全一樣（重疊的點），不管怎麼隨機切都分不開。這時停止切割，視為結束。</a:t>
            </a:r>
            <a:endParaRPr/>
          </a:p>
          <a:p>
            <a:pPr indent="0" lvl="0" marL="0" rtl="0" algn="l">
              <a:spcBef>
                <a:spcPts val="0"/>
              </a:spcBef>
              <a:spcAft>
                <a:spcPts val="0"/>
              </a:spcAft>
              <a:buNone/>
            </a:pPr>
            <a:r>
              <a:rPr lang="zh-TW"/>
              <a:t>條件 C：達到高度限制 (Height Limit)為了節省計算資源，通常會設定一個樹的最大深度</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94c8314ee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94c8314ee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先比對特徵（定初始身份），再靠鄰居投票（確認最終身份）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警報分散： 惡意節點在巨大的溯源圖中是零散分布的，分析師很難一個一個去追蹤（向前或向後追溯）。</a:t>
            </a:r>
            <a:endParaRPr/>
          </a:p>
          <a:p>
            <a:pPr indent="0" lvl="0" marL="0" rtl="0" algn="l">
              <a:spcBef>
                <a:spcPts val="0"/>
              </a:spcBef>
              <a:spcAft>
                <a:spcPts val="0"/>
              </a:spcAft>
              <a:buNone/>
            </a:pPr>
            <a:r>
              <a:rPr lang="zh-TW"/>
              <a:t>警報疲勞 (Alert Fatigue)： 單獨看每個節點會有很多誤報（False Positives），讓分析師不堪重負。</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根據節點在日誌中紀錄的「具體行為（做了什麼）」與「屬性（它是誰）」，去查表或匹配 MITRE ATT&amp;CK 的定義，以此來判定該節點屬於哪一種攻擊技術，最後將這個判定結果轉化為向量 ($t_i$)，也就是用sementic去對應。</a:t>
            </a:r>
            <a:endParaRPr/>
          </a:p>
          <a:p>
            <a:pPr indent="0" lvl="0" marL="0" rtl="0" algn="l">
              <a:spcBef>
                <a:spcPts val="0"/>
              </a:spcBef>
              <a:spcAft>
                <a:spcPts val="0"/>
              </a:spcAft>
              <a:buNone/>
            </a:pPr>
            <a:r>
              <a:rPr lang="zh-TW"/>
              <a:t>將節點原本的特徵向量 h_i 與 TTP 向量 t_i 串接起來，形成初始標籤 x_i = [h_i; t_i]</a:t>
            </a:r>
            <a:endParaRPr/>
          </a:p>
          <a:p>
            <a:pPr indent="0" lvl="0" marL="0" rtl="0" algn="l">
              <a:spcBef>
                <a:spcPts val="0"/>
              </a:spcBef>
              <a:spcAft>
                <a:spcPts val="0"/>
              </a:spcAft>
              <a:buNone/>
            </a:pPr>
            <a:r>
              <a:rPr lang="zh-TW"/>
              <a:t>mode就是用眾數去感染節點。直到t+1再也沒變化。</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a94c8314e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a94c8314e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Batched log的單位是以batch為單位</a:t>
            </a:r>
            <a:endParaRPr/>
          </a:p>
          <a:p>
            <a:pPr indent="0" lvl="0" marL="0" rtl="0" algn="l">
              <a:spcBef>
                <a:spcPts val="0"/>
              </a:spcBef>
              <a:spcAft>
                <a:spcPts val="0"/>
              </a:spcAft>
              <a:buNone/>
            </a:pPr>
            <a:r>
              <a:rPr lang="zh-TW"/>
              <a:t>System entity是以一條為單位</a:t>
            </a:r>
            <a:br>
              <a:rPr lang="zh-TW"/>
            </a:br>
            <a:r>
              <a:rPr lang="zh-TW"/>
              <a:t>Slot 證明了只需極少量的惡意樣本（10%），配合其相似度感知機制，就能達成低誤報、低漏報的高精準度 APT 檢測。</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94c8314ee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a94c8314ee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Malignant Structure Percentage就是camo-node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zh-TW">
                <a:solidFill>
                  <a:schemeClr val="dk1"/>
                </a:solidFill>
              </a:rPr>
              <a:t>內容</a:t>
            </a:r>
            <a:r>
              <a:rPr lang="zh-TW">
                <a:solidFill>
                  <a:schemeClr val="dk1"/>
                </a:solidFill>
              </a:rPr>
              <a:t>：測試當只有 </a:t>
            </a:r>
            <a:r>
              <a:rPr b="1" lang="zh-TW">
                <a:solidFill>
                  <a:schemeClr val="dk1"/>
                </a:solidFill>
              </a:rPr>
              <a:t>5%, 10%, 20%</a:t>
            </a:r>
            <a:r>
              <a:rPr lang="zh-TW">
                <a:solidFill>
                  <a:schemeClr val="dk1"/>
                </a:solidFill>
              </a:rPr>
              <a:t> 的攻擊樣本被標記時，模型的表現如何 。</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解讀</a:t>
            </a:r>
            <a:r>
              <a:rPr lang="zh-TW">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10% 就夠了</a:t>
            </a:r>
            <a:r>
              <a:rPr lang="zh-TW">
                <a:solidFill>
                  <a:schemeClr val="dk1"/>
                </a:solidFill>
              </a:rPr>
              <a:t>：數據顯示，只要有 </a:t>
            </a:r>
            <a:r>
              <a:rPr b="1" lang="zh-TW">
                <a:solidFill>
                  <a:schemeClr val="dk1"/>
                </a:solidFill>
              </a:rPr>
              <a:t>10%</a:t>
            </a:r>
            <a:r>
              <a:rPr lang="zh-TW">
                <a:solidFill>
                  <a:schemeClr val="dk1"/>
                </a:solidFill>
              </a:rPr>
              <a:t> 的惡意標籤，準確率就從 89% 跳升到 </a:t>
            </a:r>
            <a:r>
              <a:rPr b="1" lang="zh-TW">
                <a:solidFill>
                  <a:schemeClr val="dk1"/>
                </a:solidFill>
              </a:rPr>
              <a:t>99%</a:t>
            </a:r>
            <a:r>
              <a:rPr lang="zh-TW">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意義</a:t>
            </a:r>
            <a:r>
              <a:rPr lang="zh-TW">
                <a:solidFill>
                  <a:schemeClr val="dk1"/>
                </a:solidFill>
              </a:rPr>
              <a:t>：這驗證了 SLOT 的 </a:t>
            </a:r>
            <a:r>
              <a:rPr b="1" lang="zh-TW">
                <a:solidFill>
                  <a:schemeClr val="dk1"/>
                </a:solidFill>
              </a:rPr>
              <a:t>Similarity Awareness (相似度感知)</a:t>
            </a:r>
            <a:r>
              <a:rPr lang="zh-TW">
                <a:solidFill>
                  <a:schemeClr val="dk1"/>
                </a:solidFill>
              </a:rPr>
              <a:t> 機制非常強大。它能透過這 10% 的種子，迅速學會「壞人長什麼樣」，然後把剩下的壞人也抓出來。</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a94c8314ee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a94c8314ee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a:solidFill>
                  <a:schemeClr val="dk1"/>
                </a:solidFill>
              </a:rPr>
              <a:t>碾壓對手</a:t>
            </a:r>
            <a:r>
              <a:rPr lang="zh-TW">
                <a:solidFill>
                  <a:schemeClr val="dk1"/>
                </a:solidFill>
              </a:rPr>
              <a:t>：在 Unicorn Wget 數據集上，對手 Unicorn的 F1-Score 只有 86%，但 SLOT 達到了 </a:t>
            </a:r>
            <a:r>
              <a:rPr b="1" lang="zh-TW">
                <a:solidFill>
                  <a:schemeClr val="dk1"/>
                </a:solidFill>
              </a:rPr>
              <a:t>98%</a:t>
            </a:r>
            <a:r>
              <a:rPr lang="zh-TW">
                <a:solidFill>
                  <a:schemeClr val="dk1"/>
                </a:solidFill>
              </a:rPr>
              <a:t>。這證明了當攻擊者刻意隱藏時，別的模型會瞎掉，但 SLOT 的「潛在挖掘」能把它挖出來。</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低誤報率 (FPR)</a:t>
            </a:r>
            <a:r>
              <a:rPr lang="zh-TW">
                <a:solidFill>
                  <a:schemeClr val="dk1"/>
                </a:solidFill>
              </a:rPr>
              <a:t>：SLOT 的誤報率極低 (0.12%)，這對於減少資安人員的疲勞至關重要。</a:t>
            </a:r>
            <a:endParaRPr>
              <a:solidFill>
                <a:schemeClr val="dk1"/>
              </a:solidFill>
            </a:endParaRPr>
          </a:p>
          <a:p>
            <a:pPr indent="0" lvl="0" marL="0" rtl="0" algn="l">
              <a:spcBef>
                <a:spcPts val="0"/>
              </a:spcBef>
              <a:spcAft>
                <a:spcPts val="0"/>
              </a:spcAft>
              <a:buClr>
                <a:schemeClr val="dk1"/>
              </a:buClr>
              <a:buSzPts val="1100"/>
              <a:buFont typeface="Arial"/>
              <a:buNone/>
            </a:pPr>
            <a:br>
              <a:rPr lang="zh-TW"/>
            </a:br>
            <a:r>
              <a:rPr lang="zh-TW"/>
              <a:t>觀察 1：批次日誌檢測比較 (Comparison in Batch Logs)</a:t>
            </a:r>
            <a:endParaRPr/>
          </a:p>
          <a:p>
            <a:pPr indent="0" lvl="0" marL="0" rtl="0" algn="l">
              <a:spcBef>
                <a:spcPts val="0"/>
              </a:spcBef>
              <a:spcAft>
                <a:spcPts val="0"/>
              </a:spcAft>
              <a:buClr>
                <a:schemeClr val="dk1"/>
              </a:buClr>
              <a:buSzPts val="1100"/>
              <a:buFont typeface="Arial"/>
              <a:buNone/>
            </a:pPr>
            <a:r>
              <a:rPr lang="zh-TW"/>
              <a:t>使用了 Streamspot 和 Unicorn 兩個資料集作為基準，並與 Threatrace 等方法比較。</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簡單場景 (Streamspot)：</a:t>
            </a:r>
            <a:endParaRPr/>
          </a:p>
          <a:p>
            <a:pPr indent="0" lvl="0" marL="0" rtl="0" algn="l">
              <a:spcBef>
                <a:spcPts val="0"/>
              </a:spcBef>
              <a:spcAft>
                <a:spcPts val="0"/>
              </a:spcAft>
              <a:buClr>
                <a:schemeClr val="dk1"/>
              </a:buClr>
              <a:buSzPts val="1100"/>
              <a:buFont typeface="Arial"/>
              <a:buNone/>
            </a:pPr>
            <a:r>
              <a:rPr lang="zh-TW"/>
              <a:t>情況： 攻擊模式簡單直接，行為差異明顯。</a:t>
            </a:r>
            <a:endParaRPr/>
          </a:p>
          <a:p>
            <a:pPr indent="0" lvl="0" marL="0" rtl="0" algn="l">
              <a:spcBef>
                <a:spcPts val="0"/>
              </a:spcBef>
              <a:spcAft>
                <a:spcPts val="0"/>
              </a:spcAft>
              <a:buClr>
                <a:schemeClr val="dk1"/>
              </a:buClr>
              <a:buSzPts val="1100"/>
              <a:buFont typeface="Arial"/>
              <a:buNone/>
            </a:pPr>
            <a:r>
              <a:rPr lang="zh-TW"/>
              <a:t>結果： 所有檢測方法都表現不錯，但 Slot 達到了近乎完美的檢測結果。</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困難場景 (Unicorn)：</a:t>
            </a:r>
            <a:endParaRPr/>
          </a:p>
          <a:p>
            <a:pPr indent="0" lvl="0" marL="0" rtl="0" algn="l">
              <a:spcBef>
                <a:spcPts val="0"/>
              </a:spcBef>
              <a:spcAft>
                <a:spcPts val="0"/>
              </a:spcAft>
              <a:buClr>
                <a:schemeClr val="dk1"/>
              </a:buClr>
              <a:buSzPts val="1100"/>
              <a:buFont typeface="Arial"/>
              <a:buNone/>
            </a:pPr>
            <a:r>
              <a:rPr lang="zh-TW"/>
              <a:t>情況： 包含高度**偽裝（Camouflaged）**的攻擊，導致其他方法的檢測效能顯著下降。</a:t>
            </a:r>
            <a:endParaRPr/>
          </a:p>
          <a:p>
            <a:pPr indent="0" lvl="0" marL="0" rtl="0" algn="l">
              <a:spcBef>
                <a:spcPts val="0"/>
              </a:spcBef>
              <a:spcAft>
                <a:spcPts val="0"/>
              </a:spcAft>
              <a:buClr>
                <a:schemeClr val="dk1"/>
              </a:buClr>
              <a:buSzPts val="1100"/>
              <a:buFont typeface="Arial"/>
              <a:buNone/>
            </a:pPr>
            <a:r>
              <a:rPr lang="zh-TW"/>
              <a:t>Slot 的優勢： Slot 透過辨識節點相似度並強化關係選擇，成功放大了良性與惡意行為之間的差異，因此在這種高難度場景下仍能保持卓越的效能。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觀察 2：實體層級日誌檢測比較 (Comparison in Entity-Level Logs)</a:t>
            </a:r>
            <a:endParaRPr/>
          </a:p>
          <a:p>
            <a:pPr indent="0" lvl="0" marL="0" rtl="0" algn="l">
              <a:spcBef>
                <a:spcPts val="0"/>
              </a:spcBef>
              <a:spcAft>
                <a:spcPts val="0"/>
              </a:spcAft>
              <a:buClr>
                <a:schemeClr val="dk1"/>
              </a:buClr>
              <a:buSzPts val="1100"/>
              <a:buFont typeface="Arial"/>
              <a:buNone/>
            </a:pPr>
            <a:r>
              <a:rPr lang="zh-TW"/>
              <a:t>與 Log2vec、MAGIC、Threatrace 和 FLASH 等方法進行比較。</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其他方法的弱點：</a:t>
            </a:r>
            <a:endParaRPr/>
          </a:p>
          <a:p>
            <a:pPr indent="0" lvl="0" marL="0" rtl="0" algn="l">
              <a:spcBef>
                <a:spcPts val="0"/>
              </a:spcBef>
              <a:spcAft>
                <a:spcPts val="0"/>
              </a:spcAft>
              <a:buClr>
                <a:schemeClr val="dk1"/>
              </a:buClr>
              <a:buSzPts val="1100"/>
              <a:buFont typeface="Arial"/>
              <a:buNone/>
            </a:pPr>
            <a:r>
              <a:rPr lang="zh-TW"/>
              <a:t>Log2vec： 錯誤地將日誌視為節點而非實體，導致資訊破碎且聚合能力減弱。</a:t>
            </a:r>
            <a:endParaRPr/>
          </a:p>
          <a:p>
            <a:pPr indent="0" lvl="0" marL="0" rtl="0" algn="l">
              <a:spcBef>
                <a:spcPts val="0"/>
              </a:spcBef>
              <a:spcAft>
                <a:spcPts val="0"/>
              </a:spcAft>
              <a:buClr>
                <a:schemeClr val="dk1"/>
              </a:buClr>
              <a:buSzPts val="1100"/>
              <a:buFont typeface="Arial"/>
              <a:buNone/>
            </a:pPr>
            <a:r>
              <a:rPr lang="zh-TW"/>
              <a:t>GNN 類方法 (MAGIC, Threatrace, FLASH)： 無法解決「良性偽裝」的問題（即惡意實體偽裝成良性），容易被攻擊者逃逸（Evasion）。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Slot 的優勢：</a:t>
            </a:r>
            <a:endParaRPr/>
          </a:p>
          <a:p>
            <a:pPr indent="0" lvl="0" marL="0" rtl="0" algn="l">
              <a:spcBef>
                <a:spcPts val="0"/>
              </a:spcBef>
              <a:spcAft>
                <a:spcPts val="0"/>
              </a:spcAft>
              <a:buClr>
                <a:schemeClr val="dk1"/>
              </a:buClr>
              <a:buSzPts val="1100"/>
              <a:buFont typeface="Arial"/>
              <a:buNone/>
            </a:pPr>
            <a:r>
              <a:rPr lang="zh-TW"/>
              <a:t>利用強化學習 (Reinforcement Learning) 有效過濾掉那些偽裝成良性的鄰居。</a:t>
            </a:r>
            <a:endParaRPr/>
          </a:p>
          <a:p>
            <a:pPr indent="0" lvl="0" marL="0" rtl="0" algn="l">
              <a:spcBef>
                <a:spcPts val="0"/>
              </a:spcBef>
              <a:spcAft>
                <a:spcPts val="0"/>
              </a:spcAft>
              <a:buClr>
                <a:schemeClr val="dk1"/>
              </a:buClr>
              <a:buSzPts val="1100"/>
              <a:buFont typeface="Arial"/>
              <a:buNone/>
            </a:pPr>
            <a:r>
              <a:rPr lang="zh-TW"/>
              <a:t>結果： 效能優於目前的 SOTA 系統 FLASH。圖 6 的 ROC 曲線也證實 Slot 具備更強的分類能力。</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94c8314ee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94c8314ee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1. 批次大小對「檢測效果」的影響 (Figure 6a)</a:t>
            </a:r>
            <a:endParaRPr/>
          </a:p>
          <a:p>
            <a:pPr indent="0" lvl="0" marL="0" rtl="0" algn="l">
              <a:spcBef>
                <a:spcPts val="0"/>
              </a:spcBef>
              <a:spcAft>
                <a:spcPts val="0"/>
              </a:spcAft>
              <a:buClr>
                <a:schemeClr val="dk1"/>
              </a:buClr>
              <a:buSzPts val="1100"/>
              <a:buFont typeface="Arial"/>
              <a:buNone/>
            </a:pPr>
            <a:r>
              <a:rPr lang="zh-TW"/>
              <a:t>正相關： 隨著批次大小增加，檢測效果會提升。</a:t>
            </a:r>
            <a:endParaRPr/>
          </a:p>
          <a:p>
            <a:pPr indent="0" lvl="0" marL="0" rtl="0" algn="l">
              <a:spcBef>
                <a:spcPts val="0"/>
              </a:spcBef>
              <a:spcAft>
                <a:spcPts val="0"/>
              </a:spcAft>
              <a:buClr>
                <a:schemeClr val="dk1"/>
              </a:buClr>
              <a:buSzPts val="1100"/>
              <a:buFont typeface="Arial"/>
              <a:buNone/>
            </a:pPr>
            <a:r>
              <a:rPr lang="zh-TW"/>
              <a:t>原因： 較大的批次能構建出更完整的圖結構，讓 GNN 學到更完整的局部資訊。</a:t>
            </a:r>
            <a:endParaRPr/>
          </a:p>
          <a:p>
            <a:pPr indent="0" lvl="0" marL="0" rtl="0" algn="l">
              <a:spcBef>
                <a:spcPts val="0"/>
              </a:spcBef>
              <a:spcAft>
                <a:spcPts val="0"/>
              </a:spcAft>
              <a:buClr>
                <a:schemeClr val="dk1"/>
              </a:buClr>
              <a:buSzPts val="1100"/>
              <a:buFont typeface="Arial"/>
              <a:buNone/>
            </a:pPr>
            <a:r>
              <a:rPr lang="zh-TW"/>
              <a:t>飽和點： 但當超過某個閾值（即足以涵蓋大多數系統活動的實體數量）後，檢測能力就會趨於穩定，不再顯著上升。</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2. 批次大小對「資源開銷」的影響 (Figure 6b)</a:t>
            </a:r>
            <a:endParaRPr/>
          </a:p>
          <a:p>
            <a:pPr indent="0" lvl="0" marL="0" rtl="0" algn="l">
              <a:spcBef>
                <a:spcPts val="0"/>
              </a:spcBef>
              <a:spcAft>
                <a:spcPts val="0"/>
              </a:spcAft>
              <a:buClr>
                <a:schemeClr val="dk1"/>
              </a:buClr>
              <a:buSzPts val="1100"/>
              <a:buFont typeface="Arial"/>
              <a:buNone/>
            </a:pPr>
            <a:r>
              <a:rPr lang="zh-TW"/>
              <a:t>代價： 較大的批次意味著更複雜的圖結構與更多的節點資訊。</a:t>
            </a:r>
            <a:endParaRPr/>
          </a:p>
          <a:p>
            <a:pPr indent="0" lvl="0" marL="0" rtl="0" algn="l">
              <a:spcBef>
                <a:spcPts val="0"/>
              </a:spcBef>
              <a:spcAft>
                <a:spcPts val="0"/>
              </a:spcAft>
              <a:buNone/>
            </a:pPr>
            <a:r>
              <a:rPr lang="zh-TW"/>
              <a:t>結果： 這會導致在圖資訊傳播過程中，CPU 運算量與記憶體消耗顯著增加。</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3. 關於強化學習的時間成本 (Table 7)</a:t>
            </a:r>
            <a:endParaRPr/>
          </a:p>
          <a:p>
            <a:pPr indent="0" lvl="0" marL="0" rtl="0" algn="l">
              <a:spcBef>
                <a:spcPts val="0"/>
              </a:spcBef>
              <a:spcAft>
                <a:spcPts val="0"/>
              </a:spcAft>
              <a:buClr>
                <a:schemeClr val="dk1"/>
              </a:buClr>
              <a:buSzPts val="1100"/>
              <a:buFont typeface="Arial"/>
              <a:buNone/>
            </a:pPr>
            <a:r>
              <a:rPr lang="zh-TW"/>
              <a:t>權衡： 引入強化學習 (RL) 確實會帶來額外的時間開銷。</a:t>
            </a:r>
            <a:endParaRPr/>
          </a:p>
          <a:p>
            <a:pPr indent="0" lvl="0" marL="0" rtl="0" algn="l">
              <a:spcBef>
                <a:spcPts val="0"/>
              </a:spcBef>
              <a:spcAft>
                <a:spcPts val="0"/>
              </a:spcAft>
              <a:buClr>
                <a:schemeClr val="dk1"/>
              </a:buClr>
              <a:buSzPts val="1100"/>
              <a:buFont typeface="Arial"/>
              <a:buNone/>
            </a:pPr>
            <a:r>
              <a:rPr lang="zh-TW"/>
              <a:t>結論： 但在 30 萬 (300K) 個節點的大型圖測試中顯示，雖然 RL 花費較多時間，但這個開銷仍在可接受的範圍內。</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94c8314ee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a94c8314ee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a:solidFill>
                  <a:schemeClr val="dk1"/>
                </a:solidFill>
              </a:rPr>
              <a:t>左圖 (Feature)</a:t>
            </a:r>
            <a:r>
              <a:rPr lang="zh-TW">
                <a:solidFill>
                  <a:schemeClr val="dk1"/>
                </a:solidFill>
              </a:rPr>
              <a:t>：如果拿掉「語義特徵」或「拓撲特徵」，效果都會下降。證明兩者都要看才準。</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中圖 (Component)</a:t>
            </a:r>
            <a:r>
              <a:rPr lang="zh-TW">
                <a:solidFill>
                  <a:schemeClr val="dk1"/>
                </a:solidFill>
              </a:rPr>
              <a:t>：</a:t>
            </a:r>
            <a:r>
              <a:rPr b="1" lang="zh-TW">
                <a:solidFill>
                  <a:schemeClr val="dk1"/>
                </a:solidFill>
              </a:rPr>
              <a:t>拿掉 Awareness (相似度感知) 掉最慘</a:t>
            </a:r>
            <a:r>
              <a:rPr lang="zh-TW">
                <a:solidFill>
                  <a:schemeClr val="dk1"/>
                </a:solidFill>
              </a:rPr>
              <a:t>。這證明了「RL 過濾器」是 SLOT 的靈魂，沒有它，GNN 就會被雜訊誤導。</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右圖 (Relation)</a:t>
            </a:r>
            <a:r>
              <a:rPr lang="zh-TW">
                <a:solidFill>
                  <a:schemeClr val="dk1"/>
                </a:solidFill>
              </a:rPr>
              <a:t>：單一關係 (Single-relation) 效果最差。證明了 </a:t>
            </a:r>
            <a:r>
              <a:rPr b="1" lang="zh-TW">
                <a:solidFill>
                  <a:schemeClr val="dk1"/>
                </a:solidFill>
              </a:rPr>
              <a:t>Latent Behavior Mining (挖掘多種潛在關係)</a:t>
            </a:r>
            <a:r>
              <a:rPr lang="zh-TW">
                <a:solidFill>
                  <a:schemeClr val="dk1"/>
                </a:solidFill>
              </a:rPr>
              <a:t> 確實能捕捉到更完整的攻擊脈絡。</a:t>
            </a:r>
            <a:endParaRPr>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1. 語義特徵與拓撲特徵的影響 (Effect of Semantic &amp; Topological Features)</a:t>
            </a:r>
            <a:endParaRPr/>
          </a:p>
          <a:p>
            <a:pPr indent="0" lvl="0" marL="0" rtl="0" algn="l">
              <a:spcBef>
                <a:spcPts val="0"/>
              </a:spcBef>
              <a:spcAft>
                <a:spcPts val="0"/>
              </a:spcAft>
              <a:buClr>
                <a:schemeClr val="dk1"/>
              </a:buClr>
              <a:buSzPts val="1100"/>
              <a:buFont typeface="Arial"/>
              <a:buNone/>
            </a:pPr>
            <a:r>
              <a:rPr lang="zh-TW"/>
              <a:t>測試內容： 比較只用「語義資訊」、只用「拓撲結構」，以及「兩者並用」的效果。</a:t>
            </a:r>
            <a:endParaRPr/>
          </a:p>
          <a:p>
            <a:pPr indent="0" lvl="0" marL="0" rtl="0" algn="l">
              <a:spcBef>
                <a:spcPts val="0"/>
              </a:spcBef>
              <a:spcAft>
                <a:spcPts val="0"/>
              </a:spcAft>
              <a:buClr>
                <a:schemeClr val="dk1"/>
              </a:buClr>
              <a:buSzPts val="1100"/>
              <a:buFont typeface="Arial"/>
              <a:buNone/>
            </a:pPr>
            <a:r>
              <a:rPr lang="zh-TW"/>
              <a:t>結果： 兩者都對鄰居聚合有影響。</a:t>
            </a:r>
            <a:endParaRPr/>
          </a:p>
          <a:p>
            <a:pPr indent="0" lvl="0" marL="0" rtl="0" algn="l">
              <a:spcBef>
                <a:spcPts val="0"/>
              </a:spcBef>
              <a:spcAft>
                <a:spcPts val="0"/>
              </a:spcAft>
              <a:buClr>
                <a:schemeClr val="dk1"/>
              </a:buClr>
              <a:buSzPts val="1100"/>
              <a:buFont typeface="Arial"/>
              <a:buNone/>
            </a:pPr>
            <a:r>
              <a:rPr lang="zh-TW"/>
              <a:t>結論： 只有同時結合語義特徵與拓撲結構，才能最有效地將良性節點與惡意節點區分開來，顯著提升相似度分割的準確性。</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2. 相似度感知與 GNN 的影響 (Effect of Similarity Awareness &amp; GNN)</a:t>
            </a:r>
            <a:endParaRPr/>
          </a:p>
          <a:p>
            <a:pPr indent="0" lvl="0" marL="0" rtl="0" algn="l">
              <a:spcBef>
                <a:spcPts val="0"/>
              </a:spcBef>
              <a:spcAft>
                <a:spcPts val="0"/>
              </a:spcAft>
              <a:buClr>
                <a:schemeClr val="dk1"/>
              </a:buClr>
              <a:buSzPts val="1100"/>
              <a:buFont typeface="Arial"/>
              <a:buNone/>
            </a:pPr>
            <a:r>
              <a:rPr lang="zh-TW"/>
              <a:t>測試內容： 測試 Slot 的兩大核心模組（相似度感知、GNN）單獨運作與合作運作的差異。</a:t>
            </a:r>
            <a:endParaRPr/>
          </a:p>
          <a:p>
            <a:pPr indent="0" lvl="0" marL="0" rtl="0" algn="l">
              <a:spcBef>
                <a:spcPts val="0"/>
              </a:spcBef>
              <a:spcAft>
                <a:spcPts val="0"/>
              </a:spcAft>
              <a:buClr>
                <a:schemeClr val="dk1"/>
              </a:buClr>
              <a:buSzPts val="1100"/>
              <a:buFont typeface="Arial"/>
              <a:buNone/>
            </a:pPr>
            <a:r>
              <a:rPr lang="zh-TW"/>
              <a:t>發現：</a:t>
            </a:r>
            <a:endParaRPr/>
          </a:p>
          <a:p>
            <a:pPr indent="0" lvl="0" marL="0" rtl="0" algn="l">
              <a:spcBef>
                <a:spcPts val="0"/>
              </a:spcBef>
              <a:spcAft>
                <a:spcPts val="0"/>
              </a:spcAft>
              <a:buClr>
                <a:schemeClr val="dk1"/>
              </a:buClr>
              <a:buSzPts val="1100"/>
              <a:buFont typeface="Arial"/>
              <a:buNone/>
            </a:pPr>
            <a:r>
              <a:rPr lang="zh-TW"/>
              <a:t>單用相似度感知： 無法深入探索圖的結構資訊。</a:t>
            </a:r>
            <a:endParaRPr/>
          </a:p>
          <a:p>
            <a:pPr indent="0" lvl="0" marL="0" rtl="0" algn="l">
              <a:spcBef>
                <a:spcPts val="0"/>
              </a:spcBef>
              <a:spcAft>
                <a:spcPts val="0"/>
              </a:spcAft>
              <a:buClr>
                <a:schemeClr val="dk1"/>
              </a:buClr>
              <a:buSzPts val="1100"/>
              <a:buFont typeface="Arial"/>
              <a:buNone/>
            </a:pPr>
            <a:r>
              <a:rPr lang="zh-TW"/>
              <a:t>單用 GNN (無篩選)： 容易受到「雜訊鄰居（Noisy Neighbors）」的干擾，導致學出錯誤的節點特徵。</a:t>
            </a:r>
            <a:endParaRPr/>
          </a:p>
          <a:p>
            <a:pPr indent="0" lvl="0" marL="0" rtl="0" algn="l">
              <a:spcBef>
                <a:spcPts val="0"/>
              </a:spcBef>
              <a:spcAft>
                <a:spcPts val="0"/>
              </a:spcAft>
              <a:buClr>
                <a:schemeClr val="dk1"/>
              </a:buClr>
              <a:buSzPts val="1100"/>
              <a:buFont typeface="Arial"/>
              <a:buNone/>
            </a:pPr>
            <a:r>
              <a:rPr lang="zh-TW"/>
              <a:t>結論： 必須由相似度感知來**「指導」** GNN 的選擇，才能顯著增強檢測效能。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3. 溯源關係的影響 (Effect of Provenance Relation)</a:t>
            </a:r>
            <a:endParaRPr/>
          </a:p>
          <a:p>
            <a:pPr indent="0" lvl="0" marL="0" rtl="0" algn="l">
              <a:spcBef>
                <a:spcPts val="0"/>
              </a:spcBef>
              <a:spcAft>
                <a:spcPts val="0"/>
              </a:spcAft>
              <a:buClr>
                <a:schemeClr val="dk1"/>
              </a:buClr>
              <a:buSzPts val="1100"/>
              <a:buFont typeface="Arial"/>
              <a:buNone/>
            </a:pPr>
            <a:r>
              <a:rPr lang="zh-TW"/>
              <a:t>背景： 現有的 GNN 方法常將溯源圖視為「同質（Homogeneous）」的，忽略了不同關係（如讀、寫、執行）之間的差異。</a:t>
            </a:r>
            <a:endParaRPr/>
          </a:p>
          <a:p>
            <a:pPr indent="0" lvl="0" marL="0" rtl="0" algn="l">
              <a:spcBef>
                <a:spcPts val="0"/>
              </a:spcBef>
              <a:spcAft>
                <a:spcPts val="0"/>
              </a:spcAft>
              <a:buClr>
                <a:schemeClr val="dk1"/>
              </a:buClr>
              <a:buSzPts val="1100"/>
              <a:buFont typeface="Arial"/>
              <a:buNone/>
            </a:pPr>
            <a:r>
              <a:rPr lang="zh-TW"/>
              <a:t>比較： 比較了「同質聚合」、「多關係聚合」與 Slot 的「基於隱藏關係挖掘的深層聚合」。</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結果：</a:t>
            </a:r>
            <a:endParaRPr/>
          </a:p>
          <a:p>
            <a:pPr indent="0" lvl="0" marL="0" rtl="0" algn="l">
              <a:spcBef>
                <a:spcPts val="0"/>
              </a:spcBef>
              <a:spcAft>
                <a:spcPts val="0"/>
              </a:spcAft>
              <a:buClr>
                <a:schemeClr val="dk1"/>
              </a:buClr>
              <a:buSzPts val="1100"/>
              <a:buFont typeface="Arial"/>
              <a:buNone/>
            </a:pPr>
            <a:r>
              <a:rPr lang="zh-TW"/>
              <a:t>過濾有效： 基於強化學習的過濾機制，能有效減少良性鄰居對惡意節點的干擾（避免被洗白）。</a:t>
            </a:r>
            <a:endParaRPr/>
          </a:p>
          <a:p>
            <a:pPr indent="0" lvl="0" marL="0" rtl="0" algn="l">
              <a:spcBef>
                <a:spcPts val="0"/>
              </a:spcBef>
              <a:spcAft>
                <a:spcPts val="0"/>
              </a:spcAft>
              <a:buClr>
                <a:schemeClr val="dk1"/>
              </a:buClr>
              <a:buSzPts val="1100"/>
              <a:buFont typeface="Arial"/>
              <a:buNone/>
            </a:pPr>
            <a:r>
              <a:rPr lang="zh-TW"/>
              <a:t>深層挖掘： 加入「隱藏關係（Hidden Relational）」資訊能挖掘更深層的特徵，加速資訊在圖中的有效傳播，提升檢測效率。</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94c8314ee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94c8314ee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Embedding Size (d)：64 是最佳甜蜜點。太小資訊不夠，太大會稀疏且慢。</a:t>
            </a:r>
            <a:endParaRPr/>
          </a:p>
          <a:p>
            <a:pPr indent="0" lvl="0" marL="0" rtl="0" algn="l">
              <a:spcBef>
                <a:spcPts val="0"/>
              </a:spcBef>
              <a:spcAft>
                <a:spcPts val="0"/>
              </a:spcAft>
              <a:buNone/>
            </a:pPr>
            <a:r>
              <a:rPr lang="zh-TW"/>
              <a:t>Layer Number (l)：1 層 最好。多層會導致過擬合 (Overfitting)，這反直覺地證明了 APT 檢測更依賴「精準的直接關聯」而非漫無目的的擴散。</a:t>
            </a:r>
            <a:endParaRPr/>
          </a:p>
          <a:p>
            <a:pPr indent="0" lvl="0" marL="0" rtl="0" algn="l">
              <a:spcBef>
                <a:spcPts val="0"/>
              </a:spcBef>
              <a:spcAft>
                <a:spcPts val="0"/>
              </a:spcAft>
              <a:buNone/>
            </a:pPr>
            <a:r>
              <a:rPr lang="zh-TW"/>
              <a:t>Similarity Weight (lambda_1)：2.0 最好。這代表模型應該把「學會分辨相似度」看得比「最終分類」還重要 (權重是 2 倍)。</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a94c8314e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a94c8314e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a:solidFill>
                  <a:schemeClr val="dk1"/>
                </a:solidFill>
              </a:rPr>
              <a:t>上排 (正常情況)</a:t>
            </a:r>
            <a:r>
              <a:rPr lang="zh-TW">
                <a:solidFill>
                  <a:schemeClr val="dk1"/>
                </a:solidFill>
              </a:rPr>
              <a:t>：SLOT 和對手 FLASH 都能把紅藍分開。</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下排 (攻擊情況)</a:t>
            </a:r>
            <a:r>
              <a:rPr lang="zh-TW">
                <a:solidFill>
                  <a:schemeClr val="dk1"/>
                </a:solidFill>
              </a:rPr>
              <a:t>：當攻擊者故意連接大量良性 DNS (擬態) 後。</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FLASH (中下圖)</a:t>
            </a:r>
            <a:r>
              <a:rPr lang="zh-TW">
                <a:solidFill>
                  <a:schemeClr val="dk1"/>
                </a:solidFill>
              </a:rPr>
              <a:t>：紅點混進了藍點堆裡 (被洗白了)，檢測失敗。</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SLOT (右下圖)</a:t>
            </a:r>
            <a:r>
              <a:rPr lang="zh-TW">
                <a:solidFill>
                  <a:schemeClr val="dk1"/>
                </a:solidFill>
              </a:rPr>
              <a:t>：</a:t>
            </a:r>
            <a:r>
              <a:rPr b="1" lang="zh-TW">
                <a:solidFill>
                  <a:schemeClr val="dk1"/>
                </a:solidFill>
              </a:rPr>
              <a:t>紅點依然緊緊聚在一起，與藍點涇渭分明</a:t>
            </a:r>
            <a:r>
              <a:rPr lang="zh-TW">
                <a:solidFill>
                  <a:schemeClr val="dk1"/>
                </a:solidFill>
              </a:rPr>
              <a:t>。這證明 RL 成功過濾了擬態雜訊，守住了特徵的純度。</a:t>
            </a:r>
            <a:endParaRPr>
              <a:solidFill>
                <a:schemeClr val="dk1"/>
              </a:solidFill>
            </a:endParaRPr>
          </a:p>
          <a:p>
            <a:pPr indent="0" lvl="0" marL="0" rtl="0" algn="l">
              <a:spcBef>
                <a:spcPts val="1200"/>
              </a:spcBef>
              <a:spcAft>
                <a:spcPts val="0"/>
              </a:spcAft>
              <a:buClr>
                <a:schemeClr val="dk1"/>
              </a:buClr>
              <a:buSzPts val="1100"/>
              <a:buFont typeface="Arial"/>
              <a:buNone/>
            </a:pPr>
            <a:br>
              <a:rPr lang="zh-TW"/>
            </a:br>
            <a:r>
              <a:rPr lang="zh-TW"/>
              <a:t>1. 什麼是模仿攻擊？ (The Attack Method)</a:t>
            </a:r>
            <a:endParaRPr/>
          </a:p>
          <a:p>
            <a:pPr indent="0" lvl="0" marL="0" rtl="0" algn="l">
              <a:spcBef>
                <a:spcPts val="0"/>
              </a:spcBef>
              <a:spcAft>
                <a:spcPts val="0"/>
              </a:spcAft>
              <a:buClr>
                <a:schemeClr val="dk1"/>
              </a:buClr>
              <a:buSzPts val="1100"/>
              <a:buFont typeface="Arial"/>
              <a:buNone/>
            </a:pPr>
            <a:r>
              <a:rPr lang="zh-TW"/>
              <a:t>原理： 攻擊者透過修改原始數據，刻意摻入大量的「良性特徵（Benign Features）」，讓惡意行為看起來像是正常的系統活動。</a:t>
            </a:r>
            <a:endParaRPr/>
          </a:p>
          <a:p>
            <a:pPr indent="0" lvl="0" marL="0" rtl="0" algn="l">
              <a:spcBef>
                <a:spcPts val="0"/>
              </a:spcBef>
              <a:spcAft>
                <a:spcPts val="0"/>
              </a:spcAft>
              <a:buClr>
                <a:schemeClr val="dk1"/>
              </a:buClr>
              <a:buSzPts val="1100"/>
              <a:buFont typeface="Arial"/>
              <a:buNone/>
            </a:pPr>
            <a:r>
              <a:rPr lang="zh-TW"/>
              <a:t>目的： 為了逃避檢測系統的抓捕（Evasion）。</a:t>
            </a:r>
            <a:endParaRPr/>
          </a:p>
          <a:p>
            <a:pPr indent="0" lvl="0" marL="0" rtl="0" algn="l">
              <a:spcBef>
                <a:spcPts val="0"/>
              </a:spcBef>
              <a:spcAft>
                <a:spcPts val="0"/>
              </a:spcAft>
              <a:buClr>
                <a:schemeClr val="dk1"/>
              </a:buClr>
              <a:buSzPts val="1100"/>
              <a:buFont typeface="Arial"/>
              <a:buNone/>
            </a:pPr>
            <a:r>
              <a:rPr lang="zh-TW"/>
              <a:t>測試方法： 作者使用了文獻 [17, 47] 中的攻擊手法，將良性結構（如正常的 DNS 解析）強行插入到攻擊圖中，以此來測試 Slot 會不會被騙。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2. 視覺化驗證：Firefox 後門攻擊案例 (Figure 9 Analysis)</a:t>
            </a:r>
            <a:endParaRPr/>
          </a:p>
          <a:p>
            <a:pPr indent="0" lvl="0" marL="0" rtl="0" algn="l">
              <a:spcBef>
                <a:spcPts val="0"/>
              </a:spcBef>
              <a:spcAft>
                <a:spcPts val="0"/>
              </a:spcAft>
              <a:buClr>
                <a:schemeClr val="dk1"/>
              </a:buClr>
              <a:buSzPts val="1100"/>
              <a:buFont typeface="Arial"/>
              <a:buNone/>
            </a:pPr>
            <a:r>
              <a:rPr lang="zh-TW"/>
              <a:t>作者以 THEIA 數據集中的 Firefox 後門攻擊為例，比較了 Slot 與一般 GNN 在面對攻擊時的表現：</a:t>
            </a:r>
            <a:endParaRPr/>
          </a:p>
          <a:p>
            <a:pPr indent="0" lvl="0" marL="0" rtl="0" algn="l">
              <a:spcBef>
                <a:spcPts val="0"/>
              </a:spcBef>
              <a:spcAft>
                <a:spcPts val="0"/>
              </a:spcAft>
              <a:buClr>
                <a:schemeClr val="dk1"/>
              </a:buClr>
              <a:buSzPts val="1100"/>
              <a:buFont typeface="Arial"/>
              <a:buNone/>
            </a:pPr>
            <a:r>
              <a:rPr lang="zh-TW"/>
              <a:t>無偽裝時 (Normal)： 攻擊行為與良性行為互動很少，很容易區分。Slot 利用半監督相似度標籤，能比一般 GNN 把兩者分得更開（Figure 9c）。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有偽裝時 (Attack - Clone Technique)：</a:t>
            </a:r>
            <a:endParaRPr/>
          </a:p>
          <a:p>
            <a:pPr indent="0" lvl="0" marL="0" rtl="0" algn="l">
              <a:spcBef>
                <a:spcPts val="0"/>
              </a:spcBef>
              <a:spcAft>
                <a:spcPts val="0"/>
              </a:spcAft>
              <a:buClr>
                <a:schemeClr val="dk1"/>
              </a:buClr>
              <a:buSzPts val="1100"/>
              <a:buFont typeface="Arial"/>
              <a:buNone/>
            </a:pPr>
            <a:r>
              <a:rPr lang="zh-TW"/>
              <a:t>攻擊手段： 攻擊者使用「克隆技術」，在惡意節點旁邊不斷插入常見的良性行為（如 DNS 解析）。</a:t>
            </a:r>
            <a:endParaRPr/>
          </a:p>
          <a:p>
            <a:pPr indent="0" lvl="0" marL="0" rtl="0" algn="l">
              <a:spcBef>
                <a:spcPts val="0"/>
              </a:spcBef>
              <a:spcAft>
                <a:spcPts val="0"/>
              </a:spcAft>
              <a:buClr>
                <a:schemeClr val="dk1"/>
              </a:buClr>
              <a:buSzPts val="1100"/>
              <a:buFont typeface="Arial"/>
              <a:buNone/>
            </a:pPr>
            <a:r>
              <a:rPr lang="zh-TW"/>
              <a:t>一般 GNN 的慘況 (Figure 9e)： 惡意節點因為被良性鄰居包圍，導致其特徵被「同化」，在嵌入空間中被誤判為良性（被拉近良性群聚）。</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Slot 的表現 (Figure 9f)： Slot 依然能將兩者分開。</a:t>
            </a:r>
            <a:endParaRPr/>
          </a:p>
          <a:p>
            <a:pPr indent="0" lvl="0" marL="0" rtl="0" algn="l">
              <a:spcBef>
                <a:spcPts val="0"/>
              </a:spcBef>
              <a:spcAft>
                <a:spcPts val="0"/>
              </a:spcAft>
              <a:buClr>
                <a:schemeClr val="dk1"/>
              </a:buClr>
              <a:buSzPts val="1100"/>
              <a:buFont typeface="Arial"/>
              <a:buNone/>
            </a:pPr>
            <a:r>
              <a:rPr lang="zh-TW"/>
              <a:t>原因： Slot 會根據「鄰居相似度」調整聚合權重，它發現那些插入的良性鄰居跟惡意中心點「不像」，所以選擇性地忽略它們，從而抵抗了混淆視聽的效果。</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a94c8314ee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a94c8314ee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TW">
                <a:solidFill>
                  <a:schemeClr val="dk1"/>
                </a:solidFill>
              </a:rPr>
              <a:t>內容</a:t>
            </a:r>
            <a:r>
              <a:rPr lang="zh-TW">
                <a:solidFill>
                  <a:schemeClr val="dk1"/>
                </a:solidFill>
              </a:rPr>
              <a:t>：X 軸是「加入良性雜訊的數量」，Y 軸是「檢測分數」 。</a:t>
            </a:r>
            <a:endParaRPr>
              <a:solidFill>
                <a:schemeClr val="dk1"/>
              </a:solidFill>
            </a:endParaRPr>
          </a:p>
          <a:p>
            <a:pPr indent="0" lvl="0" marL="0" rtl="0" algn="l">
              <a:spcBef>
                <a:spcPts val="0"/>
              </a:spcBef>
              <a:spcAft>
                <a:spcPts val="0"/>
              </a:spcAft>
              <a:buClr>
                <a:schemeClr val="dk1"/>
              </a:buClr>
              <a:buSzPts val="1100"/>
              <a:buFont typeface="Arial"/>
              <a:buNone/>
            </a:pPr>
            <a:r>
              <a:rPr b="1" lang="zh-TW">
                <a:solidFill>
                  <a:schemeClr val="dk1"/>
                </a:solidFill>
              </a:rPr>
              <a:t>解讀</a:t>
            </a:r>
            <a:r>
              <a:rPr lang="zh-TW">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藍線 (FLASH)</a:t>
            </a:r>
            <a:r>
              <a:rPr lang="zh-TW">
                <a:solidFill>
                  <a:schemeClr val="dk1"/>
                </a:solidFill>
              </a:rPr>
              <a:t>：隨著雜訊增加，分數一路下滑 (被騙了)。</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紅線 (SLOT)</a:t>
            </a:r>
            <a:r>
              <a:rPr lang="zh-TW">
                <a:solidFill>
                  <a:schemeClr val="dk1"/>
                </a:solidFill>
              </a:rPr>
              <a:t>：</a:t>
            </a:r>
            <a:r>
              <a:rPr b="1" lang="zh-TW">
                <a:solidFill>
                  <a:schemeClr val="dk1"/>
                </a:solidFill>
              </a:rPr>
              <a:t>死守在一條線上</a:t>
            </a:r>
            <a:r>
              <a:rPr lang="zh-TW">
                <a:solidFill>
                  <a:schemeClr val="dk1"/>
                </a:solidFill>
              </a:rPr>
              <a:t>，完全不受雜訊數量影響。這是 RL Agent 動態調整閾值的功勞。</a:t>
            </a:r>
            <a:endParaRPr/>
          </a:p>
          <a:p>
            <a:pPr indent="0" lvl="0" marL="0" rtl="0" algn="l">
              <a:lnSpc>
                <a:spcPct val="115000"/>
              </a:lnSpc>
              <a:spcBef>
                <a:spcPts val="1200"/>
              </a:spcBef>
              <a:spcAft>
                <a:spcPts val="0"/>
              </a:spcAft>
              <a:buNone/>
            </a:pPr>
            <a:r>
              <a:rPr lang="zh-TW"/>
              <a:t>3. 強健性比較：Slot vs. FLASH (Figure 10 Analysis)	</a:t>
            </a:r>
            <a:endParaRPr/>
          </a:p>
          <a:p>
            <a:pPr indent="0" lvl="0" marL="0" rtl="0" algn="l">
              <a:spcBef>
                <a:spcPts val="1200"/>
              </a:spcBef>
              <a:spcAft>
                <a:spcPts val="0"/>
              </a:spcAft>
              <a:buNone/>
            </a:pPr>
            <a:r>
              <a:rPr lang="zh-TW"/>
              <a:t>這部分比較了隨著偽裝程度增加，模型效能的變化：</a:t>
            </a:r>
            <a:endParaRPr/>
          </a:p>
          <a:p>
            <a:pPr indent="0" lvl="0" marL="0" rtl="0" algn="l">
              <a:spcBef>
                <a:spcPts val="0"/>
              </a:spcBef>
              <a:spcAft>
                <a:spcPts val="0"/>
              </a:spcAft>
              <a:buNone/>
            </a:pPr>
            <a:r>
              <a:rPr lang="zh-TW"/>
              <a:t>少量偽裝時： Slot 和基準模型 FLASH 都還能撐住。</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大量偽裝時：</a:t>
            </a:r>
            <a:endParaRPr/>
          </a:p>
          <a:p>
            <a:pPr indent="0" lvl="0" marL="0" rtl="0" algn="l">
              <a:spcBef>
                <a:spcPts val="0"/>
              </a:spcBef>
              <a:spcAft>
                <a:spcPts val="0"/>
              </a:spcAft>
              <a:buNone/>
            </a:pPr>
            <a:r>
              <a:rPr lang="zh-TW"/>
              <a:t>FLASH： 效能顯著下降。因為它無法處理節點間的「異質關係（Heterogeneous Relationships）」，當大量良性結構聚集在攻擊節點旁，FLASH 就會算出錯誤的特徵表示。</a:t>
            </a:r>
            <a:endParaRPr/>
          </a:p>
          <a:p>
            <a:pPr indent="0" lvl="0" marL="0" rtl="0" algn="l">
              <a:spcBef>
                <a:spcPts val="0"/>
              </a:spcBef>
              <a:spcAft>
                <a:spcPts val="0"/>
              </a:spcAft>
              <a:buNone/>
            </a:pPr>
            <a:r>
              <a:rPr lang="zh-TW"/>
              <a:t>Slot： 效能幾乎不受影響，展現極強的強健性。</a:t>
            </a:r>
            <a:endParaRPr/>
          </a:p>
          <a:p>
            <a:pPr indent="0" lvl="0" marL="0" rtl="0" algn="l">
              <a:spcBef>
                <a:spcPts val="0"/>
              </a:spcBef>
              <a:spcAft>
                <a:spcPts val="0"/>
              </a:spcAft>
              <a:buNone/>
            </a:pPr>
            <a:r>
              <a:rPr lang="zh-TW"/>
              <a:t>致勝關鍵： Slot 利用 多臂強盜強化學習 (Multi-armed bandit RL) 動態過濾掉那些「偽裝成良性的鄰居」。</a:t>
            </a:r>
            <a:endParaRPr/>
          </a:p>
          <a:p>
            <a:pPr indent="0" lvl="0" marL="0" rtl="0" algn="l">
              <a:spcBef>
                <a:spcPts val="0"/>
              </a:spcBef>
              <a:spcAft>
                <a:spcPts val="0"/>
              </a:spcAft>
              <a:buNone/>
            </a:pPr>
            <a:r>
              <a:rPr lang="zh-TW"/>
              <a:t>一句話總結： Slot 透過強化學習動態篩選鄰居，即使攻擊者刻意用大量良性行為來包裝惡意節點（模仿攻擊），Slot 也能識破偽裝，不會像 FLASH 等傳統方法那樣被誤導。</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a94c8314e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a94c8314e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1. 攻擊鏈重建的目標與原則</a:t>
            </a:r>
            <a:endParaRPr/>
          </a:p>
          <a:p>
            <a:pPr indent="0" lvl="0" marL="0" rtl="0" algn="l">
              <a:spcBef>
                <a:spcPts val="0"/>
              </a:spcBef>
              <a:spcAft>
                <a:spcPts val="0"/>
              </a:spcAft>
              <a:buClr>
                <a:schemeClr val="dk1"/>
              </a:buClr>
              <a:buSzPts val="1100"/>
              <a:buFont typeface="Arial"/>
              <a:buNone/>
            </a:pPr>
            <a:r>
              <a:rPr lang="zh-TW"/>
              <a:t>Slot 的最終目標是加速警報處理，因此在重建攻擊鏈時堅持兩大原則：</a:t>
            </a:r>
            <a:endParaRPr/>
          </a:p>
          <a:p>
            <a:pPr indent="0" lvl="0" marL="0" rtl="0" algn="l">
              <a:spcBef>
                <a:spcPts val="0"/>
              </a:spcBef>
              <a:spcAft>
                <a:spcPts val="0"/>
              </a:spcAft>
              <a:buClr>
                <a:schemeClr val="dk1"/>
              </a:buClr>
              <a:buSzPts val="1100"/>
              <a:buFont typeface="Arial"/>
              <a:buNone/>
            </a:pPr>
            <a:r>
              <a:rPr lang="zh-TW"/>
              <a:t>簡潔可讀 (Concise &amp; Readable)： 攻擊鏈必須讓人看得懂。</a:t>
            </a:r>
            <a:endParaRPr/>
          </a:p>
          <a:p>
            <a:pPr indent="0" lvl="0" marL="0" rtl="0" algn="l">
              <a:spcBef>
                <a:spcPts val="0"/>
              </a:spcBef>
              <a:spcAft>
                <a:spcPts val="0"/>
              </a:spcAft>
              <a:buClr>
                <a:schemeClr val="dk1"/>
              </a:buClr>
              <a:buSzPts val="1100"/>
              <a:buFont typeface="Arial"/>
              <a:buNone/>
            </a:pPr>
            <a:r>
              <a:rPr lang="zh-TW"/>
              <a:t>低誤報 (Low False Positives)： 攻擊鏈中應包含越少無關的誤報節點越好。</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2. 提升效率的三個關鍵機制 (圖表佐證)</a:t>
            </a:r>
            <a:endParaRPr/>
          </a:p>
          <a:p>
            <a:pPr indent="0" lvl="0" marL="0" rtl="0" algn="l">
              <a:spcBef>
                <a:spcPts val="0"/>
              </a:spcBef>
              <a:spcAft>
                <a:spcPts val="0"/>
              </a:spcAft>
              <a:buClr>
                <a:schemeClr val="dk1"/>
              </a:buClr>
              <a:buSzPts val="1100"/>
              <a:buFont typeface="Arial"/>
              <a:buNone/>
            </a:pPr>
            <a:r>
              <a:rPr lang="zh-TW"/>
              <a:t>利用 TTP 過濾 (Figure 11)： 在決策過程中，利用 TTP 資訊來排除那些「看似相關但其實是正常操作」的路徑，從而精準過濾誤報。</a:t>
            </a:r>
            <a:endParaRPr/>
          </a:p>
          <a:p>
            <a:pPr indent="0" lvl="0" marL="0" rtl="0" algn="l">
              <a:spcBef>
                <a:spcPts val="0"/>
              </a:spcBef>
              <a:spcAft>
                <a:spcPts val="0"/>
              </a:spcAft>
              <a:buClr>
                <a:schemeClr val="dk1"/>
              </a:buClr>
              <a:buSzPts val="1100"/>
              <a:buFont typeface="Arial"/>
              <a:buNone/>
            </a:pPr>
            <a:r>
              <a:rPr lang="zh-TW"/>
              <a:t>良性結構聚合 (Figure 12 - CADETS)： 針對如 wget 這類工具產生的良性結構，Slot 能將其高度聚合（把一堆點縮成一團），加速良性實體的過濾與篩選。</a:t>
            </a:r>
            <a:endParaRPr/>
          </a:p>
          <a:p>
            <a:pPr indent="0" lvl="0" marL="0" rtl="0" algn="l">
              <a:spcBef>
                <a:spcPts val="0"/>
              </a:spcBef>
              <a:spcAft>
                <a:spcPts val="0"/>
              </a:spcAft>
              <a:buClr>
                <a:schemeClr val="dk1"/>
              </a:buClr>
              <a:buSzPts val="1100"/>
              <a:buFont typeface="Arial"/>
              <a:buNone/>
            </a:pPr>
            <a:r>
              <a:rPr lang="zh-TW"/>
              <a:t>大規模掃描聚合 (Figure 13 - THEIA)： 針對惡意進程 /var/log/email 發起的 6000 多次 網路掃描，Slot 將其聚合成單一攻擊鏈。這意味著分析師只需查看一條鏈，而不用手動追蹤數千個異常節點。</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solidFill>
                  <a:srgbClr val="434343"/>
                </a:solidFill>
              </a:rPr>
              <a:t>3. 案例研究：Firefox 後門攻擊 (Case Study)</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這部分呼應了前面章節提到的攻擊場景（攻擊者利用 Firefox 後門並混入良性 DNS 查詢來偽裝）。Slot 的處理流程如下：</a:t>
            </a:r>
            <a:endParaRPr>
              <a:solidFill>
                <a:srgbClr val="434343"/>
              </a:solidFill>
            </a:endParaRPr>
          </a:p>
          <a:p>
            <a:pPr indent="0" lvl="0" marL="0" rtl="0" algn="l">
              <a:spcBef>
                <a:spcPts val="0"/>
              </a:spcBef>
              <a:spcAft>
                <a:spcPts val="0"/>
              </a:spcAft>
              <a:buClr>
                <a:schemeClr val="dk1"/>
              </a:buClr>
              <a:buSzPts val="1100"/>
              <a:buFont typeface="Arial"/>
              <a:buNone/>
            </a:pPr>
            <a:r>
              <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特徵嵌入與區分： 利用語義與拓撲特徵計算相似度，初步區分良性行為（如訪問正常 IP）與惡意活動。</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強化學習過濾： 透過區隔 Firefox1 與 Firefox2 的相似度並運用強化學習，過濾掉那些「偽裝在攻擊事件中的良性活動」。</a:t>
            </a:r>
            <a:endParaRPr>
              <a:solidFill>
                <a:srgbClr val="434343"/>
              </a:solidFill>
            </a:endParaRPr>
          </a:p>
          <a:p>
            <a:pPr indent="0" lvl="0" marL="0" rtl="0" algn="l">
              <a:spcBef>
                <a:spcPts val="0"/>
              </a:spcBef>
              <a:spcAft>
                <a:spcPts val="0"/>
              </a:spcAft>
              <a:buClr>
                <a:schemeClr val="dk1"/>
              </a:buClr>
              <a:buSzPts val="1100"/>
              <a:buFont typeface="Arial"/>
              <a:buNone/>
            </a:pPr>
            <a:r>
              <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GNN 學習： 學習節點真正的行為模式。</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最終 TTP 分離： 在攻擊鏈重建階段，利用 TTP 編碼進一步剝離良性的周邊節點。</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結果： 成功重建出紅色高亮的攻擊鏈，精準還原了核心攻擊步驟：</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連線惡意 IP 146.153.68.151。</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下載並執行惡意檔案 /home/admin/profile。</a:t>
            </a:r>
            <a:endParaRPr>
              <a:solidFill>
                <a:srgbClr val="434343"/>
              </a:solidFill>
            </a:endParaRPr>
          </a:p>
          <a:p>
            <a:pPr indent="0" lvl="0" marL="0" rtl="0" algn="l">
              <a:spcBef>
                <a:spcPts val="0"/>
              </a:spcBef>
              <a:spcAft>
                <a:spcPts val="0"/>
              </a:spcAft>
              <a:buClr>
                <a:schemeClr val="dk1"/>
              </a:buClr>
              <a:buSzPts val="1100"/>
              <a:buFont typeface="Arial"/>
              <a:buNone/>
            </a:pPr>
            <a:r>
              <a:rPr lang="zh-TW">
                <a:solidFill>
                  <a:srgbClr val="434343"/>
                </a:solidFill>
              </a:rPr>
              <a:t>與 IP 149.52.198.23 互動進行攻擊掃描。</a:t>
            </a:r>
            <a:endParaRPr>
              <a:solidFill>
                <a:srgbClr val="434343"/>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一句話總結： Slot 透過 TTP 過濾、結構聚合與強化學習，不僅能從海量日誌中大幅縮減分析師需審查的項目，還能成功在高度偽裝的 Firefox 攻擊場景中，精準剝離良性雜訊，還原核心攻擊鏈。</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94c8314ee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a94c8314ee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單靠特徵隔離來做異常檢測會導致高誤報率，因此需</a:t>
            </a:r>
            <a:r>
              <a:rPr lang="zh-TW"/>
              <a:t>要</a:t>
            </a:r>
            <a:r>
              <a:rPr lang="zh-TW"/>
              <a:t>平衡模型學習與異常檢測的信心水準。</a:t>
            </a:r>
            <a:endParaRPr/>
          </a:p>
          <a:p>
            <a:pPr indent="0" lvl="0" marL="0" rtl="0" algn="l">
              <a:spcBef>
                <a:spcPts val="0"/>
              </a:spcBef>
              <a:spcAft>
                <a:spcPts val="0"/>
              </a:spcAft>
              <a:buNone/>
            </a:pPr>
            <a:r>
              <a:rPr lang="zh-TW"/>
              <a:t>可以採用「小批次增量學習」與「歷史數據遺忘機制」來適應系統行為的演變。</a:t>
            </a:r>
            <a:endParaRPr/>
          </a:p>
          <a:p>
            <a:pPr indent="0" lvl="0" marL="0" rtl="0" algn="l">
              <a:spcBef>
                <a:spcPts val="0"/>
              </a:spcBef>
              <a:spcAft>
                <a:spcPts val="0"/>
              </a:spcAft>
              <a:buNone/>
            </a:pPr>
            <a:r>
              <a:rPr lang="zh-TW"/>
              <a:t>針對白箱攻擊，Slot 可以整合並擴展現有的「對抗性訓練」與「梯度掩蔽」等防禦手段。</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94c8314ee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a94c8314ee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現有方法常在檢測效能、抗攻擊能力及防禦策略支援上表現不足。</a:t>
            </a:r>
            <a:endParaRPr/>
          </a:p>
          <a:p>
            <a:pPr indent="0" lvl="0" marL="0" rtl="0" algn="l">
              <a:spcBef>
                <a:spcPts val="0"/>
              </a:spcBef>
              <a:spcAft>
                <a:spcPts val="0"/>
              </a:spcAft>
              <a:buNone/>
            </a:pPr>
            <a:r>
              <a:rPr lang="zh-TW"/>
              <a:t>Slot 利用高效的相似度計算增強半監督學習，並利用圖強化學習來適應新的活動與策略。</a:t>
            </a:r>
            <a:endParaRPr/>
          </a:p>
          <a:p>
            <a:pPr indent="0" lvl="0" marL="0" rtl="0" algn="l">
              <a:spcBef>
                <a:spcPts val="0"/>
              </a:spcBef>
              <a:spcAft>
                <a:spcPts val="0"/>
              </a:spcAft>
              <a:buNone/>
            </a:pPr>
            <a:r>
              <a:rPr lang="zh-TW"/>
              <a:t>評估顯示 Slot 達到 99% 的準確率，優於現有的頂尖方法。</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a3fd8325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9a3fd8325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ndss-symposium.org/wp-content/uploads/2023/02/ndss2023_f207_paper.pdf"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l.acm.org/doi/10.1145/3442381.3449822" TargetMode="External"/><Relationship Id="rId4" Type="http://schemas.openxmlformats.org/officeDocument/2006/relationships/hyperlink" Target="https://ieeexplore.ieee.org/document/9761788" TargetMode="External"/><Relationship Id="rId5" Type="http://schemas.openxmlformats.org/officeDocument/2006/relationships/hyperlink" Target="https://arxiv.org/abs/1810.09202" TargetMode="External"/><Relationship Id="rId6" Type="http://schemas.openxmlformats.org/officeDocument/2006/relationships/hyperlink" Target="https://arxiv.org/abs/2102.0515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hyperlink" Target="https://arxiv.org/pdf/1412.6575" TargetMode="External"/><Relationship Id="rId6"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hyperlink" Target="https://dl.acm.org/doi/pdf/10.5555/3495724.3496377"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3.png"/><Relationship Id="rId4" Type="http://schemas.openxmlformats.org/officeDocument/2006/relationships/image" Target="../media/image30.png"/><Relationship Id="rId5"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ieeexplore.ieee.org/stamp/stamp.jsp?tp=&amp;arnumber=4781136" TargetMode="External"/><Relationship Id="rId4" Type="http://schemas.openxmlformats.org/officeDocument/2006/relationships/image" Target="../media/image24.png"/><Relationship Id="rId5"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2.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zh-TW"/>
              <a:t>Slot: Provenance-Driven APT Detection through Graph</a:t>
            </a:r>
            <a:endParaRPr/>
          </a:p>
          <a:p>
            <a:pPr indent="0" lvl="0" marL="0" rtl="0" algn="ctr">
              <a:spcBef>
                <a:spcPts val="0"/>
              </a:spcBef>
              <a:spcAft>
                <a:spcPts val="0"/>
              </a:spcAft>
              <a:buNone/>
            </a:pPr>
            <a:r>
              <a:rPr lang="zh-TW"/>
              <a:t> Reinforcement Learning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zh-TW"/>
              <a:t>1</a:t>
            </a:r>
            <a:r>
              <a:rPr lang="zh-TW"/>
              <a:t>Wei Qiao, 3Yebo Feng, 1Teng Li, 2Zhuo Ma, 2Yulong Shen, 2JianFeng Ma, 3Yang Liu</a:t>
            </a:r>
            <a:endParaRPr/>
          </a:p>
        </p:txBody>
      </p:sp>
      <p:sp>
        <p:nvSpPr>
          <p:cNvPr id="56" name="Google Shape;56;p13"/>
          <p:cNvSpPr txBox="1"/>
          <p:nvPr/>
        </p:nvSpPr>
        <p:spPr>
          <a:xfrm>
            <a:off x="1488150" y="3663675"/>
            <a:ext cx="6167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200">
                <a:solidFill>
                  <a:srgbClr val="434343"/>
                </a:solidFill>
              </a:rPr>
              <a:t>1.Xidian University State Key Laboratory of Integrated Services Networks (ISN)</a:t>
            </a:r>
            <a:endParaRPr sz="1200">
              <a:solidFill>
                <a:srgbClr val="434343"/>
              </a:solidFill>
            </a:endParaRPr>
          </a:p>
          <a:p>
            <a:pPr indent="0" lvl="0" marL="0" rtl="0" algn="l">
              <a:spcBef>
                <a:spcPts val="0"/>
              </a:spcBef>
              <a:spcAft>
                <a:spcPts val="0"/>
              </a:spcAft>
              <a:buNone/>
            </a:pPr>
            <a:r>
              <a:rPr lang="zh-TW" sz="1200">
                <a:solidFill>
                  <a:srgbClr val="434343"/>
                </a:solidFill>
              </a:rPr>
              <a:t>2.Xidian University</a:t>
            </a:r>
            <a:endParaRPr sz="1200">
              <a:solidFill>
                <a:srgbClr val="434343"/>
              </a:solidFill>
            </a:endParaRPr>
          </a:p>
          <a:p>
            <a:pPr indent="0" lvl="0" marL="0" rtl="0" algn="l">
              <a:spcBef>
                <a:spcPts val="0"/>
              </a:spcBef>
              <a:spcAft>
                <a:spcPts val="0"/>
              </a:spcAft>
              <a:buNone/>
            </a:pPr>
            <a:r>
              <a:rPr lang="zh-TW" sz="1200">
                <a:solidFill>
                  <a:srgbClr val="434343"/>
                </a:solidFill>
              </a:rPr>
              <a:t>3.Nanyang Technological University (Singapore)</a:t>
            </a:r>
            <a:endParaRPr sz="1200">
              <a:solidFill>
                <a:srgbClr val="434343"/>
              </a:solidFill>
            </a:endParaRPr>
          </a:p>
        </p:txBody>
      </p:sp>
      <p:sp>
        <p:nvSpPr>
          <p:cNvPr id="57" name="Google Shape;57;p13"/>
          <p:cNvSpPr txBox="1"/>
          <p:nvPr/>
        </p:nvSpPr>
        <p:spPr>
          <a:xfrm>
            <a:off x="5737800" y="4527900"/>
            <a:ext cx="3406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a:t>ACM Conference on Computer and Communications Security (CCS) 2025</a:t>
            </a:r>
            <a:endParaRPr b="1"/>
          </a:p>
        </p:txBody>
      </p:sp>
      <p:sp>
        <p:nvSpPr>
          <p:cNvPr id="58" name="Google Shape;58;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Feedback</a:t>
            </a:r>
            <a:endParaRPr/>
          </a:p>
        </p:txBody>
      </p:sp>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chemeClr val="dk1"/>
                </a:solidFill>
              </a:rPr>
              <a:t>p14</a:t>
            </a:r>
            <a:r>
              <a:rPr lang="zh-TW">
                <a:solidFill>
                  <a:schemeClr val="dk1"/>
                </a:solidFill>
              </a:rPr>
              <a:t>補充各paper的作法</a:t>
            </a:r>
            <a:endParaRPr>
              <a:solidFill>
                <a:schemeClr val="dk1"/>
              </a:solidFill>
            </a:endParaRPr>
          </a:p>
          <a:p>
            <a:pPr indent="0" lvl="0" marL="0" rtl="0" algn="l">
              <a:spcBef>
                <a:spcPts val="1200"/>
              </a:spcBef>
              <a:spcAft>
                <a:spcPts val="0"/>
              </a:spcAft>
              <a:buNone/>
            </a:pPr>
            <a:r>
              <a:rPr lang="zh-TW">
                <a:solidFill>
                  <a:schemeClr val="dk1"/>
                </a:solidFill>
              </a:rPr>
              <a:t>p21細節</a:t>
            </a:r>
            <a:endParaRPr>
              <a:solidFill>
                <a:schemeClr val="dk1"/>
              </a:solidFill>
            </a:endParaRPr>
          </a:p>
          <a:p>
            <a:pPr indent="0" lvl="0" marL="0" rtl="0" algn="l">
              <a:spcBef>
                <a:spcPts val="1200"/>
              </a:spcBef>
              <a:spcAft>
                <a:spcPts val="0"/>
              </a:spcAft>
              <a:buNone/>
            </a:pPr>
            <a:r>
              <a:rPr lang="zh-TW">
                <a:solidFill>
                  <a:schemeClr val="dk1"/>
                </a:solidFill>
              </a:rPr>
              <a:t>p24公式解釋</a:t>
            </a:r>
            <a:endParaRPr>
              <a:solidFill>
                <a:schemeClr val="dk1"/>
              </a:solidFill>
            </a:endParaRPr>
          </a:p>
          <a:p>
            <a:pPr indent="0" lvl="0" marL="0" rtl="0" algn="l">
              <a:spcBef>
                <a:spcPts val="1200"/>
              </a:spcBef>
              <a:spcAft>
                <a:spcPts val="0"/>
              </a:spcAft>
              <a:buNone/>
            </a:pPr>
            <a:r>
              <a:rPr lang="zh-TW">
                <a:solidFill>
                  <a:schemeClr val="dk1"/>
                </a:solidFill>
              </a:rPr>
              <a:t>p25流程解釋</a:t>
            </a:r>
            <a:endParaRPr>
              <a:solidFill>
                <a:schemeClr val="dk1"/>
              </a:solidFill>
            </a:endParaRPr>
          </a:p>
          <a:p>
            <a:pPr indent="0" lvl="0" marL="0" rtl="0" algn="l">
              <a:spcBef>
                <a:spcPts val="1200"/>
              </a:spcBef>
              <a:spcAft>
                <a:spcPts val="0"/>
              </a:spcAft>
              <a:buNone/>
            </a:pPr>
            <a:r>
              <a:rPr lang="zh-TW">
                <a:solidFill>
                  <a:schemeClr val="dk1"/>
                </a:solidFill>
              </a:rPr>
              <a:t>p29公式解釋</a:t>
            </a:r>
            <a:endParaRPr>
              <a:solidFill>
                <a:schemeClr val="dk1"/>
              </a:solidFill>
            </a:endParaRPr>
          </a:p>
          <a:p>
            <a:pPr indent="0" lvl="0" marL="0" rtl="0" algn="l">
              <a:spcBef>
                <a:spcPts val="1200"/>
              </a:spcBef>
              <a:spcAft>
                <a:spcPts val="1200"/>
              </a:spcAft>
              <a:buNone/>
            </a:pPr>
            <a:r>
              <a:rPr lang="zh-TW">
                <a:solidFill>
                  <a:schemeClr val="dk1"/>
                </a:solidFill>
              </a:rPr>
              <a:t>p31公式</a:t>
            </a:r>
            <a:endParaRPr>
              <a:solidFill>
                <a:schemeClr val="dk1"/>
              </a:solidFill>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Outline</a:t>
            </a:r>
            <a:endParaRPr/>
          </a:p>
        </p:txBody>
      </p:sp>
      <p:sp>
        <p:nvSpPr>
          <p:cNvPr id="71" name="Google Shape;71;p15"/>
          <p:cNvSpPr txBox="1"/>
          <p:nvPr>
            <p:ph idx="1" type="body"/>
          </p:nvPr>
        </p:nvSpPr>
        <p:spPr>
          <a:xfrm>
            <a:off x="311700" y="1152475"/>
            <a:ext cx="4183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Abstract</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Introduction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Contribution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APT Detection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RelatedWork and Its Limitations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GraphReinforcement Learning</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ProblemFormalization</a:t>
            </a:r>
            <a:endParaRPr>
              <a:solidFill>
                <a:schemeClr val="dk1"/>
              </a:solidFill>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73" name="Google Shape;73;p15"/>
          <p:cNvSpPr txBox="1"/>
          <p:nvPr/>
        </p:nvSpPr>
        <p:spPr>
          <a:xfrm>
            <a:off x="4817450" y="1017725"/>
            <a:ext cx="3000000" cy="2055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zh-TW" sz="1800">
                <a:solidFill>
                  <a:schemeClr val="dk1"/>
                </a:solidFill>
              </a:rPr>
              <a:t>Attack Scenario</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Threat Model</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Methodology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Evaluation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Discussion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zh-TW" sz="1800">
                <a:solidFill>
                  <a:schemeClr val="dk1"/>
                </a:solidFill>
              </a:rPr>
              <a:t>Conclusion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Abstract</a:t>
            </a:r>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zh-TW" sz="1600">
                <a:solidFill>
                  <a:schemeClr val="dk1"/>
                </a:solidFill>
              </a:rPr>
              <a:t>Objective:</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Advanced Persistent Threats (APTs) represent sophisticated cyberattacks characterized by their ability to remain undetected within the victim system for extended periods, aiming to exfiltrate sensitive data or disrupt operations.</a:t>
            </a: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Challenge:</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Existing detection approaches often struggle to effectively identify these complex threats, construct the attack chain for defense facilitation, or resist adversarial attacks.</a:t>
            </a: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Solution:</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To overcome these challenges, we propose Slot, an advanced APT detection approach based on </a:t>
            </a:r>
            <a:r>
              <a:rPr lang="zh-TW" sz="1600">
                <a:solidFill>
                  <a:srgbClr val="FF0000"/>
                </a:solidFill>
              </a:rPr>
              <a:t>provenance graphs</a:t>
            </a:r>
            <a:r>
              <a:rPr lang="zh-TW" sz="1600">
                <a:solidFill>
                  <a:schemeClr val="dk1"/>
                </a:solidFill>
              </a:rPr>
              <a:t> and </a:t>
            </a:r>
            <a:r>
              <a:rPr lang="zh-TW" sz="1600">
                <a:solidFill>
                  <a:srgbClr val="FF0000"/>
                </a:solidFill>
              </a:rPr>
              <a:t>graph reinforcement learning</a:t>
            </a:r>
            <a:r>
              <a:rPr lang="zh-TW" sz="1600">
                <a:solidFill>
                  <a:schemeClr val="dk1"/>
                </a:solidFill>
              </a:rPr>
              <a:t>.</a:t>
            </a:r>
            <a:endParaRPr sz="1600">
              <a:solidFill>
                <a:schemeClr val="dk1"/>
              </a:solidFill>
            </a:endParaRPr>
          </a:p>
        </p:txBody>
      </p:sp>
      <p:sp>
        <p:nvSpPr>
          <p:cNvPr id="80" name="Google Shape;8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a:t>
            </a:r>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zh-TW" sz="1600">
                <a:solidFill>
                  <a:schemeClr val="dk1"/>
                </a:solidFill>
              </a:rPr>
              <a:t>An Advanced Persistent Threat (APT) is a sophisticated cyberattack in which a malicious actor gains unauthorized access to a network, remaining undetected for a long time to steal sensitive data or disrupt system operations.</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To effectively combat APTs, it is crucial to detect them early with both</a:t>
            </a:r>
            <a:r>
              <a:rPr lang="zh-TW" sz="1600">
                <a:solidFill>
                  <a:srgbClr val="FF0000"/>
                </a:solidFill>
              </a:rPr>
              <a:t> timeliness</a:t>
            </a:r>
            <a:r>
              <a:rPr lang="zh-TW" sz="1600">
                <a:solidFill>
                  <a:schemeClr val="dk1"/>
                </a:solidFill>
              </a:rPr>
              <a:t> and </a:t>
            </a:r>
            <a:r>
              <a:rPr lang="zh-TW" sz="1600">
                <a:solidFill>
                  <a:srgbClr val="FF0000"/>
                </a:solidFill>
              </a:rPr>
              <a:t>precision</a:t>
            </a:r>
            <a:r>
              <a:rPr lang="zh-TW" sz="1600">
                <a:solidFill>
                  <a:schemeClr val="dk1"/>
                </a:solidFill>
              </a:rPr>
              <a:t>. </a:t>
            </a:r>
            <a:br>
              <a:rPr lang="zh-TW" sz="1600">
                <a:solidFill>
                  <a:schemeClr val="dk1"/>
                </a:solidFill>
              </a:rPr>
            </a:br>
            <a:r>
              <a:rPr lang="zh-TW" sz="1600">
                <a:solidFill>
                  <a:schemeClr val="dk1"/>
                </a:solidFill>
              </a:rPr>
              <a:t>Traditional detection methods may struggle with these complex and prolonged attacks, often resulting in either inadequate accuracy or excessive time to produce detection results.</a:t>
            </a:r>
            <a:endParaRPr sz="1600">
              <a:solidFill>
                <a:schemeClr val="dk1"/>
              </a:solidFill>
            </a:endParaRPr>
          </a:p>
        </p:txBody>
      </p:sp>
      <p:sp>
        <p:nvSpPr>
          <p:cNvPr id="87" name="Google Shape;8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Introduction</a:t>
            </a:r>
            <a:endParaRPr/>
          </a:p>
        </p:txBody>
      </p:sp>
      <p:sp>
        <p:nvSpPr>
          <p:cNvPr id="93" name="Google Shape;93;p18"/>
          <p:cNvSpPr txBox="1"/>
          <p:nvPr>
            <p:ph idx="1" type="body"/>
          </p:nvPr>
        </p:nvSpPr>
        <p:spPr>
          <a:xfrm>
            <a:off x="311700" y="1017725"/>
            <a:ext cx="8520600" cy="40725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rPr lang="zh-TW" sz="1600">
                <a:solidFill>
                  <a:schemeClr val="dk1"/>
                </a:solidFill>
              </a:rPr>
              <a:t>Recently, researchers have increasingly utilized provenance graphs to trace APT activities, progressively achieving practical efficacy and efficiency.</a:t>
            </a:r>
            <a:endParaRPr sz="1600">
              <a:solidFill>
                <a:schemeClr val="dk1"/>
              </a:solidFill>
            </a:endParaRPr>
          </a:p>
          <a:p>
            <a:pPr indent="-342900" lvl="0" marL="457200" rtl="0" algn="l">
              <a:spcBef>
                <a:spcPts val="1200"/>
              </a:spcBef>
              <a:spcAft>
                <a:spcPts val="0"/>
              </a:spcAft>
              <a:buClr>
                <a:schemeClr val="dk1"/>
              </a:buClr>
              <a:buSzPts val="1800"/>
              <a:buChar char="●"/>
            </a:pPr>
            <a:r>
              <a:rPr lang="zh-TW">
                <a:solidFill>
                  <a:schemeClr val="dk1"/>
                </a:solidFill>
              </a:rPr>
              <a:t>Statistics-based approaches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consider </a:t>
            </a:r>
            <a:r>
              <a:rPr lang="zh-TW">
                <a:solidFill>
                  <a:srgbClr val="FF0000"/>
                </a:solidFill>
              </a:rPr>
              <a:t>infrequent events</a:t>
            </a:r>
            <a:r>
              <a:rPr lang="zh-TW">
                <a:solidFill>
                  <a:schemeClr val="dk1"/>
                </a:solidFill>
              </a:rPr>
              <a:t> as suspicious and use </a:t>
            </a:r>
            <a:r>
              <a:rPr lang="zh-TW">
                <a:solidFill>
                  <a:srgbClr val="FF0000"/>
                </a:solidFill>
              </a:rPr>
              <a:t>provenance graphs</a:t>
            </a:r>
            <a:r>
              <a:rPr lang="zh-TW">
                <a:solidFill>
                  <a:schemeClr val="dk1"/>
                </a:solidFill>
              </a:rPr>
              <a:t> to model and identify these events.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focus solely on </a:t>
            </a:r>
            <a:r>
              <a:rPr lang="zh-TW">
                <a:solidFill>
                  <a:srgbClr val="FF0000"/>
                </a:solidFill>
              </a:rPr>
              <a:t>direct event connections</a:t>
            </a:r>
            <a:r>
              <a:rPr lang="zh-TW">
                <a:solidFill>
                  <a:schemeClr val="dk1"/>
                </a:solidFill>
              </a:rPr>
              <a:t>, overlooking the </a:t>
            </a:r>
            <a:r>
              <a:rPr lang="zh-TW">
                <a:solidFill>
                  <a:srgbClr val="FF0000"/>
                </a:solidFill>
              </a:rPr>
              <a:t>deep semantics</a:t>
            </a:r>
            <a:r>
              <a:rPr lang="zh-TW">
                <a:solidFill>
                  <a:schemeClr val="dk1"/>
                </a:solidFill>
              </a:rPr>
              <a:t> and </a:t>
            </a:r>
            <a:r>
              <a:rPr lang="zh-TW">
                <a:solidFill>
                  <a:srgbClr val="FF0000"/>
                </a:solidFill>
              </a:rPr>
              <a:t>hidden relationships</a:t>
            </a:r>
            <a:r>
              <a:rPr lang="zh-TW">
                <a:solidFill>
                  <a:schemeClr val="dk1"/>
                </a:solidFill>
              </a:rPr>
              <a:t> within provenance graphs, which can result in a high rate of </a:t>
            </a:r>
            <a:r>
              <a:rPr lang="zh-TW">
                <a:solidFill>
                  <a:srgbClr val="FF0000"/>
                </a:solidFill>
              </a:rPr>
              <a:t>false positives</a:t>
            </a:r>
            <a:r>
              <a:rPr lang="zh-TW">
                <a:solidFill>
                  <a:schemeClr val="dk1"/>
                </a:solidFill>
              </a:rPr>
              <a:t> and diminished reliability.</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Specification-based approaches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leverage expert knowledge to develop </a:t>
            </a:r>
            <a:r>
              <a:rPr lang="zh-TW">
                <a:solidFill>
                  <a:srgbClr val="FF0000"/>
                </a:solidFill>
              </a:rPr>
              <a:t>heuristic rules</a:t>
            </a:r>
            <a:r>
              <a:rPr lang="zh-TW">
                <a:solidFill>
                  <a:schemeClr val="dk1"/>
                </a:solidFill>
              </a:rPr>
              <a:t> for APT detection.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maintains a low false positive rate in cases it covers, which must be distilled and refined by experts, making it a </a:t>
            </a:r>
            <a:r>
              <a:rPr lang="zh-TW">
                <a:solidFill>
                  <a:srgbClr val="FF0000"/>
                </a:solidFill>
              </a:rPr>
              <a:t>resourceintensive process</a:t>
            </a:r>
            <a:r>
              <a:rPr lang="zh-TW">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Learning-based approaches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These methods can achieve satisfactory detection performance, particularly with the integration of </a:t>
            </a:r>
            <a:r>
              <a:rPr lang="zh-TW">
                <a:solidFill>
                  <a:srgbClr val="FF0000"/>
                </a:solidFill>
              </a:rPr>
              <a:t>provenance graphs</a:t>
            </a:r>
            <a:r>
              <a:rPr lang="zh-TW">
                <a:solidFill>
                  <a:schemeClr val="dk1"/>
                </a:solidFill>
              </a:rPr>
              <a:t> and </a:t>
            </a:r>
            <a:r>
              <a:rPr lang="zh-TW">
                <a:solidFill>
                  <a:srgbClr val="FF0000"/>
                </a:solidFill>
              </a:rPr>
              <a:t>graph neural network</a:t>
            </a:r>
            <a:r>
              <a:rPr lang="zh-TW">
                <a:solidFill>
                  <a:schemeClr val="dk1"/>
                </a:solidFill>
              </a:rPr>
              <a:t> (GNN)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However, they remain vulnerable to </a:t>
            </a:r>
            <a:r>
              <a:rPr lang="zh-TW">
                <a:solidFill>
                  <a:srgbClr val="FF0000"/>
                </a:solidFill>
              </a:rPr>
              <a:t>adversarial attacks</a:t>
            </a:r>
            <a:r>
              <a:rPr lang="zh-TW">
                <a:solidFill>
                  <a:schemeClr val="dk1"/>
                </a:solidFill>
              </a:rPr>
              <a:t>, where attackers can easily </a:t>
            </a:r>
            <a:r>
              <a:rPr lang="zh-TW">
                <a:solidFill>
                  <a:srgbClr val="FF0000"/>
                </a:solidFill>
              </a:rPr>
              <a:t>mimic legitimate users</a:t>
            </a:r>
            <a:r>
              <a:rPr lang="zh-TW">
                <a:solidFill>
                  <a:schemeClr val="dk1"/>
                </a:solidFill>
              </a:rPr>
              <a:t> to mislead the model into producing incorrect detection results.</a:t>
            </a:r>
            <a:endParaRPr>
              <a:solidFill>
                <a:schemeClr val="dk1"/>
              </a:solidFill>
            </a:endParaRPr>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Introduction</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TW" sz="1600">
                <a:solidFill>
                  <a:schemeClr val="dk1"/>
                </a:solidFill>
              </a:rPr>
              <a:t>Slot is comprised of five integrated modules that work together to detect highly stealthy APT attacks and assist administrators in formulating effective defense strategies.</a:t>
            </a:r>
            <a:endParaRPr sz="1600">
              <a:solidFill>
                <a:schemeClr val="dk1"/>
              </a:solidFill>
            </a:endParaRPr>
          </a:p>
          <a:p>
            <a:pPr indent="-323850" lvl="0" marL="457200" rtl="0" algn="l">
              <a:spcBef>
                <a:spcPts val="1200"/>
              </a:spcBef>
              <a:spcAft>
                <a:spcPts val="0"/>
              </a:spcAft>
              <a:buClr>
                <a:schemeClr val="dk1"/>
              </a:buClr>
              <a:buSzPts val="1500"/>
              <a:buChar char="●"/>
            </a:pPr>
            <a:r>
              <a:rPr lang="zh-TW" sz="1500">
                <a:solidFill>
                  <a:srgbClr val="FF0000"/>
                </a:solidFill>
              </a:rPr>
              <a:t>Graph Construction Module</a:t>
            </a:r>
            <a:r>
              <a:rPr lang="zh-TW" sz="1500">
                <a:solidFill>
                  <a:schemeClr val="dk1"/>
                </a:solidFill>
              </a:rPr>
              <a:t>, which processes system logs to create an initial provenance graph that reflects system behaviors.</a:t>
            </a:r>
            <a:endParaRPr sz="1500">
              <a:solidFill>
                <a:schemeClr val="dk1"/>
              </a:solidFill>
            </a:endParaRPr>
          </a:p>
          <a:p>
            <a:pPr indent="-323850" lvl="0" marL="457200" rtl="0" algn="l">
              <a:spcBef>
                <a:spcPts val="0"/>
              </a:spcBef>
              <a:spcAft>
                <a:spcPts val="0"/>
              </a:spcAft>
              <a:buClr>
                <a:schemeClr val="dk1"/>
              </a:buClr>
              <a:buSzPts val="1500"/>
              <a:buChar char="●"/>
            </a:pPr>
            <a:r>
              <a:rPr lang="zh-TW" sz="1500">
                <a:solidFill>
                  <a:srgbClr val="FF0000"/>
                </a:solidFill>
              </a:rPr>
              <a:t>Latent Behavior Mining Module</a:t>
            </a:r>
            <a:r>
              <a:rPr lang="zh-TW" sz="1500">
                <a:solidFill>
                  <a:schemeClr val="dk1"/>
                </a:solidFill>
              </a:rPr>
              <a:t> then applies attention mechanisms and graph transformation techniques to discover hidden relationships within the graph</a:t>
            </a:r>
            <a:endParaRPr sz="1500">
              <a:solidFill>
                <a:schemeClr val="dk1"/>
              </a:solidFill>
            </a:endParaRPr>
          </a:p>
          <a:p>
            <a:pPr indent="-323850" lvl="0" marL="457200" rtl="0" algn="l">
              <a:spcBef>
                <a:spcPts val="0"/>
              </a:spcBef>
              <a:spcAft>
                <a:spcPts val="0"/>
              </a:spcAft>
              <a:buClr>
                <a:schemeClr val="dk1"/>
              </a:buClr>
              <a:buSzPts val="1500"/>
              <a:buChar char="●"/>
            </a:pPr>
            <a:r>
              <a:rPr lang="zh-TW" sz="1500">
                <a:solidFill>
                  <a:srgbClr val="FF0000"/>
                </a:solidFill>
              </a:rPr>
              <a:t>Embedding Module</a:t>
            </a:r>
            <a:r>
              <a:rPr lang="zh-TW" sz="1500">
                <a:solidFill>
                  <a:schemeClr val="dk1"/>
                </a:solidFill>
              </a:rPr>
              <a:t> utilizes a graph reinforcement learning algorithm to embed semantic and </a:t>
            </a:r>
            <a:r>
              <a:rPr lang="zh-TW" sz="1500">
                <a:solidFill>
                  <a:schemeClr val="dk1"/>
                </a:solidFill>
              </a:rPr>
              <a:t>t</a:t>
            </a:r>
            <a:r>
              <a:rPr lang="zh-TW" sz="1500">
                <a:solidFill>
                  <a:schemeClr val="dk1"/>
                </a:solidFill>
              </a:rPr>
              <a:t>opological features of graph nodes as vectors</a:t>
            </a:r>
            <a:endParaRPr sz="1500">
              <a:solidFill>
                <a:schemeClr val="dk1"/>
              </a:solidFill>
            </a:endParaRPr>
          </a:p>
          <a:p>
            <a:pPr indent="-323850" lvl="0" marL="457200" rtl="0" algn="l">
              <a:spcBef>
                <a:spcPts val="0"/>
              </a:spcBef>
              <a:spcAft>
                <a:spcPts val="0"/>
              </a:spcAft>
              <a:buClr>
                <a:schemeClr val="dk1"/>
              </a:buClr>
              <a:buSzPts val="1500"/>
              <a:buChar char="●"/>
            </a:pPr>
            <a:r>
              <a:rPr lang="zh-TW" sz="1500">
                <a:solidFill>
                  <a:srgbClr val="FF0000"/>
                </a:solidFill>
              </a:rPr>
              <a:t>Threat Detection Model</a:t>
            </a:r>
            <a:r>
              <a:rPr lang="zh-TW" sz="1500">
                <a:solidFill>
                  <a:schemeClr val="dk1"/>
                </a:solidFill>
              </a:rPr>
              <a:t>, which combines a MLP and iForest to comprehensively identify APTs.</a:t>
            </a:r>
            <a:endParaRPr sz="1500">
              <a:solidFill>
                <a:schemeClr val="dk1"/>
              </a:solidFill>
            </a:endParaRPr>
          </a:p>
          <a:p>
            <a:pPr indent="-323850" lvl="0" marL="457200" rtl="0" algn="l">
              <a:spcBef>
                <a:spcPts val="0"/>
              </a:spcBef>
              <a:spcAft>
                <a:spcPts val="0"/>
              </a:spcAft>
              <a:buClr>
                <a:schemeClr val="dk1"/>
              </a:buClr>
              <a:buSzPts val="1500"/>
              <a:buChar char="●"/>
            </a:pPr>
            <a:r>
              <a:rPr lang="zh-TW" sz="1500">
                <a:solidFill>
                  <a:srgbClr val="FF0000"/>
                </a:solidFill>
              </a:rPr>
              <a:t>Attack Chain Reconstruction module</a:t>
            </a:r>
            <a:r>
              <a:rPr lang="zh-TW" sz="1500">
                <a:solidFill>
                  <a:schemeClr val="dk1"/>
                </a:solidFill>
              </a:rPr>
              <a:t> traces the attack pathway by clustering correlative nodes</a:t>
            </a:r>
            <a:endParaRPr sz="1500">
              <a:solidFill>
                <a:schemeClr val="dk1"/>
              </a:solidFill>
            </a:endParaRPr>
          </a:p>
        </p:txBody>
      </p:sp>
      <p:sp>
        <p:nvSpPr>
          <p:cNvPr id="101" name="Google Shape;10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Introduction</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TW" sz="1600">
                <a:solidFill>
                  <a:schemeClr val="dk1"/>
                </a:solidFill>
              </a:rPr>
              <a:t>We evaluated Slot using three publicly available APT datasets from well-respected institutions and research communities.</a:t>
            </a:r>
            <a:endParaRPr sz="1600">
              <a:solidFill>
                <a:schemeClr val="dk1"/>
              </a:solidFill>
            </a:endParaRPr>
          </a:p>
          <a:p>
            <a:pPr indent="0" lvl="0" marL="0" rtl="0" algn="l">
              <a:spcBef>
                <a:spcPts val="1200"/>
              </a:spcBef>
              <a:spcAft>
                <a:spcPts val="0"/>
              </a:spcAft>
              <a:buNone/>
            </a:pPr>
            <a:r>
              <a:rPr lang="zh-TW" sz="1600">
                <a:solidFill>
                  <a:schemeClr val="dk1"/>
                </a:solidFill>
              </a:rPr>
              <a:t>The evaluation results show that Slot achieves an overall detection accuracy of approximately 99%, outperforming all existing SOTA techniques.</a:t>
            </a:r>
            <a:endParaRPr sz="1600">
              <a:solidFill>
                <a:schemeClr val="dk1"/>
              </a:solidFill>
            </a:endParaRPr>
          </a:p>
          <a:p>
            <a:pPr indent="0" lvl="0" marL="0" rtl="0" algn="l">
              <a:spcBef>
                <a:spcPts val="1200"/>
              </a:spcBef>
              <a:spcAft>
                <a:spcPts val="0"/>
              </a:spcAft>
              <a:buClr>
                <a:schemeClr val="dk1"/>
              </a:buClr>
              <a:buSzPts val="1100"/>
              <a:buFont typeface="Arial"/>
              <a:buNone/>
            </a:pPr>
            <a:r>
              <a:rPr lang="zh-TW" sz="1600">
                <a:solidFill>
                  <a:schemeClr val="dk1"/>
                </a:solidFill>
              </a:rPr>
              <a:t>we tested Slot against adversarial strategies proposed by </a:t>
            </a:r>
            <a:r>
              <a:rPr lang="zh-TW" sz="1600" u="sng">
                <a:solidFill>
                  <a:schemeClr val="hlink"/>
                </a:solidFill>
                <a:hlinkClick r:id="rId3"/>
              </a:rPr>
              <a:t>Goyal et al.</a:t>
            </a:r>
            <a:r>
              <a:rPr lang="zh-TW" sz="1600">
                <a:solidFill>
                  <a:schemeClr val="dk1"/>
                </a:solidFill>
              </a:rPr>
              <a:t>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Clr>
                <a:schemeClr val="dk1"/>
              </a:buClr>
              <a:buSzPts val="1100"/>
              <a:buFont typeface="Arial"/>
              <a:buNone/>
            </a:pPr>
            <a:r>
              <a:t/>
            </a:r>
            <a:endParaRPr sz="1600">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08" name="Google Shape;108;p20"/>
          <p:cNvPicPr preferRelativeResize="0"/>
          <p:nvPr/>
        </p:nvPicPr>
        <p:blipFill>
          <a:blip r:embed="rId4">
            <a:alphaModFix/>
          </a:blip>
          <a:stretch>
            <a:fillRect/>
          </a:stretch>
        </p:blipFill>
        <p:spPr>
          <a:xfrm>
            <a:off x="2139675" y="2873125"/>
            <a:ext cx="4864649" cy="1936425"/>
          </a:xfrm>
          <a:prstGeom prst="rect">
            <a:avLst/>
          </a:prstGeom>
          <a:noFill/>
          <a:ln cap="flat" cmpd="sng" w="9525">
            <a:solidFill>
              <a:schemeClr val="dk2"/>
            </a:solidFill>
            <a:prstDash val="solid"/>
            <a:round/>
            <a:headEnd len="sm" w="sm" type="none"/>
            <a:tailEnd len="sm" w="sm" type="none"/>
          </a:ln>
        </p:spPr>
      </p:pic>
      <p:sp>
        <p:nvSpPr>
          <p:cNvPr id="109" name="Google Shape;10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Contribution</a:t>
            </a:r>
            <a:endParaRPr/>
          </a:p>
        </p:txBody>
      </p:sp>
      <p:sp>
        <p:nvSpPr>
          <p:cNvPr id="115" name="Google Shape;115;p21"/>
          <p:cNvSpPr txBox="1"/>
          <p:nvPr>
            <p:ph idx="1" type="body"/>
          </p:nvPr>
        </p:nvSpPr>
        <p:spPr>
          <a:xfrm>
            <a:off x="311700" y="1152475"/>
            <a:ext cx="8520600" cy="38493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Clr>
                <a:schemeClr val="dk1"/>
              </a:buClr>
              <a:buSzPct val="100000"/>
              <a:buChar char="●"/>
            </a:pPr>
            <a:r>
              <a:rPr lang="zh-TW">
                <a:solidFill>
                  <a:schemeClr val="dk1"/>
                </a:solidFill>
              </a:rPr>
              <a:t>Slot effectively identifies malicious activities within </a:t>
            </a:r>
            <a:r>
              <a:rPr lang="zh-TW">
                <a:solidFill>
                  <a:srgbClr val="FF0000"/>
                </a:solidFill>
              </a:rPr>
              <a:t>large-scale audit logs</a:t>
            </a:r>
            <a:r>
              <a:rPr lang="zh-TW">
                <a:solidFill>
                  <a:schemeClr val="dk1"/>
                </a:solidFill>
              </a:rPr>
              <a:t> while </a:t>
            </a:r>
            <a:r>
              <a:rPr lang="zh-TW">
                <a:solidFill>
                  <a:srgbClr val="FF0000"/>
                </a:solidFill>
              </a:rPr>
              <a:t>reconstructing attack chains</a:t>
            </a:r>
            <a:r>
              <a:rPr lang="zh-TW">
                <a:solidFill>
                  <a:schemeClr val="dk1"/>
                </a:solidFill>
              </a:rPr>
              <a:t> to support the development of targeted defense strategies.</a:t>
            </a:r>
            <a:endParaRPr>
              <a:solidFill>
                <a:schemeClr val="dk1"/>
              </a:solidFill>
            </a:endParaRPr>
          </a:p>
          <a:p>
            <a:pPr indent="-325755" lvl="0" marL="457200" rtl="0" algn="l">
              <a:spcBef>
                <a:spcPts val="0"/>
              </a:spcBef>
              <a:spcAft>
                <a:spcPts val="0"/>
              </a:spcAft>
              <a:buClr>
                <a:schemeClr val="dk1"/>
              </a:buClr>
              <a:buSzPct val="100000"/>
              <a:buChar char="●"/>
            </a:pPr>
            <a:r>
              <a:rPr lang="zh-TW">
                <a:solidFill>
                  <a:schemeClr val="dk1"/>
                </a:solidFill>
              </a:rPr>
              <a:t>We propose an advanced graph mining technique capable of efficiently uncovering </a:t>
            </a:r>
            <a:r>
              <a:rPr lang="zh-TW">
                <a:solidFill>
                  <a:srgbClr val="FF0000"/>
                </a:solidFill>
              </a:rPr>
              <a:t>multi-level hidden relationships</a:t>
            </a:r>
            <a:r>
              <a:rPr lang="zh-TW">
                <a:solidFill>
                  <a:schemeClr val="dk1"/>
                </a:solidFill>
              </a:rPr>
              <a:t>—such as causal, contextual, and indirect connections—within the graph.</a:t>
            </a:r>
            <a:endParaRPr>
              <a:solidFill>
                <a:schemeClr val="dk1"/>
              </a:solidFill>
            </a:endParaRPr>
          </a:p>
          <a:p>
            <a:pPr indent="-325755" lvl="0" marL="457200" rtl="0" algn="l">
              <a:spcBef>
                <a:spcPts val="0"/>
              </a:spcBef>
              <a:spcAft>
                <a:spcPts val="0"/>
              </a:spcAft>
              <a:buClr>
                <a:schemeClr val="dk1"/>
              </a:buClr>
              <a:buSzPct val="100000"/>
              <a:buChar char="●"/>
            </a:pPr>
            <a:r>
              <a:rPr lang="zh-TW">
                <a:solidFill>
                  <a:schemeClr val="dk1"/>
                </a:solidFill>
              </a:rPr>
              <a:t>Slot implements semi-supervised learning with limited labels through efficient label similarity computation, significantly enhancing both detection performance and model robustness.</a:t>
            </a:r>
            <a:endParaRPr>
              <a:solidFill>
                <a:schemeClr val="dk1"/>
              </a:solidFill>
            </a:endParaRPr>
          </a:p>
          <a:p>
            <a:pPr indent="-325755" lvl="0" marL="457200" rtl="0" algn="l">
              <a:spcBef>
                <a:spcPts val="0"/>
              </a:spcBef>
              <a:spcAft>
                <a:spcPts val="0"/>
              </a:spcAft>
              <a:buClr>
                <a:schemeClr val="dk1"/>
              </a:buClr>
              <a:buSzPct val="100000"/>
              <a:buChar char="●"/>
            </a:pPr>
            <a:r>
              <a:rPr lang="zh-TW">
                <a:solidFill>
                  <a:schemeClr val="dk1"/>
                </a:solidFill>
              </a:rPr>
              <a:t>We integrate reinforcement learning into provenance graph analysis. By </a:t>
            </a:r>
            <a:r>
              <a:rPr lang="zh-TW">
                <a:solidFill>
                  <a:srgbClr val="FF0000"/>
                </a:solidFill>
              </a:rPr>
              <a:t>embedding semantic</a:t>
            </a:r>
            <a:r>
              <a:rPr lang="zh-TW">
                <a:solidFill>
                  <a:schemeClr val="dk1"/>
                </a:solidFill>
              </a:rPr>
              <a:t> and </a:t>
            </a:r>
            <a:r>
              <a:rPr lang="zh-TW">
                <a:solidFill>
                  <a:srgbClr val="FF0000"/>
                </a:solidFill>
              </a:rPr>
              <a:t>topological features</a:t>
            </a:r>
            <a:r>
              <a:rPr lang="zh-TW">
                <a:solidFill>
                  <a:schemeClr val="dk1"/>
                </a:solidFill>
              </a:rPr>
              <a:t> and leveraging the adaptive dynamics of reinforcement learning, Slot effectively endures highly adversarial environments.</a:t>
            </a:r>
            <a:endParaRPr>
              <a:solidFill>
                <a:schemeClr val="dk1"/>
              </a:solidFill>
            </a:endParaRPr>
          </a:p>
          <a:p>
            <a:pPr indent="-325755" lvl="0" marL="457200" rtl="0" algn="l">
              <a:spcBef>
                <a:spcPts val="0"/>
              </a:spcBef>
              <a:spcAft>
                <a:spcPts val="0"/>
              </a:spcAft>
              <a:buClr>
                <a:schemeClr val="dk1"/>
              </a:buClr>
              <a:buSzPct val="100000"/>
              <a:buChar char="●"/>
            </a:pPr>
            <a:r>
              <a:rPr lang="zh-TW">
                <a:solidFill>
                  <a:schemeClr val="dk1"/>
                </a:solidFill>
              </a:rPr>
              <a:t>We performed comprehensive evaluations using real-world datasets, and the results underscore Slot’s effectiveness in detecting APTs, its resilience against adversarial attacks, and its capability to support the development of effective defense strategies.</a:t>
            </a:r>
            <a:endParaRPr>
              <a:solidFill>
                <a:schemeClr val="dk1"/>
              </a:solidFill>
            </a:endParaRPr>
          </a:p>
        </p:txBody>
      </p:sp>
      <p:sp>
        <p:nvSpPr>
          <p:cNvPr id="116" name="Google Shape;11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APT Detection</a:t>
            </a:r>
            <a:endParaRPr/>
          </a:p>
        </p:txBody>
      </p:sp>
      <p:sp>
        <p:nvSpPr>
          <p:cNvPr id="122" name="Google Shape;122;p22"/>
          <p:cNvSpPr txBox="1"/>
          <p:nvPr>
            <p:ph idx="1" type="body"/>
          </p:nvPr>
        </p:nvSpPr>
        <p:spPr>
          <a:xfrm>
            <a:off x="311700" y="1152475"/>
            <a:ext cx="8520600" cy="389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Statistics-based approaches</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Statistical methods assume that attacks correlate with unusual system activities.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Rare events aren’t always anomalies.</a:t>
            </a:r>
            <a:endParaRPr sz="1600">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Specification-based approaches</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Specification-based methods match audit logs with threat report or use expert knowledge for abnormality scoring, raising alerts when anomalies exceed a set threshold.</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While expert-driven detection generally achieves a low false positive rate, it requires specialized expertise to design effective strategies.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Learning-based approaches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Learning-based methods have proven effective for classification and anomaly detection by modeling system behaviors from logs. </a:t>
            </a:r>
            <a:endParaRPr>
              <a:solidFill>
                <a:schemeClr val="dk1"/>
              </a:solidFill>
            </a:endParaRPr>
          </a:p>
        </p:txBody>
      </p:sp>
      <p:sp>
        <p:nvSpPr>
          <p:cNvPr id="123" name="Google Shape;12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9002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Related Work and Its Limitations - </a:t>
            </a:r>
            <a:r>
              <a:rPr lang="zh-TW" sz="2689"/>
              <a:t>Learning-based approaches</a:t>
            </a:r>
            <a:endParaRPr sz="2689"/>
          </a:p>
        </p:txBody>
      </p:sp>
      <p:sp>
        <p:nvSpPr>
          <p:cNvPr id="129" name="Google Shape;129;p23"/>
          <p:cNvSpPr txBox="1"/>
          <p:nvPr>
            <p:ph idx="1" type="body"/>
          </p:nvPr>
        </p:nvSpPr>
        <p:spPr>
          <a:xfrm>
            <a:off x="266325" y="1223075"/>
            <a:ext cx="38952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zh-TW" sz="1600">
                <a:solidFill>
                  <a:schemeClr val="dk1"/>
                </a:solidFill>
              </a:rPr>
              <a:t>Threat Report</a:t>
            </a:r>
            <a:endParaRPr sz="1600">
              <a:solidFill>
                <a:schemeClr val="dk1"/>
              </a:solidFill>
            </a:endParaRPr>
          </a:p>
          <a:p>
            <a:pPr indent="-317500" lvl="1" marL="914400" rtl="0" algn="l">
              <a:spcBef>
                <a:spcPts val="0"/>
              </a:spcBef>
              <a:spcAft>
                <a:spcPts val="0"/>
              </a:spcAft>
              <a:buClr>
                <a:schemeClr val="dk1"/>
              </a:buClr>
              <a:buSzPts val="1400"/>
              <a:buChar char="○"/>
            </a:pPr>
            <a:r>
              <a:rPr lang="zh-TW" sz="1200">
                <a:solidFill>
                  <a:schemeClr val="dk1"/>
                </a:solidFill>
              </a:rPr>
              <a:t>這個模型是否能夠產生可讀的攻擊報告或解釋性輸出。</a:t>
            </a:r>
            <a:endParaRPr sz="1600">
              <a:solidFill>
                <a:schemeClr val="dk1"/>
              </a:solidFill>
            </a:endParaRPr>
          </a:p>
          <a:p>
            <a:pPr indent="-342900" lvl="0" marL="457200" rtl="0" algn="l">
              <a:spcBef>
                <a:spcPts val="0"/>
              </a:spcBef>
              <a:spcAft>
                <a:spcPts val="0"/>
              </a:spcAft>
              <a:buClr>
                <a:schemeClr val="dk1"/>
              </a:buClr>
              <a:buSzPts val="1800"/>
              <a:buChar char="●"/>
            </a:pPr>
            <a:r>
              <a:rPr lang="zh-TW" sz="1600">
                <a:solidFill>
                  <a:schemeClr val="dk1"/>
                </a:solidFill>
              </a:rPr>
              <a:t>S</a:t>
            </a:r>
            <a:r>
              <a:rPr lang="zh-TW" sz="1600">
                <a:solidFill>
                  <a:schemeClr val="dk1"/>
                </a:solidFill>
              </a:rPr>
              <a:t>emantic Encoding</a:t>
            </a:r>
            <a:endParaRPr sz="1600">
              <a:solidFill>
                <a:schemeClr val="dk1"/>
              </a:solidFill>
            </a:endParaRPr>
          </a:p>
          <a:p>
            <a:pPr indent="-317500" lvl="1" marL="914400" rtl="0" algn="l">
              <a:spcBef>
                <a:spcPts val="0"/>
              </a:spcBef>
              <a:spcAft>
                <a:spcPts val="0"/>
              </a:spcAft>
              <a:buClr>
                <a:schemeClr val="dk1"/>
              </a:buClr>
              <a:buSzPts val="1400"/>
              <a:buChar char="○"/>
            </a:pPr>
            <a:r>
              <a:rPr lang="zh-TW" sz="1200">
                <a:solidFill>
                  <a:schemeClr val="dk1"/>
                </a:solidFill>
              </a:rPr>
              <a:t>模型是否能將系統行為、事件或節點做語義層次的嵌入（semantic embedding）。</a:t>
            </a:r>
            <a:endParaRPr sz="1600">
              <a:solidFill>
                <a:schemeClr val="dk1"/>
              </a:solidFill>
            </a:endParaRPr>
          </a:p>
          <a:p>
            <a:pPr indent="-342900" lvl="0" marL="457200" rtl="0" algn="l">
              <a:spcBef>
                <a:spcPts val="0"/>
              </a:spcBef>
              <a:spcAft>
                <a:spcPts val="0"/>
              </a:spcAft>
              <a:buClr>
                <a:schemeClr val="dk1"/>
              </a:buClr>
              <a:buSzPts val="1800"/>
              <a:buChar char="●"/>
            </a:pPr>
            <a:r>
              <a:rPr lang="zh-TW" sz="1600">
                <a:solidFill>
                  <a:schemeClr val="dk1"/>
                </a:solidFill>
              </a:rPr>
              <a:t>Attack Reconstruction</a:t>
            </a:r>
            <a:endParaRPr sz="1600">
              <a:solidFill>
                <a:schemeClr val="dk1"/>
              </a:solidFill>
            </a:endParaRPr>
          </a:p>
          <a:p>
            <a:pPr indent="-317500" lvl="1" marL="914400" rtl="0" algn="l">
              <a:spcBef>
                <a:spcPts val="0"/>
              </a:spcBef>
              <a:spcAft>
                <a:spcPts val="0"/>
              </a:spcAft>
              <a:buClr>
                <a:schemeClr val="dk1"/>
              </a:buClr>
              <a:buSzPts val="1400"/>
              <a:buChar char="○"/>
            </a:pPr>
            <a:r>
              <a:rPr lang="zh-TW" sz="1200">
                <a:solidFill>
                  <a:schemeClr val="dk1"/>
                </a:solidFill>
              </a:rPr>
              <a:t>是否能根據檢測到的事件，把整個攻擊路徑串回來</a:t>
            </a:r>
            <a:endParaRPr sz="1200">
              <a:solidFill>
                <a:schemeClr val="dk1"/>
              </a:solidFill>
            </a:endParaRPr>
          </a:p>
          <a:p>
            <a:pPr indent="-342900" lvl="0" marL="457200" rtl="0" algn="l">
              <a:spcBef>
                <a:spcPts val="0"/>
              </a:spcBef>
              <a:spcAft>
                <a:spcPts val="0"/>
              </a:spcAft>
              <a:buClr>
                <a:schemeClr val="dk1"/>
              </a:buClr>
              <a:buSzPts val="1800"/>
              <a:buChar char="●"/>
            </a:pPr>
            <a:r>
              <a:rPr lang="zh-TW" sz="1600">
                <a:solidFill>
                  <a:schemeClr val="dk1"/>
                </a:solidFill>
              </a:rPr>
              <a:t>Adversarial Robustness</a:t>
            </a:r>
            <a:endParaRPr sz="1600">
              <a:solidFill>
                <a:schemeClr val="dk1"/>
              </a:solidFill>
            </a:endParaRPr>
          </a:p>
          <a:p>
            <a:pPr indent="-317500" lvl="1" marL="914400" rtl="0" algn="l">
              <a:spcBef>
                <a:spcPts val="0"/>
              </a:spcBef>
              <a:spcAft>
                <a:spcPts val="0"/>
              </a:spcAft>
              <a:buClr>
                <a:schemeClr val="dk1"/>
              </a:buClr>
              <a:buSzPts val="1400"/>
              <a:buChar char="○"/>
            </a:pPr>
            <a:r>
              <a:rPr lang="zh-TW" sz="1200">
                <a:solidFill>
                  <a:schemeClr val="dk1"/>
                </a:solidFill>
              </a:rPr>
              <a:t>模型是否能抵禦攻擊者刻意混淆、隱藏或規避偵測的行為（例如投毒、log obfuscation）</a:t>
            </a:r>
            <a:endParaRPr sz="1200">
              <a:solidFill>
                <a:schemeClr val="dk1"/>
              </a:solidFill>
            </a:endParaRPr>
          </a:p>
          <a:p>
            <a:pPr indent="-342900" lvl="0" marL="457200" rtl="0" algn="l">
              <a:spcBef>
                <a:spcPts val="0"/>
              </a:spcBef>
              <a:spcAft>
                <a:spcPts val="0"/>
              </a:spcAft>
              <a:buClr>
                <a:schemeClr val="dk1"/>
              </a:buClr>
              <a:buSzPts val="1800"/>
              <a:buChar char="●"/>
            </a:pPr>
            <a:r>
              <a:rPr lang="zh-TW" sz="1600">
                <a:solidFill>
                  <a:schemeClr val="dk1"/>
                </a:solidFill>
              </a:rPr>
              <a:t>Granularity</a:t>
            </a:r>
            <a:endParaRPr sz="1600">
              <a:solidFill>
                <a:schemeClr val="dk1"/>
              </a:solidFill>
            </a:endParaRPr>
          </a:p>
          <a:p>
            <a:pPr indent="-317500" lvl="1" marL="914400" rtl="0" algn="l">
              <a:spcBef>
                <a:spcPts val="0"/>
              </a:spcBef>
              <a:spcAft>
                <a:spcPts val="0"/>
              </a:spcAft>
              <a:buClr>
                <a:schemeClr val="dk1"/>
              </a:buClr>
              <a:buSzPts val="1400"/>
              <a:buChar char="○"/>
            </a:pPr>
            <a:r>
              <a:rPr lang="zh-TW" sz="1200">
                <a:solidFill>
                  <a:schemeClr val="dk1"/>
                </a:solidFill>
              </a:rPr>
              <a:t>偵測對象的細緻程度</a:t>
            </a:r>
            <a:endParaRPr sz="1200">
              <a:solidFill>
                <a:schemeClr val="dk1"/>
              </a:solidFill>
            </a:endParaRPr>
          </a:p>
        </p:txBody>
      </p:sp>
      <p:pic>
        <p:nvPicPr>
          <p:cNvPr id="130" name="Google Shape;130;p23"/>
          <p:cNvPicPr preferRelativeResize="0"/>
          <p:nvPr/>
        </p:nvPicPr>
        <p:blipFill>
          <a:blip r:embed="rId3">
            <a:alphaModFix/>
          </a:blip>
          <a:stretch>
            <a:fillRect/>
          </a:stretch>
        </p:blipFill>
        <p:spPr>
          <a:xfrm>
            <a:off x="4262475" y="1875400"/>
            <a:ext cx="4544600" cy="2111750"/>
          </a:xfrm>
          <a:prstGeom prst="rect">
            <a:avLst/>
          </a:prstGeom>
          <a:noFill/>
          <a:ln cap="flat" cmpd="sng" w="9525">
            <a:solidFill>
              <a:schemeClr val="dk2"/>
            </a:solidFill>
            <a:prstDash val="solid"/>
            <a:round/>
            <a:headEnd len="sm" w="sm" type="none"/>
            <a:tailEnd len="sm" w="sm" type="none"/>
          </a:ln>
        </p:spPr>
      </p:pic>
      <p:sp>
        <p:nvSpPr>
          <p:cNvPr id="131" name="Google Shape;13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9002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Related Work and Its Limitations - </a:t>
            </a:r>
            <a:r>
              <a:rPr lang="zh-TW" sz="2689"/>
              <a:t>Learning-based approaches</a:t>
            </a:r>
            <a:endParaRPr sz="2689"/>
          </a:p>
        </p:txBody>
      </p:sp>
      <p:sp>
        <p:nvSpPr>
          <p:cNvPr id="137" name="Google Shape;137;p24"/>
          <p:cNvSpPr txBox="1"/>
          <p:nvPr>
            <p:ph idx="1" type="body"/>
          </p:nvPr>
        </p:nvSpPr>
        <p:spPr>
          <a:xfrm>
            <a:off x="266325" y="1223075"/>
            <a:ext cx="38952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zh-TW" sz="1400">
                <a:solidFill>
                  <a:schemeClr val="dk1"/>
                </a:solidFill>
              </a:rPr>
              <a:t>在不同Granularity上，Unicorn 透過圖相似度進行圖級偵測但可能一個警報會波及無辜節點</a:t>
            </a:r>
            <a:endParaRPr sz="1400">
              <a:solidFill>
                <a:schemeClr val="dk1"/>
              </a:solidFill>
            </a:endParaRPr>
          </a:p>
          <a:p>
            <a:pPr indent="-355600" lvl="0" marL="457200" rtl="0" algn="l">
              <a:spcBef>
                <a:spcPts val="0"/>
              </a:spcBef>
              <a:spcAft>
                <a:spcPts val="0"/>
              </a:spcAft>
              <a:buClr>
                <a:schemeClr val="dk1"/>
              </a:buClr>
              <a:buSzPts val="2000"/>
              <a:buChar char="●"/>
            </a:pPr>
            <a:r>
              <a:rPr lang="zh-TW" sz="1400">
                <a:solidFill>
                  <a:schemeClr val="dk1"/>
                </a:solidFill>
              </a:rPr>
              <a:t>ShadeWatcher 以邊為單位建模但受到高計算成本限制；</a:t>
            </a:r>
            <a:endParaRPr sz="1400">
              <a:solidFill>
                <a:schemeClr val="dk1"/>
              </a:solidFill>
            </a:endParaRPr>
          </a:p>
          <a:p>
            <a:pPr indent="-355600" lvl="0" marL="457200" rtl="0" algn="l">
              <a:spcBef>
                <a:spcPts val="0"/>
              </a:spcBef>
              <a:spcAft>
                <a:spcPts val="0"/>
              </a:spcAft>
              <a:buClr>
                <a:schemeClr val="dk1"/>
              </a:buClr>
              <a:buSzPts val="2000"/>
              <a:buChar char="●"/>
            </a:pPr>
            <a:r>
              <a:rPr lang="zh-TW" sz="1400">
                <a:solidFill>
                  <a:schemeClr val="dk1"/>
                </a:solidFill>
              </a:rPr>
              <a:t>FLASH、ThreaTrace 與 MAGIC 等節點級方法雖能有效定位異常節點，但普遍無法處理異質實體資訊，並容易受到鄰近 benign 行為污染 embedding，導致偽裝攻擊（</a:t>
            </a:r>
            <a:r>
              <a:rPr lang="zh-TW" sz="1400">
                <a:solidFill>
                  <a:srgbClr val="FF0000"/>
                </a:solidFill>
              </a:rPr>
              <a:t>benign masquerading</a:t>
            </a:r>
            <a:r>
              <a:rPr lang="zh-TW" sz="1400">
                <a:solidFill>
                  <a:schemeClr val="dk1"/>
                </a:solidFill>
              </a:rPr>
              <a:t>）與對抗逃避問題。</a:t>
            </a:r>
            <a:endParaRPr sz="1400">
              <a:solidFill>
                <a:schemeClr val="dk1"/>
              </a:solidFill>
            </a:endParaRPr>
          </a:p>
        </p:txBody>
      </p:sp>
      <p:pic>
        <p:nvPicPr>
          <p:cNvPr id="138" name="Google Shape;138;p24"/>
          <p:cNvPicPr preferRelativeResize="0"/>
          <p:nvPr/>
        </p:nvPicPr>
        <p:blipFill>
          <a:blip r:embed="rId3">
            <a:alphaModFix/>
          </a:blip>
          <a:stretch>
            <a:fillRect/>
          </a:stretch>
        </p:blipFill>
        <p:spPr>
          <a:xfrm>
            <a:off x="4279100" y="1883125"/>
            <a:ext cx="4527975" cy="2104025"/>
          </a:xfrm>
          <a:prstGeom prst="rect">
            <a:avLst/>
          </a:prstGeom>
          <a:noFill/>
          <a:ln cap="flat" cmpd="sng" w="9525">
            <a:solidFill>
              <a:schemeClr val="dk2"/>
            </a:solidFill>
            <a:prstDash val="solid"/>
            <a:round/>
            <a:headEnd len="sm" w="sm" type="none"/>
            <a:tailEnd len="sm" w="sm" type="none"/>
          </a:ln>
        </p:spPr>
      </p:pic>
      <p:sp>
        <p:nvSpPr>
          <p:cNvPr id="139" name="Google Shape;139;p24"/>
          <p:cNvSpPr/>
          <p:nvPr/>
        </p:nvSpPr>
        <p:spPr>
          <a:xfrm>
            <a:off x="4318775" y="3242775"/>
            <a:ext cx="4404600" cy="744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5"/>
          <p:cNvPicPr preferRelativeResize="0"/>
          <p:nvPr/>
        </p:nvPicPr>
        <p:blipFill>
          <a:blip r:embed="rId3">
            <a:alphaModFix/>
          </a:blip>
          <a:stretch>
            <a:fillRect/>
          </a:stretch>
        </p:blipFill>
        <p:spPr>
          <a:xfrm>
            <a:off x="646683" y="1045950"/>
            <a:ext cx="7850629" cy="3629449"/>
          </a:xfrm>
          <a:prstGeom prst="rect">
            <a:avLst/>
          </a:prstGeom>
          <a:noFill/>
          <a:ln cap="flat" cmpd="sng" w="9525">
            <a:solidFill>
              <a:schemeClr val="dk2"/>
            </a:solidFill>
            <a:prstDash val="solid"/>
            <a:round/>
            <a:headEnd len="sm" w="sm" type="none"/>
            <a:tailEnd len="sm" w="sm" type="none"/>
          </a:ln>
        </p:spPr>
      </p:pic>
      <p:sp>
        <p:nvSpPr>
          <p:cNvPr id="146" name="Google Shape;14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Graph Reinforcement Learning</a:t>
            </a:r>
            <a:endParaRPr/>
          </a:p>
        </p:txBody>
      </p:sp>
      <p:sp>
        <p:nvSpPr>
          <p:cNvPr id="152" name="Google Shape;152;p26"/>
          <p:cNvSpPr txBox="1"/>
          <p:nvPr>
            <p:ph idx="1" type="body"/>
          </p:nvPr>
        </p:nvSpPr>
        <p:spPr>
          <a:xfrm>
            <a:off x="311700" y="1152475"/>
            <a:ext cx="8520600" cy="377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Researchers have found that RL methods enable effective exploration of the </a:t>
            </a:r>
            <a:r>
              <a:rPr lang="zh-TW">
                <a:solidFill>
                  <a:srgbClr val="FF0000"/>
                </a:solidFill>
              </a:rPr>
              <a:t>topological structures</a:t>
            </a:r>
            <a:r>
              <a:rPr lang="zh-TW">
                <a:solidFill>
                  <a:schemeClr val="dk1"/>
                </a:solidFill>
              </a:rPr>
              <a:t> and </a:t>
            </a:r>
            <a:r>
              <a:rPr lang="zh-TW">
                <a:solidFill>
                  <a:srgbClr val="FF0000"/>
                </a:solidFill>
              </a:rPr>
              <a:t>attribute information</a:t>
            </a:r>
            <a:r>
              <a:rPr lang="zh-TW">
                <a:solidFill>
                  <a:schemeClr val="dk1"/>
                </a:solidFill>
              </a:rPr>
              <a:t> of graphs by analyzing key components such as nodes, links, and subgraphs.</a:t>
            </a:r>
            <a:endParaRPr>
              <a:solidFill>
                <a:schemeClr val="dk1"/>
              </a:solidFill>
            </a:endParaRPr>
          </a:p>
          <a:p>
            <a:pPr indent="-342900" lvl="0" marL="457200" rtl="0" algn="l">
              <a:spcBef>
                <a:spcPts val="0"/>
              </a:spcBef>
              <a:spcAft>
                <a:spcPts val="0"/>
              </a:spcAft>
              <a:buClr>
                <a:schemeClr val="dk1"/>
              </a:buClr>
              <a:buSzPts val="1800"/>
              <a:buChar char="●"/>
            </a:pPr>
            <a:r>
              <a:rPr lang="zh-TW" u="sng">
                <a:solidFill>
                  <a:schemeClr val="hlink"/>
                </a:solidFill>
                <a:hlinkClick r:id="rId3"/>
              </a:rPr>
              <a:t>SUGAR </a:t>
            </a:r>
            <a:r>
              <a:rPr lang="zh-TW">
                <a:solidFill>
                  <a:schemeClr val="dk1"/>
                </a:solidFill>
              </a:rPr>
              <a:t>employs </a:t>
            </a:r>
            <a:r>
              <a:rPr lang="zh-TW">
                <a:solidFill>
                  <a:srgbClr val="FF0000"/>
                </a:solidFill>
              </a:rPr>
              <a:t>Q-learning</a:t>
            </a:r>
            <a:r>
              <a:rPr lang="zh-TW">
                <a:solidFill>
                  <a:schemeClr val="dk1"/>
                </a:solidFill>
              </a:rPr>
              <a:t> to adaptively select significant subgraphs to represent discriminative information of the graphs.</a:t>
            </a:r>
            <a:endParaRPr>
              <a:solidFill>
                <a:schemeClr val="dk1"/>
              </a:solidFill>
            </a:endParaRPr>
          </a:p>
          <a:p>
            <a:pPr indent="-342900" lvl="0" marL="457200" rtl="0" algn="l">
              <a:spcBef>
                <a:spcPts val="0"/>
              </a:spcBef>
              <a:spcAft>
                <a:spcPts val="0"/>
              </a:spcAft>
              <a:buClr>
                <a:schemeClr val="dk1"/>
              </a:buClr>
              <a:buSzPts val="1800"/>
              <a:buChar char="●"/>
            </a:pPr>
            <a:r>
              <a:rPr lang="zh-TW" u="sng">
                <a:solidFill>
                  <a:schemeClr val="hlink"/>
                </a:solidFill>
                <a:hlinkClick r:id="rId4"/>
              </a:rPr>
              <a:t>Bachu et al.</a:t>
            </a:r>
            <a:r>
              <a:rPr lang="zh-TW">
                <a:solidFill>
                  <a:schemeClr val="dk1"/>
                </a:solidFill>
              </a:rPr>
              <a:t> develop</a:t>
            </a:r>
            <a:r>
              <a:rPr lang="zh-TW">
                <a:solidFill>
                  <a:srgbClr val="FF0000"/>
                </a:solidFill>
              </a:rPr>
              <a:t> perturbation strategies</a:t>
            </a:r>
            <a:r>
              <a:rPr lang="zh-TW">
                <a:solidFill>
                  <a:schemeClr val="dk1"/>
                </a:solidFill>
              </a:rPr>
              <a:t> for local explanations of graph data by optimizing multi-objective scores.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Other related works [</a:t>
            </a:r>
            <a:r>
              <a:rPr lang="zh-TW" u="sng">
                <a:solidFill>
                  <a:schemeClr val="hlink"/>
                </a:solidFill>
                <a:hlinkClick r:id="rId5"/>
              </a:rPr>
              <a:t>28</a:t>
            </a:r>
            <a:r>
              <a:rPr lang="zh-TW">
                <a:solidFill>
                  <a:schemeClr val="dk1"/>
                </a:solidFill>
              </a:rPr>
              <a:t>, </a:t>
            </a:r>
            <a:r>
              <a:rPr lang="zh-TW" u="sng">
                <a:solidFill>
                  <a:schemeClr val="hlink"/>
                </a:solidFill>
                <a:hlinkClick r:id="rId6"/>
              </a:rPr>
              <a:t>61</a:t>
            </a:r>
            <a:r>
              <a:rPr lang="zh-TW">
                <a:solidFill>
                  <a:schemeClr val="dk1"/>
                </a:solidFill>
              </a:rPr>
              <a:t>] have demonstrated impressive performances in graph representation learning through RL, proving its efficacy in this domain.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But currently, graph reinforcement learning has not yet been attempted in the field of </a:t>
            </a:r>
            <a:r>
              <a:rPr lang="zh-TW">
                <a:solidFill>
                  <a:srgbClr val="FF0000"/>
                </a:solidFill>
              </a:rPr>
              <a:t>log provenance detection</a:t>
            </a:r>
            <a:r>
              <a:rPr lang="zh-TW">
                <a:solidFill>
                  <a:schemeClr val="dk1"/>
                </a:solidFill>
              </a:rPr>
              <a:t>.</a:t>
            </a:r>
            <a:endParaRPr>
              <a:solidFill>
                <a:schemeClr val="dk1"/>
              </a:solidFill>
            </a:endParaRPr>
          </a:p>
        </p:txBody>
      </p:sp>
      <p:sp>
        <p:nvSpPr>
          <p:cNvPr id="153" name="Google Shape;15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Problem Formalization</a:t>
            </a:r>
            <a:endParaRPr/>
          </a:p>
        </p:txBody>
      </p:sp>
      <p:sp>
        <p:nvSpPr>
          <p:cNvPr id="159" name="Google Shape;15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We present real-world attack scenarios from the</a:t>
            </a:r>
            <a:r>
              <a:rPr lang="zh-TW">
                <a:solidFill>
                  <a:schemeClr val="dk1"/>
                </a:solidFill>
              </a:rPr>
              <a:t> </a:t>
            </a:r>
            <a:r>
              <a:rPr lang="zh-TW">
                <a:solidFill>
                  <a:schemeClr val="dk1"/>
                </a:solidFill>
              </a:rPr>
              <a:t>DARPA dataset to highlight the limitations of current provenance based APT detection systems.</a:t>
            </a:r>
            <a:endParaRPr>
              <a:solidFill>
                <a:schemeClr val="dk1"/>
              </a:solidFill>
            </a:endParaRPr>
          </a:p>
          <a:p>
            <a:pPr indent="0" lvl="0" marL="457200" rtl="0" algn="l">
              <a:spcBef>
                <a:spcPts val="1200"/>
              </a:spcBef>
              <a:spcAft>
                <a:spcPts val="0"/>
              </a:spcAft>
              <a:buNone/>
            </a:pPr>
            <a:r>
              <a:rPr lang="zh-TW">
                <a:solidFill>
                  <a:schemeClr val="dk1"/>
                </a:solidFill>
              </a:rPr>
              <a:t>These scenarios demonstrate how existing systems may fail to detect complex and evolving attacks.</a:t>
            </a:r>
            <a:endParaRPr>
              <a:solidFill>
                <a:schemeClr val="dk1"/>
              </a:solidFill>
            </a:endParaRPr>
          </a:p>
          <a:p>
            <a:pPr indent="-342900" lvl="0" marL="457200" rtl="0" algn="l">
              <a:spcBef>
                <a:spcPts val="1200"/>
              </a:spcBef>
              <a:spcAft>
                <a:spcPts val="0"/>
              </a:spcAft>
              <a:buClr>
                <a:schemeClr val="dk1"/>
              </a:buClr>
              <a:buSzPts val="1800"/>
              <a:buChar char="●"/>
            </a:pPr>
            <a:r>
              <a:rPr lang="zh-TW">
                <a:solidFill>
                  <a:schemeClr val="dk1"/>
                </a:solidFill>
              </a:rPr>
              <a:t>We also define the specific threat scenarios that the Slot system aims to address, focusing on improving detection accuracy, reducing false positives, and enhancing response times.</a:t>
            </a:r>
            <a:endParaRPr>
              <a:solidFill>
                <a:schemeClr val="dk1"/>
              </a:solidFill>
            </a:endParaRPr>
          </a:p>
        </p:txBody>
      </p:sp>
      <p:sp>
        <p:nvSpPr>
          <p:cNvPr id="160" name="Google Shape;16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Attack Scenario</a:t>
            </a:r>
            <a:endParaRPr/>
          </a:p>
        </p:txBody>
      </p:sp>
      <p:sp>
        <p:nvSpPr>
          <p:cNvPr id="166" name="Google Shape;16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28"/>
          <p:cNvPicPr preferRelativeResize="0"/>
          <p:nvPr/>
        </p:nvPicPr>
        <p:blipFill>
          <a:blip r:embed="rId3">
            <a:alphaModFix/>
          </a:blip>
          <a:stretch>
            <a:fillRect/>
          </a:stretch>
        </p:blipFill>
        <p:spPr>
          <a:xfrm>
            <a:off x="646683" y="1045950"/>
            <a:ext cx="7850629" cy="3629449"/>
          </a:xfrm>
          <a:prstGeom prst="rect">
            <a:avLst/>
          </a:prstGeom>
          <a:noFill/>
          <a:ln cap="flat" cmpd="sng" w="9525">
            <a:solidFill>
              <a:schemeClr val="dk2"/>
            </a:solidFill>
            <a:prstDash val="solid"/>
            <a:round/>
            <a:headEnd len="sm" w="sm" type="none"/>
            <a:tailEnd len="sm" w="sm" type="none"/>
          </a:ln>
        </p:spPr>
      </p:pic>
      <p:sp>
        <p:nvSpPr>
          <p:cNvPr id="168" name="Google Shape;168;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Threat Model</a:t>
            </a:r>
            <a:endParaRPr/>
          </a:p>
        </p:txBody>
      </p:sp>
      <p:sp>
        <p:nvSpPr>
          <p:cNvPr id="174" name="Google Shape;174;p29"/>
          <p:cNvSpPr txBox="1"/>
          <p:nvPr>
            <p:ph idx="1" type="body"/>
          </p:nvPr>
        </p:nvSpPr>
        <p:spPr>
          <a:xfrm>
            <a:off x="311700" y="1152475"/>
            <a:ext cx="8751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Our study focuses on scenarios where attackers exploit </a:t>
            </a:r>
            <a:r>
              <a:rPr lang="zh-TW">
                <a:solidFill>
                  <a:srgbClr val="FF0000"/>
                </a:solidFill>
              </a:rPr>
              <a:t>software </a:t>
            </a:r>
            <a:r>
              <a:rPr lang="zh-TW">
                <a:solidFill>
                  <a:srgbClr val="FF0000"/>
                </a:solidFill>
              </a:rPr>
              <a:t>v</a:t>
            </a:r>
            <a:r>
              <a:rPr lang="zh-TW">
                <a:solidFill>
                  <a:srgbClr val="FF0000"/>
                </a:solidFill>
              </a:rPr>
              <a:t>ulnerabilities</a:t>
            </a:r>
            <a:r>
              <a:rPr lang="zh-TW">
                <a:solidFill>
                  <a:schemeClr val="dk1"/>
                </a:solidFill>
              </a:rPr>
              <a:t> and </a:t>
            </a:r>
            <a:r>
              <a:rPr lang="zh-TW">
                <a:solidFill>
                  <a:srgbClr val="FF0000"/>
                </a:solidFill>
              </a:rPr>
              <a:t>communication backdoors</a:t>
            </a:r>
            <a:r>
              <a:rPr lang="zh-TW">
                <a:solidFill>
                  <a:schemeClr val="dk1"/>
                </a:solidFill>
              </a:rPr>
              <a:t> for system control and persistence.</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exclude </a:t>
            </a:r>
            <a:r>
              <a:rPr lang="zh-TW">
                <a:solidFill>
                  <a:srgbClr val="FF0000"/>
                </a:solidFill>
              </a:rPr>
              <a:t>hardware trojans</a:t>
            </a:r>
            <a:r>
              <a:rPr lang="zh-TW">
                <a:solidFill>
                  <a:schemeClr val="dk1"/>
                </a:solidFill>
              </a:rPr>
              <a:t> and </a:t>
            </a:r>
            <a:r>
              <a:rPr lang="zh-TW">
                <a:solidFill>
                  <a:srgbClr val="FF0000"/>
                </a:solidFill>
              </a:rPr>
              <a:t>side-channel</a:t>
            </a:r>
            <a:r>
              <a:rPr lang="zh-TW">
                <a:solidFill>
                  <a:schemeClr val="dk1"/>
                </a:solidFill>
              </a:rPr>
              <a:t> attacks,which are </a:t>
            </a:r>
            <a:r>
              <a:rPr lang="zh-TW">
                <a:solidFill>
                  <a:schemeClr val="dk1"/>
                </a:solidFill>
              </a:rPr>
              <a:t>u</a:t>
            </a:r>
            <a:r>
              <a:rPr lang="zh-TW">
                <a:solidFill>
                  <a:schemeClr val="dk1"/>
                </a:solidFill>
              </a:rPr>
              <a:t>ndetectable through system audits.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assume attackers know the target hosts’ benign activities, enabling mimicry attacks.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consider audit log data secure, supported by robust security tracing and anti-tampering, making our provenance graphs reliable for effective threat detection and analysis.</a:t>
            </a:r>
            <a:endParaRPr>
              <a:solidFill>
                <a:schemeClr val="dk1"/>
              </a:solidFill>
            </a:endParaRPr>
          </a:p>
        </p:txBody>
      </p:sp>
      <p:sp>
        <p:nvSpPr>
          <p:cNvPr id="175" name="Google Shape;17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Design Goals</a:t>
            </a:r>
            <a:endParaRPr/>
          </a:p>
        </p:txBody>
      </p:sp>
      <p:sp>
        <p:nvSpPr>
          <p:cNvPr id="181" name="Google Shape;18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For the complex multi-stage characteristics of APT attacks, Slot must have precise detection capabilities to identify attack-related entities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Amid vast volumes of logs, Slot should maintain a low false positive rate to prevent alert fatigue</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In the face of highly covert adversarial attacks, Slot must be highly robust, capable of dealing with attackers’ camouflaging behaviors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Finally, Slot should provide security analysts with more streamlined and effective traceable analysis results, enabling the validation of alarm events within a reasonable time cost.</a:t>
            </a:r>
            <a:endParaRPr>
              <a:solidFill>
                <a:schemeClr val="dk1"/>
              </a:solidFill>
            </a:endParaRPr>
          </a:p>
        </p:txBody>
      </p:sp>
      <p:sp>
        <p:nvSpPr>
          <p:cNvPr id="182" name="Google Shape;18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overview</a:t>
            </a:r>
            <a:endParaRPr/>
          </a:p>
        </p:txBody>
      </p:sp>
      <p:sp>
        <p:nvSpPr>
          <p:cNvPr id="188" name="Google Shape;188;p31"/>
          <p:cNvSpPr txBox="1"/>
          <p:nvPr>
            <p:ph idx="1" type="body"/>
          </p:nvPr>
        </p:nvSpPr>
        <p:spPr>
          <a:xfrm>
            <a:off x="311700" y="1152475"/>
            <a:ext cx="8707200" cy="3908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b="1" lang="zh-TW">
                <a:solidFill>
                  <a:schemeClr val="dk1"/>
                </a:solidFill>
              </a:rPr>
              <a:t>Graph Construction</a:t>
            </a:r>
            <a:r>
              <a:rPr lang="zh-TW">
                <a:solidFill>
                  <a:schemeClr val="dk1"/>
                </a:solidFill>
              </a:rPr>
              <a:t> </a:t>
            </a:r>
            <a:endParaRPr>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Slot constructs a graph based on entity relationships from system call logs and extracts semantic information from the logs as initial features for the nodes.</a:t>
            </a:r>
            <a:endParaRPr sz="1600">
              <a:solidFill>
                <a:schemeClr val="dk1"/>
              </a:solidFill>
            </a:endParaRPr>
          </a:p>
          <a:p>
            <a:pPr indent="-342900" lvl="0" marL="457200" rtl="0" algn="l">
              <a:spcBef>
                <a:spcPts val="0"/>
              </a:spcBef>
              <a:spcAft>
                <a:spcPts val="0"/>
              </a:spcAft>
              <a:buClr>
                <a:schemeClr val="dk1"/>
              </a:buClr>
              <a:buSzPts val="1800"/>
              <a:buAutoNum type="arabicPeriod"/>
            </a:pPr>
            <a:r>
              <a:rPr b="1" lang="zh-TW">
                <a:solidFill>
                  <a:schemeClr val="dk1"/>
                </a:solidFill>
              </a:rPr>
              <a:t>Latent Behavior Mining</a:t>
            </a:r>
            <a:endParaRPr b="1">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It combined system call relationships to construct deeper path connections. This approach enriches event behaviors and accelerates the propagation of information within the graph.</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zh-TW" sz="1600">
                <a:solidFill>
                  <a:schemeClr val="dk1"/>
                </a:solidFill>
              </a:rPr>
              <a:t>Embedding with Graph Reinforcement Learning</a:t>
            </a:r>
            <a:endParaRPr b="1" sz="1600">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Slot combines the semantic features and the topological features of nodes to calculate the similarity between entities in the provenance graph.</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It uses a reinforcement learning strategy to guide the selection and aggregation of relationships in the GNN based on this similarity</a:t>
            </a:r>
            <a:endParaRPr>
              <a:solidFill>
                <a:schemeClr val="dk1"/>
              </a:solidFill>
            </a:endParaRPr>
          </a:p>
        </p:txBody>
      </p:sp>
      <p:sp>
        <p:nvSpPr>
          <p:cNvPr id="189" name="Google Shape;18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Methodology - overview</a:t>
            </a:r>
            <a:endParaRPr/>
          </a:p>
          <a:p>
            <a:pPr indent="0" lvl="0" marL="0" rtl="0" algn="l">
              <a:spcBef>
                <a:spcPts val="0"/>
              </a:spcBef>
              <a:spcAft>
                <a:spcPts val="0"/>
              </a:spcAft>
              <a:buNone/>
            </a:pPr>
            <a:r>
              <a:t/>
            </a:r>
            <a:endParaRPr/>
          </a:p>
        </p:txBody>
      </p:sp>
      <p:sp>
        <p:nvSpPr>
          <p:cNvPr id="195" name="Google Shape;19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startAt="4"/>
            </a:pPr>
            <a:r>
              <a:rPr b="1" lang="zh-TW">
                <a:solidFill>
                  <a:schemeClr val="dk1"/>
                </a:solidFill>
              </a:rPr>
              <a:t>Threats Detection</a:t>
            </a:r>
            <a:endParaRPr b="1">
              <a:solidFill>
                <a:schemeClr val="dk1"/>
              </a:solidFill>
            </a:endParaRPr>
          </a:p>
          <a:p>
            <a:pPr indent="-317500" lvl="1" marL="914400" rtl="0" algn="l">
              <a:spcBef>
                <a:spcPts val="0"/>
              </a:spcBef>
              <a:spcAft>
                <a:spcPts val="0"/>
              </a:spcAft>
              <a:buClr>
                <a:schemeClr val="dk1"/>
              </a:buClr>
              <a:buSzPts val="1400"/>
              <a:buAutoNum type="alphaLcPeriod"/>
            </a:pPr>
            <a:r>
              <a:rPr lang="zh-TW" sz="1600">
                <a:solidFill>
                  <a:schemeClr val="dk1"/>
                </a:solidFill>
              </a:rPr>
              <a:t>To address unknown behaviors in APT attacks, Slot uses anomaly detection to identify entities that deviate from known behavior patterns.</a:t>
            </a:r>
            <a:endParaRPr sz="1600">
              <a:solidFill>
                <a:schemeClr val="dk1"/>
              </a:solidFill>
            </a:endParaRPr>
          </a:p>
          <a:p>
            <a:pPr indent="-342900" lvl="0" marL="457200" rtl="0" algn="l">
              <a:spcBef>
                <a:spcPts val="0"/>
              </a:spcBef>
              <a:spcAft>
                <a:spcPts val="0"/>
              </a:spcAft>
              <a:buClr>
                <a:schemeClr val="dk1"/>
              </a:buClr>
              <a:buSzPts val="1800"/>
              <a:buAutoNum type="arabicPeriod" startAt="4"/>
            </a:pPr>
            <a:r>
              <a:rPr b="1" lang="zh-TW">
                <a:solidFill>
                  <a:schemeClr val="dk1"/>
                </a:solidFill>
              </a:rPr>
              <a:t>Attack-chain Reconstruction</a:t>
            </a:r>
            <a:endParaRPr b="1">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Slot classifies attack nodes into different attack chains by clustering, using the TTP (Tactics, Techniques, and Procedures) phase tags from the ATT&amp;CK framework along with the feature embeddings of the nodes.</a:t>
            </a:r>
            <a:endParaRPr sz="1600">
              <a:solidFill>
                <a:schemeClr val="dk1"/>
              </a:solidFill>
            </a:endParaRPr>
          </a:p>
        </p:txBody>
      </p:sp>
      <p:sp>
        <p:nvSpPr>
          <p:cNvPr id="196" name="Google Shape;19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311700" y="445025"/>
            <a:ext cx="8520600" cy="88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Graph Construction &amp; </a:t>
            </a:r>
            <a:r>
              <a:rPr lang="zh-TW"/>
              <a:t>Latent Behavior Mining</a:t>
            </a:r>
            <a:endParaRPr/>
          </a:p>
          <a:p>
            <a:pPr indent="0" lvl="0" marL="0" rtl="0" algn="l">
              <a:spcBef>
                <a:spcPts val="0"/>
              </a:spcBef>
              <a:spcAft>
                <a:spcPts val="0"/>
              </a:spcAft>
              <a:buNone/>
            </a:pPr>
            <a:r>
              <a:t/>
            </a:r>
            <a:endParaRPr/>
          </a:p>
        </p:txBody>
      </p:sp>
      <p:sp>
        <p:nvSpPr>
          <p:cNvPr id="202" name="Google Shape;202;p33"/>
          <p:cNvSpPr txBox="1"/>
          <p:nvPr>
            <p:ph idx="1" type="body"/>
          </p:nvPr>
        </p:nvSpPr>
        <p:spPr>
          <a:xfrm>
            <a:off x="311700" y="1381700"/>
            <a:ext cx="4081800" cy="3327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zh-TW">
                <a:solidFill>
                  <a:schemeClr val="dk1"/>
                </a:solidFill>
              </a:rPr>
              <a:t>將audit log透過Word2Vec轉成embedding</a:t>
            </a:r>
            <a:endParaRPr>
              <a:solidFill>
                <a:schemeClr val="dk1"/>
              </a:solidFill>
            </a:endParaRPr>
          </a:p>
          <a:p>
            <a:pPr indent="-342900" lvl="0" marL="457200" rtl="0" algn="l">
              <a:spcBef>
                <a:spcPts val="0"/>
              </a:spcBef>
              <a:spcAft>
                <a:spcPts val="0"/>
              </a:spcAft>
              <a:buClr>
                <a:schemeClr val="dk1"/>
              </a:buClr>
              <a:buSzPts val="1800"/>
              <a:buAutoNum type="arabicPeriod"/>
            </a:pPr>
            <a:r>
              <a:rPr lang="zh-TW">
                <a:solidFill>
                  <a:schemeClr val="dk1"/>
                </a:solidFill>
              </a:rPr>
              <a:t>將Relation Embedding轉成Path Embedding</a:t>
            </a:r>
            <a:endParaRPr>
              <a:solidFill>
                <a:schemeClr val="dk1"/>
              </a:solidFill>
            </a:endParaRPr>
          </a:p>
          <a:p>
            <a:pPr indent="-317500" lvl="1" marL="914400" rtl="0" algn="l">
              <a:spcBef>
                <a:spcPts val="0"/>
              </a:spcBef>
              <a:spcAft>
                <a:spcPts val="0"/>
              </a:spcAft>
              <a:buClr>
                <a:schemeClr val="dk1"/>
              </a:buClr>
              <a:buSzPts val="1400"/>
              <a:buAutoNum type="alphaLcPeriod"/>
            </a:pPr>
            <a:r>
              <a:rPr lang="zh-TW">
                <a:solidFill>
                  <a:schemeClr val="dk1"/>
                </a:solidFill>
              </a:rPr>
              <a:t>傳統圖神經網路只能直接傳遞one hop的鄰居節點資訊，導致遠距節點的依賴關係（multi-hop）難以捕捉。</a:t>
            </a:r>
            <a:endParaRPr>
              <a:solidFill>
                <a:schemeClr val="dk1"/>
              </a:solidFill>
            </a:endParaRPr>
          </a:p>
          <a:p>
            <a:pPr indent="-317500" lvl="1" marL="914400" rtl="0" algn="l">
              <a:spcBef>
                <a:spcPts val="0"/>
              </a:spcBef>
              <a:spcAft>
                <a:spcPts val="0"/>
              </a:spcAft>
              <a:buClr>
                <a:schemeClr val="dk1"/>
              </a:buClr>
              <a:buSzPts val="1400"/>
              <a:buAutoNum type="alphaLcPeriod"/>
            </a:pPr>
            <a:r>
              <a:rPr lang="zh-TW">
                <a:solidFill>
                  <a:schemeClr val="dk1"/>
                </a:solidFill>
              </a:rPr>
              <a:t>為了解決這個問題，SLOT 引入了 Latent Relation Mining Module，讓模型能自動建構跨多跳節點的隱含關係。</a:t>
            </a:r>
            <a:endParaRPr>
              <a:solidFill>
                <a:schemeClr val="dk1"/>
              </a:solidFill>
            </a:endParaRPr>
          </a:p>
        </p:txBody>
      </p:sp>
      <p:sp>
        <p:nvSpPr>
          <p:cNvPr id="203" name="Google Shape;20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04" name="Google Shape;204;p33"/>
          <p:cNvPicPr preferRelativeResize="0"/>
          <p:nvPr/>
        </p:nvPicPr>
        <p:blipFill>
          <a:blip r:embed="rId3">
            <a:alphaModFix/>
          </a:blip>
          <a:stretch>
            <a:fillRect/>
          </a:stretch>
        </p:blipFill>
        <p:spPr>
          <a:xfrm>
            <a:off x="4548875" y="1916150"/>
            <a:ext cx="4283426" cy="22196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a:t>
            </a:r>
            <a:r>
              <a:rPr lang="zh-TW"/>
              <a:t>Graph Construction</a:t>
            </a:r>
            <a:endParaRPr/>
          </a:p>
        </p:txBody>
      </p:sp>
      <p:sp>
        <p:nvSpPr>
          <p:cNvPr id="210" name="Google Shape;210;p34"/>
          <p:cNvSpPr txBox="1"/>
          <p:nvPr>
            <p:ph idx="1" type="body"/>
          </p:nvPr>
        </p:nvSpPr>
        <p:spPr>
          <a:xfrm>
            <a:off x="311700" y="1152475"/>
            <a:ext cx="8520600" cy="18627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zh-TW">
                <a:solidFill>
                  <a:schemeClr val="dk1"/>
                </a:solidFill>
              </a:rPr>
              <a:t>Slot constructs a comprehensive system provenance graph using audit data collected from logging infrastructures such as </a:t>
            </a:r>
            <a:r>
              <a:rPr lang="zh-TW">
                <a:solidFill>
                  <a:srgbClr val="FF0000"/>
                </a:solidFill>
              </a:rPr>
              <a:t>Windows ETW</a:t>
            </a:r>
            <a:r>
              <a:rPr lang="zh-TW">
                <a:solidFill>
                  <a:schemeClr val="dk1"/>
                </a:solidFill>
              </a:rPr>
              <a:t>, </a:t>
            </a:r>
            <a:r>
              <a:rPr lang="zh-TW">
                <a:solidFill>
                  <a:srgbClr val="FF0000"/>
                </a:solidFill>
              </a:rPr>
              <a:t>Linux Audit</a:t>
            </a:r>
            <a:r>
              <a:rPr lang="zh-TW">
                <a:solidFill>
                  <a:schemeClr val="dk1"/>
                </a:solidFill>
              </a:rPr>
              <a:t>, and </a:t>
            </a:r>
            <a:r>
              <a:rPr lang="zh-TW">
                <a:solidFill>
                  <a:srgbClr val="FF0000"/>
                </a:solidFill>
              </a:rPr>
              <a:t>CamFlow</a:t>
            </a:r>
            <a:r>
              <a:rPr lang="zh-TW">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It adheres to the existing definitions of provenance graphs and employs recent graph preprocessing techniques, abstracting events into subjects, objects, and relationships, as Table 2.</a:t>
            </a:r>
            <a:endParaRPr>
              <a:solidFill>
                <a:schemeClr val="dk1"/>
              </a:solidFill>
            </a:endParaRPr>
          </a:p>
        </p:txBody>
      </p:sp>
      <p:pic>
        <p:nvPicPr>
          <p:cNvPr id="211" name="Google Shape;211;p34"/>
          <p:cNvPicPr preferRelativeResize="0"/>
          <p:nvPr/>
        </p:nvPicPr>
        <p:blipFill>
          <a:blip r:embed="rId3">
            <a:alphaModFix/>
          </a:blip>
          <a:stretch>
            <a:fillRect/>
          </a:stretch>
        </p:blipFill>
        <p:spPr>
          <a:xfrm>
            <a:off x="3227963" y="3143250"/>
            <a:ext cx="6086475" cy="2000250"/>
          </a:xfrm>
          <a:prstGeom prst="rect">
            <a:avLst/>
          </a:prstGeom>
          <a:noFill/>
          <a:ln cap="flat" cmpd="sng" w="9525">
            <a:solidFill>
              <a:schemeClr val="dk2"/>
            </a:solidFill>
            <a:prstDash val="solid"/>
            <a:round/>
            <a:headEnd len="sm" w="sm" type="none"/>
            <a:tailEnd len="sm" w="sm" type="none"/>
          </a:ln>
        </p:spPr>
      </p:pic>
      <p:sp>
        <p:nvSpPr>
          <p:cNvPr id="212" name="Google Shape;212;p34"/>
          <p:cNvSpPr txBox="1"/>
          <p:nvPr/>
        </p:nvSpPr>
        <p:spPr>
          <a:xfrm>
            <a:off x="311700" y="3214700"/>
            <a:ext cx="27990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zh-TW" sz="1800"/>
              <a:t>Slot further enriches the relationships between behaviors and explores </a:t>
            </a:r>
            <a:r>
              <a:rPr lang="zh-TW" sz="1800">
                <a:solidFill>
                  <a:srgbClr val="FF0000"/>
                </a:solidFill>
              </a:rPr>
              <a:t>multi-hop latent relations</a:t>
            </a:r>
            <a:r>
              <a:rPr lang="zh-TW" sz="1800"/>
              <a:t>.</a:t>
            </a:r>
            <a:endParaRPr sz="1800"/>
          </a:p>
        </p:txBody>
      </p:sp>
      <p:sp>
        <p:nvSpPr>
          <p:cNvPr id="213" name="Google Shape;21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Methodology - Latent Behavior Mining</a:t>
            </a:r>
            <a:endParaRPr/>
          </a:p>
        </p:txBody>
      </p:sp>
      <p:sp>
        <p:nvSpPr>
          <p:cNvPr id="219" name="Google Shape;219;p35"/>
          <p:cNvSpPr txBox="1"/>
          <p:nvPr>
            <p:ph idx="1" type="body"/>
          </p:nvPr>
        </p:nvSpPr>
        <p:spPr>
          <a:xfrm>
            <a:off x="311700" y="1320850"/>
            <a:ext cx="449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A complete user behavior or attack campaign typically involves multiple system calls, which manifest as multi-hop node relationships in provenance graphs.</a:t>
            </a:r>
            <a:endParaRPr>
              <a:solidFill>
                <a:schemeClr val="dk1"/>
              </a:solidFill>
            </a:endParaRPr>
          </a:p>
        </p:txBody>
      </p:sp>
      <p:pic>
        <p:nvPicPr>
          <p:cNvPr id="220" name="Google Shape;220;p35"/>
          <p:cNvPicPr preferRelativeResize="0"/>
          <p:nvPr/>
        </p:nvPicPr>
        <p:blipFill rotWithShape="1">
          <a:blip r:embed="rId3">
            <a:alphaModFix/>
          </a:blip>
          <a:srcRect b="25490" l="4932" r="47648" t="0"/>
          <a:stretch/>
        </p:blipFill>
        <p:spPr>
          <a:xfrm>
            <a:off x="5395347" y="1012025"/>
            <a:ext cx="3484166" cy="2915250"/>
          </a:xfrm>
          <a:prstGeom prst="rect">
            <a:avLst/>
          </a:prstGeom>
          <a:noFill/>
          <a:ln cap="flat" cmpd="sng" w="9525">
            <a:solidFill>
              <a:schemeClr val="dk2"/>
            </a:solidFill>
            <a:prstDash val="solid"/>
            <a:round/>
            <a:headEnd len="sm" w="sm" type="none"/>
            <a:tailEnd len="sm" w="sm" type="none"/>
          </a:ln>
        </p:spPr>
      </p:pic>
      <p:pic>
        <p:nvPicPr>
          <p:cNvPr id="221" name="Google Shape;221;p35"/>
          <p:cNvPicPr preferRelativeResize="0"/>
          <p:nvPr/>
        </p:nvPicPr>
        <p:blipFill>
          <a:blip r:embed="rId4">
            <a:alphaModFix/>
          </a:blip>
          <a:stretch>
            <a:fillRect/>
          </a:stretch>
        </p:blipFill>
        <p:spPr>
          <a:xfrm>
            <a:off x="1106113" y="2863838"/>
            <a:ext cx="2693072" cy="864537"/>
          </a:xfrm>
          <a:prstGeom prst="rect">
            <a:avLst/>
          </a:prstGeom>
          <a:noFill/>
          <a:ln cap="flat" cmpd="sng" w="9525">
            <a:solidFill>
              <a:schemeClr val="dk2"/>
            </a:solidFill>
            <a:prstDash val="solid"/>
            <a:round/>
            <a:headEnd len="sm" w="sm" type="none"/>
            <a:tailEnd len="sm" w="sm" type="none"/>
          </a:ln>
        </p:spPr>
      </p:pic>
      <p:sp>
        <p:nvSpPr>
          <p:cNvPr id="222" name="Google Shape;222;p35"/>
          <p:cNvSpPr txBox="1"/>
          <p:nvPr/>
        </p:nvSpPr>
        <p:spPr>
          <a:xfrm>
            <a:off x="346350" y="3974175"/>
            <a:ext cx="5049000" cy="11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rᵢ : </a:t>
            </a:r>
            <a:r>
              <a:rPr lang="zh-TW" sz="1600">
                <a:solidFill>
                  <a:schemeClr val="dk1"/>
                </a:solidFill>
              </a:rPr>
              <a:t>第 i 個基本行為</a:t>
            </a:r>
            <a:r>
              <a:rPr lang="zh-TW" sz="1600">
                <a:solidFill>
                  <a:schemeClr val="dk1"/>
                </a:solidFill>
              </a:rPr>
              <a:t>（例如 process create、file write）</a:t>
            </a:r>
            <a:endParaRPr sz="1600">
              <a:solidFill>
                <a:schemeClr val="dk1"/>
              </a:solidFill>
            </a:endParaRPr>
          </a:p>
          <a:p>
            <a:pPr indent="0" lvl="0" marL="0" rtl="0" algn="l">
              <a:spcBef>
                <a:spcPts val="0"/>
              </a:spcBef>
              <a:spcAft>
                <a:spcPts val="0"/>
              </a:spcAft>
              <a:buNone/>
            </a:pPr>
            <a:r>
              <a:rPr lang="zh-TW" sz="1600">
                <a:solidFill>
                  <a:schemeClr val="dk1"/>
                </a:solidFill>
              </a:rPr>
              <a:t>rⱼ</a:t>
            </a:r>
            <a:r>
              <a:rPr lang="zh-TW" sz="1600">
                <a:solidFill>
                  <a:schemeClr val="dk1"/>
                </a:solidFill>
              </a:rPr>
              <a:t> </a:t>
            </a:r>
            <a:r>
              <a:rPr lang="zh-TW" sz="1800">
                <a:solidFill>
                  <a:schemeClr val="dk1"/>
                </a:solidFill>
              </a:rPr>
              <a:t>: </a:t>
            </a:r>
            <a:r>
              <a:rPr lang="zh-TW" sz="1600">
                <a:solidFill>
                  <a:schemeClr val="dk1"/>
                </a:solidFill>
              </a:rPr>
              <a:t>候選要接在rᵢ之後的行為</a:t>
            </a:r>
            <a:endParaRPr sz="1600">
              <a:solidFill>
                <a:schemeClr val="dk1"/>
              </a:solidFill>
            </a:endParaRPr>
          </a:p>
          <a:p>
            <a:pPr indent="0" lvl="0" marL="0" rtl="0" algn="l">
              <a:spcBef>
                <a:spcPts val="0"/>
              </a:spcBef>
              <a:spcAft>
                <a:spcPts val="0"/>
              </a:spcAft>
              <a:buNone/>
            </a:pPr>
            <a:r>
              <a:rPr lang="zh-TW" sz="1600">
                <a:solidFill>
                  <a:schemeClr val="dk1"/>
                </a:solidFill>
              </a:rPr>
              <a:t>Wₗ：第 l 個 hop 的線性變換矩陣</a:t>
            </a:r>
            <a:endParaRPr sz="1600">
              <a:solidFill>
                <a:schemeClr val="dk1"/>
              </a:solidFill>
            </a:endParaRPr>
          </a:p>
          <a:p>
            <a:pPr indent="0" lvl="0" marL="0" rtl="0" algn="l">
              <a:spcBef>
                <a:spcPts val="0"/>
              </a:spcBef>
              <a:spcAft>
                <a:spcPts val="0"/>
              </a:spcAft>
              <a:buNone/>
            </a:pPr>
            <a:r>
              <a:rPr lang="zh-TW" sz="1600">
                <a:solidFill>
                  <a:schemeClr val="dk1"/>
                </a:solidFill>
              </a:rPr>
              <a:t>bₗ：第 l 個 hop 的偏置項（bias）</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
        <p:nvSpPr>
          <p:cNvPr id="223" name="Google Shape;223;p35"/>
          <p:cNvSpPr txBox="1"/>
          <p:nvPr/>
        </p:nvSpPr>
        <p:spPr>
          <a:xfrm>
            <a:off x="5395350" y="3974175"/>
            <a:ext cx="3000000" cy="8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600"/>
              <a:t>𝜎</a:t>
            </a:r>
            <a:r>
              <a:rPr lang="zh-TW" sz="1600">
                <a:solidFill>
                  <a:schemeClr val="dk1"/>
                </a:solidFill>
              </a:rPr>
              <a:t>：softmax function</a:t>
            </a:r>
            <a:r>
              <a:rPr lang="zh-TW" sz="1600"/>
              <a:t>  </a:t>
            </a:r>
            <a:endParaRPr sz="1600"/>
          </a:p>
        </p:txBody>
      </p:sp>
      <p:sp>
        <p:nvSpPr>
          <p:cNvPr id="224" name="Google Shape;22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TW"/>
              <a:t>Methodology - Latent Behavior Mining</a:t>
            </a:r>
            <a:endParaRPr/>
          </a:p>
          <a:p>
            <a:pPr indent="0" lvl="0" marL="0" rtl="0" algn="l">
              <a:spcBef>
                <a:spcPts val="0"/>
              </a:spcBef>
              <a:spcAft>
                <a:spcPts val="0"/>
              </a:spcAft>
              <a:buNone/>
            </a:pPr>
            <a:r>
              <a:t/>
            </a:r>
            <a:endParaRPr/>
          </a:p>
        </p:txBody>
      </p:sp>
      <p:sp>
        <p:nvSpPr>
          <p:cNvPr id="230" name="Google Shape;230;p36"/>
          <p:cNvSpPr txBox="1"/>
          <p:nvPr>
            <p:ph idx="1" type="body"/>
          </p:nvPr>
        </p:nvSpPr>
        <p:spPr>
          <a:xfrm>
            <a:off x="311700" y="1320850"/>
            <a:ext cx="449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solidFill>
                  <a:schemeClr val="dk1"/>
                </a:solidFill>
              </a:rPr>
              <a:t>A complete user behavior or attack campaign typically involves multiple system calls, which manifest as multi-hop node relationships in provenance graphs.</a:t>
            </a:r>
            <a:endParaRPr>
              <a:solidFill>
                <a:schemeClr val="dk1"/>
              </a:solidFill>
            </a:endParaRPr>
          </a:p>
        </p:txBody>
      </p:sp>
      <p:sp>
        <p:nvSpPr>
          <p:cNvPr id="231" name="Google Shape;231;p36"/>
          <p:cNvSpPr txBox="1"/>
          <p:nvPr/>
        </p:nvSpPr>
        <p:spPr>
          <a:xfrm>
            <a:off x="311700" y="3391988"/>
            <a:ext cx="4372800" cy="11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800">
                <a:solidFill>
                  <a:schemeClr val="dk1"/>
                </a:solidFill>
              </a:rPr>
              <a:t>rᵢₗ: attention結果的總和</a:t>
            </a:r>
            <a:endParaRPr sz="1800">
              <a:solidFill>
                <a:schemeClr val="dk1"/>
              </a:solidFill>
            </a:endParaRPr>
          </a:p>
          <a:p>
            <a:pPr indent="0" lvl="0" marL="0" rtl="0" algn="l">
              <a:spcBef>
                <a:spcPts val="0"/>
              </a:spcBef>
              <a:spcAft>
                <a:spcPts val="0"/>
              </a:spcAft>
              <a:buNone/>
            </a:pPr>
            <a:r>
              <a:rPr lang="zh-TW" sz="1800">
                <a:solidFill>
                  <a:schemeClr val="dk1"/>
                </a:solidFill>
              </a:rPr>
              <a:t>rᵢ : </a:t>
            </a:r>
            <a:r>
              <a:rPr lang="zh-TW" sz="1600">
                <a:solidFill>
                  <a:schemeClr val="dk1"/>
                </a:solidFill>
              </a:rPr>
              <a:t>第 i 個基本行為</a:t>
            </a:r>
            <a:endParaRPr sz="1600">
              <a:solidFill>
                <a:schemeClr val="dk1"/>
              </a:solidFill>
            </a:endParaRPr>
          </a:p>
          <a:p>
            <a:pPr indent="0" lvl="0" marL="0" rtl="0" algn="l">
              <a:spcBef>
                <a:spcPts val="0"/>
              </a:spcBef>
              <a:spcAft>
                <a:spcPts val="0"/>
              </a:spcAft>
              <a:buNone/>
            </a:pPr>
            <a:r>
              <a:rPr lang="zh-TW" sz="1600">
                <a:solidFill>
                  <a:schemeClr val="dk1"/>
                </a:solidFill>
              </a:rPr>
              <a:t>E </a:t>
            </a:r>
            <a:r>
              <a:rPr lang="zh-TW" sz="1800">
                <a:solidFill>
                  <a:schemeClr val="dk1"/>
                </a:solidFill>
              </a:rPr>
              <a:t>: the matrix of entity embeddings</a:t>
            </a:r>
            <a:endParaRPr sz="1600">
              <a:solidFill>
                <a:schemeClr val="dk1"/>
              </a:solidFill>
            </a:endParaRPr>
          </a:p>
          <a:p>
            <a:pPr indent="0" lvl="0" marL="0" rtl="0" algn="l">
              <a:spcBef>
                <a:spcPts val="0"/>
              </a:spcBef>
              <a:spcAft>
                <a:spcPts val="0"/>
              </a:spcAft>
              <a:buNone/>
            </a:pPr>
            <a:r>
              <a:rPr lang="zh-TW" sz="1600">
                <a:solidFill>
                  <a:schemeClr val="dk1"/>
                </a:solidFill>
              </a:rPr>
              <a:t>A </a:t>
            </a:r>
            <a:r>
              <a:rPr lang="zh-TW" sz="1800">
                <a:solidFill>
                  <a:schemeClr val="dk1"/>
                </a:solidFill>
              </a:rPr>
              <a:t>: 鄰接矩陣</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600">
              <a:solidFill>
                <a:schemeClr val="dk1"/>
              </a:solidFill>
            </a:endParaRPr>
          </a:p>
        </p:txBody>
      </p:sp>
      <p:pic>
        <p:nvPicPr>
          <p:cNvPr id="232" name="Google Shape;232;p36"/>
          <p:cNvPicPr preferRelativeResize="0"/>
          <p:nvPr/>
        </p:nvPicPr>
        <p:blipFill rotWithShape="1">
          <a:blip r:embed="rId3">
            <a:alphaModFix/>
          </a:blip>
          <a:srcRect b="0" l="4361" r="0" t="0"/>
          <a:stretch/>
        </p:blipFill>
        <p:spPr>
          <a:xfrm>
            <a:off x="4709025" y="1017725"/>
            <a:ext cx="4372650" cy="2051050"/>
          </a:xfrm>
          <a:prstGeom prst="rect">
            <a:avLst/>
          </a:prstGeom>
          <a:noFill/>
          <a:ln cap="flat" cmpd="sng" w="9525">
            <a:solidFill>
              <a:schemeClr val="dk2"/>
            </a:solidFill>
            <a:prstDash val="solid"/>
            <a:round/>
            <a:headEnd len="sm" w="sm" type="none"/>
            <a:tailEnd len="sm" w="sm" type="none"/>
          </a:ln>
        </p:spPr>
      </p:pic>
      <p:pic>
        <p:nvPicPr>
          <p:cNvPr id="233" name="Google Shape;233;p36"/>
          <p:cNvPicPr preferRelativeResize="0"/>
          <p:nvPr/>
        </p:nvPicPr>
        <p:blipFill rotWithShape="1">
          <a:blip r:embed="rId4">
            <a:alphaModFix/>
          </a:blip>
          <a:srcRect b="0" l="0" r="2239" t="0"/>
          <a:stretch/>
        </p:blipFill>
        <p:spPr>
          <a:xfrm>
            <a:off x="4609350" y="3424500"/>
            <a:ext cx="4572001" cy="1133475"/>
          </a:xfrm>
          <a:prstGeom prst="rect">
            <a:avLst/>
          </a:prstGeom>
          <a:noFill/>
          <a:ln cap="flat" cmpd="sng" w="9525">
            <a:solidFill>
              <a:schemeClr val="dk2"/>
            </a:solidFill>
            <a:prstDash val="solid"/>
            <a:round/>
            <a:headEnd len="sm" w="sm" type="none"/>
            <a:tailEnd len="sm" w="sm" type="none"/>
          </a:ln>
        </p:spPr>
      </p:pic>
      <p:sp>
        <p:nvSpPr>
          <p:cNvPr id="234" name="Google Shape;23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35" name="Google Shape;235;p36"/>
          <p:cNvSpPr txBox="1"/>
          <p:nvPr/>
        </p:nvSpPr>
        <p:spPr>
          <a:xfrm>
            <a:off x="311700" y="4706125"/>
            <a:ext cx="5654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800" u="sng">
                <a:solidFill>
                  <a:schemeClr val="hlink"/>
                </a:solidFill>
                <a:hlinkClick r:id="rId5"/>
              </a:rPr>
              <a:t>EMBEDDING ENTITIES AND RELATIONS FOR LEARN ING AND INFERENCE IN KNOWLEDGE BASES</a:t>
            </a:r>
            <a:r>
              <a:rPr lang="zh-TW" sz="800"/>
              <a:t> 5.2 2nd para</a:t>
            </a:r>
            <a:endParaRPr sz="800"/>
          </a:p>
        </p:txBody>
      </p:sp>
      <p:pic>
        <p:nvPicPr>
          <p:cNvPr id="236" name="Google Shape;236;p36"/>
          <p:cNvPicPr preferRelativeResize="0"/>
          <p:nvPr/>
        </p:nvPicPr>
        <p:blipFill>
          <a:blip r:embed="rId6">
            <a:alphaModFix/>
          </a:blip>
          <a:stretch>
            <a:fillRect/>
          </a:stretch>
        </p:blipFill>
        <p:spPr>
          <a:xfrm>
            <a:off x="1714888" y="2875152"/>
            <a:ext cx="1243261" cy="3078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311700" y="445025"/>
            <a:ext cx="8520600" cy="88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Embedding with Graph Reinforcement Learning</a:t>
            </a:r>
            <a:endParaRPr/>
          </a:p>
          <a:p>
            <a:pPr indent="0" lvl="0" marL="0" rtl="0" algn="l">
              <a:spcBef>
                <a:spcPts val="0"/>
              </a:spcBef>
              <a:spcAft>
                <a:spcPts val="0"/>
              </a:spcAft>
              <a:buNone/>
            </a:pPr>
            <a:r>
              <a:t/>
            </a:r>
            <a:endParaRPr/>
          </a:p>
        </p:txBody>
      </p:sp>
      <p:sp>
        <p:nvSpPr>
          <p:cNvPr id="242" name="Google Shape;242;p37"/>
          <p:cNvSpPr txBox="1"/>
          <p:nvPr>
            <p:ph idx="1" type="body"/>
          </p:nvPr>
        </p:nvSpPr>
        <p:spPr>
          <a:xfrm>
            <a:off x="311700" y="1381700"/>
            <a:ext cx="3867600" cy="3327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zh-TW">
                <a:solidFill>
                  <a:schemeClr val="dk1"/>
                </a:solidFill>
              </a:rPr>
              <a:t>MLP on Node Features </a:t>
            </a:r>
            <a:endParaRPr>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忽略圖結構，只看節點屬性（如 System call 類型、時間特徵）</a:t>
            </a:r>
            <a:endParaRPr sz="1600">
              <a:solidFill>
                <a:schemeClr val="dk1"/>
              </a:solidFill>
            </a:endParaRPr>
          </a:p>
          <a:p>
            <a:pPr indent="-342900" lvl="0" marL="457200" rtl="0" algn="l">
              <a:spcBef>
                <a:spcPts val="0"/>
              </a:spcBef>
              <a:spcAft>
                <a:spcPts val="0"/>
              </a:spcAft>
              <a:buClr>
                <a:schemeClr val="dk1"/>
              </a:buClr>
              <a:buSzPts val="1800"/>
              <a:buAutoNum type="arabicPeriod"/>
            </a:pPr>
            <a:r>
              <a:rPr lang="zh-TW">
                <a:solidFill>
                  <a:schemeClr val="dk1"/>
                </a:solidFill>
              </a:rPr>
              <a:t>LINK Regression on Graph Topology</a:t>
            </a:r>
            <a:endParaRPr>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只看圖的鄰接關係 A，學出拓撲特徵</a:t>
            </a:r>
            <a:endParaRPr sz="1600">
              <a:solidFill>
                <a:schemeClr val="dk1"/>
              </a:solidFill>
            </a:endParaRPr>
          </a:p>
          <a:p>
            <a:pPr indent="-342900" lvl="0" marL="457200" rtl="0" algn="l">
              <a:spcBef>
                <a:spcPts val="0"/>
              </a:spcBef>
              <a:spcAft>
                <a:spcPts val="0"/>
              </a:spcAft>
              <a:buClr>
                <a:schemeClr val="dk1"/>
              </a:buClr>
              <a:buSzPts val="1800"/>
              <a:buAutoNum type="arabicPeriod"/>
            </a:pPr>
            <a:r>
              <a:rPr lang="zh-TW">
                <a:solidFill>
                  <a:schemeClr val="dk1"/>
                </a:solidFill>
              </a:rPr>
              <a:t>融合以上特徵以 L1 距離計算節點 v 與鄰居 v′ 的差距</a:t>
            </a:r>
            <a:endParaRPr>
              <a:solidFill>
                <a:schemeClr val="dk1"/>
              </a:solidFill>
            </a:endParaRPr>
          </a:p>
        </p:txBody>
      </p:sp>
      <p:sp>
        <p:nvSpPr>
          <p:cNvPr id="243" name="Google Shape;24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44" name="Google Shape;244;p37"/>
          <p:cNvPicPr preferRelativeResize="0"/>
          <p:nvPr/>
        </p:nvPicPr>
        <p:blipFill>
          <a:blip r:embed="rId3">
            <a:alphaModFix/>
          </a:blip>
          <a:stretch>
            <a:fillRect/>
          </a:stretch>
        </p:blipFill>
        <p:spPr>
          <a:xfrm>
            <a:off x="4279925" y="2058314"/>
            <a:ext cx="4864074" cy="197437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Feature-Topology Similarity Awareness</a:t>
            </a:r>
            <a:endParaRPr/>
          </a:p>
        </p:txBody>
      </p:sp>
      <p:sp>
        <p:nvSpPr>
          <p:cNvPr id="250" name="Google Shape;250;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Previous research has explored various types of attacker camouflages from both behavioral and semantic perspectives.</a:t>
            </a:r>
            <a:endParaRPr>
              <a:solidFill>
                <a:schemeClr val="dk1"/>
              </a:solidFill>
            </a:endParaRPr>
          </a:p>
        </p:txBody>
      </p:sp>
      <p:grpSp>
        <p:nvGrpSpPr>
          <p:cNvPr id="251" name="Google Shape;251;p38"/>
          <p:cNvGrpSpPr/>
          <p:nvPr/>
        </p:nvGrpSpPr>
        <p:grpSpPr>
          <a:xfrm>
            <a:off x="705841" y="1944886"/>
            <a:ext cx="6439360" cy="2838918"/>
            <a:chOff x="3371314" y="2657800"/>
            <a:chExt cx="5638175" cy="2485700"/>
          </a:xfrm>
        </p:grpSpPr>
        <p:pic>
          <p:nvPicPr>
            <p:cNvPr id="252" name="Google Shape;252;p38"/>
            <p:cNvPicPr preferRelativeResize="0"/>
            <p:nvPr/>
          </p:nvPicPr>
          <p:blipFill rotWithShape="1">
            <a:blip r:embed="rId3">
              <a:alphaModFix/>
            </a:blip>
            <a:srcRect b="7834" l="0" r="0" t="0"/>
            <a:stretch/>
          </p:blipFill>
          <p:spPr>
            <a:xfrm>
              <a:off x="3371314" y="2657800"/>
              <a:ext cx="5638175" cy="2485700"/>
            </a:xfrm>
            <a:prstGeom prst="rect">
              <a:avLst/>
            </a:prstGeom>
            <a:noFill/>
            <a:ln cap="flat" cmpd="sng" w="10900">
              <a:solidFill>
                <a:schemeClr val="dk2"/>
              </a:solidFill>
              <a:prstDash val="solid"/>
              <a:round/>
              <a:headEnd len="sm" w="sm" type="none"/>
              <a:tailEnd len="sm" w="sm" type="none"/>
            </a:ln>
          </p:spPr>
        </p:pic>
        <p:pic>
          <p:nvPicPr>
            <p:cNvPr id="253" name="Google Shape;253;p38"/>
            <p:cNvPicPr preferRelativeResize="0"/>
            <p:nvPr/>
          </p:nvPicPr>
          <p:blipFill>
            <a:blip r:embed="rId4">
              <a:alphaModFix/>
            </a:blip>
            <a:stretch>
              <a:fillRect/>
            </a:stretch>
          </p:blipFill>
          <p:spPr>
            <a:xfrm>
              <a:off x="6422824" y="4254550"/>
              <a:ext cx="2110525" cy="408500"/>
            </a:xfrm>
            <a:prstGeom prst="rect">
              <a:avLst/>
            </a:prstGeom>
            <a:noFill/>
            <a:ln>
              <a:noFill/>
            </a:ln>
          </p:spPr>
        </p:pic>
        <p:pic>
          <p:nvPicPr>
            <p:cNvPr id="254" name="Google Shape;254;p38"/>
            <p:cNvPicPr preferRelativeResize="0"/>
            <p:nvPr/>
          </p:nvPicPr>
          <p:blipFill>
            <a:blip r:embed="rId5">
              <a:alphaModFix/>
            </a:blip>
            <a:stretch>
              <a:fillRect/>
            </a:stretch>
          </p:blipFill>
          <p:spPr>
            <a:xfrm>
              <a:off x="6422827" y="2746626"/>
              <a:ext cx="2110525" cy="392077"/>
            </a:xfrm>
            <a:prstGeom prst="rect">
              <a:avLst/>
            </a:prstGeom>
            <a:noFill/>
            <a:ln>
              <a:noFill/>
            </a:ln>
          </p:spPr>
        </p:pic>
      </p:grpSp>
      <p:pic>
        <p:nvPicPr>
          <p:cNvPr id="255" name="Google Shape;255;p38"/>
          <p:cNvPicPr preferRelativeResize="0"/>
          <p:nvPr/>
        </p:nvPicPr>
        <p:blipFill>
          <a:blip r:embed="rId6">
            <a:alphaModFix/>
          </a:blip>
          <a:stretch>
            <a:fillRect/>
          </a:stretch>
        </p:blipFill>
        <p:spPr>
          <a:xfrm>
            <a:off x="5814650" y="3368775"/>
            <a:ext cx="3329350" cy="439425"/>
          </a:xfrm>
          <a:prstGeom prst="rect">
            <a:avLst/>
          </a:prstGeom>
          <a:noFill/>
          <a:ln cap="flat" cmpd="sng" w="9525">
            <a:solidFill>
              <a:schemeClr val="dk2"/>
            </a:solidFill>
            <a:prstDash val="solid"/>
            <a:round/>
            <a:headEnd len="sm" w="sm" type="none"/>
            <a:tailEnd len="sm" w="sm" type="none"/>
          </a:ln>
        </p:spPr>
      </p:pic>
      <p:pic>
        <p:nvPicPr>
          <p:cNvPr id="256" name="Google Shape;256;p38"/>
          <p:cNvPicPr preferRelativeResize="0"/>
          <p:nvPr/>
        </p:nvPicPr>
        <p:blipFill>
          <a:blip r:embed="rId7">
            <a:alphaModFix/>
          </a:blip>
          <a:stretch>
            <a:fillRect/>
          </a:stretch>
        </p:blipFill>
        <p:spPr>
          <a:xfrm>
            <a:off x="4404762" y="4568875"/>
            <a:ext cx="4739239" cy="572700"/>
          </a:xfrm>
          <a:prstGeom prst="rect">
            <a:avLst/>
          </a:prstGeom>
          <a:noFill/>
          <a:ln cap="flat" cmpd="sng" w="9525">
            <a:solidFill>
              <a:schemeClr val="dk2"/>
            </a:solidFill>
            <a:prstDash val="solid"/>
            <a:round/>
            <a:headEnd len="sm" w="sm" type="none"/>
            <a:tailEnd len="sm" w="sm" type="none"/>
          </a:ln>
        </p:spPr>
      </p:pic>
      <p:sp>
        <p:nvSpPr>
          <p:cNvPr id="257" name="Google Shape;25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58" name="Google Shape;258;p38"/>
          <p:cNvSpPr txBox="1"/>
          <p:nvPr/>
        </p:nvSpPr>
        <p:spPr>
          <a:xfrm>
            <a:off x="0" y="4783800"/>
            <a:ext cx="636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800" u="sng">
                <a:solidFill>
                  <a:srgbClr val="2200CC"/>
                </a:solidFill>
                <a:hlinkClick r:id="rId8">
                  <a:extLst>
                    <a:ext uri="{A12FA001-AC4F-418D-AE19-62706E023703}">
                      <ahyp:hlinkClr val="tx"/>
                    </a:ext>
                  </a:extLst>
                </a:hlinkClick>
              </a:rPr>
              <a:t>Beyond homophily in graph neural networks: Current limitations and effective designs.</a:t>
            </a:r>
            <a:endParaRPr sz="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311700" y="445025"/>
            <a:ext cx="8520600" cy="88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Embedding with Graph RL</a:t>
            </a:r>
            <a:endParaRPr/>
          </a:p>
        </p:txBody>
      </p:sp>
      <p:sp>
        <p:nvSpPr>
          <p:cNvPr id="264" name="Google Shape;264;p39"/>
          <p:cNvSpPr txBox="1"/>
          <p:nvPr>
            <p:ph idx="1" type="body"/>
          </p:nvPr>
        </p:nvSpPr>
        <p:spPr>
          <a:xfrm>
            <a:off x="311700" y="1381700"/>
            <a:ext cx="3867600" cy="3327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startAt="4"/>
            </a:pPr>
            <a:r>
              <a:rPr lang="zh-TW">
                <a:solidFill>
                  <a:schemeClr val="dk1"/>
                </a:solidFill>
              </a:rPr>
              <a:t>Adaptive Bandit Neighbor Selector</a:t>
            </a:r>
            <a:endParaRPr>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讓模型學習如何過濾Camo-Entity</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Top-p sampling：只保留相似度最高的前P百分比鄰居。</a:t>
            </a:r>
            <a:endParaRPr sz="1600">
              <a:solidFill>
                <a:schemeClr val="dk1"/>
              </a:solidFill>
            </a:endParaRPr>
          </a:p>
        </p:txBody>
      </p:sp>
      <p:sp>
        <p:nvSpPr>
          <p:cNvPr id="265" name="Google Shape;26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66" name="Google Shape;266;p39"/>
          <p:cNvPicPr preferRelativeResize="0"/>
          <p:nvPr/>
        </p:nvPicPr>
        <p:blipFill>
          <a:blip r:embed="rId3">
            <a:alphaModFix/>
          </a:blip>
          <a:stretch>
            <a:fillRect/>
          </a:stretch>
        </p:blipFill>
        <p:spPr>
          <a:xfrm>
            <a:off x="4222075" y="2058301"/>
            <a:ext cx="4864074" cy="197437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title"/>
          </p:nvPr>
        </p:nvSpPr>
        <p:spPr>
          <a:xfrm>
            <a:off x="311700" y="445025"/>
            <a:ext cx="8520600" cy="88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Embedding with Graph RL</a:t>
            </a:r>
            <a:endParaRPr/>
          </a:p>
        </p:txBody>
      </p:sp>
      <p:sp>
        <p:nvSpPr>
          <p:cNvPr id="272" name="Google Shape;27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273" name="Google Shape;273;p40"/>
          <p:cNvGraphicFramePr/>
          <p:nvPr/>
        </p:nvGraphicFramePr>
        <p:xfrm>
          <a:off x="117600" y="1601563"/>
          <a:ext cx="3000000" cy="3000000"/>
        </p:xfrm>
        <a:graphic>
          <a:graphicData uri="http://schemas.openxmlformats.org/drawingml/2006/table">
            <a:tbl>
              <a:tblPr>
                <a:noFill/>
                <a:tableStyleId>{D903DA90-B49B-43DB-9F7A-66925020D7B7}</a:tableStyleId>
              </a:tblPr>
              <a:tblGrid>
                <a:gridCol w="917200"/>
                <a:gridCol w="4913725"/>
              </a:tblGrid>
              <a:tr h="238125">
                <a:tc>
                  <a:txBody>
                    <a:bodyPr/>
                    <a:lstStyle/>
                    <a:p>
                      <a:pPr indent="0" lvl="0" marL="0" rtl="0" algn="ctr">
                        <a:lnSpc>
                          <a:spcPct val="115000"/>
                        </a:lnSpc>
                        <a:spcBef>
                          <a:spcPts val="0"/>
                        </a:spcBef>
                        <a:spcAft>
                          <a:spcPts val="0"/>
                        </a:spcAft>
                        <a:buNone/>
                      </a:pPr>
                      <a:r>
                        <a:rPr b="1" lang="zh-TW" sz="900"/>
                        <a:t>元件</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TW" sz="900"/>
                        <a:t>角色與定義</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8125">
                <a:tc>
                  <a:txBody>
                    <a:bodyPr/>
                    <a:lstStyle/>
                    <a:p>
                      <a:pPr indent="0" lvl="0" marL="0" rtl="0" algn="l">
                        <a:spcBef>
                          <a:spcPts val="0"/>
                        </a:spcBef>
                        <a:spcAft>
                          <a:spcPts val="0"/>
                        </a:spcAft>
                        <a:buNone/>
                      </a:pPr>
                      <a:r>
                        <a:rPr b="1" lang="zh-TW" sz="900"/>
                        <a:t>Action (A)</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TW" sz="1200"/>
                        <a:t>調整閾值 (p)：增加或減少固定步長</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8125">
                <a:tc>
                  <a:txBody>
                    <a:bodyPr/>
                    <a:lstStyle/>
                    <a:p>
                      <a:pPr indent="0" lvl="0" marL="0" rtl="0" algn="l">
                        <a:spcBef>
                          <a:spcPts val="0"/>
                        </a:spcBef>
                        <a:spcAft>
                          <a:spcPts val="0"/>
                        </a:spcAft>
                        <a:buNone/>
                      </a:pPr>
                      <a:r>
                        <a:rPr b="1" lang="zh-TW" sz="900"/>
                        <a:t>State (S)</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TW" sz="1200"/>
                        <a:t>使用訓練節點的平均相似距離作為狀態</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spcBef>
                          <a:spcPts val="0"/>
                        </a:spcBef>
                        <a:spcAft>
                          <a:spcPts val="0"/>
                        </a:spcAft>
                        <a:buNone/>
                      </a:pPr>
                      <a:r>
                        <a:rPr b="1" lang="zh-TW" sz="900"/>
                        <a:t>Reward (R)</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TW" sz="1200"/>
                        <a:t>若距離下降 → 代表鄰居更相似 → 給 +1；反之給 −1</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b="1" lang="zh-TW" sz="900"/>
                        <a:t>Transition (T)</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TW" sz="1200"/>
                        <a:t>當鄰居閾值改變，GNN 的嵌入更新，狀態跟著改變。</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8125">
                <a:tc>
                  <a:txBody>
                    <a:bodyPr/>
                    <a:lstStyle/>
                    <a:p>
                      <a:pPr indent="0" lvl="0" marL="0" rtl="0" algn="l">
                        <a:spcBef>
                          <a:spcPts val="0"/>
                        </a:spcBef>
                        <a:spcAft>
                          <a:spcPts val="0"/>
                        </a:spcAft>
                        <a:buNone/>
                      </a:pPr>
                      <a:r>
                        <a:rPr b="1" lang="zh-TW" sz="900"/>
                        <a:t>Terminal (F)</a:t>
                      </a:r>
                      <a:endParaRPr b="1" sz="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TW" sz="1200"/>
                        <a:t>若連續 10 個 epoch 內 reward 幾乎不變 → 視為收斂（找到最佳 p）。</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274" name="Google Shape;274;p40"/>
          <p:cNvPicPr preferRelativeResize="0"/>
          <p:nvPr/>
        </p:nvPicPr>
        <p:blipFill rotWithShape="1">
          <a:blip r:embed="rId3">
            <a:alphaModFix/>
          </a:blip>
          <a:srcRect b="0" l="6174" r="0" t="0"/>
          <a:stretch/>
        </p:blipFill>
        <p:spPr>
          <a:xfrm>
            <a:off x="5902425" y="1524100"/>
            <a:ext cx="3241575" cy="23722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Contextual Relationship Integrator</a:t>
            </a:r>
            <a:endParaRPr/>
          </a:p>
        </p:txBody>
      </p:sp>
      <p:sp>
        <p:nvSpPr>
          <p:cNvPr id="280" name="Google Shape;28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we directly use the optimal filtering threshold p from RL as </a:t>
            </a:r>
            <a:r>
              <a:rPr lang="zh-TW">
                <a:solidFill>
                  <a:schemeClr val="dk1"/>
                </a:solidFill>
              </a:rPr>
              <a:t>a</a:t>
            </a:r>
            <a:r>
              <a:rPr lang="zh-TW">
                <a:solidFill>
                  <a:schemeClr val="dk1"/>
                </a:solidFill>
              </a:rPr>
              <a:t>ggregation weight between relationships.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then use a GNN to aggregate information from neighbors across different relationships, generating updated node feature vectors.</a:t>
            </a:r>
            <a:endParaRPr>
              <a:solidFill>
                <a:schemeClr val="dk1"/>
              </a:solidFill>
            </a:endParaRPr>
          </a:p>
        </p:txBody>
      </p:sp>
      <p:pic>
        <p:nvPicPr>
          <p:cNvPr id="281" name="Google Shape;281;p41"/>
          <p:cNvPicPr preferRelativeResize="0"/>
          <p:nvPr/>
        </p:nvPicPr>
        <p:blipFill>
          <a:blip r:embed="rId3">
            <a:alphaModFix/>
          </a:blip>
          <a:stretch>
            <a:fillRect/>
          </a:stretch>
        </p:blipFill>
        <p:spPr>
          <a:xfrm>
            <a:off x="1455888" y="2659000"/>
            <a:ext cx="6232225" cy="787075"/>
          </a:xfrm>
          <a:prstGeom prst="rect">
            <a:avLst/>
          </a:prstGeom>
          <a:noFill/>
          <a:ln>
            <a:noFill/>
          </a:ln>
        </p:spPr>
      </p:pic>
      <p:pic>
        <p:nvPicPr>
          <p:cNvPr id="282" name="Google Shape;282;p41"/>
          <p:cNvPicPr preferRelativeResize="0"/>
          <p:nvPr/>
        </p:nvPicPr>
        <p:blipFill rotWithShape="1">
          <a:blip r:embed="rId4">
            <a:alphaModFix/>
          </a:blip>
          <a:srcRect b="0" l="0" r="0" t="17743"/>
          <a:stretch/>
        </p:blipFill>
        <p:spPr>
          <a:xfrm>
            <a:off x="1125150" y="3921425"/>
            <a:ext cx="6893700" cy="647450"/>
          </a:xfrm>
          <a:prstGeom prst="rect">
            <a:avLst/>
          </a:prstGeom>
          <a:noFill/>
          <a:ln>
            <a:noFill/>
          </a:ln>
        </p:spPr>
      </p:pic>
      <p:sp>
        <p:nvSpPr>
          <p:cNvPr id="283" name="Google Shape;283;p41"/>
          <p:cNvSpPr txBox="1"/>
          <p:nvPr/>
        </p:nvSpPr>
        <p:spPr>
          <a:xfrm>
            <a:off x="3072000" y="3307800"/>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600"/>
              <a:t>(Intra-relation Aggregation)</a:t>
            </a:r>
            <a:endParaRPr sz="1600"/>
          </a:p>
        </p:txBody>
      </p:sp>
      <p:sp>
        <p:nvSpPr>
          <p:cNvPr id="284" name="Google Shape;284;p41"/>
          <p:cNvSpPr txBox="1"/>
          <p:nvPr/>
        </p:nvSpPr>
        <p:spPr>
          <a:xfrm>
            <a:off x="3072000" y="4568875"/>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1600"/>
              <a:t>(Inter-relation Aggregation)</a:t>
            </a:r>
            <a:endParaRPr sz="1600"/>
          </a:p>
        </p:txBody>
      </p:sp>
      <p:sp>
        <p:nvSpPr>
          <p:cNvPr id="285" name="Google Shape;285;p41"/>
          <p:cNvSpPr/>
          <p:nvPr/>
        </p:nvSpPr>
        <p:spPr>
          <a:xfrm>
            <a:off x="1431825" y="2633200"/>
            <a:ext cx="768300" cy="81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6" name="Google Shape;286;p41"/>
          <p:cNvCxnSpPr>
            <a:stCxn id="285" idx="2"/>
          </p:cNvCxnSpPr>
          <p:nvPr/>
        </p:nvCxnSpPr>
        <p:spPr>
          <a:xfrm>
            <a:off x="1815975" y="3447400"/>
            <a:ext cx="4593300" cy="537600"/>
          </a:xfrm>
          <a:prstGeom prst="straightConnector1">
            <a:avLst/>
          </a:prstGeom>
          <a:noFill/>
          <a:ln cap="flat" cmpd="sng" w="19050">
            <a:solidFill>
              <a:schemeClr val="dk2"/>
            </a:solidFill>
            <a:prstDash val="solid"/>
            <a:round/>
            <a:headEnd len="med" w="med" type="none"/>
            <a:tailEnd len="med" w="med" type="triangle"/>
          </a:ln>
        </p:spPr>
      </p:cxnSp>
      <p:sp>
        <p:nvSpPr>
          <p:cNvPr id="287" name="Google Shape;287;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ph type="title"/>
          </p:nvPr>
        </p:nvSpPr>
        <p:spPr>
          <a:xfrm>
            <a:off x="311700" y="445025"/>
            <a:ext cx="8520600" cy="88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Threats Detection</a:t>
            </a:r>
            <a:endParaRPr/>
          </a:p>
        </p:txBody>
      </p:sp>
      <p:sp>
        <p:nvSpPr>
          <p:cNvPr id="293" name="Google Shape;293;p42"/>
          <p:cNvSpPr txBox="1"/>
          <p:nvPr>
            <p:ph idx="1" type="body"/>
          </p:nvPr>
        </p:nvSpPr>
        <p:spPr>
          <a:xfrm>
            <a:off x="311700" y="1381700"/>
            <a:ext cx="3959700" cy="34281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Clr>
                <a:schemeClr val="dk1"/>
              </a:buClr>
              <a:buSzPct val="100000"/>
              <a:buAutoNum type="arabicPeriod" startAt="4"/>
            </a:pPr>
            <a:r>
              <a:rPr lang="zh-TW">
                <a:solidFill>
                  <a:schemeClr val="dk1"/>
                </a:solidFill>
              </a:rPr>
              <a:t>輸入：</a:t>
            </a:r>
            <a:endParaRPr>
              <a:solidFill>
                <a:schemeClr val="dk1"/>
              </a:solidFill>
            </a:endParaRPr>
          </a:p>
          <a:p>
            <a:pPr indent="-310832" lvl="1" marL="914400" rtl="0" algn="l">
              <a:spcBef>
                <a:spcPts val="0"/>
              </a:spcBef>
              <a:spcAft>
                <a:spcPts val="0"/>
              </a:spcAft>
              <a:buClr>
                <a:schemeClr val="dk1"/>
              </a:buClr>
              <a:buSzPct val="100000"/>
              <a:buAutoNum type="alphaLcPeriod"/>
            </a:pPr>
            <a:r>
              <a:rPr lang="zh-TW">
                <a:solidFill>
                  <a:schemeClr val="dk1"/>
                </a:solidFill>
              </a:rPr>
              <a:t>先從系統中每個實體（entity，如 process、file、network node）取得embedding（由前面 GNN 模組學得）。</a:t>
            </a:r>
            <a:endParaRPr>
              <a:solidFill>
                <a:schemeClr val="dk1"/>
              </a:solidFill>
            </a:endParaRPr>
          </a:p>
          <a:p>
            <a:pPr indent="-334328" lvl="0" marL="457200" rtl="0" algn="l">
              <a:spcBef>
                <a:spcPts val="0"/>
              </a:spcBef>
              <a:spcAft>
                <a:spcPts val="0"/>
              </a:spcAft>
              <a:buClr>
                <a:schemeClr val="dk1"/>
              </a:buClr>
              <a:buSzPct val="100000"/>
              <a:buAutoNum type="arabicPeriod" startAt="4"/>
            </a:pPr>
            <a:r>
              <a:rPr lang="zh-TW">
                <a:solidFill>
                  <a:schemeClr val="dk1"/>
                </a:solidFill>
              </a:rPr>
              <a:t>分類階段(</a:t>
            </a:r>
            <a:r>
              <a:rPr lang="zh-TW" sz="1400">
                <a:solidFill>
                  <a:schemeClr val="dk1"/>
                </a:solidFill>
              </a:rPr>
              <a:t>用兩個平行的偵測方法)：</a:t>
            </a:r>
            <a:r>
              <a:rPr lang="zh-TW">
                <a:solidFill>
                  <a:schemeClr val="dk1"/>
                </a:solidFill>
              </a:rPr>
              <a:t>：</a:t>
            </a:r>
            <a:endParaRPr>
              <a:solidFill>
                <a:schemeClr val="dk1"/>
              </a:solidFill>
            </a:endParaRPr>
          </a:p>
          <a:p>
            <a:pPr indent="-310832" lvl="1" marL="914400" rtl="0" algn="l">
              <a:spcBef>
                <a:spcPts val="0"/>
              </a:spcBef>
              <a:spcAft>
                <a:spcPts val="0"/>
              </a:spcAft>
              <a:buClr>
                <a:schemeClr val="dk1"/>
              </a:buClr>
              <a:buSzPct val="100000"/>
              <a:buAutoNum type="alphaLcPeriod"/>
            </a:pPr>
            <a:r>
              <a:rPr lang="zh-TW">
                <a:solidFill>
                  <a:schemeClr val="dk1"/>
                </a:solidFill>
              </a:rPr>
              <a:t>MLP：學習區分 benign 與 malicious。</a:t>
            </a:r>
            <a:endParaRPr>
              <a:solidFill>
                <a:schemeClr val="dk1"/>
              </a:solidFill>
            </a:endParaRPr>
          </a:p>
          <a:p>
            <a:pPr indent="-310832" lvl="1" marL="914400" rtl="0" algn="l">
              <a:spcBef>
                <a:spcPts val="0"/>
              </a:spcBef>
              <a:spcAft>
                <a:spcPts val="0"/>
              </a:spcAft>
              <a:buClr>
                <a:schemeClr val="dk1"/>
              </a:buClr>
              <a:buSzPct val="100000"/>
              <a:buAutoNum type="alphaLcPeriod"/>
            </a:pPr>
            <a:r>
              <a:rPr lang="zh-TW">
                <a:solidFill>
                  <a:schemeClr val="dk1"/>
                </a:solidFill>
              </a:rPr>
              <a:t>Isolation Forest（異常森林）：用來找 unknown anomalies（模型沒學過的異常行為）。</a:t>
            </a:r>
            <a:endParaRPr>
              <a:solidFill>
                <a:schemeClr val="dk1"/>
              </a:solidFill>
            </a:endParaRPr>
          </a:p>
          <a:p>
            <a:pPr indent="-334328" lvl="0" marL="457200" rtl="0" algn="l">
              <a:spcBef>
                <a:spcPts val="0"/>
              </a:spcBef>
              <a:spcAft>
                <a:spcPts val="0"/>
              </a:spcAft>
              <a:buClr>
                <a:schemeClr val="dk1"/>
              </a:buClr>
              <a:buSzPct val="100000"/>
              <a:buAutoNum type="arabicPeriod" startAt="4"/>
            </a:pPr>
            <a:r>
              <a:rPr lang="zh-TW">
                <a:solidFill>
                  <a:schemeClr val="dk1"/>
                </a:solidFill>
              </a:rPr>
              <a:t>最終決策：</a:t>
            </a:r>
            <a:endParaRPr>
              <a:solidFill>
                <a:schemeClr val="dk1"/>
              </a:solidFill>
            </a:endParaRPr>
          </a:p>
          <a:p>
            <a:pPr indent="-310832" lvl="1" marL="914400" rtl="0" algn="l">
              <a:spcBef>
                <a:spcPts val="0"/>
              </a:spcBef>
              <a:spcAft>
                <a:spcPts val="0"/>
              </a:spcAft>
              <a:buClr>
                <a:schemeClr val="dk1"/>
              </a:buClr>
              <a:buSzPct val="100000"/>
              <a:buAutoNum type="alphaLcPeriod"/>
            </a:pPr>
            <a:r>
              <a:rPr lang="zh-TW">
                <a:solidFill>
                  <a:schemeClr val="dk1"/>
                </a:solidFill>
              </a:rPr>
              <a:t>若 MLP 給出高信心的分類（惡意/正常</a:t>
            </a:r>
            <a:r>
              <a:rPr lang="zh-TW">
                <a:solidFill>
                  <a:schemeClr val="dk1"/>
                </a:solidFill>
              </a:rPr>
              <a:t>）</a:t>
            </a:r>
            <a:r>
              <a:rPr lang="zh-TW">
                <a:solidFill>
                  <a:schemeClr val="dk1"/>
                </a:solidFill>
              </a:rPr>
              <a:t>→ 採用其結果。</a:t>
            </a:r>
            <a:endParaRPr>
              <a:solidFill>
                <a:schemeClr val="dk1"/>
              </a:solidFill>
            </a:endParaRPr>
          </a:p>
          <a:p>
            <a:pPr indent="-310832" lvl="1" marL="914400" rtl="0" algn="l">
              <a:spcBef>
                <a:spcPts val="0"/>
              </a:spcBef>
              <a:spcAft>
                <a:spcPts val="0"/>
              </a:spcAft>
              <a:buClr>
                <a:schemeClr val="dk1"/>
              </a:buClr>
              <a:buSzPct val="100000"/>
              <a:buAutoNum type="alphaLcPeriod"/>
            </a:pPr>
            <a:r>
              <a:rPr lang="zh-TW">
                <a:solidFill>
                  <a:schemeClr val="dk1"/>
                </a:solidFill>
              </a:rPr>
              <a:t>若 Isolation Forest 認為該行為屬於異常 → 標成 anomalous。</a:t>
            </a:r>
            <a:endParaRPr>
              <a:solidFill>
                <a:schemeClr val="dk1"/>
              </a:solidFill>
            </a:endParaRPr>
          </a:p>
        </p:txBody>
      </p:sp>
      <p:sp>
        <p:nvSpPr>
          <p:cNvPr id="294" name="Google Shape;29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95" name="Google Shape;295;p42"/>
          <p:cNvPicPr preferRelativeResize="0"/>
          <p:nvPr/>
        </p:nvPicPr>
        <p:blipFill>
          <a:blip r:embed="rId3">
            <a:alphaModFix/>
          </a:blip>
          <a:stretch>
            <a:fillRect/>
          </a:stretch>
        </p:blipFill>
        <p:spPr>
          <a:xfrm>
            <a:off x="4271400" y="1587000"/>
            <a:ext cx="4600024" cy="2424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Threats Detection</a:t>
            </a:r>
            <a:endParaRPr/>
          </a:p>
        </p:txBody>
      </p:sp>
      <p:sp>
        <p:nvSpPr>
          <p:cNvPr id="301" name="Google Shape;301;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To classify the embedded features, we trained an MLP classifier.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Slot uses only 10% of the attack data to assist in characterizing the benign patterns, and through oversampling, semi-supervised learning is performed with the benign training set.</a:t>
            </a:r>
            <a:endParaRPr>
              <a:solidFill>
                <a:schemeClr val="dk1"/>
              </a:solidFill>
            </a:endParaRPr>
          </a:p>
        </p:txBody>
      </p:sp>
      <p:pic>
        <p:nvPicPr>
          <p:cNvPr id="302" name="Google Shape;302;p43"/>
          <p:cNvPicPr preferRelativeResize="0"/>
          <p:nvPr/>
        </p:nvPicPr>
        <p:blipFill>
          <a:blip r:embed="rId3">
            <a:alphaModFix/>
          </a:blip>
          <a:stretch>
            <a:fillRect/>
          </a:stretch>
        </p:blipFill>
        <p:spPr>
          <a:xfrm>
            <a:off x="752463" y="2772375"/>
            <a:ext cx="3819525" cy="704850"/>
          </a:xfrm>
          <a:prstGeom prst="rect">
            <a:avLst/>
          </a:prstGeom>
          <a:noFill/>
          <a:ln cap="flat" cmpd="sng" w="9525">
            <a:solidFill>
              <a:schemeClr val="dk2"/>
            </a:solidFill>
            <a:prstDash val="solid"/>
            <a:round/>
            <a:headEnd len="sm" w="sm" type="none"/>
            <a:tailEnd len="sm" w="sm" type="none"/>
          </a:ln>
        </p:spPr>
      </p:pic>
      <p:pic>
        <p:nvPicPr>
          <p:cNvPr id="303" name="Google Shape;303;p43"/>
          <p:cNvPicPr preferRelativeResize="0"/>
          <p:nvPr/>
        </p:nvPicPr>
        <p:blipFill>
          <a:blip r:embed="rId4">
            <a:alphaModFix/>
          </a:blip>
          <a:stretch>
            <a:fillRect/>
          </a:stretch>
        </p:blipFill>
        <p:spPr>
          <a:xfrm>
            <a:off x="4837913" y="2772375"/>
            <a:ext cx="4164036" cy="704850"/>
          </a:xfrm>
          <a:prstGeom prst="rect">
            <a:avLst/>
          </a:prstGeom>
          <a:noFill/>
          <a:ln cap="flat" cmpd="sng" w="9525">
            <a:solidFill>
              <a:schemeClr val="dk2"/>
            </a:solidFill>
            <a:prstDash val="solid"/>
            <a:round/>
            <a:headEnd len="sm" w="sm" type="none"/>
            <a:tailEnd len="sm" w="sm" type="none"/>
          </a:ln>
        </p:spPr>
      </p:pic>
      <p:pic>
        <p:nvPicPr>
          <p:cNvPr id="304" name="Google Shape;304;p43"/>
          <p:cNvPicPr preferRelativeResize="0"/>
          <p:nvPr/>
        </p:nvPicPr>
        <p:blipFill>
          <a:blip r:embed="rId5">
            <a:alphaModFix/>
          </a:blip>
          <a:stretch>
            <a:fillRect/>
          </a:stretch>
        </p:blipFill>
        <p:spPr>
          <a:xfrm>
            <a:off x="4572000" y="3671725"/>
            <a:ext cx="4229100" cy="704850"/>
          </a:xfrm>
          <a:prstGeom prst="rect">
            <a:avLst/>
          </a:prstGeom>
          <a:noFill/>
          <a:ln cap="flat" cmpd="sng" w="9525">
            <a:solidFill>
              <a:schemeClr val="dk2"/>
            </a:solidFill>
            <a:prstDash val="solid"/>
            <a:round/>
            <a:headEnd len="sm" w="sm" type="none"/>
            <a:tailEnd len="sm" w="sm" type="none"/>
          </a:ln>
        </p:spPr>
      </p:pic>
      <p:sp>
        <p:nvSpPr>
          <p:cNvPr id="305" name="Google Shape;305;p43"/>
          <p:cNvSpPr txBox="1"/>
          <p:nvPr/>
        </p:nvSpPr>
        <p:spPr>
          <a:xfrm>
            <a:off x="476250" y="3671725"/>
            <a:ext cx="4361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300">
                <a:solidFill>
                  <a:schemeClr val="dk1"/>
                </a:solidFill>
              </a:rPr>
              <a:t>yᵥ：真實標籤 (Ground Truth Label)。</a:t>
            </a:r>
            <a:endParaRPr sz="1300">
              <a:solidFill>
                <a:schemeClr val="dk1"/>
              </a:solidFill>
            </a:endParaRPr>
          </a:p>
          <a:p>
            <a:pPr indent="0" lvl="0" marL="0" rtl="0" algn="l">
              <a:spcBef>
                <a:spcPts val="0"/>
              </a:spcBef>
              <a:spcAft>
                <a:spcPts val="0"/>
              </a:spcAft>
              <a:buNone/>
            </a:pPr>
            <a:r>
              <a:rPr lang="zh-TW" sz="1300">
                <a:solidFill>
                  <a:schemeClr val="dk1"/>
                </a:solidFill>
              </a:rPr>
              <a:t>Θ：代表模型所有的權重參數。</a:t>
            </a:r>
            <a:r>
              <a:rPr lang="zh-TW" sz="1300">
                <a:solidFill>
                  <a:schemeClr val="dk1"/>
                </a:solidFill>
              </a:rPr>
              <a:t>(為了限制參數大小)</a:t>
            </a:r>
            <a:endParaRPr sz="1300">
              <a:solidFill>
                <a:schemeClr val="dk1"/>
              </a:solidFill>
            </a:endParaRPr>
          </a:p>
          <a:p>
            <a:pPr indent="0" lvl="0" marL="0" rtl="0" algn="l">
              <a:spcBef>
                <a:spcPts val="0"/>
              </a:spcBef>
              <a:spcAft>
                <a:spcPts val="0"/>
              </a:spcAft>
              <a:buNone/>
            </a:pPr>
            <a:r>
              <a:rPr lang="zh-TW" sz="1300">
                <a:solidFill>
                  <a:schemeClr val="dk1"/>
                </a:solidFill>
              </a:rPr>
              <a:t>λ</a:t>
            </a:r>
            <a:r>
              <a:rPr lang="zh-TW" sz="1300">
                <a:solidFill>
                  <a:schemeClr val="dk1"/>
                </a:solidFill>
              </a:rPr>
              <a:t>1</a:t>
            </a:r>
            <a:r>
              <a:rPr lang="zh-TW" sz="1300">
                <a:solidFill>
                  <a:schemeClr val="dk1"/>
                </a:solidFill>
              </a:rPr>
              <a:t>：權重係數 (Weighting Parameter)</a:t>
            </a:r>
            <a:endParaRPr sz="1300">
              <a:solidFill>
                <a:schemeClr val="dk1"/>
              </a:solidFill>
            </a:endParaRPr>
          </a:p>
          <a:p>
            <a:pPr indent="0" lvl="0" marL="0" rtl="0" algn="l">
              <a:spcBef>
                <a:spcPts val="0"/>
              </a:spcBef>
              <a:spcAft>
                <a:spcPts val="0"/>
              </a:spcAft>
              <a:buNone/>
            </a:pPr>
            <a:r>
              <a:rPr lang="zh-TW" sz="1300">
                <a:solidFill>
                  <a:schemeClr val="dk1"/>
                </a:solidFill>
              </a:rPr>
              <a:t>λ2：正則化係數 (Regularization Coefficient)𝐿2-norm</a:t>
            </a:r>
            <a:endParaRPr sz="1600"/>
          </a:p>
        </p:txBody>
      </p:sp>
      <p:sp>
        <p:nvSpPr>
          <p:cNvPr id="306" name="Google Shape;30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Anomaly Detection</a:t>
            </a:r>
            <a:endParaRPr/>
          </a:p>
        </p:txBody>
      </p:sp>
      <p:sp>
        <p:nvSpPr>
          <p:cNvPr id="312" name="Google Shape;31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Slot utilizes an </a:t>
            </a:r>
            <a:r>
              <a:rPr lang="zh-TW" u="sng">
                <a:solidFill>
                  <a:schemeClr val="hlink"/>
                </a:solidFill>
                <a:hlinkClick r:id="rId3"/>
              </a:rPr>
              <a:t>Isolation Forest</a:t>
            </a:r>
            <a:r>
              <a:rPr lang="zh-TW">
                <a:solidFill>
                  <a:schemeClr val="dk1"/>
                </a:solidFill>
              </a:rPr>
              <a:t> to partition node feature vectors and compute node anomaly scores.</a:t>
            </a:r>
            <a:endParaRPr>
              <a:solidFill>
                <a:schemeClr val="dk1"/>
              </a:solidFill>
            </a:endParaRPr>
          </a:p>
        </p:txBody>
      </p:sp>
      <p:pic>
        <p:nvPicPr>
          <p:cNvPr id="313" name="Google Shape;313;p44"/>
          <p:cNvPicPr preferRelativeResize="0"/>
          <p:nvPr/>
        </p:nvPicPr>
        <p:blipFill>
          <a:blip r:embed="rId4">
            <a:alphaModFix/>
          </a:blip>
          <a:stretch>
            <a:fillRect/>
          </a:stretch>
        </p:blipFill>
        <p:spPr>
          <a:xfrm>
            <a:off x="5139879" y="3769375"/>
            <a:ext cx="3271329" cy="760150"/>
          </a:xfrm>
          <a:prstGeom prst="rect">
            <a:avLst/>
          </a:prstGeom>
          <a:noFill/>
          <a:ln cap="flat" cmpd="sng" w="9525">
            <a:solidFill>
              <a:schemeClr val="dk2"/>
            </a:solidFill>
            <a:prstDash val="solid"/>
            <a:round/>
            <a:headEnd len="sm" w="sm" type="none"/>
            <a:tailEnd len="sm" w="sm" type="none"/>
          </a:ln>
        </p:spPr>
      </p:pic>
      <p:sp>
        <p:nvSpPr>
          <p:cNvPr id="314" name="Google Shape;314;p44"/>
          <p:cNvSpPr txBox="1"/>
          <p:nvPr/>
        </p:nvSpPr>
        <p:spPr>
          <a:xfrm>
            <a:off x="614450" y="1986900"/>
            <a:ext cx="3000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600"/>
              <a:t>h：原始的特徵向量。</a:t>
            </a:r>
            <a:endParaRPr sz="1600"/>
          </a:p>
          <a:p>
            <a:pPr indent="0" lvl="0" marL="0" rtl="0" algn="l">
              <a:spcBef>
                <a:spcPts val="0"/>
              </a:spcBef>
              <a:spcAft>
                <a:spcPts val="0"/>
              </a:spcAft>
              <a:buNone/>
            </a:pPr>
            <a:r>
              <a:rPr lang="zh-TW" sz="1600"/>
              <a:t>μₕ：特徵的平均值。</a:t>
            </a:r>
            <a:endParaRPr sz="1600"/>
          </a:p>
          <a:p>
            <a:pPr indent="0" lvl="0" marL="0" rtl="0" algn="l">
              <a:spcBef>
                <a:spcPts val="0"/>
              </a:spcBef>
              <a:spcAft>
                <a:spcPts val="0"/>
              </a:spcAft>
              <a:buNone/>
            </a:pPr>
            <a:r>
              <a:rPr lang="zh-TW" sz="1600">
                <a:solidFill>
                  <a:schemeClr val="dk1"/>
                </a:solidFill>
              </a:rPr>
              <a:t>σₕ</a:t>
            </a:r>
            <a:r>
              <a:rPr lang="zh-TW" sz="1600"/>
              <a:t>：特徵的標準差 。</a:t>
            </a:r>
            <a:endParaRPr sz="1600"/>
          </a:p>
          <a:p>
            <a:pPr indent="0" lvl="0" marL="0" rtl="0" algn="l">
              <a:spcBef>
                <a:spcPts val="0"/>
              </a:spcBef>
              <a:spcAft>
                <a:spcPts val="0"/>
              </a:spcAft>
              <a:buNone/>
            </a:pPr>
            <a:r>
              <a:rPr lang="zh-TW" sz="1600"/>
              <a:t>n</a:t>
            </a:r>
            <a:r>
              <a:rPr lang="zh-TW" sz="1600">
                <a:solidFill>
                  <a:schemeClr val="dk1"/>
                </a:solidFill>
              </a:rPr>
              <a:t>：</a:t>
            </a:r>
            <a:r>
              <a:rPr lang="zh-TW" sz="1600"/>
              <a:t>樣本總數</a:t>
            </a:r>
            <a:endParaRPr sz="1600"/>
          </a:p>
        </p:txBody>
      </p:sp>
      <p:pic>
        <p:nvPicPr>
          <p:cNvPr id="315" name="Google Shape;315;p44"/>
          <p:cNvPicPr preferRelativeResize="0"/>
          <p:nvPr/>
        </p:nvPicPr>
        <p:blipFill>
          <a:blip r:embed="rId5">
            <a:alphaModFix/>
          </a:blip>
          <a:stretch>
            <a:fillRect/>
          </a:stretch>
        </p:blipFill>
        <p:spPr>
          <a:xfrm>
            <a:off x="5999295" y="2242875"/>
            <a:ext cx="1368125" cy="657750"/>
          </a:xfrm>
          <a:prstGeom prst="rect">
            <a:avLst/>
          </a:prstGeom>
          <a:noFill/>
          <a:ln cap="flat" cmpd="sng" w="9525">
            <a:solidFill>
              <a:schemeClr val="dk2"/>
            </a:solidFill>
            <a:prstDash val="solid"/>
            <a:round/>
            <a:headEnd len="sm" w="sm" type="none"/>
            <a:tailEnd len="sm" w="sm" type="none"/>
          </a:ln>
        </p:spPr>
      </p:pic>
      <p:sp>
        <p:nvSpPr>
          <p:cNvPr id="316" name="Google Shape;316;p44"/>
          <p:cNvSpPr txBox="1"/>
          <p:nvPr/>
        </p:nvSpPr>
        <p:spPr>
          <a:xfrm>
            <a:off x="204175" y="3564600"/>
            <a:ext cx="4576800" cy="923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zh-TW" sz="1600">
                <a:solidFill>
                  <a:schemeClr val="dk1"/>
                </a:solidFill>
              </a:rPr>
              <a:t>範圍在 0 到 1 之間。</a:t>
            </a:r>
            <a:endParaRPr sz="1600">
              <a:solidFill>
                <a:schemeClr val="dk1"/>
              </a:solidFill>
            </a:endParaRPr>
          </a:p>
          <a:p>
            <a:pPr indent="0" lvl="0" marL="457200" rtl="0" algn="l">
              <a:spcBef>
                <a:spcPts val="0"/>
              </a:spcBef>
              <a:spcAft>
                <a:spcPts val="0"/>
              </a:spcAft>
              <a:buNone/>
            </a:pPr>
            <a:r>
              <a:rPr b="1" lang="zh-TW" sz="1600">
                <a:solidFill>
                  <a:schemeClr val="dk1"/>
                </a:solidFill>
              </a:rPr>
              <a:t>越接近 1</a:t>
            </a:r>
            <a:r>
              <a:rPr lang="zh-TW" sz="1600">
                <a:solidFill>
                  <a:schemeClr val="dk1"/>
                </a:solidFill>
              </a:rPr>
              <a:t>：代表越異常（是</a:t>
            </a:r>
            <a:r>
              <a:rPr lang="zh-TW" sz="1600">
                <a:solidFill>
                  <a:schemeClr val="dk1"/>
                </a:solidFill>
              </a:rPr>
              <a:t>異常</a:t>
            </a:r>
            <a:r>
              <a:rPr lang="zh-TW" sz="1600">
                <a:solidFill>
                  <a:schemeClr val="dk1"/>
                </a:solidFill>
              </a:rPr>
              <a:t>的機率高）。</a:t>
            </a:r>
            <a:endParaRPr sz="1600">
              <a:solidFill>
                <a:schemeClr val="dk1"/>
              </a:solidFill>
            </a:endParaRPr>
          </a:p>
          <a:p>
            <a:pPr indent="0" lvl="0" marL="457200" rtl="0" algn="l">
              <a:spcBef>
                <a:spcPts val="0"/>
              </a:spcBef>
              <a:spcAft>
                <a:spcPts val="0"/>
              </a:spcAft>
              <a:buNone/>
            </a:pPr>
            <a:r>
              <a:rPr b="1" lang="zh-TW" sz="1600">
                <a:solidFill>
                  <a:schemeClr val="dk1"/>
                </a:solidFill>
              </a:rPr>
              <a:t>越接近 0</a:t>
            </a:r>
            <a:r>
              <a:rPr lang="zh-TW" sz="1600">
                <a:solidFill>
                  <a:schemeClr val="dk1"/>
                </a:solidFill>
              </a:rPr>
              <a:t>：</a:t>
            </a:r>
            <a:r>
              <a:rPr lang="zh-TW" sz="1600">
                <a:solidFill>
                  <a:schemeClr val="dk1"/>
                </a:solidFill>
              </a:rPr>
              <a:t>代表不異常</a:t>
            </a:r>
            <a:endParaRPr sz="1600"/>
          </a:p>
        </p:txBody>
      </p:sp>
      <p:sp>
        <p:nvSpPr>
          <p:cNvPr id="317" name="Google Shape;31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Attack-chain Reconstruction</a:t>
            </a:r>
            <a:endParaRPr/>
          </a:p>
        </p:txBody>
      </p:sp>
      <p:sp>
        <p:nvSpPr>
          <p:cNvPr id="323" name="Google Shape;323;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We represent TTPs using one-hot encoding; if the ATT&amp;CK framework includes N distinct TTPs, each TTP is encoded as an N-dimensional vector, with the position corresponding to the TTP set to 1 and the rest set to 0, with each technique or tactic corresponding to one code</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concatenate the node features with the TTP codes to obtain the initial node label and then update the node labels using the Label Propagation Algorithm (LPA)</a:t>
            </a:r>
            <a:endParaRPr>
              <a:solidFill>
                <a:schemeClr val="dk1"/>
              </a:solidFill>
            </a:endParaRPr>
          </a:p>
        </p:txBody>
      </p:sp>
      <p:pic>
        <p:nvPicPr>
          <p:cNvPr id="324" name="Google Shape;324;p45"/>
          <p:cNvPicPr preferRelativeResize="0"/>
          <p:nvPr/>
        </p:nvPicPr>
        <p:blipFill>
          <a:blip r:embed="rId3">
            <a:alphaModFix/>
          </a:blip>
          <a:stretch>
            <a:fillRect/>
          </a:stretch>
        </p:blipFill>
        <p:spPr>
          <a:xfrm>
            <a:off x="4519800" y="3778000"/>
            <a:ext cx="4312500" cy="790875"/>
          </a:xfrm>
          <a:prstGeom prst="rect">
            <a:avLst/>
          </a:prstGeom>
          <a:noFill/>
          <a:ln cap="flat" cmpd="sng" w="9525">
            <a:solidFill>
              <a:schemeClr val="dk2"/>
            </a:solidFill>
            <a:prstDash val="solid"/>
            <a:round/>
            <a:headEnd len="sm" w="sm" type="none"/>
            <a:tailEnd len="sm" w="sm" type="none"/>
          </a:ln>
        </p:spPr>
      </p:pic>
      <p:sp>
        <p:nvSpPr>
          <p:cNvPr id="325" name="Google Shape;32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Efficacy of Semi-supervision Detection</a:t>
            </a:r>
            <a:endParaRPr/>
          </a:p>
        </p:txBody>
      </p:sp>
      <p:sp>
        <p:nvSpPr>
          <p:cNvPr id="331" name="Google Shape;331;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2" name="Google Shape;332;p46"/>
          <p:cNvPicPr preferRelativeResize="0"/>
          <p:nvPr/>
        </p:nvPicPr>
        <p:blipFill>
          <a:blip r:embed="rId3">
            <a:alphaModFix/>
          </a:blip>
          <a:stretch>
            <a:fillRect/>
          </a:stretch>
        </p:blipFill>
        <p:spPr>
          <a:xfrm>
            <a:off x="1346212" y="1342363"/>
            <a:ext cx="6451574" cy="3036625"/>
          </a:xfrm>
          <a:prstGeom prst="rect">
            <a:avLst/>
          </a:prstGeom>
          <a:noFill/>
          <a:ln cap="flat" cmpd="sng" w="9525">
            <a:solidFill>
              <a:schemeClr val="dk2"/>
            </a:solidFill>
            <a:prstDash val="solid"/>
            <a:round/>
            <a:headEnd len="sm" w="sm" type="none"/>
            <a:tailEnd len="sm" w="sm" type="none"/>
          </a:ln>
        </p:spPr>
      </p:pic>
      <p:sp>
        <p:nvSpPr>
          <p:cNvPr id="333" name="Google Shape;333;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Overall Detection Efficacy Comparsion</a:t>
            </a:r>
            <a:endParaRPr/>
          </a:p>
        </p:txBody>
      </p:sp>
      <p:sp>
        <p:nvSpPr>
          <p:cNvPr id="339" name="Google Shape;339;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0" name="Google Shape;340;p47"/>
          <p:cNvPicPr preferRelativeResize="0"/>
          <p:nvPr/>
        </p:nvPicPr>
        <p:blipFill>
          <a:blip r:embed="rId3">
            <a:alphaModFix/>
          </a:blip>
          <a:stretch>
            <a:fillRect/>
          </a:stretch>
        </p:blipFill>
        <p:spPr>
          <a:xfrm>
            <a:off x="1595438" y="1317625"/>
            <a:ext cx="5953125" cy="3086100"/>
          </a:xfrm>
          <a:prstGeom prst="rect">
            <a:avLst/>
          </a:prstGeom>
          <a:noFill/>
          <a:ln cap="flat" cmpd="sng" w="9525">
            <a:solidFill>
              <a:schemeClr val="dk2"/>
            </a:solidFill>
            <a:prstDash val="solid"/>
            <a:round/>
            <a:headEnd len="sm" w="sm" type="none"/>
            <a:tailEnd len="sm" w="sm" type="none"/>
          </a:ln>
        </p:spPr>
      </p:pic>
      <p:sp>
        <p:nvSpPr>
          <p:cNvPr id="341" name="Google Shape;341;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Overall Detection Efficacy Comparsion</a:t>
            </a:r>
            <a:endParaRPr/>
          </a:p>
        </p:txBody>
      </p:sp>
      <p:sp>
        <p:nvSpPr>
          <p:cNvPr id="347" name="Google Shape;347;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8" name="Google Shape;348;p48"/>
          <p:cNvPicPr preferRelativeResize="0"/>
          <p:nvPr/>
        </p:nvPicPr>
        <p:blipFill>
          <a:blip r:embed="rId3">
            <a:alphaModFix/>
          </a:blip>
          <a:stretch>
            <a:fillRect/>
          </a:stretch>
        </p:blipFill>
        <p:spPr>
          <a:xfrm>
            <a:off x="2148169" y="0"/>
            <a:ext cx="4815780" cy="5109700"/>
          </a:xfrm>
          <a:prstGeom prst="rect">
            <a:avLst/>
          </a:prstGeom>
          <a:noFill/>
          <a:ln cap="flat" cmpd="sng" w="9525">
            <a:solidFill>
              <a:schemeClr val="dk2"/>
            </a:solidFill>
            <a:prstDash val="solid"/>
            <a:round/>
            <a:headEnd len="sm" w="sm" type="none"/>
            <a:tailEnd len="sm" w="sm" type="none"/>
          </a:ln>
        </p:spPr>
      </p:pic>
      <p:sp>
        <p:nvSpPr>
          <p:cNvPr id="349" name="Google Shape;34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System Overhead</a:t>
            </a:r>
            <a:endParaRPr/>
          </a:p>
        </p:txBody>
      </p:sp>
      <p:sp>
        <p:nvSpPr>
          <p:cNvPr id="355" name="Google Shape;355;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6" name="Google Shape;356;p49"/>
          <p:cNvPicPr preferRelativeResize="0"/>
          <p:nvPr/>
        </p:nvPicPr>
        <p:blipFill rotWithShape="1">
          <a:blip r:embed="rId3">
            <a:alphaModFix/>
          </a:blip>
          <a:srcRect b="0" l="0" r="0" t="36857"/>
          <a:stretch/>
        </p:blipFill>
        <p:spPr>
          <a:xfrm>
            <a:off x="4473075" y="1328125"/>
            <a:ext cx="4670925" cy="3065086"/>
          </a:xfrm>
          <a:prstGeom prst="rect">
            <a:avLst/>
          </a:prstGeom>
          <a:noFill/>
          <a:ln cap="flat" cmpd="sng" w="9525">
            <a:solidFill>
              <a:schemeClr val="dk2"/>
            </a:solidFill>
            <a:prstDash val="solid"/>
            <a:round/>
            <a:headEnd len="sm" w="sm" type="none"/>
            <a:tailEnd len="sm" w="sm" type="none"/>
          </a:ln>
        </p:spPr>
      </p:pic>
      <p:pic>
        <p:nvPicPr>
          <p:cNvPr id="357" name="Google Shape;357;p49"/>
          <p:cNvPicPr preferRelativeResize="0"/>
          <p:nvPr/>
        </p:nvPicPr>
        <p:blipFill rotWithShape="1">
          <a:blip r:embed="rId4">
            <a:alphaModFix/>
          </a:blip>
          <a:srcRect b="0" l="0" r="0" t="0"/>
          <a:stretch/>
        </p:blipFill>
        <p:spPr>
          <a:xfrm>
            <a:off x="0" y="2040301"/>
            <a:ext cx="4670926" cy="1640725"/>
          </a:xfrm>
          <a:prstGeom prst="rect">
            <a:avLst/>
          </a:prstGeom>
          <a:noFill/>
          <a:ln cap="flat" cmpd="sng" w="9525">
            <a:solidFill>
              <a:schemeClr val="dk2"/>
            </a:solidFill>
            <a:prstDash val="solid"/>
            <a:round/>
            <a:headEnd len="sm" w="sm" type="none"/>
            <a:tailEnd len="sm" w="sm" type="none"/>
          </a:ln>
        </p:spPr>
      </p:pic>
      <p:sp>
        <p:nvSpPr>
          <p:cNvPr id="358" name="Google Shape;35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Module Ablation Study</a:t>
            </a:r>
            <a:endParaRPr/>
          </a:p>
        </p:txBody>
      </p:sp>
      <p:sp>
        <p:nvSpPr>
          <p:cNvPr id="364" name="Google Shape;364;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5" name="Google Shape;365;p50"/>
          <p:cNvPicPr preferRelativeResize="0"/>
          <p:nvPr/>
        </p:nvPicPr>
        <p:blipFill>
          <a:blip r:embed="rId3">
            <a:alphaModFix/>
          </a:blip>
          <a:stretch>
            <a:fillRect/>
          </a:stretch>
        </p:blipFill>
        <p:spPr>
          <a:xfrm>
            <a:off x="1543050" y="1103300"/>
            <a:ext cx="6057900" cy="3514725"/>
          </a:xfrm>
          <a:prstGeom prst="rect">
            <a:avLst/>
          </a:prstGeom>
          <a:noFill/>
          <a:ln cap="flat" cmpd="sng" w="9525">
            <a:solidFill>
              <a:schemeClr val="dk2"/>
            </a:solidFill>
            <a:prstDash val="solid"/>
            <a:round/>
            <a:headEnd len="sm" w="sm" type="none"/>
            <a:tailEnd len="sm" w="sm" type="none"/>
          </a:ln>
        </p:spPr>
      </p:pic>
      <p:sp>
        <p:nvSpPr>
          <p:cNvPr id="366" name="Google Shape;366;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Hyperparameter Investigation</a:t>
            </a:r>
            <a:endParaRPr/>
          </a:p>
        </p:txBody>
      </p:sp>
      <p:sp>
        <p:nvSpPr>
          <p:cNvPr id="372" name="Google Shape;372;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3" name="Google Shape;373;p51"/>
          <p:cNvPicPr preferRelativeResize="0"/>
          <p:nvPr/>
        </p:nvPicPr>
        <p:blipFill>
          <a:blip r:embed="rId3">
            <a:alphaModFix/>
          </a:blip>
          <a:stretch>
            <a:fillRect/>
          </a:stretch>
        </p:blipFill>
        <p:spPr>
          <a:xfrm>
            <a:off x="1938800" y="1017725"/>
            <a:ext cx="5598550" cy="4150950"/>
          </a:xfrm>
          <a:prstGeom prst="rect">
            <a:avLst/>
          </a:prstGeom>
          <a:noFill/>
          <a:ln cap="flat" cmpd="sng" w="9525">
            <a:solidFill>
              <a:schemeClr val="dk2"/>
            </a:solidFill>
            <a:prstDash val="solid"/>
            <a:round/>
            <a:headEnd len="sm" w="sm" type="none"/>
            <a:tailEnd len="sm" w="sm" type="none"/>
          </a:ln>
        </p:spPr>
      </p:pic>
      <p:sp>
        <p:nvSpPr>
          <p:cNvPr id="374" name="Google Shape;37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2"/>
          <p:cNvSpPr txBox="1"/>
          <p:nvPr>
            <p:ph type="title"/>
          </p:nvPr>
        </p:nvSpPr>
        <p:spPr>
          <a:xfrm>
            <a:off x="311700" y="579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Resilience to Adversarial Attacks</a:t>
            </a:r>
            <a:endParaRPr/>
          </a:p>
        </p:txBody>
      </p:sp>
      <p:sp>
        <p:nvSpPr>
          <p:cNvPr id="380" name="Google Shape;380;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1" name="Google Shape;381;p52"/>
          <p:cNvPicPr preferRelativeResize="0"/>
          <p:nvPr/>
        </p:nvPicPr>
        <p:blipFill>
          <a:blip r:embed="rId3">
            <a:alphaModFix/>
          </a:blip>
          <a:stretch>
            <a:fillRect/>
          </a:stretch>
        </p:blipFill>
        <p:spPr>
          <a:xfrm>
            <a:off x="1528443" y="1152475"/>
            <a:ext cx="6087108" cy="3991026"/>
          </a:xfrm>
          <a:prstGeom prst="rect">
            <a:avLst/>
          </a:prstGeom>
          <a:noFill/>
          <a:ln cap="flat" cmpd="sng" w="9525">
            <a:solidFill>
              <a:schemeClr val="dk2"/>
            </a:solidFill>
            <a:prstDash val="solid"/>
            <a:round/>
            <a:headEnd len="sm" w="sm" type="none"/>
            <a:tailEnd len="sm" w="sm" type="none"/>
          </a:ln>
        </p:spPr>
      </p:pic>
      <p:sp>
        <p:nvSpPr>
          <p:cNvPr id="382" name="Google Shape;38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3"/>
          <p:cNvSpPr txBox="1"/>
          <p:nvPr>
            <p:ph type="title"/>
          </p:nvPr>
        </p:nvSpPr>
        <p:spPr>
          <a:xfrm>
            <a:off x="311700" y="579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Resilience to Adversarial Attacks</a:t>
            </a:r>
            <a:endParaRPr/>
          </a:p>
        </p:txBody>
      </p:sp>
      <p:sp>
        <p:nvSpPr>
          <p:cNvPr id="388" name="Google Shape;38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9" name="Google Shape;389;p53"/>
          <p:cNvPicPr preferRelativeResize="0"/>
          <p:nvPr/>
        </p:nvPicPr>
        <p:blipFill>
          <a:blip r:embed="rId3">
            <a:alphaModFix/>
          </a:blip>
          <a:stretch>
            <a:fillRect/>
          </a:stretch>
        </p:blipFill>
        <p:spPr>
          <a:xfrm>
            <a:off x="1619250" y="1060450"/>
            <a:ext cx="5905500" cy="3600450"/>
          </a:xfrm>
          <a:prstGeom prst="rect">
            <a:avLst/>
          </a:prstGeom>
          <a:noFill/>
          <a:ln cap="flat" cmpd="sng" w="9525">
            <a:solidFill>
              <a:schemeClr val="dk2"/>
            </a:solidFill>
            <a:prstDash val="solid"/>
            <a:round/>
            <a:headEnd len="sm" w="sm" type="none"/>
            <a:tailEnd len="sm" w="sm" type="none"/>
          </a:ln>
        </p:spPr>
      </p:pic>
      <p:sp>
        <p:nvSpPr>
          <p:cNvPr id="390" name="Google Shape;390;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Alert Validation</a:t>
            </a:r>
            <a:endParaRPr/>
          </a:p>
        </p:txBody>
      </p:sp>
      <p:sp>
        <p:nvSpPr>
          <p:cNvPr id="396" name="Google Shape;39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97" name="Google Shape;397;p54"/>
          <p:cNvPicPr preferRelativeResize="0"/>
          <p:nvPr/>
        </p:nvPicPr>
        <p:blipFill>
          <a:blip r:embed="rId3">
            <a:alphaModFix/>
          </a:blip>
          <a:stretch>
            <a:fillRect/>
          </a:stretch>
        </p:blipFill>
        <p:spPr>
          <a:xfrm>
            <a:off x="166847" y="1716450"/>
            <a:ext cx="4405150" cy="2475725"/>
          </a:xfrm>
          <a:prstGeom prst="rect">
            <a:avLst/>
          </a:prstGeom>
          <a:noFill/>
          <a:ln cap="flat" cmpd="sng" w="9525">
            <a:solidFill>
              <a:schemeClr val="dk2"/>
            </a:solidFill>
            <a:prstDash val="solid"/>
            <a:round/>
            <a:headEnd len="sm" w="sm" type="none"/>
            <a:tailEnd len="sm" w="sm" type="none"/>
          </a:ln>
        </p:spPr>
      </p:pic>
      <p:pic>
        <p:nvPicPr>
          <p:cNvPr id="398" name="Google Shape;398;p54"/>
          <p:cNvPicPr preferRelativeResize="0"/>
          <p:nvPr/>
        </p:nvPicPr>
        <p:blipFill>
          <a:blip r:embed="rId4">
            <a:alphaModFix/>
          </a:blip>
          <a:stretch>
            <a:fillRect/>
          </a:stretch>
        </p:blipFill>
        <p:spPr>
          <a:xfrm>
            <a:off x="4572000" y="940742"/>
            <a:ext cx="4460076" cy="4027133"/>
          </a:xfrm>
          <a:prstGeom prst="rect">
            <a:avLst/>
          </a:prstGeom>
          <a:noFill/>
          <a:ln cap="flat" cmpd="sng" w="9525">
            <a:solidFill>
              <a:schemeClr val="dk2"/>
            </a:solidFill>
            <a:prstDash val="solid"/>
            <a:round/>
            <a:headEnd len="sm" w="sm" type="none"/>
            <a:tailEnd len="sm" w="sm" type="none"/>
          </a:ln>
        </p:spPr>
      </p:pic>
      <p:sp>
        <p:nvSpPr>
          <p:cNvPr id="399" name="Google Shape;399;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Discussion</a:t>
            </a:r>
            <a:endParaRPr/>
          </a:p>
        </p:txBody>
      </p:sp>
      <p:sp>
        <p:nvSpPr>
          <p:cNvPr id="405" name="Google Shape;405;p55"/>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zh-TW">
                <a:solidFill>
                  <a:schemeClr val="dk1"/>
                </a:solidFill>
              </a:rPr>
              <a:t>Unknown Attacks</a:t>
            </a:r>
            <a:endParaRPr b="1">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However, APT attacks involve numerous unknown 0-day attacks.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Relying solely on feature isolation for anomaly detection tends to result in a high false positive rate, and requires appropriate confidence levels to balance model-based learning detection and anomaly detection.</a:t>
            </a:r>
            <a:endParaRPr sz="1600">
              <a:solidFill>
                <a:schemeClr val="dk1"/>
              </a:solidFill>
            </a:endParaRPr>
          </a:p>
          <a:p>
            <a:pPr indent="-342900" lvl="0" marL="457200" rtl="0" algn="l">
              <a:spcBef>
                <a:spcPts val="0"/>
              </a:spcBef>
              <a:spcAft>
                <a:spcPts val="0"/>
              </a:spcAft>
              <a:buClr>
                <a:schemeClr val="dk1"/>
              </a:buClr>
              <a:buSzPts val="1800"/>
              <a:buChar char="●"/>
            </a:pPr>
            <a:r>
              <a:rPr b="1" lang="zh-TW">
                <a:solidFill>
                  <a:schemeClr val="dk1"/>
                </a:solidFill>
              </a:rPr>
              <a:t>Concept drift</a:t>
            </a:r>
            <a:endParaRPr b="1">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Slot can also adopt current small-batch incremental learning methods  and historical data forgetting mechanisms [20] to adapt to these changes, thereby enhancing the adaptability and accuracy of the model.</a:t>
            </a:r>
            <a:endParaRPr sz="1600">
              <a:solidFill>
                <a:schemeClr val="dk1"/>
              </a:solidFill>
            </a:endParaRPr>
          </a:p>
          <a:p>
            <a:pPr indent="-342900" lvl="0" marL="457200" rtl="0" algn="l">
              <a:spcBef>
                <a:spcPts val="0"/>
              </a:spcBef>
              <a:spcAft>
                <a:spcPts val="0"/>
              </a:spcAft>
              <a:buClr>
                <a:schemeClr val="dk1"/>
              </a:buClr>
              <a:buSzPts val="1800"/>
              <a:buChar char="●"/>
            </a:pPr>
            <a:r>
              <a:rPr b="1" lang="zh-TW">
                <a:solidFill>
                  <a:schemeClr val="dk1"/>
                </a:solidFill>
              </a:rPr>
              <a:t>Adversarial attacks</a:t>
            </a:r>
            <a:endParaRPr b="1">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existing methods such as adversarial training and gradient masking  have shown to be effective defenses, and Slot can integrate and extend these methods accordingly</a:t>
            </a:r>
            <a:endParaRPr sz="1600">
              <a:solidFill>
                <a:schemeClr val="dk1"/>
              </a:solidFill>
            </a:endParaRPr>
          </a:p>
        </p:txBody>
      </p:sp>
      <p:sp>
        <p:nvSpPr>
          <p:cNvPr id="406" name="Google Shape;406;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Conclusion</a:t>
            </a:r>
            <a:endParaRPr/>
          </a:p>
        </p:txBody>
      </p:sp>
      <p:sp>
        <p:nvSpPr>
          <p:cNvPr id="412" name="Google Shape;412;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Existing methods often fall short in addressing challenges like limited detection efficacy, vulnerability to adversarial attacks, and insufficient support for developing defense strategies.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Slot boosts semi-supervised learning with limited labels via efficient label similarity computation... [and] leverages graph reinforcement learning to adapt to new user activities and attack strategies.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Our evaluations show Slot’s effectiveness, achieving 99% APT detection accuracy and outperforming state-of-the-art approaches.</a:t>
            </a:r>
            <a:endParaRPr>
              <a:solidFill>
                <a:schemeClr val="dk1"/>
              </a:solidFill>
            </a:endParaRPr>
          </a:p>
        </p:txBody>
      </p:sp>
      <p:sp>
        <p:nvSpPr>
          <p:cNvPr id="413" name="Google Shape;413;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7" name="Shape 417"/>
        <p:cNvGrpSpPr/>
        <p:nvPr/>
      </p:nvGrpSpPr>
      <p:grpSpPr>
        <a:xfrm>
          <a:off x="0" y="0"/>
          <a:ext cx="0" cy="0"/>
          <a:chOff x="0" y="0"/>
          <a:chExt cx="0" cy="0"/>
        </a:xfrm>
      </p:grpSpPr>
      <p:sp>
        <p:nvSpPr>
          <p:cNvPr id="418" name="Google Shape;418;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19" name="Google Shape;419;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20" name="Google Shape;420;p57"/>
          <p:cNvPicPr preferRelativeResize="0"/>
          <p:nvPr/>
        </p:nvPicPr>
        <p:blipFill>
          <a:blip r:embed="rId3">
            <a:alphaModFix/>
          </a:blip>
          <a:stretch>
            <a:fillRect/>
          </a:stretch>
        </p:blipFill>
        <p:spPr>
          <a:xfrm>
            <a:off x="488175" y="1290600"/>
            <a:ext cx="8167657" cy="361101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