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e39f54e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e39f54e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796631" y="4770361"/>
            <a:ext cx="1213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Loss = crf_loss + w * focal_loss</a:t>
            </a:r>
            <a:endParaRPr sz="566"/>
          </a:p>
        </p:txBody>
      </p:sp>
      <p:sp>
        <p:nvSpPr>
          <p:cNvPr id="55" name="Google Shape;55;p13"/>
          <p:cNvSpPr/>
          <p:nvPr/>
        </p:nvSpPr>
        <p:spPr>
          <a:xfrm>
            <a:off x="5437275" y="2992875"/>
            <a:ext cx="3706800" cy="215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992925" y="1158298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311700" y="7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539779" y="643650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embedding</a:t>
            </a:r>
            <a:endParaRPr/>
          </a:p>
        </p:txBody>
      </p:sp>
      <p:cxnSp>
        <p:nvCxnSpPr>
          <p:cNvPr id="59" name="Google Shape;59;p13"/>
          <p:cNvCxnSpPr>
            <a:stCxn id="58" idx="2"/>
          </p:cNvCxnSpPr>
          <p:nvPr/>
        </p:nvCxnSpPr>
        <p:spPr>
          <a:xfrm>
            <a:off x="2308829" y="1101750"/>
            <a:ext cx="2400" cy="18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" name="Google Shape;60;p13"/>
          <p:cNvSpPr/>
          <p:nvPr/>
        </p:nvSpPr>
        <p:spPr>
          <a:xfrm>
            <a:off x="4572000" y="220827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61" name="Google Shape;61;p13"/>
          <p:cNvCxnSpPr>
            <a:stCxn id="60" idx="3"/>
            <a:endCxn id="62" idx="1"/>
          </p:cNvCxnSpPr>
          <p:nvPr/>
        </p:nvCxnSpPr>
        <p:spPr>
          <a:xfrm>
            <a:off x="5363100" y="2437325"/>
            <a:ext cx="6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" name="Google Shape;63;p13"/>
          <p:cNvSpPr txBox="1"/>
          <p:nvPr/>
        </p:nvSpPr>
        <p:spPr>
          <a:xfrm>
            <a:off x="5414555" y="1844858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h2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211650" y="3954731"/>
            <a:ext cx="5149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proto: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每個TTP的proto一開始都會被隨機初始化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使用h1學習並映射在256維的標籤座標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ex:(v1, v2, v3, ..., v_256)</a:t>
            </a:r>
            <a:endParaRPr sz="1600"/>
          </a:p>
        </p:txBody>
      </p:sp>
      <p:sp>
        <p:nvSpPr>
          <p:cNvPr id="65" name="Google Shape;65;p13"/>
          <p:cNvSpPr/>
          <p:nvPr/>
        </p:nvSpPr>
        <p:spPr>
          <a:xfrm>
            <a:off x="6014700" y="2208286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66" name="Google Shape;66;p13"/>
          <p:cNvCxnSpPr/>
          <p:nvPr/>
        </p:nvCxnSpPr>
        <p:spPr>
          <a:xfrm>
            <a:off x="6805800" y="2437325"/>
            <a:ext cx="6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" name="Google Shape;67;p13"/>
          <p:cNvSpPr txBox="1"/>
          <p:nvPr/>
        </p:nvSpPr>
        <p:spPr>
          <a:xfrm>
            <a:off x="7457400" y="2237225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3345075" y="561675"/>
            <a:ext cx="206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(Q:proto, K:h1, V:h1)</a:t>
            </a:r>
            <a:endParaRPr sz="1600"/>
          </a:p>
        </p:txBody>
      </p:sp>
      <p:sp>
        <p:nvSpPr>
          <p:cNvPr id="69" name="Google Shape;69;p13"/>
          <p:cNvSpPr txBox="1"/>
          <p:nvPr/>
        </p:nvSpPr>
        <p:spPr>
          <a:xfrm>
            <a:off x="0" y="672600"/>
            <a:ext cx="9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dim:256</a:t>
            </a:r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5631600" y="438675"/>
            <a:ext cx="310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把proto當作Q的用意是為了分辨不同TTP但h1相似的embedding</a:t>
            </a:r>
            <a:endParaRPr/>
          </a:p>
        </p:txBody>
      </p:sp>
      <p:cxnSp>
        <p:nvCxnSpPr>
          <p:cNvPr id="71" name="Google Shape;71;p13"/>
          <p:cNvCxnSpPr>
            <a:stCxn id="68" idx="3"/>
            <a:endCxn id="70" idx="1"/>
          </p:cNvCxnSpPr>
          <p:nvPr/>
        </p:nvCxnSpPr>
        <p:spPr>
          <a:xfrm>
            <a:off x="5414475" y="777225"/>
            <a:ext cx="21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3"/>
          <p:cNvSpPr/>
          <p:nvPr/>
        </p:nvSpPr>
        <p:spPr>
          <a:xfrm>
            <a:off x="995725" y="1679232"/>
            <a:ext cx="2626200" cy="1710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cxnSp>
        <p:nvCxnSpPr>
          <p:cNvPr id="73" name="Google Shape;73;p13"/>
          <p:cNvCxnSpPr>
            <a:stCxn id="74" idx="2"/>
            <a:endCxn id="60" idx="1"/>
          </p:cNvCxnSpPr>
          <p:nvPr/>
        </p:nvCxnSpPr>
        <p:spPr>
          <a:xfrm rot="-5400000">
            <a:off x="3057400" y="1667807"/>
            <a:ext cx="744900" cy="2284200"/>
          </a:xfrm>
          <a:prstGeom prst="curvedConnector4">
            <a:avLst>
              <a:gd fmla="val -31967" name="adj1"/>
              <a:gd fmla="val 7054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3"/>
          <p:cNvSpPr/>
          <p:nvPr/>
        </p:nvSpPr>
        <p:spPr>
          <a:xfrm>
            <a:off x="1349425" y="2019507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sp>
        <p:nvSpPr>
          <p:cNvPr id="76" name="Google Shape;76;p13"/>
          <p:cNvSpPr txBox="1"/>
          <p:nvPr/>
        </p:nvSpPr>
        <p:spPr>
          <a:xfrm>
            <a:off x="2927550" y="2387357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/>
          </a:p>
        </p:txBody>
      </p:sp>
      <p:cxnSp>
        <p:nvCxnSpPr>
          <p:cNvPr id="77" name="Google Shape;77;p13"/>
          <p:cNvCxnSpPr>
            <a:stCxn id="76" idx="3"/>
            <a:endCxn id="60" idx="0"/>
          </p:cNvCxnSpPr>
          <p:nvPr/>
        </p:nvCxnSpPr>
        <p:spPr>
          <a:xfrm flipH="1" rot="10800000">
            <a:off x="3476250" y="2208407"/>
            <a:ext cx="1491300" cy="394500"/>
          </a:xfrm>
          <a:prstGeom prst="curvedConnector4">
            <a:avLst>
              <a:gd fmla="val 36738" name="adj1"/>
              <a:gd fmla="val 16039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3"/>
          <p:cNvCxnSpPr/>
          <p:nvPr/>
        </p:nvCxnSpPr>
        <p:spPr>
          <a:xfrm>
            <a:off x="2287829" y="2477607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" name="Google Shape;74;p13"/>
          <p:cNvSpPr/>
          <p:nvPr/>
        </p:nvSpPr>
        <p:spPr>
          <a:xfrm>
            <a:off x="1349350" y="2724257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PrototypeEncoder </a:t>
            </a:r>
            <a:endParaRPr/>
          </a:p>
        </p:txBody>
      </p:sp>
      <p:sp>
        <p:nvSpPr>
          <p:cNvPr id="79" name="Google Shape;79;p13"/>
          <p:cNvSpPr txBox="1"/>
          <p:nvPr/>
        </p:nvSpPr>
        <p:spPr>
          <a:xfrm>
            <a:off x="211600" y="3636300"/>
            <a:ext cx="514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h1:</a:t>
            </a:r>
            <a:r>
              <a:rPr lang="zh-TW" sz="1600">
                <a:solidFill>
                  <a:schemeClr val="dk1"/>
                </a:solidFill>
              </a:rPr>
              <a:t>用audit log 做self-attention產出的特徵向量</a:t>
            </a:r>
            <a:endParaRPr/>
          </a:p>
        </p:txBody>
      </p:sp>
      <p:sp>
        <p:nvSpPr>
          <p:cNvPr id="80" name="Google Shape;80;p13"/>
          <p:cNvSpPr txBox="1"/>
          <p:nvPr/>
        </p:nvSpPr>
        <p:spPr>
          <a:xfrm>
            <a:off x="3345075" y="3284751"/>
            <a:ext cx="65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proto</a:t>
            </a:r>
            <a:endParaRPr sz="1600"/>
          </a:p>
        </p:txBody>
      </p:sp>
      <p:cxnSp>
        <p:nvCxnSpPr>
          <p:cNvPr id="81" name="Google Shape;81;p13"/>
          <p:cNvCxnSpPr/>
          <p:nvPr/>
        </p:nvCxnSpPr>
        <p:spPr>
          <a:xfrm>
            <a:off x="2308829" y="1498332"/>
            <a:ext cx="2400" cy="18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p13"/>
          <p:cNvSpPr txBox="1"/>
          <p:nvPr/>
        </p:nvSpPr>
        <p:spPr>
          <a:xfrm>
            <a:off x="6723917" y="4666564"/>
            <a:ext cx="22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h3</a:t>
            </a:r>
            <a:endParaRPr sz="566"/>
          </a:p>
        </p:txBody>
      </p:sp>
      <p:sp>
        <p:nvSpPr>
          <p:cNvPr id="83" name="Google Shape;83;p13"/>
          <p:cNvSpPr txBox="1"/>
          <p:nvPr>
            <p:ph type="title"/>
          </p:nvPr>
        </p:nvSpPr>
        <p:spPr>
          <a:xfrm>
            <a:off x="5442105" y="3029800"/>
            <a:ext cx="1718400" cy="231600"/>
          </a:xfrm>
          <a:prstGeom prst="rect">
            <a:avLst/>
          </a:prstGeom>
        </p:spPr>
        <p:txBody>
          <a:bodyPr anchorCtr="0" anchor="t" bIns="37000" lIns="37000" spcFirstLastPara="1" rIns="37000" wrap="square" tIns="37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33"/>
              <a:t>Structure - TTP detection</a:t>
            </a:r>
            <a:endParaRPr sz="1133"/>
          </a:p>
        </p:txBody>
      </p:sp>
      <p:sp>
        <p:nvSpPr>
          <p:cNvPr id="84" name="Google Shape;84;p13"/>
          <p:cNvSpPr/>
          <p:nvPr/>
        </p:nvSpPr>
        <p:spPr>
          <a:xfrm>
            <a:off x="5531445" y="3285587"/>
            <a:ext cx="622200" cy="185400"/>
          </a:xfrm>
          <a:prstGeom prst="rect">
            <a:avLst/>
          </a:prstGeom>
          <a:solidFill>
            <a:srgbClr val="FFE599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TTP embedding</a:t>
            </a:r>
            <a:endParaRPr sz="566"/>
          </a:p>
        </p:txBody>
      </p:sp>
      <p:sp>
        <p:nvSpPr>
          <p:cNvPr id="85" name="Google Shape;85;p13"/>
          <p:cNvSpPr/>
          <p:nvPr/>
        </p:nvSpPr>
        <p:spPr>
          <a:xfrm>
            <a:off x="5831570" y="3572494"/>
            <a:ext cx="1062600" cy="692100"/>
          </a:xfrm>
          <a:prstGeom prst="rect">
            <a:avLst/>
          </a:prstGeom>
          <a:solidFill>
            <a:srgbClr val="C9DAF8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Prototype Encoder</a:t>
            </a:r>
            <a:endParaRPr sz="566"/>
          </a:p>
        </p:txBody>
      </p:sp>
      <p:cxnSp>
        <p:nvCxnSpPr>
          <p:cNvPr id="86" name="Google Shape;86;p13"/>
          <p:cNvCxnSpPr>
            <a:stCxn id="87" idx="2"/>
            <a:endCxn id="88" idx="1"/>
          </p:cNvCxnSpPr>
          <p:nvPr/>
        </p:nvCxnSpPr>
        <p:spPr>
          <a:xfrm rot="5400000">
            <a:off x="5874589" y="4103289"/>
            <a:ext cx="402300" cy="557100"/>
          </a:xfrm>
          <a:prstGeom prst="curvedConnector4">
            <a:avLst>
              <a:gd fmla="val 38477" name="adj1"/>
              <a:gd fmla="val 117304" name="adj2"/>
            </a:avLst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9" name="Google Shape;89;p13"/>
          <p:cNvGrpSpPr/>
          <p:nvPr/>
        </p:nvGrpSpPr>
        <p:grpSpPr>
          <a:xfrm>
            <a:off x="7798645" y="3586472"/>
            <a:ext cx="1278253" cy="719541"/>
            <a:chOff x="5857450" y="1394875"/>
            <a:chExt cx="3159300" cy="1778400"/>
          </a:xfrm>
        </p:grpSpPr>
        <p:sp>
          <p:nvSpPr>
            <p:cNvPr id="90" name="Google Shape;90;p13"/>
            <p:cNvSpPr/>
            <p:nvPr/>
          </p:nvSpPr>
          <p:spPr>
            <a:xfrm>
              <a:off x="5857450" y="1394875"/>
              <a:ext cx="3159300" cy="1778400"/>
            </a:xfrm>
            <a:prstGeom prst="rect">
              <a:avLst/>
            </a:prstGeom>
            <a:solidFill>
              <a:srgbClr val="FCE5CD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Graph Transformer</a:t>
              </a:r>
              <a:endParaRPr sz="566"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076196" y="1711375"/>
              <a:ext cx="12984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Multi-head attention</a:t>
              </a:r>
              <a:endParaRPr sz="566"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113850" y="2476450"/>
              <a:ext cx="12231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Residual + LayerNorm</a:t>
              </a:r>
              <a:endParaRPr sz="566"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7827274" y="1711375"/>
              <a:ext cx="7911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FFN</a:t>
              </a:r>
              <a:endParaRPr sz="566"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7633175" y="2476450"/>
              <a:ext cx="11355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Residual + LayerNorm</a:t>
              </a:r>
              <a:endParaRPr sz="566"/>
            </a:p>
          </p:txBody>
        </p:sp>
        <p:cxnSp>
          <p:nvCxnSpPr>
            <p:cNvPr id="95" name="Google Shape;95;p13"/>
            <p:cNvCxnSpPr>
              <a:stCxn id="91" idx="2"/>
              <a:endCxn id="92" idx="0"/>
            </p:cNvCxnSpPr>
            <p:nvPr/>
          </p:nvCxnSpPr>
          <p:spPr>
            <a:xfrm>
              <a:off x="6725396" y="2284075"/>
              <a:ext cx="0" cy="192300"/>
            </a:xfrm>
            <a:prstGeom prst="straightConnector1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6" name="Google Shape;96;p13"/>
            <p:cNvCxnSpPr>
              <a:stCxn id="92" idx="3"/>
              <a:endCxn id="93" idx="1"/>
            </p:cNvCxnSpPr>
            <p:nvPr/>
          </p:nvCxnSpPr>
          <p:spPr>
            <a:xfrm flipH="1" rot="10800000">
              <a:off x="7336950" y="1997800"/>
              <a:ext cx="490200" cy="765000"/>
            </a:xfrm>
            <a:prstGeom prst="straightConnector1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7" name="Google Shape;97;p13"/>
            <p:cNvCxnSpPr>
              <a:stCxn id="93" idx="2"/>
              <a:endCxn id="94" idx="0"/>
            </p:cNvCxnSpPr>
            <p:nvPr/>
          </p:nvCxnSpPr>
          <p:spPr>
            <a:xfrm flipH="1">
              <a:off x="8200924" y="2284075"/>
              <a:ext cx="21900" cy="192300"/>
            </a:xfrm>
            <a:prstGeom prst="straightConnector1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8" name="Google Shape;98;p13"/>
          <p:cNvSpPr/>
          <p:nvPr/>
        </p:nvSpPr>
        <p:spPr>
          <a:xfrm>
            <a:off x="5974670" y="3710162"/>
            <a:ext cx="759300" cy="185400"/>
          </a:xfrm>
          <a:prstGeom prst="rect">
            <a:avLst/>
          </a:prstGeom>
          <a:solidFill>
            <a:srgbClr val="EFEFEF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Graph Self-Attention</a:t>
            </a:r>
            <a:endParaRPr sz="566"/>
          </a:p>
        </p:txBody>
      </p:sp>
      <p:sp>
        <p:nvSpPr>
          <p:cNvPr id="88" name="Google Shape;88;p13"/>
          <p:cNvSpPr/>
          <p:nvPr/>
        </p:nvSpPr>
        <p:spPr>
          <a:xfrm>
            <a:off x="5797272" y="4490251"/>
            <a:ext cx="320100" cy="185400"/>
          </a:xfrm>
          <a:prstGeom prst="rect">
            <a:avLst/>
          </a:prstGeom>
          <a:solidFill>
            <a:srgbClr val="FCE5CD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GT</a:t>
            </a:r>
            <a:endParaRPr sz="566"/>
          </a:p>
        </p:txBody>
      </p:sp>
      <p:sp>
        <p:nvSpPr>
          <p:cNvPr id="99" name="Google Shape;99;p13"/>
          <p:cNvSpPr/>
          <p:nvPr/>
        </p:nvSpPr>
        <p:spPr>
          <a:xfrm>
            <a:off x="7073062" y="4490913"/>
            <a:ext cx="320100" cy="185400"/>
          </a:xfrm>
          <a:prstGeom prst="rect">
            <a:avLst/>
          </a:prstGeom>
          <a:solidFill>
            <a:srgbClr val="FCE5CD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GT</a:t>
            </a:r>
            <a:endParaRPr sz="566"/>
          </a:p>
        </p:txBody>
      </p:sp>
      <p:cxnSp>
        <p:nvCxnSpPr>
          <p:cNvPr id="100" name="Google Shape;100;p13"/>
          <p:cNvCxnSpPr>
            <a:stCxn id="88" idx="3"/>
            <a:endCxn id="101" idx="1"/>
          </p:cNvCxnSpPr>
          <p:nvPr/>
        </p:nvCxnSpPr>
        <p:spPr>
          <a:xfrm>
            <a:off x="6117372" y="4582951"/>
            <a:ext cx="2925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3"/>
          <p:cNvCxnSpPr>
            <a:stCxn id="99" idx="3"/>
            <a:endCxn id="103" idx="1"/>
          </p:cNvCxnSpPr>
          <p:nvPr/>
        </p:nvCxnSpPr>
        <p:spPr>
          <a:xfrm>
            <a:off x="7393162" y="4583613"/>
            <a:ext cx="1260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p13"/>
          <p:cNvSpPr/>
          <p:nvPr/>
        </p:nvSpPr>
        <p:spPr>
          <a:xfrm>
            <a:off x="7519181" y="4490918"/>
            <a:ext cx="3201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Linear</a:t>
            </a:r>
            <a:endParaRPr sz="566"/>
          </a:p>
        </p:txBody>
      </p:sp>
      <p:cxnSp>
        <p:nvCxnSpPr>
          <p:cNvPr id="104" name="Google Shape;104;p13"/>
          <p:cNvCxnSpPr>
            <a:stCxn id="103" idx="3"/>
            <a:endCxn id="105" idx="1"/>
          </p:cNvCxnSpPr>
          <p:nvPr/>
        </p:nvCxnSpPr>
        <p:spPr>
          <a:xfrm>
            <a:off x="7839281" y="4583618"/>
            <a:ext cx="1260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3"/>
          <p:cNvSpPr/>
          <p:nvPr/>
        </p:nvSpPr>
        <p:spPr>
          <a:xfrm>
            <a:off x="7965214" y="4490918"/>
            <a:ext cx="3753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Sigmoid</a:t>
            </a:r>
            <a:endParaRPr sz="566"/>
          </a:p>
        </p:txBody>
      </p:sp>
      <p:sp>
        <p:nvSpPr>
          <p:cNvPr id="106" name="Google Shape;106;p13"/>
          <p:cNvSpPr/>
          <p:nvPr/>
        </p:nvSpPr>
        <p:spPr>
          <a:xfrm>
            <a:off x="8466483" y="4490941"/>
            <a:ext cx="5952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Predicted label</a:t>
            </a:r>
            <a:endParaRPr sz="566"/>
          </a:p>
        </p:txBody>
      </p:sp>
      <p:cxnSp>
        <p:nvCxnSpPr>
          <p:cNvPr id="107" name="Google Shape;107;p13"/>
          <p:cNvCxnSpPr>
            <a:stCxn id="105" idx="3"/>
            <a:endCxn id="106" idx="1"/>
          </p:cNvCxnSpPr>
          <p:nvPr/>
        </p:nvCxnSpPr>
        <p:spPr>
          <a:xfrm>
            <a:off x="8340514" y="4583618"/>
            <a:ext cx="1260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3"/>
          <p:cNvSpPr txBox="1"/>
          <p:nvPr/>
        </p:nvSpPr>
        <p:spPr>
          <a:xfrm>
            <a:off x="5360863" y="4764110"/>
            <a:ext cx="1155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(Q:proto, K:h1, V:h1)</a:t>
            </a:r>
            <a:endParaRPr sz="647"/>
          </a:p>
        </p:txBody>
      </p:sp>
      <p:sp>
        <p:nvSpPr>
          <p:cNvPr id="109" name="Google Shape;109;p13"/>
          <p:cNvSpPr txBox="1"/>
          <p:nvPr/>
        </p:nvSpPr>
        <p:spPr>
          <a:xfrm>
            <a:off x="7138432" y="4161500"/>
            <a:ext cx="255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h1</a:t>
            </a:r>
            <a:endParaRPr sz="566"/>
          </a:p>
        </p:txBody>
      </p:sp>
      <p:sp>
        <p:nvSpPr>
          <p:cNvPr id="110" name="Google Shape;110;p13"/>
          <p:cNvSpPr txBox="1"/>
          <p:nvPr/>
        </p:nvSpPr>
        <p:spPr>
          <a:xfrm>
            <a:off x="6613146" y="3858987"/>
            <a:ext cx="22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h1</a:t>
            </a:r>
            <a:endParaRPr sz="566"/>
          </a:p>
        </p:txBody>
      </p:sp>
      <p:sp>
        <p:nvSpPr>
          <p:cNvPr id="101" name="Google Shape;101;p13"/>
          <p:cNvSpPr/>
          <p:nvPr/>
        </p:nvSpPr>
        <p:spPr>
          <a:xfrm>
            <a:off x="6409845" y="4490260"/>
            <a:ext cx="320100" cy="185400"/>
          </a:xfrm>
          <a:prstGeom prst="rect">
            <a:avLst/>
          </a:prstGeom>
          <a:solidFill>
            <a:srgbClr val="FCE5CD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GT</a:t>
            </a:r>
            <a:endParaRPr sz="566"/>
          </a:p>
        </p:txBody>
      </p:sp>
      <p:cxnSp>
        <p:nvCxnSpPr>
          <p:cNvPr id="111" name="Google Shape;111;p13"/>
          <p:cNvCxnSpPr>
            <a:stCxn id="101" idx="3"/>
            <a:endCxn id="99" idx="1"/>
          </p:cNvCxnSpPr>
          <p:nvPr/>
        </p:nvCxnSpPr>
        <p:spPr>
          <a:xfrm>
            <a:off x="6729945" y="4582960"/>
            <a:ext cx="343200" cy="6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13"/>
          <p:cNvSpPr txBox="1"/>
          <p:nvPr/>
        </p:nvSpPr>
        <p:spPr>
          <a:xfrm>
            <a:off x="5992320" y="4901161"/>
            <a:ext cx="1155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(Q:h2, K:h2, V:h2)</a:t>
            </a:r>
            <a:endParaRPr sz="647"/>
          </a:p>
        </p:txBody>
      </p:sp>
      <p:sp>
        <p:nvSpPr>
          <p:cNvPr id="113" name="Google Shape;113;p13"/>
          <p:cNvSpPr txBox="1"/>
          <p:nvPr/>
        </p:nvSpPr>
        <p:spPr>
          <a:xfrm>
            <a:off x="6165740" y="4385165"/>
            <a:ext cx="22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h2</a:t>
            </a:r>
            <a:endParaRPr sz="566"/>
          </a:p>
        </p:txBody>
      </p:sp>
      <p:cxnSp>
        <p:nvCxnSpPr>
          <p:cNvPr id="114" name="Google Shape;114;p13"/>
          <p:cNvCxnSpPr>
            <a:stCxn id="88" idx="2"/>
            <a:endCxn id="108" idx="0"/>
          </p:cNvCxnSpPr>
          <p:nvPr/>
        </p:nvCxnSpPr>
        <p:spPr>
          <a:xfrm flipH="1">
            <a:off x="5938422" y="4675651"/>
            <a:ext cx="18900" cy="885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3"/>
          <p:cNvCxnSpPr>
            <a:stCxn id="101" idx="2"/>
            <a:endCxn id="112" idx="0"/>
          </p:cNvCxnSpPr>
          <p:nvPr/>
        </p:nvCxnSpPr>
        <p:spPr>
          <a:xfrm>
            <a:off x="6569895" y="4675660"/>
            <a:ext cx="0" cy="2256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3"/>
          <p:cNvSpPr txBox="1"/>
          <p:nvPr/>
        </p:nvSpPr>
        <p:spPr>
          <a:xfrm>
            <a:off x="6876335" y="4901161"/>
            <a:ext cx="9639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(Q:h1, K:h3, V:h3)</a:t>
            </a:r>
            <a:endParaRPr sz="647"/>
          </a:p>
        </p:txBody>
      </p:sp>
      <p:cxnSp>
        <p:nvCxnSpPr>
          <p:cNvPr id="117" name="Google Shape;117;p13"/>
          <p:cNvCxnSpPr>
            <a:stCxn id="99" idx="2"/>
            <a:endCxn id="116" idx="0"/>
          </p:cNvCxnSpPr>
          <p:nvPr/>
        </p:nvCxnSpPr>
        <p:spPr>
          <a:xfrm>
            <a:off x="7233112" y="4676313"/>
            <a:ext cx="125100" cy="2247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3"/>
          <p:cNvCxnSpPr>
            <a:stCxn id="110" idx="3"/>
            <a:endCxn id="99" idx="0"/>
          </p:cNvCxnSpPr>
          <p:nvPr/>
        </p:nvCxnSpPr>
        <p:spPr>
          <a:xfrm>
            <a:off x="6835146" y="3946137"/>
            <a:ext cx="398100" cy="544800"/>
          </a:xfrm>
          <a:prstGeom prst="curvedConnector2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3"/>
          <p:cNvSpPr txBox="1"/>
          <p:nvPr/>
        </p:nvSpPr>
        <p:spPr>
          <a:xfrm>
            <a:off x="5462726" y="4264693"/>
            <a:ext cx="255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proto</a:t>
            </a:r>
            <a:endParaRPr sz="566"/>
          </a:p>
        </p:txBody>
      </p:sp>
      <p:cxnSp>
        <p:nvCxnSpPr>
          <p:cNvPr id="120" name="Google Shape;120;p13"/>
          <p:cNvCxnSpPr>
            <a:stCxn id="110" idx="3"/>
            <a:endCxn id="88" idx="0"/>
          </p:cNvCxnSpPr>
          <p:nvPr/>
        </p:nvCxnSpPr>
        <p:spPr>
          <a:xfrm flipH="1">
            <a:off x="5957346" y="3946137"/>
            <a:ext cx="877800" cy="544200"/>
          </a:xfrm>
          <a:prstGeom prst="curvedConnector4">
            <a:avLst>
              <a:gd fmla="val -10974" name="adj1"/>
              <a:gd fmla="val 58008" name="adj2"/>
            </a:avLst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3"/>
          <p:cNvCxnSpPr/>
          <p:nvPr/>
        </p:nvCxnSpPr>
        <p:spPr>
          <a:xfrm>
            <a:off x="6354328" y="3895500"/>
            <a:ext cx="0" cy="1017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3"/>
          <p:cNvSpPr txBox="1"/>
          <p:nvPr/>
        </p:nvSpPr>
        <p:spPr>
          <a:xfrm>
            <a:off x="6827421" y="4120405"/>
            <a:ext cx="255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h1</a:t>
            </a:r>
            <a:endParaRPr sz="566"/>
          </a:p>
        </p:txBody>
      </p:sp>
      <p:sp>
        <p:nvSpPr>
          <p:cNvPr id="87" name="Google Shape;87;p13"/>
          <p:cNvSpPr/>
          <p:nvPr/>
        </p:nvSpPr>
        <p:spPr>
          <a:xfrm>
            <a:off x="5974639" y="3995289"/>
            <a:ext cx="759300" cy="185400"/>
          </a:xfrm>
          <a:prstGeom prst="rect">
            <a:avLst/>
          </a:prstGeom>
          <a:solidFill>
            <a:srgbClr val="EFEFEF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"/>
              <a:buFont typeface="Arial"/>
              <a:buNone/>
            </a:pPr>
            <a:r>
              <a:rPr lang="zh-TW" sz="566">
                <a:solidFill>
                  <a:schemeClr val="dk1"/>
                </a:solidFill>
              </a:rPr>
              <a:t>PrototypeEncoder </a:t>
            </a:r>
            <a:endParaRPr sz="566"/>
          </a:p>
        </p:txBody>
      </p:sp>
      <p:cxnSp>
        <p:nvCxnSpPr>
          <p:cNvPr id="123" name="Google Shape;123;p13"/>
          <p:cNvCxnSpPr>
            <a:stCxn id="84" idx="3"/>
            <a:endCxn id="124" idx="1"/>
          </p:cNvCxnSpPr>
          <p:nvPr/>
        </p:nvCxnSpPr>
        <p:spPr>
          <a:xfrm>
            <a:off x="6153645" y="3378287"/>
            <a:ext cx="1197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5" name="Google Shape;125;p13"/>
          <p:cNvGrpSpPr/>
          <p:nvPr/>
        </p:nvGrpSpPr>
        <p:grpSpPr>
          <a:xfrm>
            <a:off x="7757925" y="3050579"/>
            <a:ext cx="1359717" cy="465735"/>
            <a:chOff x="5756806" y="70375"/>
            <a:chExt cx="3360646" cy="1151100"/>
          </a:xfrm>
        </p:grpSpPr>
        <p:sp>
          <p:nvSpPr>
            <p:cNvPr id="126" name="Google Shape;126;p13"/>
            <p:cNvSpPr txBox="1"/>
            <p:nvPr/>
          </p:nvSpPr>
          <p:spPr>
            <a:xfrm>
              <a:off x="6968300" y="193301"/>
              <a:ext cx="171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00" lIns="37000" spcFirstLastPara="1" rIns="37000" wrap="square" tIns="37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Chunk1</a:t>
              </a:r>
              <a:br>
                <a:rPr lang="zh-TW" sz="566">
                  <a:solidFill>
                    <a:schemeClr val="dk1"/>
                  </a:solidFill>
                </a:rPr>
              </a:br>
              <a:r>
                <a:rPr lang="zh-TW" sz="566">
                  <a:solidFill>
                    <a:schemeClr val="dk1"/>
                  </a:solidFill>
                </a:rPr>
                <a:t>window:256</a:t>
              </a:r>
              <a:endParaRPr sz="566"/>
            </a:p>
          </p:txBody>
        </p:sp>
        <p:grpSp>
          <p:nvGrpSpPr>
            <p:cNvPr id="127" name="Google Shape;127;p13"/>
            <p:cNvGrpSpPr/>
            <p:nvPr/>
          </p:nvGrpSpPr>
          <p:grpSpPr>
            <a:xfrm>
              <a:off x="5756806" y="70375"/>
              <a:ext cx="3360646" cy="1151100"/>
              <a:chOff x="6117013" y="141950"/>
              <a:chExt cx="3281881" cy="1151100"/>
            </a:xfrm>
          </p:grpSpPr>
          <p:grpSp>
            <p:nvGrpSpPr>
              <p:cNvPr id="128" name="Google Shape;128;p13"/>
              <p:cNvGrpSpPr/>
              <p:nvPr/>
            </p:nvGrpSpPr>
            <p:grpSpPr>
              <a:xfrm>
                <a:off x="6117013" y="141950"/>
                <a:ext cx="3281881" cy="1151100"/>
                <a:chOff x="513899" y="3066238"/>
                <a:chExt cx="3159300" cy="1151100"/>
              </a:xfrm>
            </p:grpSpPr>
            <p:sp>
              <p:nvSpPr>
                <p:cNvPr id="129" name="Google Shape;129;p13"/>
                <p:cNvSpPr/>
                <p:nvPr/>
              </p:nvSpPr>
              <p:spPr>
                <a:xfrm>
                  <a:off x="513899" y="3066238"/>
                  <a:ext cx="3159300" cy="1151100"/>
                </a:xfrm>
                <a:prstGeom prst="rect">
                  <a:avLst/>
                </a:prstGeom>
                <a:solidFill>
                  <a:srgbClr val="B6D7A8"/>
                </a:solidFill>
                <a:ln cap="flat" cmpd="sng" w="38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37000" lIns="37000" spcFirstLastPara="1" rIns="37000" wrap="square" tIns="370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566"/>
                    <a:t>Multi-Chunk Module</a:t>
                  </a:r>
                  <a:endParaRPr sz="566"/>
                </a:p>
              </p:txBody>
            </p:sp>
            <p:sp>
              <p:nvSpPr>
                <p:cNvPr id="130" name="Google Shape;130;p13"/>
                <p:cNvSpPr/>
                <p:nvPr/>
              </p:nvSpPr>
              <p:spPr>
                <a:xfrm>
                  <a:off x="610652" y="3460938"/>
                  <a:ext cx="889200" cy="5727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38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37000" lIns="37000" spcFirstLastPara="1" rIns="37000" wrap="square" tIns="370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566"/>
                    <a:t>Chunk1</a:t>
                  </a:r>
                  <a:endParaRPr sz="566"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566"/>
                    <a:t>scale:256</a:t>
                  </a:r>
                  <a:endParaRPr sz="566"/>
                </a:p>
              </p:txBody>
            </p:sp>
          </p:grpSp>
          <p:sp>
            <p:nvSpPr>
              <p:cNvPr id="131" name="Google Shape;131;p13"/>
              <p:cNvSpPr/>
              <p:nvPr/>
            </p:nvSpPr>
            <p:spPr>
              <a:xfrm>
                <a:off x="73395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38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7000" lIns="37000" spcFirstLastPara="1" rIns="37000" wrap="square" tIns="37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Chunk2</a:t>
                </a:r>
                <a:endParaRPr sz="566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scale:64</a:t>
                </a:r>
                <a:endParaRPr sz="566"/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83661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38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7000" lIns="37000" spcFirstLastPara="1" rIns="37000" wrap="square" tIns="37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Chunk3</a:t>
                </a:r>
                <a:endParaRPr sz="566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scale:16</a:t>
                </a:r>
                <a:endParaRPr sz="566"/>
              </a:p>
            </p:txBody>
          </p:sp>
        </p:grpSp>
        <p:sp>
          <p:nvSpPr>
            <p:cNvPr id="133" name="Google Shape;133;p13"/>
            <p:cNvSpPr txBox="1"/>
            <p:nvPr/>
          </p:nvSpPr>
          <p:spPr>
            <a:xfrm>
              <a:off x="6626969" y="54335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00" lIns="37000" spcFirstLastPara="1" rIns="37000" wrap="square" tIns="37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+</a:t>
              </a:r>
              <a:endParaRPr sz="566"/>
            </a:p>
          </p:txBody>
        </p:sp>
        <p:sp>
          <p:nvSpPr>
            <p:cNvPr id="134" name="Google Shape;134;p13"/>
            <p:cNvSpPr txBox="1"/>
            <p:nvPr/>
          </p:nvSpPr>
          <p:spPr>
            <a:xfrm>
              <a:off x="7679613" y="54335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00" lIns="37000" spcFirstLastPara="1" rIns="37000" wrap="square" tIns="37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+</a:t>
              </a:r>
              <a:endParaRPr sz="566"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6819831" y="675225"/>
              <a:ext cx="178500" cy="154800"/>
            </a:xfrm>
            <a:prstGeom prst="ellipse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66"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7865200" y="672844"/>
              <a:ext cx="178500" cy="154800"/>
            </a:xfrm>
            <a:prstGeom prst="ellipse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66"/>
            </a:p>
          </p:txBody>
        </p:sp>
      </p:grpSp>
      <p:sp>
        <p:nvSpPr>
          <p:cNvPr id="124" name="Google Shape;124;p13"/>
          <p:cNvSpPr/>
          <p:nvPr/>
        </p:nvSpPr>
        <p:spPr>
          <a:xfrm>
            <a:off x="6273310" y="3285587"/>
            <a:ext cx="422100" cy="185400"/>
          </a:xfrm>
          <a:prstGeom prst="rect">
            <a:avLst/>
          </a:prstGeom>
          <a:solidFill>
            <a:srgbClr val="B6D7A8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MCM</a:t>
            </a:r>
            <a:endParaRPr sz="566"/>
          </a:p>
        </p:txBody>
      </p:sp>
      <p:sp>
        <p:nvSpPr>
          <p:cNvPr id="137" name="Google Shape;137;p13"/>
          <p:cNvSpPr/>
          <p:nvPr/>
        </p:nvSpPr>
        <p:spPr>
          <a:xfrm>
            <a:off x="6804467" y="3285587"/>
            <a:ext cx="4221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MLP</a:t>
            </a:r>
            <a:endParaRPr sz="566"/>
          </a:p>
        </p:txBody>
      </p:sp>
      <p:cxnSp>
        <p:nvCxnSpPr>
          <p:cNvPr id="138" name="Google Shape;138;p13"/>
          <p:cNvCxnSpPr>
            <a:stCxn id="124" idx="3"/>
            <a:endCxn id="137" idx="1"/>
          </p:cNvCxnSpPr>
          <p:nvPr/>
        </p:nvCxnSpPr>
        <p:spPr>
          <a:xfrm>
            <a:off x="6695410" y="3378287"/>
            <a:ext cx="1092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3"/>
          <p:cNvCxnSpPr>
            <a:stCxn id="137" idx="2"/>
            <a:endCxn id="98" idx="3"/>
          </p:cNvCxnSpPr>
          <p:nvPr/>
        </p:nvCxnSpPr>
        <p:spPr>
          <a:xfrm rot="5400000">
            <a:off x="6708917" y="3496187"/>
            <a:ext cx="331800" cy="281400"/>
          </a:xfrm>
          <a:prstGeom prst="curvedConnector2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13"/>
          <p:cNvCxnSpPr>
            <a:stCxn id="69" idx="3"/>
            <a:endCxn id="58" idx="1"/>
          </p:cNvCxnSpPr>
          <p:nvPr/>
        </p:nvCxnSpPr>
        <p:spPr>
          <a:xfrm>
            <a:off x="988800" y="872700"/>
            <a:ext cx="55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