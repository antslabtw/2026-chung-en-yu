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0098f398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0098f398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OSS 20B</a:t>
            </a:r>
            <a:br>
              <a:rPr lang="zh-TW"/>
            </a:br>
            <a:r>
              <a:rPr lang="zh-TW"/>
              <a:t>分node去獲得敘述(src,dst) 測node的行為</a:t>
            </a:r>
            <a:br>
              <a:rPr lang="zh-TW"/>
            </a:br>
            <a:r>
              <a:rPr lang="zh-TW"/>
              <a:t>把node的正確答案寫在prompt裡面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166883dd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166883d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多任務損失函數 (Multi-task Loss)</a:t>
            </a:r>
            <a:r>
              <a:rPr lang="zh-TW">
                <a:solidFill>
                  <a:schemeClr val="dk1"/>
                </a:solidFill>
              </a:rPr>
              <a:t>：模型同時學習 Tactic、Technique 和 Sub-technique。我們將三者的二元交叉熵 (BCE) 相加作為總損失。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解決類別不平衡 (Focal Loss)</a:t>
            </a:r>
            <a:r>
              <a:rPr lang="zh-TW">
                <a:solidFill>
                  <a:schemeClr val="dk1"/>
                </a:solidFill>
              </a:rPr>
              <a:t>：因為某些攻擊手法非常罕見，我們使用了 </a:t>
            </a:r>
            <a:r>
              <a:rPr b="1" lang="zh-TW">
                <a:solidFill>
                  <a:schemeClr val="dk1"/>
                </a:solidFill>
              </a:rPr>
              <a:t>Focal Loss ($\gamma=2$)</a:t>
            </a:r>
            <a:r>
              <a:rPr lang="zh-TW">
                <a:solidFill>
                  <a:schemeClr val="dk1"/>
                </a:solidFill>
              </a:rPr>
              <a:t>。這會強迫模型更專注於那些難學、少見的樣本，而不是被常見樣本淹沒。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訓練參數</a:t>
            </a:r>
            <a:r>
              <a:rPr lang="zh-TW">
                <a:solidFill>
                  <a:schemeClr val="dk1"/>
                </a:solidFill>
              </a:rPr>
              <a:t>：使用 </a:t>
            </a:r>
            <a:r>
              <a:rPr b="1" lang="zh-TW">
                <a:solidFill>
                  <a:schemeClr val="dk1"/>
                </a:solidFill>
              </a:rPr>
              <a:t>AdamW</a:t>
            </a:r>
            <a:r>
              <a:rPr lang="zh-TW">
                <a:solidFill>
                  <a:schemeClr val="dk1"/>
                </a:solidFill>
              </a:rPr>
              <a:t> 優化器（比一般 Adam 更適合處理權重衰減），學習率設為 $10^{-3}$。隱藏層為 64 維，並使用 40% 的 </a:t>
            </a:r>
            <a:r>
              <a:rPr b="1" lang="zh-TW">
                <a:solidFill>
                  <a:schemeClr val="dk1"/>
                </a:solidFill>
              </a:rPr>
              <a:t>Dropout</a:t>
            </a:r>
            <a:r>
              <a:rPr lang="zh-TW">
                <a:solidFill>
                  <a:schemeClr val="dk1"/>
                </a:solidFill>
              </a:rPr>
              <a:t> 來防止過擬合。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早停機制 (Early Stopping)</a:t>
            </a:r>
            <a:r>
              <a:rPr lang="zh-TW">
                <a:solidFill>
                  <a:schemeClr val="dk1"/>
                </a:solidFill>
              </a:rPr>
              <a:t>：如果訓練損失連續 30 個 Epoch 沒有下降，就停止訓練，避免模型學過頭。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8-fold LOCO 驗證</a:t>
            </a:r>
            <a:r>
              <a:rPr lang="zh-TW">
                <a:solidFill>
                  <a:schemeClr val="dk1"/>
                </a:solidFill>
              </a:rPr>
              <a:t>：這是一種強大的驗證方式，確保模型對於沒看過的攻擊類別（Category）依然有偵測能力，而不只是死背資料。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閾值校準 (Threshold Calibration)</a:t>
            </a:r>
            <a:r>
              <a:rPr lang="zh-TW">
                <a:solidFill>
                  <a:schemeClr val="dk1"/>
                </a:solidFill>
              </a:rPr>
              <a:t>：模型輸出的機率 (0~1) 並不直接代表結果。我們根據每種手法在現實中出現的頻率（Prevalence），為每個類別量身打造最適合的判斷門檻（Threshold），這能顯著提升 F1-score。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b="1" lang="zh-TW">
                <a:solidFill>
                  <a:schemeClr val="dk1"/>
                </a:solidFill>
              </a:rPr>
              <a:t>8 個 fold，每個 fold 嚴格定義為：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fold C_k: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test  = 整個 campaign C_k 的所有 unit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       train = 其餘 7 個 campaign 的 union（沒有任何 C_k 的 unit）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66883dd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166883d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66883dd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166883dd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166883dd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166883dd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6bfdf80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6bfdf80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098f398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0098f398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58300" y="209050"/>
            <a:ext cx="705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Method - Semantic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765675" y="1422550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log</a:t>
            </a:r>
            <a:endParaRPr sz="1600"/>
          </a:p>
        </p:txBody>
      </p:sp>
      <p:sp>
        <p:nvSpPr>
          <p:cNvPr id="56" name="Google Shape;56;p13"/>
          <p:cNvSpPr/>
          <p:nvPr/>
        </p:nvSpPr>
        <p:spPr>
          <a:xfrm>
            <a:off x="3919775" y="1422550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LLM</a:t>
            </a:r>
            <a:endParaRPr sz="1600"/>
          </a:p>
        </p:txBody>
      </p:sp>
      <p:cxnSp>
        <p:nvCxnSpPr>
          <p:cNvPr id="57" name="Google Shape;57;p13"/>
          <p:cNvCxnSpPr>
            <a:stCxn id="55" idx="3"/>
            <a:endCxn id="56" idx="1"/>
          </p:cNvCxnSpPr>
          <p:nvPr/>
        </p:nvCxnSpPr>
        <p:spPr>
          <a:xfrm>
            <a:off x="1744575" y="1632250"/>
            <a:ext cx="21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" name="Google Shape;58;p13"/>
          <p:cNvSpPr/>
          <p:nvPr/>
        </p:nvSpPr>
        <p:spPr>
          <a:xfrm>
            <a:off x="7073900" y="1422550"/>
            <a:ext cx="12438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Embedding</a:t>
            </a:r>
            <a:endParaRPr sz="1600"/>
          </a:p>
        </p:txBody>
      </p:sp>
      <p:cxnSp>
        <p:nvCxnSpPr>
          <p:cNvPr id="59" name="Google Shape;59;p13"/>
          <p:cNvCxnSpPr>
            <a:stCxn id="56" idx="3"/>
            <a:endCxn id="58" idx="1"/>
          </p:cNvCxnSpPr>
          <p:nvPr/>
        </p:nvCxnSpPr>
        <p:spPr>
          <a:xfrm>
            <a:off x="4898675" y="1632250"/>
            <a:ext cx="21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" name="Google Shape;60;p13"/>
          <p:cNvSpPr txBox="1"/>
          <p:nvPr/>
        </p:nvSpPr>
        <p:spPr>
          <a:xfrm>
            <a:off x="69975" y="2311450"/>
            <a:ext cx="3189000" cy="232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把LOG丟進LLM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以Event為單位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以node為單位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考慮前後文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Prompt Engineering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以TTP框架為基底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讓LLM不要輕易標惡意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439775" y="2342650"/>
            <a:ext cx="2416500" cy="226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大LLM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GPT4o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Gemini Pro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Claude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小LLM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Mistral 7B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Llama 8B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Qwen2.5 7B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61675" y="2342650"/>
            <a:ext cx="2970900" cy="120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做Embedding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SecureBert2.0</a:t>
            </a:r>
            <a:r>
              <a:rPr lang="zh-TW" sz="1600">
                <a:solidFill>
                  <a:schemeClr val="dk1"/>
                </a:solidFill>
              </a:rPr>
              <a:t> (768)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CyBert</a:t>
            </a:r>
            <a:r>
              <a:rPr lang="zh-TW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800475" y="991438"/>
            <a:ext cx="2063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用log生成合理敘述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954588" y="991438"/>
            <a:ext cx="2063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把敘述轉成emb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65" name="Google Shape;65;p13"/>
          <p:cNvCxnSpPr>
            <a:endCxn id="60" idx="0"/>
          </p:cNvCxnSpPr>
          <p:nvPr/>
        </p:nvCxnSpPr>
        <p:spPr>
          <a:xfrm flipH="1">
            <a:off x="1664475" y="1655650"/>
            <a:ext cx="841500" cy="65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56" idx="2"/>
            <a:endCxn id="61" idx="0"/>
          </p:cNvCxnSpPr>
          <p:nvPr/>
        </p:nvCxnSpPr>
        <p:spPr>
          <a:xfrm>
            <a:off x="4409225" y="1841950"/>
            <a:ext cx="238800" cy="5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endCxn id="62" idx="0"/>
          </p:cNvCxnSpPr>
          <p:nvPr/>
        </p:nvCxnSpPr>
        <p:spPr>
          <a:xfrm>
            <a:off x="6219925" y="1640050"/>
            <a:ext cx="1327200" cy="70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8015400" y="913754"/>
            <a:ext cx="11286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dim&lt;768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075" y="1100150"/>
            <a:ext cx="7839850" cy="3820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9016" l="6353" r="6257" t="8264"/>
          <a:stretch/>
        </p:blipFill>
        <p:spPr>
          <a:xfrm>
            <a:off x="3732250" y="1260100"/>
            <a:ext cx="4945225" cy="3160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4" name="Google Shape;84;p15"/>
          <p:cNvGrpSpPr/>
          <p:nvPr/>
        </p:nvGrpSpPr>
        <p:grpSpPr>
          <a:xfrm>
            <a:off x="212275" y="1411867"/>
            <a:ext cx="3102300" cy="2857200"/>
            <a:chOff x="212275" y="1369267"/>
            <a:chExt cx="3102300" cy="2857200"/>
          </a:xfrm>
        </p:grpSpPr>
        <p:sp>
          <p:nvSpPr>
            <p:cNvPr id="85" name="Google Shape;85;p15"/>
            <p:cNvSpPr/>
            <p:nvPr/>
          </p:nvSpPr>
          <p:spPr>
            <a:xfrm>
              <a:off x="212275" y="1369267"/>
              <a:ext cx="3102300" cy="2857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/>
                <a:t>Input</a:t>
              </a:r>
              <a:endParaRPr sz="240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414175" y="1899392"/>
              <a:ext cx="27255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 (src node) *512</a:t>
              </a:r>
              <a:endParaRPr sz="160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353275" y="3707742"/>
              <a:ext cx="28473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 (dest node) </a:t>
              </a:r>
              <a:r>
                <a:rPr lang="zh-TW" sz="1600">
                  <a:solidFill>
                    <a:schemeClr val="dk1"/>
                  </a:solidFill>
                </a:rPr>
                <a:t>*512</a:t>
              </a:r>
              <a:endParaRPr sz="16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414175" y="2803557"/>
              <a:ext cx="27255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Embedding(relation) </a:t>
              </a:r>
              <a:r>
                <a:rPr lang="zh-TW" sz="1600">
                  <a:solidFill>
                    <a:schemeClr val="dk1"/>
                  </a:solidFill>
                </a:rPr>
                <a:t>*512</a:t>
              </a:r>
              <a:endParaRPr sz="1600"/>
            </a:p>
          </p:txBody>
        </p:sp>
        <p:grpSp>
          <p:nvGrpSpPr>
            <p:cNvPr id="89" name="Google Shape;89;p15"/>
            <p:cNvGrpSpPr/>
            <p:nvPr/>
          </p:nvGrpSpPr>
          <p:grpSpPr>
            <a:xfrm>
              <a:off x="1597311" y="2325070"/>
              <a:ext cx="548700" cy="393600"/>
              <a:chOff x="1436923" y="3812213"/>
              <a:chExt cx="548700" cy="39360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1460250" y="3911850"/>
                <a:ext cx="268200" cy="256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1436923" y="3812213"/>
                <a:ext cx="548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+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1608975" y="3246905"/>
              <a:ext cx="548700" cy="393600"/>
              <a:chOff x="1436923" y="3812213"/>
              <a:chExt cx="548700" cy="3936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1460250" y="3911850"/>
                <a:ext cx="268200" cy="256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1436923" y="3812213"/>
                <a:ext cx="548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+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700" y="848775"/>
            <a:ext cx="3730599" cy="396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 with Max Contraint Module</a:t>
            </a:r>
            <a:endParaRPr/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0" y="1301675"/>
            <a:ext cx="475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Max Constriant Module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從technique和sub-tech的結果選一個機率比較大的technique作為technique的結果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975" y="618650"/>
            <a:ext cx="3890174" cy="4296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rules tagging datasets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04228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06200" y="312100"/>
            <a:ext cx="318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mapping</a:t>
            </a:r>
            <a:endParaRPr/>
          </a:p>
        </p:txBody>
      </p:sp>
      <p:grpSp>
        <p:nvGrpSpPr>
          <p:cNvPr id="122" name="Google Shape;122;p19"/>
          <p:cNvGrpSpPr/>
          <p:nvPr/>
        </p:nvGrpSpPr>
        <p:grpSpPr>
          <a:xfrm>
            <a:off x="439125" y="1149550"/>
            <a:ext cx="1802700" cy="1317600"/>
            <a:chOff x="920850" y="1118450"/>
            <a:chExt cx="1802700" cy="1317600"/>
          </a:xfrm>
        </p:grpSpPr>
        <p:sp>
          <p:nvSpPr>
            <p:cNvPr id="123" name="Google Shape;123;p19"/>
            <p:cNvSpPr txBox="1"/>
            <p:nvPr/>
          </p:nvSpPr>
          <p:spPr>
            <a:xfrm>
              <a:off x="920850" y="1118450"/>
              <a:ext cx="1802700" cy="1317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</a:rPr>
                <a:t>Linux</a:t>
              </a: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920850" y="1410350"/>
              <a:ext cx="1802700" cy="10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Process -&gt; Process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Process -&gt; Registry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Process -&gt; Network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>
                  <a:solidFill>
                    <a:schemeClr val="dk1"/>
                  </a:solidFill>
                </a:rPr>
                <a:t>Process -&gt; File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25" name="Google Shape;125;p19"/>
          <p:cNvGrpSpPr/>
          <p:nvPr/>
        </p:nvGrpSpPr>
        <p:grpSpPr>
          <a:xfrm>
            <a:off x="2558650" y="1149550"/>
            <a:ext cx="1802700" cy="1317600"/>
            <a:chOff x="3040375" y="1118450"/>
            <a:chExt cx="1802700" cy="1317600"/>
          </a:xfrm>
        </p:grpSpPr>
        <p:sp>
          <p:nvSpPr>
            <p:cNvPr id="126" name="Google Shape;126;p19"/>
            <p:cNvSpPr txBox="1"/>
            <p:nvPr/>
          </p:nvSpPr>
          <p:spPr>
            <a:xfrm>
              <a:off x="3040375" y="1118450"/>
              <a:ext cx="1802700" cy="1317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</a:rPr>
                <a:t>Windows</a:t>
              </a: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127" name="Google Shape;127;p19"/>
            <p:cNvSpPr txBox="1"/>
            <p:nvPr/>
          </p:nvSpPr>
          <p:spPr>
            <a:xfrm>
              <a:off x="3040375" y="1410350"/>
              <a:ext cx="1802700" cy="10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Process -&gt; Process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Process -&gt; Registry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Process -&gt; Network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Process -&gt; File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28" name="Google Shape;128;p19"/>
          <p:cNvSpPr txBox="1"/>
          <p:nvPr/>
        </p:nvSpPr>
        <p:spPr>
          <a:xfrm>
            <a:off x="406200" y="2731900"/>
            <a:ext cx="395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必須考慮到其他paper有考慮到的欄位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Linux 和 Windows 的欄位性質不同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用各自系統的dataset 做 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