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1DEDE4-753E-4A72-99B1-8504358CAB56}">
  <a:tblStyle styleId="{971DEDE4-753E-4A72-99B1-8504358CAB5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412.13663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786967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e1786967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CyberKG 提出 SecureBERT_Plus-BiLSTM-Attention-CRF 聯合架構。SecureBERT_Plus 作為領域自適應編碼器，BiLSTM 建模時序依賴，Attention 機制標記跨句關鍵關係，CRF 結合 ATT&amp;CK 規則約束進行解碼。用於從 APT 報告和 CVE 資料庫中建構資安知識圖譜。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SecureBERT: 1. Trendmicro、NIST、Threatpost、FireEye、Kaspersky、MITRE</a:t>
            </a:r>
            <a:br>
              <a:rPr lang="zh-TW"/>
            </a:br>
            <a:r>
              <a:rPr lang="zh-TW"/>
              <a:t>2.Wikipedia - cybersecurity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3.Survey Papers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4.ACM CCS、IEEE NDSS、IEEE Oakland、IEEE Security and Privacy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5.Videos: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SecureBERT 2.0:</a:t>
            </a:r>
            <a:r>
              <a:rPr lang="zh-TW" u="sng">
                <a:solidFill>
                  <a:schemeClr val="hlink"/>
                </a:solidFill>
                <a:hlinkClick r:id="rId2"/>
              </a:rPr>
              <a:t>ModernBERT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/>
            </a:br>
            <a:r>
              <a:rPr lang="zh-TW"/>
              <a:t>Flash</a:t>
            </a:r>
            <a:r>
              <a:rPr lang="zh-TW"/>
              <a:t>和SLOT 用Word2vec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Word2vec:給定一個中心詞，去預測它周圍的上下文。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CyBERT: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Krebs on Security：包含 500 篇網路安全新聞文章與技術報告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CVE 記錄：包含來自 MITRE 和國家漏洞資料庫（NVD）的 16,000 份通用漏洞披露記錄（2019-2020 年）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APT 報告：來自 APTNotes 儲存庫的 500 份關於高級持續性威脅組織的技術報告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社交媒體與論壇：如來自 Twitter 的開源威脅情報數據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十條建立圖的規則有以下三個方向</a:t>
            </a:r>
            <a:br>
              <a:rPr lang="zh-TW"/>
            </a:br>
            <a:r>
              <a:rPr lang="zh-TW"/>
              <a:t>時序關係 (Sequential)： 同一天內的日誌按時間順序連接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邏輯關係 (Logical)： 跨天數的操作，如果行為模式相似（例如每天處理的文件數量差不多），就連起來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物件互動 (Interaction)： 涉及相同的主機、文件或網站的日誌會連接起來（例如都在存取同一個惡意網域）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圖建構</a:t>
            </a:r>
            <a:r>
              <a:rPr lang="zh-TW">
                <a:solidFill>
                  <a:schemeClr val="dk1"/>
                </a:solidFill>
              </a:rPr>
              <a:t>與</a:t>
            </a:r>
            <a:r>
              <a:rPr b="1" lang="zh-TW">
                <a:solidFill>
                  <a:schemeClr val="dk1"/>
                </a:solidFill>
              </a:rPr>
              <a:t>隨機遊走</a:t>
            </a:r>
            <a:r>
              <a:rPr lang="zh-TW">
                <a:solidFill>
                  <a:schemeClr val="dk1"/>
                </a:solidFill>
              </a:rPr>
              <a:t>後生成的「路徑序列」（Path sequences），這些序列被視為自然語言中的句子輸入到 Word2vec 模型中進行訓練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Cmdcaliper:GTE可以視為是強一點的BERT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801198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801198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它們都在 DARPA TC 上驗證，但 DARPA TC 的 attack pattern 其實相當固定（Nginx backdoor、Firefox backdoor 反覆出現），很難區分模型是真的學到了 behavioral structure 還是在記憶 dataset-specific pattern。這個 generalization gap 是整個領域最大的未解問題。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80119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80119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2.0的預訓練資料是原本的13倍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NER：Named Entity Recognition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雙編碼器會將查詢字串與文件分別獨立編碼，雖然精細度通常不如交叉編碼器，但其運算速度快。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Table 9 :</a:t>
            </a:r>
            <a:br>
              <a:rPr lang="zh-TW"/>
            </a:br>
            <a:r>
              <a:rPr lang="zh-TW"/>
              <a:t>從非結構化文本中系統性地識別五大核心實體類型：漏洞 (Vulnerability)、惡意軟體 (Malware)、系統 (System)、指標 (Indicator) 與組織 (Organization)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Table 10: CodeBERT的Recall太低 雖然抓到的都是對的 但他漏抓了很多惡意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CyBERT的Recall很高 抓得很多 但都抓錯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預訓練資料: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種子語料庫 (Seed corpus)：</a:t>
            </a:r>
            <a:r>
              <a:rPr lang="zh-TW">
                <a:solidFill>
                  <a:schemeClr val="dk1"/>
                </a:solidFill>
              </a:rPr>
              <a:t> 高品質的策展資安文章、報告與技術部落格，提供核心資安概念的基礎覆蓋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大規模網頁文本 (Large-scale web text)：</a:t>
            </a:r>
            <a:r>
              <a:rPr lang="zh-TW">
                <a:solidFill>
                  <a:schemeClr val="dk1"/>
                </a:solidFill>
              </a:rPr>
              <a:t> 針對網路安全、威脅情報與軟體安全過濾後的廣泛網頁抓取資料，貢獻了極大的語言多樣性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推理聚焦資料 (Reasoning-focused data)：</a:t>
            </a:r>
            <a:r>
              <a:rPr lang="zh-TW">
                <a:solidFill>
                  <a:schemeClr val="dk1"/>
                </a:solidFill>
              </a:rPr>
              <a:t> 導向資安的問答與推理資料集，旨在增強模型的推論與上下文理解能力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指令微調資料 (Instruction-tuning data)：</a:t>
            </a:r>
            <a:r>
              <a:rPr lang="zh-TW">
                <a:solidFill>
                  <a:schemeClr val="dk1"/>
                </a:solidFill>
              </a:rPr>
              <a:t> 與資安任務相關的教學與程序性文本，幫助模型更好地泛化並處理任務導向的查詢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程式碼漏洞語料庫 (Code vulnerability corpus)：</a:t>
            </a:r>
            <a:r>
              <a:rPr lang="zh-TW">
                <a:solidFill>
                  <a:schemeClr val="dk1"/>
                </a:solidFill>
              </a:rPr>
              <a:t> 來自開源專案與漏洞資料庫，針對軟體漏洞標註的程式碼樣本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資安對話資料 (Cybersecurity dialogue data)：</a:t>
            </a:r>
            <a:r>
              <a:rPr lang="zh-TW">
                <a:solidFill>
                  <a:schemeClr val="dk1"/>
                </a:solidFill>
              </a:rPr>
              <a:t> 捕捉分析師工作流程、技術問答以及真實世界互動模式的對話資料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原始基準資料集 (Original baseline dataset)：</a:t>
            </a:r>
            <a:r>
              <a:rPr lang="zh-TW">
                <a:solidFill>
                  <a:schemeClr val="dk1"/>
                </a:solidFill>
              </a:rPr>
              <a:t> 第一代 SecureBERT 使用的預訓練語料庫，以保持連續性並確保既有資安語言的覆蓋率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609b959c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609b959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ffa8d4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ffa8d4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因為系統在訓練階段假設沒有「已知攻擊」的資料，作者把任務轉化為「監督式節點類型預測」。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每個節點 v 的初始特徵 F(v)$ 是一個長度為 2 *N_e的向量（N_e 是邊的類型總數）。這個向量記錄了與該節點相連的各種「邊（如：讀取、寫入、連線）」的數量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a_0 到 a_{N_e-1}：代表不同類型 輸入邊 (In) 的數量 。a_{N_e} 到 a_{2N_e - 1}：代表不同類型 輸出邊 (Out) 的數量 。</a:t>
            </a:r>
            <a:br>
              <a:rPr lang="zh-TW"/>
            </a:br>
            <a:br>
              <a:rPr lang="zh-TW"/>
            </a:br>
            <a:r>
              <a:rPr lang="zh-TW"/>
              <a:t>最終的 $z_v$ 是一個 $N_n$ 維（代表節點類型總數）的向量，裡面數值最大的索引值，就是模型預測的「節點類型」。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59b2976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e59b2976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4CCCC"/>
                </a:highlight>
              </a:rPr>
              <a:t>用他的定義方式</a:t>
            </a:r>
            <a:br>
              <a:rPr lang="zh-TW"/>
            </a:br>
            <a:br>
              <a:rPr lang="zh-TW"/>
            </a:br>
            <a:r>
              <a:rPr lang="zh-TW"/>
              <a:t>前 21 維：記錄該節點「接收」到各類邊緣的數量（Incoming edges）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後 21 維：記錄該節點「發出」到各類邊緣的數量（Outgoing edges）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𝑒𝑖用兩個one-hot encoding計數的方式作為代表。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59b2976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e59b2976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(KAIROS)</a:t>
            </a:r>
            <a:br>
              <a:rPr lang="zh-TW"/>
            </a:br>
            <a:r>
              <a:rPr lang="zh-TW"/>
              <a:t>ch command line is decomposed into hierarchical substrings. For example, given a command line “C:\Windows\regedit.exe”, </a:t>
            </a:r>
            <a:br>
              <a:rPr lang="zh-TW"/>
            </a:br>
            <a:r>
              <a:rPr lang="zh-TW"/>
              <a:t>we generate its hierarchical substrings s1= “C:”, s2= “C:\Windows” and s3=“C:\Windows\regedit.exe”.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a6acd16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ea6acd16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19acc64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519acc6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e59b29767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e59b2976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E5 </a:t>
            </a:r>
            <a:r>
              <a:rPr lang="zh-TW"/>
              <a:t>沒有標籤(如果自己標的話會有爭議)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與其他資料集的OS不同，要考慮欄位差異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K4APT 標籤不夠明確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Casino的問題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/>
            </a:br>
            <a:r>
              <a:rPr lang="zh-TW"/>
              <a:t>TTP 個數 重疊數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e1786967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e1786967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e1786967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e1786967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e178696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e178696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 維度size100是表現比較好的時候</a:t>
            </a:r>
            <a:br>
              <a:rPr lang="zh-TW"/>
            </a:br>
            <a:r>
              <a:rPr lang="zh-TW"/>
              <a:t>100+768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nn.CrossEntropyLoss()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State：每個序列的平均 embedding (pooled = x.mean(dim=1)) → 表示這個事件序列的全局信息。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Action：從 policy network output 的概率分布中 sampling，選擇哪個 Expert 處理整個序列。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Reward：CRF 的負 NLL，代表選的 Expert 對序列的 label 預測正確程度。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Policy 更新：使用 REINFORCE 搭配 reward 計算 policy_loss，和 CRF 的 NLL 搭配訓練。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目標：讓 gating policy 學會「面對不同序列，選對 Expert 以提升 NLL 表現」。</a:t>
            </a:r>
            <a:br>
              <a:rPr lang="zh-TW"/>
            </a:br>
            <a:br>
              <a:rPr lang="zh-TW"/>
            </a:br>
            <a:r>
              <a:rPr lang="zh-TW"/>
              <a:t>CRF 負責接收 Expert 算出的 emissions，利用它內部學到的轉移規則，透過 decode 函數，幫你把可能不連貫的預測修正成一條合理的攻擊路徑。</a:t>
            </a:r>
            <a:br>
              <a:rPr lang="zh-TW"/>
            </a:br>
            <a:r>
              <a:rPr lang="zh-TW"/>
              <a:t>這裡它使用了 維特比演算法 (Viterbi Algorithm)。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它不會貪心地選每一個時間點最高的 Expert 分數，而是會考慮整條 Event Sequence，找出總分最高的那一條路徑。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這確保了你輸出的攻擊階段序列是連貫的。</a:t>
            </a:r>
            <a:br>
              <a:rPr lang="zh-TW"/>
            </a:br>
            <a:br>
              <a:rPr lang="zh-TW"/>
            </a:br>
            <a:r>
              <a:rPr lang="zh-TW"/>
              <a:t>Action (A)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選擇哪一位專家 (0, 1,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actions = m.sample()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從 Temporal, Semantic, Stealth 三個專家模型中，硬性選擇一個 (Discrete Choice) 來處理當前的 Event Sequence。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 (S)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三位專家的「預估失誤率」(NLL Loss)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state = torch.stack(nll_per_expert, dim=1)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一個維度為 [Batch, 3] 的向量。例如 [2.5, 0.1, 5.0]，代表專家 1 做錯的 Loss 是 2.5，專家 2 是 0.1。Agent 根據這個「信賴度評估」來做決定。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(R)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相對優勢 (Baseline - Selected)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reward = (uniform_nll - nll_total).detach()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計算「平均專家的 Loss」減去「你選中專家的 Loss」。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正分： 你選的專家比平均水準好。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負分： 你選的專家比平均水準差。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e1786967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e1786967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 維度size100是表現比較好的時候</a:t>
            </a:r>
            <a:br>
              <a:rPr lang="zh-TW"/>
            </a:br>
            <a:r>
              <a:rPr lang="zh-TW"/>
              <a:t>100+768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nn.CrossEntropyLoss()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State：每個序列的平均 embedding (pooled = x.mean(dim=1)) → 表示這個事件序列的全局信息。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Action：從 policy network output 的概率分布中 sampling，選擇哪個 Expert 處理整個序列。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Reward：CRF 的負 NLL，代表選的 Expert 對序列的 label 預測正確程度。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Policy 更新：使用 REINFORCE 搭配 reward 計算 policy_loss，和 CRF 的 NLL 搭配訓練。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目標：讓 gating policy 學會「面對不同序列，選對 Expert 以提升 NLL 表現」。</a:t>
            </a:r>
            <a:br>
              <a:rPr lang="zh-TW"/>
            </a:br>
            <a:br>
              <a:rPr lang="zh-TW"/>
            </a:br>
            <a:r>
              <a:rPr lang="zh-TW"/>
              <a:t>CRF 負責接收 Expert 算出的 emissions，利用它內部學到的轉移規則，透過 decode 函數，幫你把可能不連貫的預測修正成一條合理的攻擊路徑。</a:t>
            </a:r>
            <a:br>
              <a:rPr lang="zh-TW"/>
            </a:br>
            <a:r>
              <a:rPr lang="zh-TW"/>
              <a:t>這裡它使用了 維特比演算法 (Viterbi Algorithm)。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它不會貪心地選每一個時間點最高的 Expert 分數，而是會考慮整條 Event Sequence，找出總分最高的那一條路徑。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這確保了你輸出的攻擊階段序列是連貫的。</a:t>
            </a:r>
            <a:br>
              <a:rPr lang="zh-TW"/>
            </a:br>
            <a:br>
              <a:rPr lang="zh-TW"/>
            </a:br>
            <a:r>
              <a:rPr lang="zh-TW"/>
              <a:t>Action (A)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選擇哪一位專家 (0, 1,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actions = m.sample()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從 Temporal, Semantic, Stealth 三個專家模型中，硬性選擇一個 (Discrete Choice) 來處理當前的 Event Sequence。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 (S)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三位專家的「預估失誤率」(NLL Loss)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state = torch.stack(nll_per_expert, dim=1)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一個維度為 [Batch, 3] 的向量。例如 [2.5, 0.1, 5.0]，代表專家 1 做錯的 Loss 是 2.5，專家 2 是 0.1。Agent 根據這個「信賴度評估」來做決定。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(R)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相對優勢 (Baseline - Selected)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reward = (uniform_nll - nll_total).detach()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計算「平均專家的 Loss」減去「你選中專家的 Loss」。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正分： 你選的專家比平均水準好。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負分： 你選的專家比平均水準差。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icrosoft/CodeBERT" TargetMode="External"/><Relationship Id="rId4" Type="http://schemas.openxmlformats.org/officeDocument/2006/relationships/hyperlink" Target="https://github.com/HelenGuohx/logbert" TargetMode="External"/><Relationship Id="rId9" Type="http://schemas.openxmlformats.org/officeDocument/2006/relationships/hyperlink" Target="https://huggingface.co/thenlper/gte-large" TargetMode="External"/><Relationship Id="rId5" Type="http://schemas.openxmlformats.org/officeDocument/2006/relationships/hyperlink" Target="https://github.com/tigerFF/Log2vec" TargetMode="External"/><Relationship Id="rId6" Type="http://schemas.openxmlformats.org/officeDocument/2006/relationships/hyperlink" Target="https://github.com/lcd-dal/feature-extraction-for-CERT-insider-threat-test-datasets" TargetMode="External"/><Relationship Id="rId7" Type="http://schemas.openxmlformats.org/officeDocument/2006/relationships/hyperlink" Target="https://csr.lanl.gov/data/cyber1/" TargetMode="External"/><Relationship Id="rId8" Type="http://schemas.openxmlformats.org/officeDocument/2006/relationships/hyperlink" Target="https://huggingface.co/CyCraftAI/CmdCaliper-larg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Methods</a:t>
            </a:r>
            <a:endParaRPr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1771950" y="132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{971DEDE4-753E-4A72-99B1-8504358CAB56}</a:tableStyleId>
              </a:tblPr>
              <a:tblGrid>
                <a:gridCol w="1077825"/>
                <a:gridCol w="1749175"/>
                <a:gridCol w="1013100"/>
                <a:gridCol w="2716000"/>
              </a:tblGrid>
              <a:tr h="33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使用文獻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模型名稱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核心架構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預訓練資料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9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CyberKG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SecureBERT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各種資安文本(CTI,OSINT,Wiki)和資安論文(ACM,IEEE)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3"/>
                        </a:rPr>
                        <a:t>CodeBERT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RoBERTa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GitHub Code (Python, Java, etc.)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4"/>
                        </a:rPr>
                        <a:t>LogBERT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(沒有給PTM)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Transformer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HDFS, BGL, Hadoop Logs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ProGraPher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5"/>
                        </a:rPr>
                        <a:t>Log2Vec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(沒有給PTM)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6"/>
                        </a:rPr>
                        <a:t>CERT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 u="sng">
                          <a:solidFill>
                            <a:schemeClr val="hlink"/>
                          </a:solidFill>
                          <a:hlinkClick r:id="rId7"/>
                        </a:rPr>
                        <a:t>LANL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8"/>
                        </a:rPr>
                        <a:t>Cmdcaliper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9"/>
                        </a:rPr>
                        <a:t>GTE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/>
                        <a:t>CmdDataset(用不同LLM生成的windows指令)</a:t>
                      </a:r>
                      <a:endParaRPr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332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Methods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2441853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{971DEDE4-753E-4A72-99B1-8504358CAB56}</a:tableStyleId>
              </a:tblPr>
              <a:tblGrid>
                <a:gridCol w="1799750"/>
                <a:gridCol w="34827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論文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Embedding 方法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KAIROS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GNN（異質圖）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MAGIC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GNN（self-supervised）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SHADEWATCHER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TransE（知識圖譜 embedding）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THREATRACE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GraphSAGE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Slot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GNN + Reinforcement Learning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Zoomer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GNN + Prototypical Network（few-shot）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FLASH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Word2Vec + GNN（語意 + 結構混合）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ProveG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Order Embedding + GNN + NTN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SecureBERT vs SecureBERT 2.0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625" y="2786650"/>
            <a:ext cx="5076825" cy="137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6675" y="1123950"/>
            <a:ext cx="5238750" cy="1447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26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Table 9:從非結構化文本識別:Vulnerability, </a:t>
            </a:r>
            <a:r>
              <a:rPr lang="zh-TW">
                <a:solidFill>
                  <a:schemeClr val="dk1"/>
                </a:solidFill>
              </a:rPr>
              <a:t>Malware</a:t>
            </a:r>
            <a:r>
              <a:rPr lang="zh-TW">
                <a:solidFill>
                  <a:schemeClr val="dk1"/>
                </a:solidFill>
              </a:rPr>
              <a:t>, System, Indicator, Organization.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Table 10 : 對一段code做anamoly detection.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SecureBERT2.0 on SFM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77975"/>
            <a:ext cx="8839201" cy="21443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463" y="1098150"/>
            <a:ext cx="4077077" cy="12406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6"/>
          <p:cNvSpPr txBox="1"/>
          <p:nvPr/>
        </p:nvSpPr>
        <p:spPr>
          <a:xfrm>
            <a:off x="1558775" y="1502900"/>
            <a:ext cx="97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SAGA</a:t>
            </a:r>
            <a:endParaRPr sz="1600"/>
          </a:p>
        </p:txBody>
      </p:sp>
      <p:sp>
        <p:nvSpPr>
          <p:cNvPr id="78" name="Google Shape;78;p16"/>
          <p:cNvSpPr txBox="1"/>
          <p:nvPr/>
        </p:nvSpPr>
        <p:spPr>
          <a:xfrm>
            <a:off x="7058250" y="1379900"/>
            <a:ext cx="1590300" cy="67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One-class SVM</a:t>
            </a:r>
            <a:endParaRPr sz="1600"/>
          </a:p>
        </p:txBody>
      </p:sp>
      <p:cxnSp>
        <p:nvCxnSpPr>
          <p:cNvPr id="79" name="Google Shape;79;p16"/>
          <p:cNvCxnSpPr>
            <a:stCxn id="76" idx="3"/>
            <a:endCxn id="78" idx="1"/>
          </p:cNvCxnSpPr>
          <p:nvPr/>
        </p:nvCxnSpPr>
        <p:spPr>
          <a:xfrm>
            <a:off x="6610539" y="1718450"/>
            <a:ext cx="44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6732575" y="1646625"/>
            <a:ext cx="402900" cy="4002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380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THREATRACE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2371500" y="4276400"/>
            <a:ext cx="44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F(v)</a:t>
            </a:r>
            <a:r>
              <a:rPr lang="zh-TW" sz="1800">
                <a:solidFill>
                  <a:srgbClr val="000000"/>
                </a:solidFill>
              </a:rPr>
              <a:t> = [𝑎</a:t>
            </a:r>
            <a:r>
              <a:rPr lang="zh-TW" sz="1800"/>
              <a:t>0</a:t>
            </a:r>
            <a:r>
              <a:rPr lang="zh-TW" sz="1800">
                <a:solidFill>
                  <a:srgbClr val="000000"/>
                </a:solidFill>
              </a:rPr>
              <a:t>,𝑎2, ...,𝑎</a:t>
            </a:r>
            <a:r>
              <a:rPr lang="zh-TW" sz="1800"/>
              <a:t>n-1</a:t>
            </a:r>
            <a:r>
              <a:rPr lang="zh-TW" sz="1800">
                <a:solidFill>
                  <a:srgbClr val="000000"/>
                </a:solidFill>
              </a:rPr>
              <a:t>,𝑎</a:t>
            </a:r>
            <a:r>
              <a:rPr lang="zh-TW" sz="1800"/>
              <a:t>n</a:t>
            </a:r>
            <a:r>
              <a:rPr lang="zh-TW" sz="1800">
                <a:solidFill>
                  <a:srgbClr val="000000"/>
                </a:solidFill>
              </a:rPr>
              <a:t>,𝑎</a:t>
            </a:r>
            <a:r>
              <a:rPr lang="zh-TW" sz="1800"/>
              <a:t>n+1</a:t>
            </a:r>
            <a:r>
              <a:rPr lang="zh-TW" sz="1800">
                <a:solidFill>
                  <a:srgbClr val="000000"/>
                </a:solidFill>
              </a:rPr>
              <a:t>, ...,𝑎2</a:t>
            </a:r>
            <a:r>
              <a:rPr lang="zh-TW" sz="1800"/>
              <a:t>n-1</a:t>
            </a:r>
            <a:r>
              <a:rPr lang="zh-TW" sz="1800">
                <a:solidFill>
                  <a:srgbClr val="000000"/>
                </a:solidFill>
              </a:rPr>
              <a:t>]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81425" y="1740600"/>
            <a:ext cx="5120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在訓練階段假設沒有「已知攻擊」的資料，作者把任務轉化為「監督式節點類型預測」。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F(v)是每個節點的表示,a代表relation種類計數(分成in&amp;out)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把2-hop鄰居節點做GNN聚合後與自身concat然後L2正規化</a:t>
            </a:r>
            <a:endParaRPr sz="1600"/>
          </a:p>
        </p:txBody>
      </p:sp>
      <p:sp>
        <p:nvSpPr>
          <p:cNvPr id="88" name="Google Shape;88;p17"/>
          <p:cNvSpPr txBox="1"/>
          <p:nvPr/>
        </p:nvSpPr>
        <p:spPr>
          <a:xfrm>
            <a:off x="7430985" y="1633195"/>
            <a:ext cx="17742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Mean Aggregator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6437085" y="500525"/>
            <a:ext cx="9939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F(v) </a:t>
            </a:r>
            <a:endParaRPr/>
          </a:p>
        </p:txBody>
      </p:sp>
      <p:cxnSp>
        <p:nvCxnSpPr>
          <p:cNvPr id="90" name="Google Shape;90;p17"/>
          <p:cNvCxnSpPr>
            <a:stCxn id="89" idx="2"/>
            <a:endCxn id="91" idx="0"/>
          </p:cNvCxnSpPr>
          <p:nvPr/>
        </p:nvCxnSpPr>
        <p:spPr>
          <a:xfrm>
            <a:off x="6934035" y="962225"/>
            <a:ext cx="0" cy="6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7"/>
          <p:cNvSpPr txBox="1"/>
          <p:nvPr/>
        </p:nvSpPr>
        <p:spPr>
          <a:xfrm>
            <a:off x="6699575" y="1611982"/>
            <a:ext cx="46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+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821135" y="500525"/>
            <a:ext cx="9939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2-hop</a:t>
            </a:r>
            <a:endParaRPr/>
          </a:p>
        </p:txBody>
      </p:sp>
      <p:cxnSp>
        <p:nvCxnSpPr>
          <p:cNvPr id="93" name="Google Shape;93;p17"/>
          <p:cNvCxnSpPr>
            <a:stCxn id="89" idx="3"/>
            <a:endCxn id="92" idx="1"/>
          </p:cNvCxnSpPr>
          <p:nvPr/>
        </p:nvCxnSpPr>
        <p:spPr>
          <a:xfrm>
            <a:off x="7430985" y="731375"/>
            <a:ext cx="39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>
            <a:stCxn id="92" idx="2"/>
            <a:endCxn id="88" idx="0"/>
          </p:cNvCxnSpPr>
          <p:nvPr/>
        </p:nvCxnSpPr>
        <p:spPr>
          <a:xfrm>
            <a:off x="8318085" y="962225"/>
            <a:ext cx="0" cy="6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stCxn id="88" idx="1"/>
            <a:endCxn id="91" idx="3"/>
          </p:cNvCxnSpPr>
          <p:nvPr/>
        </p:nvCxnSpPr>
        <p:spPr>
          <a:xfrm flipH="1">
            <a:off x="7168485" y="1833295"/>
            <a:ext cx="2625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>
            <a:stCxn id="91" idx="2"/>
            <a:endCxn id="97" idx="0"/>
          </p:cNvCxnSpPr>
          <p:nvPr/>
        </p:nvCxnSpPr>
        <p:spPr>
          <a:xfrm>
            <a:off x="6934025" y="2073682"/>
            <a:ext cx="0" cy="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7"/>
          <p:cNvSpPr txBox="1"/>
          <p:nvPr/>
        </p:nvSpPr>
        <p:spPr>
          <a:xfrm>
            <a:off x="6046785" y="2419208"/>
            <a:ext cx="17742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L2 </a:t>
            </a:r>
            <a:r>
              <a:rPr lang="zh-TW"/>
              <a:t>Regularization</a:t>
            </a:r>
            <a:endParaRPr/>
          </a:p>
        </p:txBody>
      </p:sp>
      <p:cxnSp>
        <p:nvCxnSpPr>
          <p:cNvPr id="98" name="Google Shape;98;p17"/>
          <p:cNvCxnSpPr>
            <a:stCxn id="97" idx="2"/>
            <a:endCxn id="99" idx="0"/>
          </p:cNvCxnSpPr>
          <p:nvPr/>
        </p:nvCxnSpPr>
        <p:spPr>
          <a:xfrm>
            <a:off x="6933885" y="2819408"/>
            <a:ext cx="300" cy="3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7"/>
          <p:cNvSpPr txBox="1"/>
          <p:nvPr/>
        </p:nvSpPr>
        <p:spPr>
          <a:xfrm>
            <a:off x="6046935" y="3147745"/>
            <a:ext cx="17742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Zv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TREC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438" y="1485650"/>
            <a:ext cx="3467924" cy="2090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8"/>
          <p:cNvSpPr txBox="1"/>
          <p:nvPr/>
        </p:nvSpPr>
        <p:spPr>
          <a:xfrm>
            <a:off x="186188" y="1617975"/>
            <a:ext cx="519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f</a:t>
            </a:r>
            <a:r>
              <a:rPr lang="zh-TW" sz="1800"/>
              <a:t>or each node 𝑣ᵢ in the provenance graph, we cre ate a 42-dimensional vector 𝑒𝑖 = [𝑎1,𝑎2, ...,𝑎21,𝑎22,𝑎23, ...,𝑎42] as the initial features of 𝑣ᵢ</a:t>
            </a:r>
            <a:endParaRPr sz="1800"/>
          </a:p>
        </p:txBody>
      </p:sp>
      <p:sp>
        <p:nvSpPr>
          <p:cNvPr id="107" name="Google Shape;107;p18"/>
          <p:cNvSpPr txBox="1"/>
          <p:nvPr/>
        </p:nvSpPr>
        <p:spPr>
          <a:xfrm>
            <a:off x="582488" y="2749325"/>
            <a:ext cx="44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𝑒𝑖 = [𝑎1,𝑎2, ...,𝑎21,𝑎22,𝑎23, ...,𝑎42]</a:t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1117655" y="3257643"/>
            <a:ext cx="1480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incoming edges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2637495" y="3257643"/>
            <a:ext cx="1480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outgoing edges</a:t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1184038" y="2854025"/>
            <a:ext cx="1367400" cy="26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2590889" y="2854025"/>
            <a:ext cx="1573800" cy="26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" name="Google Shape;112;p18"/>
          <p:cNvCxnSpPr>
            <a:stCxn id="110" idx="2"/>
            <a:endCxn id="108" idx="0"/>
          </p:cNvCxnSpPr>
          <p:nvPr/>
        </p:nvCxnSpPr>
        <p:spPr>
          <a:xfrm flipH="1">
            <a:off x="1857838" y="3118325"/>
            <a:ext cx="990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8"/>
          <p:cNvCxnSpPr>
            <a:stCxn id="111" idx="2"/>
            <a:endCxn id="109" idx="0"/>
          </p:cNvCxnSpPr>
          <p:nvPr/>
        </p:nvCxnSpPr>
        <p:spPr>
          <a:xfrm>
            <a:off x="3377789" y="3118325"/>
            <a:ext cx="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8"/>
          <p:cNvCxnSpPr>
            <a:stCxn id="105" idx="1"/>
          </p:cNvCxnSpPr>
          <p:nvPr/>
        </p:nvCxnSpPr>
        <p:spPr>
          <a:xfrm flipH="1">
            <a:off x="4454638" y="2530775"/>
            <a:ext cx="1033800" cy="3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8"/>
          <p:cNvSpPr txBox="1"/>
          <p:nvPr/>
        </p:nvSpPr>
        <p:spPr>
          <a:xfrm>
            <a:off x="4508938" y="2854025"/>
            <a:ext cx="92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21edges</a:t>
            </a:r>
            <a:endParaRPr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09120" y="31733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311700" y="4020975"/>
            <a:ext cx="50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分成三種顆粒度大小作self-attention然後用</a:t>
            </a:r>
            <a:r>
              <a:rPr lang="zh-TW">
                <a:solidFill>
                  <a:schemeClr val="dk1"/>
                </a:solidFill>
              </a:rPr>
              <a:t>GNN聚合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0" y="1509750"/>
            <a:ext cx="4572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Provenance Graph Construction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結構特徵 (Structural Feature)：統計 37 種輸入與輸出邊緣的事件類型數量，形成 </a:t>
            </a:r>
            <a:r>
              <a:rPr lang="zh-TW">
                <a:highlight>
                  <a:srgbClr val="FFFF00"/>
                </a:highlight>
              </a:rPr>
              <a:t>74 維</a:t>
            </a:r>
            <a:r>
              <a:rPr lang="zh-TW"/>
              <a:t>的向量 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語意特徵 (Semantic Feature)：Hierarchical Hashing將Process的cmdline + arg 表示為 32 維的特徵向量 。</a:t>
            </a:r>
            <a:br>
              <a:rPr lang="zh-TW"/>
            </a:b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800" y="1495000"/>
            <a:ext cx="4117700" cy="2238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19"/>
          <p:cNvSpPr txBox="1"/>
          <p:nvPr/>
        </p:nvSpPr>
        <p:spPr>
          <a:xfrm>
            <a:off x="4620150" y="3733550"/>
            <a:ext cx="44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ht</a:t>
            </a:r>
            <a:r>
              <a:rPr lang="zh-TW" sz="1800">
                <a:solidFill>
                  <a:srgbClr val="000000"/>
                </a:solidFill>
              </a:rPr>
              <a:t> = [𝑎1,𝑎2, ...,𝑎</a:t>
            </a:r>
            <a:r>
              <a:rPr lang="zh-TW" sz="1800"/>
              <a:t>37</a:t>
            </a:r>
            <a:r>
              <a:rPr lang="zh-TW" sz="1800">
                <a:solidFill>
                  <a:srgbClr val="000000"/>
                </a:solidFill>
              </a:rPr>
              <a:t>,𝑎22,𝑎23, ...,𝑎</a:t>
            </a:r>
            <a:r>
              <a:rPr lang="zh-TW" sz="1800"/>
              <a:t>74</a:t>
            </a:r>
            <a:r>
              <a:rPr lang="zh-TW" sz="1800">
                <a:solidFill>
                  <a:srgbClr val="000000"/>
                </a:solidFill>
              </a:rPr>
              <a:t>]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0" y="3764300"/>
            <a:ext cx="462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Deep &amp; Wide Model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Deep學圖結構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Wide從CTI report擷取IOC特徵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 rotWithShape="1">
          <a:blip r:embed="rId3">
            <a:alphaModFix/>
          </a:blip>
          <a:srcRect b="6449" l="16793" r="11440" t="31543"/>
          <a:stretch/>
        </p:blipFill>
        <p:spPr>
          <a:xfrm>
            <a:off x="6380149" y="37575"/>
            <a:ext cx="2768550" cy="31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graphicFrame>
        <p:nvGraphicFramePr>
          <p:cNvPr id="133" name="Google Shape;133;p20"/>
          <p:cNvGraphicFramePr/>
          <p:nvPr/>
        </p:nvGraphicFramePr>
        <p:xfrm>
          <a:off x="2360753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{971DEDE4-753E-4A72-99B1-8504358CAB56}</a:tableStyleId>
              </a:tblPr>
              <a:tblGrid>
                <a:gridCol w="1303700"/>
                <a:gridCol w="2484450"/>
                <a:gridCol w="2561250"/>
              </a:tblGrid>
              <a:tr h="289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Input Feature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example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embedding &amp; </a:t>
                      </a:r>
                      <a:r>
                        <a:rPr lang="zh-TW"/>
                        <a:t>細節欄位[paper1][paper2]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每個paper的表示法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" name="Google Shape;134;p20"/>
          <p:cNvGraphicFramePr/>
          <p:nvPr/>
        </p:nvGraphicFramePr>
        <p:xfrm>
          <a:off x="311703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{971DEDE4-753E-4A72-99B1-8504358CAB56}</a:tableStyleId>
              </a:tblPr>
              <a:tblGrid>
                <a:gridCol w="1303700"/>
              </a:tblGrid>
              <a:tr h="29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論文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KAIROS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MAGIC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SHADEWATCHER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THREATRACE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Slot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Zoomer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FLASH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ProveG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Methods - AirTag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213875" y="1615225"/>
            <a:ext cx="10251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</a:t>
            </a:r>
            <a:r>
              <a:rPr lang="zh-TW"/>
              <a:t>Log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1834900" y="1615225"/>
            <a:ext cx="10251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Tokenizer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3804375" y="1615225"/>
            <a:ext cx="1353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7561375" y="1615225"/>
            <a:ext cx="10251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BERT</a:t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7561375" y="531275"/>
            <a:ext cx="10251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OC-SVM</a:t>
            </a:r>
            <a:endParaRPr/>
          </a:p>
        </p:txBody>
      </p:sp>
      <p:cxnSp>
        <p:nvCxnSpPr>
          <p:cNvPr id="145" name="Google Shape;145;p21"/>
          <p:cNvCxnSpPr>
            <a:stCxn id="140" idx="3"/>
            <a:endCxn id="141" idx="1"/>
          </p:cNvCxnSpPr>
          <p:nvPr/>
        </p:nvCxnSpPr>
        <p:spPr>
          <a:xfrm>
            <a:off x="1238975" y="1815325"/>
            <a:ext cx="59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1"/>
          <p:cNvCxnSpPr>
            <a:stCxn id="141" idx="3"/>
            <a:endCxn id="142" idx="1"/>
          </p:cNvCxnSpPr>
          <p:nvPr/>
        </p:nvCxnSpPr>
        <p:spPr>
          <a:xfrm>
            <a:off x="2860000" y="1815325"/>
            <a:ext cx="94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1"/>
          <p:cNvCxnSpPr>
            <a:stCxn id="142" idx="3"/>
            <a:endCxn id="143" idx="1"/>
          </p:cNvCxnSpPr>
          <p:nvPr/>
        </p:nvCxnSpPr>
        <p:spPr>
          <a:xfrm>
            <a:off x="5157375" y="1815325"/>
            <a:ext cx="240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1"/>
          <p:cNvCxnSpPr>
            <a:stCxn id="143" idx="0"/>
            <a:endCxn id="144" idx="2"/>
          </p:cNvCxnSpPr>
          <p:nvPr/>
        </p:nvCxnSpPr>
        <p:spPr>
          <a:xfrm rot="10800000">
            <a:off x="8073925" y="931525"/>
            <a:ext cx="0" cy="6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21"/>
          <p:cNvSpPr txBox="1"/>
          <p:nvPr/>
        </p:nvSpPr>
        <p:spPr>
          <a:xfrm>
            <a:off x="213875" y="2171550"/>
            <a:ext cx="2717100" cy="130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路徑：按 /和 \ 切分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URL：按協議/域名拆分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IP：按 . 切分子網段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檔名：分離程序名+雜湊</a:t>
            </a:r>
            <a:endParaRPr/>
          </a:p>
        </p:txBody>
      </p:sp>
      <p:sp>
        <p:nvSpPr>
          <p:cNvPr id="150" name="Google Shape;150;p21"/>
          <p:cNvSpPr txBox="1"/>
          <p:nvPr/>
        </p:nvSpPr>
        <p:spPr>
          <a:xfrm>
            <a:off x="3092475" y="2164730"/>
            <a:ext cx="3530100" cy="169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Token Emb: 複用 BERT 權重</a:t>
            </a:r>
            <a:br>
              <a:rPr lang="zh-TW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Segment Emb: </a:t>
            </a:r>
            <a:r>
              <a:rPr lang="zh-TW"/>
              <a:t>同一條 Log Event 內所有 token 共享相同的 Segment Embedding，用以標示事件邊界</a:t>
            </a:r>
            <a:br>
              <a:rPr lang="zh-TW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Position Emb: 複用 BERT 權重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5682275" y="3995675"/>
            <a:ext cx="33459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MLM 遮罩語言模型: 遮住 token，用上下文預測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NSP 下一事件預測: 預測兩條 log 是否因果相連</a:t>
            </a:r>
            <a:endParaRPr/>
          </a:p>
        </p:txBody>
      </p:sp>
      <p:cxnSp>
        <p:nvCxnSpPr>
          <p:cNvPr id="152" name="Google Shape;152;p21"/>
          <p:cNvCxnSpPr>
            <a:endCxn id="149" idx="0"/>
          </p:cNvCxnSpPr>
          <p:nvPr/>
        </p:nvCxnSpPr>
        <p:spPr>
          <a:xfrm>
            <a:off x="1471325" y="1795050"/>
            <a:ext cx="101100" cy="3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1"/>
          <p:cNvCxnSpPr/>
          <p:nvPr/>
        </p:nvCxnSpPr>
        <p:spPr>
          <a:xfrm>
            <a:off x="3331675" y="1815325"/>
            <a:ext cx="72000" cy="3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1"/>
          <p:cNvCxnSpPr>
            <a:endCxn id="151" idx="0"/>
          </p:cNvCxnSpPr>
          <p:nvPr/>
        </p:nvCxnSpPr>
        <p:spPr>
          <a:xfrm>
            <a:off x="6700025" y="1819175"/>
            <a:ext cx="655200" cy="21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1"/>
          <p:cNvSpPr txBox="1"/>
          <p:nvPr/>
        </p:nvSpPr>
        <p:spPr>
          <a:xfrm>
            <a:off x="5725450" y="1074350"/>
            <a:ext cx="1704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區分良性/惡意 Log</a:t>
            </a:r>
            <a:endParaRPr/>
          </a:p>
        </p:txBody>
      </p:sp>
      <p:cxnSp>
        <p:nvCxnSpPr>
          <p:cNvPr id="156" name="Google Shape;156;p21"/>
          <p:cNvCxnSpPr>
            <a:endCxn id="155" idx="3"/>
          </p:cNvCxnSpPr>
          <p:nvPr/>
        </p:nvCxnSpPr>
        <p:spPr>
          <a:xfrm rot="10800000">
            <a:off x="7429450" y="1274450"/>
            <a:ext cx="6384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 Insights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800" y="1017725"/>
            <a:ext cx="7312401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 Insights</a:t>
            </a:r>
            <a:endParaRPr/>
          </a:p>
        </p:txBody>
      </p:sp>
      <p:graphicFrame>
        <p:nvGraphicFramePr>
          <p:cNvPr id="168" name="Google Shape;168;p23"/>
          <p:cNvGraphicFramePr/>
          <p:nvPr/>
        </p:nvGraphicFramePr>
        <p:xfrm>
          <a:off x="334238" y="127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{971DEDE4-753E-4A72-99B1-8504358CAB56}</a:tableStyleId>
              </a:tblPr>
              <a:tblGrid>
                <a:gridCol w="1613150"/>
                <a:gridCol w="1078475"/>
                <a:gridCol w="1228150"/>
                <a:gridCol w="2126975"/>
                <a:gridCol w="937125"/>
                <a:gridCol w="676100"/>
                <a:gridCol w="815525"/>
              </a:tblGrid>
              <a:tr h="33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Datasets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label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Problems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Campaign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B/M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Node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Darpa E5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Win/Linux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NAN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沒有標籤(如果自己標的話會有爭議)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Casino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Linux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TTP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與其他資料集的OS不同，要考慮欄位差異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APT4KELLCET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Windows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TTP</a:t>
                      </a:r>
                      <a:r>
                        <a:rPr lang="zh-TW"/>
                        <a:t> 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標籤不夠明確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SAGA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Windows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TTP</a:t>
                      </a:r>
                      <a:r>
                        <a:rPr lang="zh-TW"/>
                        <a:t> (APT)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NaN</a:t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532975" y="1079550"/>
            <a:ext cx="5096400" cy="138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Structure</a:t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1102975" y="1596559"/>
            <a:ext cx="1384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3007675" y="1596559"/>
            <a:ext cx="1384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cxnSp>
        <p:nvCxnSpPr>
          <p:cNvPr id="177" name="Google Shape;177;p24"/>
          <p:cNvCxnSpPr>
            <a:stCxn id="175" idx="3"/>
            <a:endCxn id="176" idx="1"/>
          </p:cNvCxnSpPr>
          <p:nvPr/>
        </p:nvCxnSpPr>
        <p:spPr>
          <a:xfrm>
            <a:off x="2487175" y="1793359"/>
            <a:ext cx="52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24"/>
          <p:cNvSpPr txBox="1"/>
          <p:nvPr/>
        </p:nvSpPr>
        <p:spPr>
          <a:xfrm>
            <a:off x="2094175" y="1293787"/>
            <a:ext cx="130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SecureBERT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532975" y="1086042"/>
            <a:ext cx="6513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SFM</a:t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532975" y="3322525"/>
            <a:ext cx="5096400" cy="171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709975" y="3933225"/>
            <a:ext cx="9570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2205175" y="3441100"/>
            <a:ext cx="1084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Entity encoder</a:t>
            </a:r>
            <a:endParaRPr/>
          </a:p>
        </p:txBody>
      </p:sp>
      <p:cxnSp>
        <p:nvCxnSpPr>
          <p:cNvPr id="183" name="Google Shape;183;p24"/>
          <p:cNvCxnSpPr>
            <a:stCxn id="181" idx="3"/>
            <a:endCxn id="182" idx="1"/>
          </p:cNvCxnSpPr>
          <p:nvPr/>
        </p:nvCxnSpPr>
        <p:spPr>
          <a:xfrm flipH="1" rot="10800000">
            <a:off x="1666975" y="3638025"/>
            <a:ext cx="538200" cy="49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24"/>
          <p:cNvSpPr txBox="1"/>
          <p:nvPr/>
        </p:nvSpPr>
        <p:spPr>
          <a:xfrm>
            <a:off x="532975" y="3329017"/>
            <a:ext cx="6513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New</a:t>
            </a:r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1141825" y="1970014"/>
            <a:ext cx="130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(u,v,p)</a:t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6090025" y="975300"/>
            <a:ext cx="27078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SecureBERT</a:t>
            </a:r>
            <a:r>
              <a:rPr lang="zh-TW" sz="1600"/>
              <a:t>可能看不懂lo</a:t>
            </a:r>
            <a:r>
              <a:rPr lang="zh-TW" sz="1600"/>
              <a:t>g</a:t>
            </a:r>
            <a:r>
              <a:rPr lang="zh-TW" sz="1600"/>
              <a:t>，可能丟失深層語意。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PCA可能破壞非線性結構(Semantic)</a:t>
            </a:r>
            <a:endParaRPr sz="1600"/>
          </a:p>
        </p:txBody>
      </p:sp>
      <p:cxnSp>
        <p:nvCxnSpPr>
          <p:cNvPr id="187" name="Google Shape;187;p24"/>
          <p:cNvCxnSpPr>
            <a:stCxn id="176" idx="3"/>
            <a:endCxn id="188" idx="1"/>
          </p:cNvCxnSpPr>
          <p:nvPr/>
        </p:nvCxnSpPr>
        <p:spPr>
          <a:xfrm>
            <a:off x="4391875" y="1793359"/>
            <a:ext cx="41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4"/>
          <p:cNvSpPr/>
          <p:nvPr/>
        </p:nvSpPr>
        <p:spPr>
          <a:xfrm>
            <a:off x="4805275" y="1596550"/>
            <a:ext cx="6060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PCA</a:t>
            </a:r>
            <a:endParaRPr/>
          </a:p>
        </p:txBody>
      </p:sp>
      <p:sp>
        <p:nvSpPr>
          <p:cNvPr id="189" name="Google Shape;189;p24"/>
          <p:cNvSpPr txBox="1"/>
          <p:nvPr/>
        </p:nvSpPr>
        <p:spPr>
          <a:xfrm>
            <a:off x="465325" y="4326825"/>
            <a:ext cx="78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(u,v,p)</a:t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2205175" y="3933225"/>
            <a:ext cx="1084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Relation</a:t>
            </a:r>
            <a:br>
              <a:rPr lang="zh-TW"/>
            </a:br>
            <a:r>
              <a:rPr lang="zh-TW"/>
              <a:t>encoder</a:t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2205175" y="4425350"/>
            <a:ext cx="10845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Entity encoder</a:t>
            </a:r>
            <a:endParaRPr/>
          </a:p>
        </p:txBody>
      </p:sp>
      <p:cxnSp>
        <p:nvCxnSpPr>
          <p:cNvPr id="192" name="Google Shape;192;p24"/>
          <p:cNvCxnSpPr>
            <a:stCxn id="181" idx="3"/>
            <a:endCxn id="191" idx="1"/>
          </p:cNvCxnSpPr>
          <p:nvPr/>
        </p:nvCxnSpPr>
        <p:spPr>
          <a:xfrm>
            <a:off x="1666975" y="4130025"/>
            <a:ext cx="538200" cy="49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4"/>
          <p:cNvCxnSpPr>
            <a:stCxn id="181" idx="3"/>
            <a:endCxn id="190" idx="1"/>
          </p:cNvCxnSpPr>
          <p:nvPr/>
        </p:nvCxnSpPr>
        <p:spPr>
          <a:xfrm>
            <a:off x="1666975" y="4130025"/>
            <a:ext cx="53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4"/>
          <p:cNvSpPr/>
          <p:nvPr/>
        </p:nvSpPr>
        <p:spPr>
          <a:xfrm>
            <a:off x="3566875" y="3933225"/>
            <a:ext cx="15969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Cross-attention</a:t>
            </a:r>
            <a:endParaRPr/>
          </a:p>
        </p:txBody>
      </p:sp>
      <p:cxnSp>
        <p:nvCxnSpPr>
          <p:cNvPr id="195" name="Google Shape;195;p24"/>
          <p:cNvCxnSpPr>
            <a:stCxn id="182" idx="3"/>
            <a:endCxn id="194" idx="1"/>
          </p:cNvCxnSpPr>
          <p:nvPr/>
        </p:nvCxnSpPr>
        <p:spPr>
          <a:xfrm>
            <a:off x="3289675" y="3637900"/>
            <a:ext cx="277200" cy="49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4"/>
          <p:cNvCxnSpPr>
            <a:stCxn id="191" idx="3"/>
            <a:endCxn id="194" idx="1"/>
          </p:cNvCxnSpPr>
          <p:nvPr/>
        </p:nvCxnSpPr>
        <p:spPr>
          <a:xfrm flipH="1" rot="10800000">
            <a:off x="3289675" y="4130150"/>
            <a:ext cx="277200" cy="49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4"/>
          <p:cNvCxnSpPr>
            <a:stCxn id="190" idx="3"/>
            <a:endCxn id="194" idx="1"/>
          </p:cNvCxnSpPr>
          <p:nvPr/>
        </p:nvCxnSpPr>
        <p:spPr>
          <a:xfrm>
            <a:off x="3289675" y="4130025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4"/>
          <p:cNvSpPr/>
          <p:nvPr/>
        </p:nvSpPr>
        <p:spPr>
          <a:xfrm>
            <a:off x="3566875" y="4493200"/>
            <a:ext cx="1596900" cy="49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Temporal context aggregation</a:t>
            </a:r>
            <a:endParaRPr/>
          </a:p>
        </p:txBody>
      </p:sp>
      <p:cxnSp>
        <p:nvCxnSpPr>
          <p:cNvPr id="199" name="Google Shape;199;p24"/>
          <p:cNvCxnSpPr>
            <a:stCxn id="194" idx="2"/>
            <a:endCxn id="198" idx="0"/>
          </p:cNvCxnSpPr>
          <p:nvPr/>
        </p:nvCxnSpPr>
        <p:spPr>
          <a:xfrm>
            <a:off x="4365325" y="4326825"/>
            <a:ext cx="0" cy="1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4"/>
          <p:cNvSpPr txBox="1"/>
          <p:nvPr/>
        </p:nvSpPr>
        <p:spPr>
          <a:xfrm>
            <a:off x="5672275" y="2835300"/>
            <a:ext cx="35433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用SecureBERT 2.0 產生embedding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把得到的3個特徵concat做attention學出彼此的語義差異。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把 n-hop 的鄰居節點做GNN (包含語義)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把 n-hop 的鄰居資訊 concat</a:t>
            </a:r>
            <a:endParaRPr sz="1600"/>
          </a:p>
        </p:txBody>
      </p:sp>
      <p:sp>
        <p:nvSpPr>
          <p:cNvPr id="201" name="Google Shape;201;p24"/>
          <p:cNvSpPr txBox="1"/>
          <p:nvPr/>
        </p:nvSpPr>
        <p:spPr>
          <a:xfrm>
            <a:off x="1758475" y="3322525"/>
            <a:ext cx="95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t/>
            </a:r>
            <a:endParaRPr/>
          </a:p>
        </p:txBody>
      </p:sp>
      <p:cxnSp>
        <p:nvCxnSpPr>
          <p:cNvPr id="202" name="Google Shape;202;p24"/>
          <p:cNvCxnSpPr>
            <a:stCxn id="181" idx="2"/>
          </p:cNvCxnSpPr>
          <p:nvPr/>
        </p:nvCxnSpPr>
        <p:spPr>
          <a:xfrm flipH="1" rot="-5400000">
            <a:off x="2085025" y="3430275"/>
            <a:ext cx="575400" cy="2368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4"/>
          <p:cNvSpPr txBox="1"/>
          <p:nvPr/>
        </p:nvSpPr>
        <p:spPr>
          <a:xfrm>
            <a:off x="2803525" y="3340100"/>
            <a:ext cx="6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FF"/>
                </a:solidFill>
              </a:rPr>
              <a:t>src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2803150" y="4326400"/>
            <a:ext cx="6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FF"/>
                </a:solidFill>
              </a:rPr>
              <a:t>dst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3400675" y="3422350"/>
            <a:ext cx="95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2"/>
            </a:pPr>
            <a:r>
              <a:t/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1141825" y="4406600"/>
            <a:ext cx="95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t/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3827875" y="4194525"/>
            <a:ext cx="95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4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409825" y="3237400"/>
            <a:ext cx="3875700" cy="127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流程圖概述</a:t>
            </a:r>
            <a:endParaRPr/>
          </a:p>
        </p:txBody>
      </p:sp>
      <p:sp>
        <p:nvSpPr>
          <p:cNvPr id="214" name="Google Shape;21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505825" y="1744525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3702125" y="1743800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cxnSp>
        <p:nvCxnSpPr>
          <p:cNvPr id="217" name="Google Shape;217;p25"/>
          <p:cNvCxnSpPr>
            <a:stCxn id="216" idx="3"/>
          </p:cNvCxnSpPr>
          <p:nvPr/>
        </p:nvCxnSpPr>
        <p:spPr>
          <a:xfrm>
            <a:off x="5371325" y="1940600"/>
            <a:ext cx="1305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5"/>
          <p:cNvCxnSpPr>
            <a:stCxn id="215" idx="3"/>
            <a:endCxn id="216" idx="1"/>
          </p:cNvCxnSpPr>
          <p:nvPr/>
        </p:nvCxnSpPr>
        <p:spPr>
          <a:xfrm flipH="1" rot="10800000">
            <a:off x="2175025" y="1940725"/>
            <a:ext cx="1527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5"/>
          <p:cNvCxnSpPr>
            <a:stCxn id="220" idx="2"/>
            <a:endCxn id="221" idx="3"/>
          </p:cNvCxnSpPr>
          <p:nvPr/>
        </p:nvCxnSpPr>
        <p:spPr>
          <a:xfrm rot="5400000">
            <a:off x="6648950" y="3274525"/>
            <a:ext cx="496200" cy="144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25"/>
          <p:cNvSpPr/>
          <p:nvPr/>
        </p:nvSpPr>
        <p:spPr>
          <a:xfrm>
            <a:off x="4507900" y="40459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weighted Expert</a:t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25203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CRF Sequence Decoder</a:t>
            </a:r>
            <a:endParaRPr/>
          </a:p>
        </p:txBody>
      </p:sp>
      <p:cxnSp>
        <p:nvCxnSpPr>
          <p:cNvPr id="223" name="Google Shape;223;p25"/>
          <p:cNvCxnSpPr>
            <a:stCxn id="221" idx="1"/>
            <a:endCxn id="222" idx="3"/>
          </p:cNvCxnSpPr>
          <p:nvPr/>
        </p:nvCxnSpPr>
        <p:spPr>
          <a:xfrm rot="10800000">
            <a:off x="4189600" y="4241800"/>
            <a:ext cx="318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5"/>
          <p:cNvCxnSpPr>
            <a:stCxn id="222" idx="1"/>
            <a:endCxn id="225" idx="3"/>
          </p:cNvCxnSpPr>
          <p:nvPr/>
        </p:nvCxnSpPr>
        <p:spPr>
          <a:xfrm rot="10800000">
            <a:off x="2175025" y="4241825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5"/>
          <p:cNvSpPr/>
          <p:nvPr/>
        </p:nvSpPr>
        <p:spPr>
          <a:xfrm>
            <a:off x="6653600" y="1744525"/>
            <a:ext cx="1926900" cy="20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Gating Network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6782450" y="21381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1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6782450" y="26538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2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6782450" y="31695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3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5058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TTP Sequence</a:t>
            </a:r>
            <a:endParaRPr/>
          </a:p>
        </p:txBody>
      </p:sp>
      <p:cxnSp>
        <p:nvCxnSpPr>
          <p:cNvPr id="229" name="Google Shape;229;p25"/>
          <p:cNvCxnSpPr>
            <a:stCxn id="221" idx="0"/>
          </p:cNvCxnSpPr>
          <p:nvPr/>
        </p:nvCxnSpPr>
        <p:spPr>
          <a:xfrm rot="10800000">
            <a:off x="5337100" y="3631000"/>
            <a:ext cx="5400" cy="41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30" name="Google Shape;230;p25"/>
          <p:cNvSpPr/>
          <p:nvPr/>
        </p:nvSpPr>
        <p:spPr>
          <a:xfrm>
            <a:off x="4412500" y="2632800"/>
            <a:ext cx="1842000" cy="111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4507900" y="2728476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Top-1</a:t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4498900" y="32374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Soft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180225" y="1302225"/>
            <a:ext cx="3516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把Audit log送進</a:t>
            </a:r>
            <a:r>
              <a:rPr lang="zh-TW" sz="1100">
                <a:highlight>
                  <a:schemeClr val="accent6"/>
                </a:highlight>
              </a:rPr>
              <a:t>Log2vec&amp;Cmdcaliper</a:t>
            </a:r>
            <a:r>
              <a:rPr lang="zh-TW" sz="1100"/>
              <a:t>產生embedding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5060375" y="1277325"/>
            <a:ext cx="1926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把embedding送進MoE系統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384225" y="3361550"/>
            <a:ext cx="19269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用CRF修正預測出的攻擊路徑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3544450" y="4546700"/>
            <a:ext cx="1608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採用最終expert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6812750" y="4439500"/>
            <a:ext cx="16086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用</a:t>
            </a:r>
            <a:r>
              <a:rPr lang="zh-TW" sz="1100">
                <a:solidFill>
                  <a:schemeClr val="dk1"/>
                </a:solidFill>
              </a:rPr>
              <a:t>CrossEntropyLoss</a:t>
            </a:r>
            <a:r>
              <a:rPr lang="zh-TW" sz="1100"/>
              <a:t>決定哪個expert最好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947275" y="2609105"/>
            <a:ext cx="28008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這部分是SFM輸出前做的處理，不確定在MoE的架構上適不適用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/>
          <p:nvPr/>
        </p:nvSpPr>
        <p:spPr>
          <a:xfrm>
            <a:off x="409825" y="3237400"/>
            <a:ext cx="3875700" cy="127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流程圖概述</a:t>
            </a:r>
            <a:endParaRPr/>
          </a:p>
        </p:txBody>
      </p:sp>
      <p:sp>
        <p:nvSpPr>
          <p:cNvPr id="245" name="Google Shape;24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6" name="Google Shape;246;p26"/>
          <p:cNvSpPr/>
          <p:nvPr/>
        </p:nvSpPr>
        <p:spPr>
          <a:xfrm>
            <a:off x="505825" y="1744525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247" name="Google Shape;247;p26"/>
          <p:cNvSpPr/>
          <p:nvPr/>
        </p:nvSpPr>
        <p:spPr>
          <a:xfrm>
            <a:off x="3702125" y="1743800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cxnSp>
        <p:nvCxnSpPr>
          <p:cNvPr id="248" name="Google Shape;248;p26"/>
          <p:cNvCxnSpPr>
            <a:stCxn id="247" idx="3"/>
          </p:cNvCxnSpPr>
          <p:nvPr/>
        </p:nvCxnSpPr>
        <p:spPr>
          <a:xfrm>
            <a:off x="5371325" y="1940600"/>
            <a:ext cx="1305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26"/>
          <p:cNvCxnSpPr>
            <a:stCxn id="246" idx="3"/>
            <a:endCxn id="247" idx="1"/>
          </p:cNvCxnSpPr>
          <p:nvPr/>
        </p:nvCxnSpPr>
        <p:spPr>
          <a:xfrm flipH="1" rot="10800000">
            <a:off x="2175025" y="1940725"/>
            <a:ext cx="1527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6"/>
          <p:cNvCxnSpPr>
            <a:stCxn id="251" idx="2"/>
            <a:endCxn id="252" idx="3"/>
          </p:cNvCxnSpPr>
          <p:nvPr/>
        </p:nvCxnSpPr>
        <p:spPr>
          <a:xfrm rot="5400000">
            <a:off x="6648950" y="3274525"/>
            <a:ext cx="496200" cy="144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26"/>
          <p:cNvSpPr/>
          <p:nvPr/>
        </p:nvSpPr>
        <p:spPr>
          <a:xfrm>
            <a:off x="4507900" y="40459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weighted Expert</a:t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25203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CRF Sequence Decoder</a:t>
            </a:r>
            <a:endParaRPr/>
          </a:p>
        </p:txBody>
      </p:sp>
      <p:cxnSp>
        <p:nvCxnSpPr>
          <p:cNvPr id="254" name="Google Shape;254;p26"/>
          <p:cNvCxnSpPr>
            <a:stCxn id="252" idx="1"/>
            <a:endCxn id="253" idx="3"/>
          </p:cNvCxnSpPr>
          <p:nvPr/>
        </p:nvCxnSpPr>
        <p:spPr>
          <a:xfrm rot="10800000">
            <a:off x="4189600" y="4241800"/>
            <a:ext cx="318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6"/>
          <p:cNvCxnSpPr>
            <a:stCxn id="253" idx="1"/>
            <a:endCxn id="256" idx="3"/>
          </p:cNvCxnSpPr>
          <p:nvPr/>
        </p:nvCxnSpPr>
        <p:spPr>
          <a:xfrm rot="10800000">
            <a:off x="2175025" y="4241825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6"/>
          <p:cNvSpPr/>
          <p:nvPr/>
        </p:nvSpPr>
        <p:spPr>
          <a:xfrm>
            <a:off x="6653600" y="1744525"/>
            <a:ext cx="1926900" cy="20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Gating Network</a:t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>
            <a:off x="6782450" y="21381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1</a:t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6782450" y="26538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2</a:t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6782450" y="31695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3</a:t>
            </a:r>
            <a:endParaRPr/>
          </a:p>
        </p:txBody>
      </p:sp>
      <p:sp>
        <p:nvSpPr>
          <p:cNvPr id="256" name="Google Shape;256;p26"/>
          <p:cNvSpPr/>
          <p:nvPr/>
        </p:nvSpPr>
        <p:spPr>
          <a:xfrm>
            <a:off x="5058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TTP Sequence</a:t>
            </a:r>
            <a:endParaRPr/>
          </a:p>
        </p:txBody>
      </p:sp>
      <p:cxnSp>
        <p:nvCxnSpPr>
          <p:cNvPr id="260" name="Google Shape;260;p26"/>
          <p:cNvCxnSpPr>
            <a:stCxn id="252" idx="0"/>
          </p:cNvCxnSpPr>
          <p:nvPr/>
        </p:nvCxnSpPr>
        <p:spPr>
          <a:xfrm rot="10800000">
            <a:off x="5337100" y="3631000"/>
            <a:ext cx="5400" cy="41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61" name="Google Shape;261;p26"/>
          <p:cNvSpPr/>
          <p:nvPr/>
        </p:nvSpPr>
        <p:spPr>
          <a:xfrm>
            <a:off x="4412500" y="2632800"/>
            <a:ext cx="1842000" cy="111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4507900" y="2728476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Top-1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4498900" y="32374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Soft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1180225" y="1302225"/>
            <a:ext cx="3516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把Audit log送進</a:t>
            </a:r>
            <a:r>
              <a:rPr lang="zh-TW" sz="1100">
                <a:highlight>
                  <a:schemeClr val="accent6"/>
                </a:highlight>
              </a:rPr>
              <a:t>Log2vec&amp;Cmdcaliper</a:t>
            </a:r>
            <a:r>
              <a:rPr lang="zh-TW" sz="1100"/>
              <a:t>產生embedding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5060375" y="1277325"/>
            <a:ext cx="1926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把embedding送進MoE系統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384225" y="3361550"/>
            <a:ext cx="19269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用CRF修正預測出的攻擊路徑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3544450" y="4546700"/>
            <a:ext cx="1608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採用最終expert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812750" y="4439500"/>
            <a:ext cx="16086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用</a:t>
            </a:r>
            <a:r>
              <a:rPr lang="zh-TW" sz="1100">
                <a:solidFill>
                  <a:schemeClr val="dk1"/>
                </a:solidFill>
              </a:rPr>
              <a:t>CrossEntropyLoss</a:t>
            </a:r>
            <a:r>
              <a:rPr lang="zh-TW" sz="1100"/>
              <a:t>決定哪個expert最好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947275" y="2609105"/>
            <a:ext cx="28008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這部分是SFM輸出前做的處理，不確定在MoE的架構上適不適用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