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y="5143500" cx="9144000"/>
  <p:notesSz cx="6858000" cy="9144000"/>
  <p:embeddedFontLst>
    <p:embeddedFont>
      <p:font typeface="Roboto Mono"/>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94DB756-C715-4B54-ADD8-DDC20CE4C5C1}">
  <a:tblStyle styleId="{594DB756-C715-4B54-ADD8-DDC20CE4C5C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RobotoMono-regular.fntdata"/><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RobotoMono-italic.fntdata"/><Relationship Id="rId23" Type="http://schemas.openxmlformats.org/officeDocument/2006/relationships/slide" Target="slides/slide17.xml"/><Relationship Id="rId67" Type="http://schemas.openxmlformats.org/officeDocument/2006/relationships/font" Target="fonts/RobotoMono-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Mono-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ellect.org/#/kellect-4-aptdataset"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1.</a:t>
            </a:r>
            <a:r>
              <a:rPr lang="zh-TW"/>
              <a:t>浙江工業大學</a:t>
            </a:r>
            <a:endParaRPr/>
          </a:p>
          <a:p>
            <a:pPr indent="0" lvl="0" marL="0" rtl="0" algn="l">
              <a:spcBef>
                <a:spcPts val="0"/>
              </a:spcBef>
              <a:spcAft>
                <a:spcPts val="0"/>
              </a:spcAft>
              <a:buNone/>
            </a:pPr>
            <a:r>
              <a:rPr lang="zh-TW"/>
              <a:t>2.浙江大學</a:t>
            </a:r>
            <a:br>
              <a:rPr lang="zh-TW"/>
            </a:br>
            <a:br>
              <a:rPr lang="zh-TW"/>
            </a:br>
            <a:r>
              <a:rPr lang="zh-TW"/>
              <a:t>講這個 </a:t>
            </a:r>
            <a:r>
              <a:rPr lang="zh-TW" u="sng">
                <a:solidFill>
                  <a:schemeClr val="hlink"/>
                </a:solidFill>
                <a:hlinkClick r:id="rId2"/>
              </a:rPr>
              <a:t>https://www.kellect.org/#/kellect-4-aptdataset</a:t>
            </a:r>
            <a:br>
              <a:rPr lang="zh-TW"/>
            </a:br>
            <a:r>
              <a:rPr lang="zh-TW"/>
              <a:t>p19偷他的映射表</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下周三、dataset問題、講Iforest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c488619a6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c488619a6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48845c8b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c48845c8b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現有的作品有使用provenace graph在</a:t>
            </a:r>
            <a:r>
              <a:rPr lang="zh-TW">
                <a:highlight>
                  <a:srgbClr val="FFFF00"/>
                </a:highlight>
              </a:rPr>
              <a:t>同一個主機</a:t>
            </a:r>
            <a:r>
              <a:rPr lang="zh-TW"/>
              <a:t>捕捉複雜的entity之間的關係(relation)。</a:t>
            </a:r>
            <a:endParaRPr/>
          </a:p>
          <a:p>
            <a:pPr indent="0" lvl="0" marL="0" rtl="0" algn="l">
              <a:spcBef>
                <a:spcPts val="0"/>
              </a:spcBef>
              <a:spcAft>
                <a:spcPts val="0"/>
              </a:spcAft>
              <a:buNone/>
            </a:pPr>
            <a:r>
              <a:rPr lang="zh-TW"/>
              <a:t>了解攻擊event的ttp對於資安作為相當重要</a:t>
            </a:r>
            <a:endParaRPr/>
          </a:p>
          <a:p>
            <a:pPr indent="0" lvl="0" marL="0" rtl="0" algn="l">
              <a:spcBef>
                <a:spcPts val="0"/>
              </a:spcBef>
              <a:spcAft>
                <a:spcPts val="0"/>
              </a:spcAft>
              <a:buNone/>
            </a:pPr>
            <a:r>
              <a:rPr lang="zh-TW"/>
              <a:t>現有的研究試著使用規則based的方法把low-level的系統event映射到high-level的APT tactic/technique，但是</a:t>
            </a:r>
            <a:r>
              <a:rPr lang="zh-TW">
                <a:highlight>
                  <a:schemeClr val="accent4"/>
                </a:highlight>
              </a:rPr>
              <a:t>顆粒太粗且缺少generalization(泛化)能力</a:t>
            </a:r>
            <a:endParaRPr>
              <a:highlight>
                <a:schemeClr val="accent4"/>
              </a:highlight>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48845c8b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c48845c8b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透過</a:t>
            </a:r>
            <a:r>
              <a:rPr lang="zh-TW">
                <a:highlight>
                  <a:schemeClr val="accent4"/>
                </a:highlight>
              </a:rPr>
              <a:t>惡意節點偵測模型與子圖採樣演算法</a:t>
            </a:r>
            <a:r>
              <a:rPr lang="zh-TW"/>
              <a:t>，將龐大的溯源圖（Provenance Graph）分割成涵蓋單一 APT 技術實例的小型、緊湊子圖 。</a:t>
            </a:r>
            <a:endParaRPr/>
          </a:p>
          <a:p>
            <a:pPr indent="0" lvl="0" marL="0" rtl="0" algn="l">
              <a:spcBef>
                <a:spcPts val="0"/>
              </a:spcBef>
              <a:spcAft>
                <a:spcPts val="0"/>
              </a:spcAft>
              <a:buNone/>
            </a:pPr>
            <a:r>
              <a:rPr lang="zh-TW"/>
              <a:t>採用孿生神經網路（Siamese Neural Network），以少樣本學習（Few-Shot Learning）的方式來訓練 APT 戰術與技術的辨識模型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48845c8b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48845c8b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為了更有效率的偵測APT attack，detection system必須捕捉主機們的fine-grained behaviors的長期因果和上下文資訊。</a:t>
            </a:r>
            <a:endParaRPr/>
          </a:p>
          <a:p>
            <a:pPr indent="0" lvl="0" marL="0" rtl="0" algn="l">
              <a:spcBef>
                <a:spcPts val="0"/>
              </a:spcBef>
              <a:spcAft>
                <a:spcPts val="0"/>
              </a:spcAft>
              <a:buNone/>
            </a:pPr>
            <a:r>
              <a:rPr lang="zh-TW"/>
              <a:t>fine-grained behaviors就是log必須要</a:t>
            </a:r>
            <a:r>
              <a:rPr lang="zh-TW"/>
              <a:t>細緻錄到完整細節資訊。比如說不同主機OS不一樣，錄製的軟體不一樣，細緻度也會不一樣。</a:t>
            </a:r>
            <a:endParaRPr/>
          </a:p>
          <a:p>
            <a:pPr indent="0" lvl="0" marL="0" rtl="0" algn="l">
              <a:spcBef>
                <a:spcPts val="0"/>
              </a:spcBef>
              <a:spcAft>
                <a:spcPts val="0"/>
              </a:spcAft>
              <a:buNone/>
            </a:pPr>
            <a:r>
              <a:rPr lang="zh-TW"/>
              <a:t>acyclic graph(有向無環圖)</a:t>
            </a:r>
            <a:endParaRPr/>
          </a:p>
          <a:p>
            <a:pPr indent="0" lvl="0" marL="0" rtl="0" algn="l">
              <a:spcBef>
                <a:spcPts val="0"/>
              </a:spcBef>
              <a:spcAft>
                <a:spcPts val="0"/>
              </a:spcAft>
              <a:buNone/>
            </a:pPr>
            <a:r>
              <a:rPr lang="zh-TW"/>
              <a:t>18:將檢測系統架構分為「資料收集（Data collection）」、「資料管理（Data management）」與「威脅檢測（Threat detection）」 。</a:t>
            </a:r>
            <a:endParaRPr/>
          </a:p>
          <a:p>
            <a:pPr indent="0" lvl="0" marL="0" rtl="0" algn="l">
              <a:spcBef>
                <a:spcPts val="0"/>
              </a:spcBef>
              <a:spcAft>
                <a:spcPts val="0"/>
              </a:spcAft>
              <a:buNone/>
            </a:pPr>
            <a:r>
              <a:rPr lang="zh-TW"/>
              <a:t>39:將 PIDS(溯源圖入侵檢測系統) 的研究領域劃分為：資料收集、圖形摘要（Graph Summarization）、入侵檢測、基準資料集（Benchmark Datasets） 。</a:t>
            </a:r>
            <a:endParaRPr/>
          </a:p>
          <a:p>
            <a:pPr indent="0" lvl="0" marL="0" rtl="0" algn="l">
              <a:spcBef>
                <a:spcPts val="0"/>
              </a:spcBef>
              <a:spcAft>
                <a:spcPts val="0"/>
              </a:spcAft>
              <a:buNone/>
            </a:pPr>
            <a:r>
              <a:rPr lang="zh-TW"/>
              <a:t>18&amp;39:</a:t>
            </a:r>
            <a:br>
              <a:rPr lang="zh-TW"/>
            </a:br>
            <a:r>
              <a:rPr lang="zh-TW"/>
              <a:t>兩篇論文的核心共識是：溯源圖是下一代網路防禦的極佳工具，能有效降低誤報並對抗複雜攻擊 。但目前實務上仍面臨三大挑戰：如何降低資料收集的系統開銷、如何有效壓縮龐大的圖形資料，以及如何建立標準的基準資料集來推進技術發展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48845c8b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48845c8b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因為APT超級隱藏和持久所以要找到APT的話就像是稻草堆找針，所以許多作品把event行為投射到Kill chain和Mitre的定義去抓出APT Chain。圖一例子:</a:t>
            </a:r>
            <a:br>
              <a:rPr lang="zh-TW"/>
            </a:br>
            <a:endParaRPr/>
          </a:p>
          <a:p>
            <a:pPr indent="0" lvl="0" marL="0" rtl="0" algn="l">
              <a:spcBef>
                <a:spcPts val="0"/>
              </a:spcBef>
              <a:spcAft>
                <a:spcPts val="0"/>
              </a:spcAft>
              <a:buNone/>
            </a:pPr>
            <a:r>
              <a:t/>
            </a:r>
            <a:endParaRPr/>
          </a:p>
          <a:p>
            <a:pPr indent="0" lvl="0" marL="0" rtl="0" algn="l">
              <a:spcBef>
                <a:spcPts val="0"/>
              </a:spcBef>
              <a:spcAft>
                <a:spcPts val="0"/>
              </a:spcAft>
              <a:buNone/>
            </a:pPr>
            <a:r>
              <a:rPr lang="zh-TW"/>
              <a:t>37:這篇論文提出了一種名為 GS 和 SS 的數據壓縮策略，旨在解決進階持續性威脅（APT）取證分析中，系統日誌量過大導致的存儲與計算成本問題 。</a:t>
            </a:r>
            <a:br>
              <a:rPr lang="zh-TW"/>
            </a:br>
            <a:r>
              <a:rPr lang="zh-TW"/>
              <a:t>全局語義維持壓縮 (Global Semantics, GS):在src entity（如進程）語義未改變的前提下，刪除指向同一目標實體的冗餘信息流 。</a:t>
            </a:r>
            <a:endParaRPr/>
          </a:p>
          <a:p>
            <a:pPr indent="0" lvl="0" marL="0" rtl="0" algn="l">
              <a:spcBef>
                <a:spcPts val="0"/>
              </a:spcBef>
              <a:spcAft>
                <a:spcPts val="0"/>
              </a:spcAft>
              <a:buNone/>
            </a:pPr>
            <a:r>
              <a:rPr lang="zh-TW"/>
              <a:t>可疑語義壓縮 (Suspicious Semantics, SS</a:t>
            </a:r>
            <a:r>
              <a:rPr lang="zh-TW"/>
              <a:t>):</a:t>
            </a:r>
            <a:r>
              <a:rPr lang="zh-TW"/>
              <a:t>基於「取證分析大多僅關注攻擊相關事件」的假設，根據上下文刪除與攻擊無關的正常行為 。</a:t>
            </a:r>
            <a:br>
              <a:rPr lang="zh-TW"/>
            </a:br>
            <a:r>
              <a:rPr lang="zh-TW"/>
              <a:t>GS 策略：壓縮比達 4.36x 至 13.18x 。</a:t>
            </a:r>
            <a:endParaRPr/>
          </a:p>
          <a:p>
            <a:pPr indent="0" lvl="0" marL="0" rtl="0" algn="l">
              <a:spcBef>
                <a:spcPts val="0"/>
              </a:spcBef>
              <a:spcAft>
                <a:spcPts val="0"/>
              </a:spcAft>
              <a:buNone/>
            </a:pPr>
            <a:r>
              <a:rPr lang="zh-TW"/>
              <a:t>SS 策略：在 GS 基礎上進一步壓縮，總壓縮比達 7.86x 至 26.99x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圖一:</a:t>
            </a:r>
            <a:endParaRPr/>
          </a:p>
          <a:p>
            <a:pPr indent="0" lvl="0" marL="0" rtl="0" algn="l">
              <a:spcBef>
                <a:spcPts val="0"/>
              </a:spcBef>
              <a:spcAft>
                <a:spcPts val="0"/>
              </a:spcAft>
              <a:buNone/>
            </a:pPr>
            <a:r>
              <a:rPr lang="zh-TW"/>
              <a:t>初始感染與植入 (T1588)</a:t>
            </a:r>
            <a:endParaRPr/>
          </a:p>
          <a:p>
            <a:pPr indent="0" lvl="0" marL="0" rtl="0" algn="l">
              <a:spcBef>
                <a:spcPts val="0"/>
              </a:spcBef>
              <a:spcAft>
                <a:spcPts val="0"/>
              </a:spcAft>
              <a:buNone/>
            </a:pPr>
            <a:r>
              <a:rPr lang="zh-TW"/>
              <a:t>行為：受害者透過 Chrome 瀏覽器連接到未知的遠端 IP，並下載了包含惡意程式碼的 PDF 檔案 。</a:t>
            </a:r>
            <a:endParaRPr/>
          </a:p>
          <a:p>
            <a:pPr indent="0" lvl="0" marL="0" rtl="0" algn="l">
              <a:spcBef>
                <a:spcPts val="0"/>
              </a:spcBef>
              <a:spcAft>
                <a:spcPts val="0"/>
              </a:spcAft>
              <a:buNone/>
            </a:pPr>
            <a:r>
              <a:rPr lang="zh-TW"/>
              <a:t>觸發與注入：開啟 PDF 後，內建的巨集（macro）被執行並喚醒 PowerShell 行程 。接著，PowerShell 產生一個未知行程，將惡意程式碼注入到正常的計算機程式（calc）中，藉此取得能力並隱藏蹤跡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內部探測與橫向移動 (T1046)</a:t>
            </a:r>
            <a:endParaRPr/>
          </a:p>
          <a:p>
            <a:pPr indent="0" lvl="0" marL="0" rtl="0" algn="l">
              <a:spcBef>
                <a:spcPts val="0"/>
              </a:spcBef>
              <a:spcAft>
                <a:spcPts val="0"/>
              </a:spcAft>
              <a:buNone/>
            </a:pPr>
            <a:r>
              <a:rPr lang="zh-TW"/>
              <a:t>行為：被感染的 calc 行程開始掃描網路連接埠（scan ports），並嘗試散佈惡意腳本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憑證竊取 (T1558.002)</a:t>
            </a:r>
            <a:endParaRPr/>
          </a:p>
          <a:p>
            <a:pPr indent="0" lvl="0" marL="0" rtl="0" algn="l">
              <a:spcBef>
                <a:spcPts val="0"/>
              </a:spcBef>
              <a:spcAft>
                <a:spcPts val="0"/>
              </a:spcAft>
              <a:buNone/>
            </a:pPr>
            <a:r>
              <a:rPr lang="zh-TW"/>
              <a:t>行為：利用著名的密碼竊取工具 Mimikatz 來盜取系統密碼 。(註：論文正文文字誤植為 T1588.002 ，但對照論文 Figure 1 表格，正確的 ATT&amp;CK 編號應為 T1558.002 )。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系統資訊收集 (T1012)</a:t>
            </a:r>
            <a:endParaRPr/>
          </a:p>
          <a:p>
            <a:pPr indent="0" lvl="0" marL="0" rtl="0" algn="l">
              <a:spcBef>
                <a:spcPts val="0"/>
              </a:spcBef>
              <a:spcAft>
                <a:spcPts val="0"/>
              </a:spcAft>
              <a:buNone/>
            </a:pPr>
            <a:r>
              <a:rPr lang="zh-TW"/>
              <a:t>行為：查詢並修改系統的登錄檔（R</a:t>
            </a:r>
            <a:r>
              <a:rPr lang="zh-TW"/>
              <a:t>e</a:t>
            </a:r>
            <a:r>
              <a:rPr lang="zh-TW"/>
              <a:t>gistry），用以探測系統配置或建立持久性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破壞與干擾復原 (T1490)</a:t>
            </a:r>
            <a:endParaRPr/>
          </a:p>
          <a:p>
            <a:pPr indent="0" lvl="0" marL="0" rtl="0" algn="l">
              <a:spcBef>
                <a:spcPts val="0"/>
              </a:spcBef>
              <a:spcAft>
                <a:spcPts val="0"/>
              </a:spcAft>
              <a:buNone/>
            </a:pPr>
            <a:r>
              <a:rPr lang="zh-TW"/>
              <a:t>行為：最後，惡意程式會刪除備份檔案或日誌，以阻止系統復原並掩蓋攻擊痕跡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48845c8b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c48845c8b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多數現有系統只能告訴你節點是「惡意的」還是「正常的」 。- [5 29 31]</a:t>
            </a:r>
            <a:endParaRPr/>
          </a:p>
          <a:p>
            <a:pPr indent="0" lvl="0" marL="0" rtl="0" algn="l">
              <a:spcBef>
                <a:spcPts val="0"/>
              </a:spcBef>
              <a:spcAft>
                <a:spcPts val="0"/>
              </a:spcAft>
              <a:buNone/>
            </a:pPr>
            <a:r>
              <a:rPr lang="zh-TW"/>
              <a:t>也有其他作品嘗試用規則辨識APT tactics/technique</a:t>
            </a:r>
            <a:endParaRPr/>
          </a:p>
          <a:p>
            <a:pPr indent="0" lvl="0" marL="0" rtl="0" algn="l">
              <a:spcBef>
                <a:spcPts val="0"/>
              </a:spcBef>
              <a:spcAft>
                <a:spcPts val="0"/>
              </a:spcAft>
              <a:buNone/>
            </a:pPr>
            <a:r>
              <a:rPr lang="zh-TW"/>
              <a:t>12:NODOZE該系統旨在透過上下文與歷史資訊，解決資安分析中常見的「警報疲勞（過多誤報）」問題。</a:t>
            </a:r>
            <a:endParaRPr/>
          </a:p>
          <a:p>
            <a:pPr indent="0" lvl="0" marL="0" rtl="0" algn="l">
              <a:spcBef>
                <a:spcPts val="0"/>
              </a:spcBef>
              <a:spcAft>
                <a:spcPts val="0"/>
              </a:spcAft>
              <a:buNone/>
            </a:pPr>
            <a:r>
              <a:rPr lang="zh-TW"/>
              <a:t>13:Holmes是一個「以專家規則為核心，並輔以統計學習來減少誤報」的混合式偵測系統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48845c8b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48845c8b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第一點，rule只能表達非常specific的APT tactics / techniques，非常容易被benign行為混淆。</a:t>
            </a:r>
            <a:endParaRPr/>
          </a:p>
          <a:p>
            <a:pPr indent="0" lvl="0" marL="0" rtl="0" algn="l">
              <a:spcBef>
                <a:spcPts val="0"/>
              </a:spcBef>
              <a:spcAft>
                <a:spcPts val="0"/>
              </a:spcAft>
              <a:buNone/>
            </a:pPr>
            <a:r>
              <a:rPr lang="zh-TW"/>
              <a:t>而且，rule based容易造成高誤報</a:t>
            </a:r>
            <a:endParaRPr/>
          </a:p>
          <a:p>
            <a:pPr indent="0" lvl="0" marL="0" rtl="0" algn="l">
              <a:spcBef>
                <a:spcPts val="0"/>
              </a:spcBef>
              <a:spcAft>
                <a:spcPts val="0"/>
              </a:spcAft>
              <a:buNone/>
            </a:pPr>
            <a:r>
              <a:rPr lang="zh-TW"/>
              <a:t>第二點，rules高度依賴黑白名單，無法適應變種行為</a:t>
            </a:r>
            <a:endParaRPr/>
          </a:p>
          <a:p>
            <a:pPr indent="0" lvl="0" marL="0" rtl="0" algn="l">
              <a:spcBef>
                <a:spcPts val="0"/>
              </a:spcBef>
              <a:spcAft>
                <a:spcPts val="0"/>
              </a:spcAft>
              <a:buNone/>
            </a:pPr>
            <a:r>
              <a:rPr lang="zh-TW"/>
              <a:t>所以，透過學習方法可以從raw data自動化學習到特徵。</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48845c8b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48845c8b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APT 攻擊極度罕見，實務上幾乎不可能收集到大量真實的攻擊樣本 。</a:t>
            </a:r>
            <a:endParaRPr/>
          </a:p>
          <a:p>
            <a:pPr indent="0" lvl="0" marL="0" rtl="0" algn="l">
              <a:spcBef>
                <a:spcPts val="0"/>
              </a:spcBef>
              <a:spcAft>
                <a:spcPts val="0"/>
              </a:spcAft>
              <a:buNone/>
            </a:pPr>
            <a:r>
              <a:rPr lang="zh-TW"/>
              <a:t>更糟的是，ATT&amp;CK 矩陣包含超過 227 種技術，這使得「單一特定技術」能取得的樣本量更加稀少，傳統模型根本無法有效訓練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意思就是說APT攻擊的sample就很少了，還要滿足227個technique根本天方夜譚。</a:t>
            </a:r>
            <a:endParaRPr/>
          </a:p>
          <a:p>
            <a:pPr indent="0" lvl="0" marL="0" rtl="0" algn="l">
              <a:spcBef>
                <a:spcPts val="0"/>
              </a:spcBef>
              <a:spcAft>
                <a:spcPts val="0"/>
              </a:spcAft>
              <a:buNone/>
            </a:pPr>
            <a:r>
              <a:rPr lang="zh-TW"/>
              <a:t>就算有樣本也具有嚴重的長尾問題，所以few-shot是符合環境要求的。</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針對 C1 (孿生神經網路)：採用少樣本學習模式，即便每種 APT 技術只有極少量樣本，依然能透過模型進行戰術與技術的精準辨識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48845c8b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48845c8b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C2: 細粒度標註困難 (Difficulty of fine-grained labeling)：</a:t>
            </a:r>
            <a:endParaRPr/>
          </a:p>
          <a:p>
            <a:pPr indent="0" lvl="0" marL="0" rtl="0" algn="l">
              <a:spcBef>
                <a:spcPts val="0"/>
              </a:spcBef>
              <a:spcAft>
                <a:spcPts val="0"/>
              </a:spcAft>
              <a:buNone/>
            </a:pPr>
            <a:r>
              <a:rPr lang="zh-TW"/>
              <a:t>APT經常藏在非常多的provenance graph的系統entities中</a:t>
            </a:r>
            <a:endParaRPr/>
          </a:p>
          <a:p>
            <a:pPr indent="0" lvl="0" marL="0" rtl="0" algn="l">
              <a:spcBef>
                <a:spcPts val="0"/>
              </a:spcBef>
              <a:spcAft>
                <a:spcPts val="0"/>
              </a:spcAft>
              <a:buNone/>
            </a:pPr>
            <a:r>
              <a:rPr lang="zh-TW"/>
              <a:t>高階攻擊行為極度隱蔽，常透過（process injection）或檔案污染等方式，偽裝在成千上萬的正常系統實體中 。</a:t>
            </a:r>
            <a:endParaRPr/>
          </a:p>
          <a:p>
            <a:pPr indent="0" lvl="0" marL="0" rtl="0" algn="l">
              <a:spcBef>
                <a:spcPts val="0"/>
              </a:spcBef>
              <a:spcAft>
                <a:spcPts val="0"/>
              </a:spcAft>
              <a:buNone/>
            </a:pPr>
            <a:r>
              <a:rPr lang="zh-TW"/>
              <a:t>要在溯源圖（Provenance graph）中對每個節點進行二元（惡意/良性）標註已經是大海撈針，更別提還要標註出多類別的具體戰術與技術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針對 C2 (無監督異常偵測)：系統完全不依賴人工標註，而是反向操作，讓模型學習「正常系統行為模式」。只要揪出行為嚴重偏離常態的節點，就能鎖定潛在惡意節點（NOIs）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48845c8b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48845c8b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一個完整的 APT 技術實例通常包含多個惡意操作，但這些操作會與海量的正常系統事件混雜交織在一起 。</a:t>
            </a:r>
            <a:endParaRPr/>
          </a:p>
          <a:p>
            <a:pPr indent="0" lvl="0" marL="0" rtl="0" algn="l">
              <a:spcBef>
                <a:spcPts val="0"/>
              </a:spcBef>
              <a:spcAft>
                <a:spcPts val="0"/>
              </a:spcAft>
              <a:buNone/>
            </a:pPr>
            <a:r>
              <a:rPr lang="zh-TW"/>
              <a:t>這導致我們極難在圖結構中劃定單一攻擊技術的「準確邊界」，</a:t>
            </a:r>
            <a:r>
              <a:rPr lang="zh-TW">
                <a:highlight>
                  <a:schemeClr val="accent4"/>
                </a:highlight>
              </a:rPr>
              <a:t>無法俐落地切出乾淨的子圖 </a:t>
            </a:r>
            <a:r>
              <a:rPr lang="zh-TW"/>
              <a:t>。</a:t>
            </a:r>
            <a:endParaRPr/>
          </a:p>
          <a:p>
            <a:pPr indent="0" lvl="0" marL="0" rtl="0" algn="l">
              <a:spcBef>
                <a:spcPts val="0"/>
              </a:spcBef>
              <a:spcAft>
                <a:spcPts val="0"/>
              </a:spcAft>
              <a:buNone/>
            </a:pPr>
            <a:r>
              <a:rPr lang="zh-TW"/>
              <a:t>可以提到SLOT的RL切圖法。</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針對 C3 (子圖採樣演算法)：利用演算法找出具有關聯性的 NOIs，將它們從龐大的背景雜訊中剝離並連成獨立的子圖，明確劃分出個別 APT 技術的覆蓋範圍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c48845c8b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c48845c8b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48845c8b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48845c8b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技術子圖(technique subgraph)是從龐大的原始溯源圖中分割（segmented）出來的一部分 。它包含了屬於「同一個 APT 技術實例」的所有系統事件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48845c8b7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c48845c8b7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例如在系統中，Chrome 行程對 PDF 檔執行了 write 操作，這個局部的子圖就被歸類在 T1588（取得能力）這個 APT 技術中 。</a:t>
            </a:r>
            <a:endParaRPr/>
          </a:p>
          <a:p>
            <a:pPr indent="0" lvl="0" marL="0" rtl="0" algn="l">
              <a:spcBef>
                <a:spcPts val="0"/>
              </a:spcBef>
              <a:spcAft>
                <a:spcPts val="0"/>
              </a:spcAft>
              <a:buNone/>
            </a:pPr>
            <a:r>
              <a:rPr lang="zh-TW"/>
              <a:t>下面的TTP節點是為了方便表達於是用行為特徵說明了該子圖的行為。</a:t>
            </a:r>
            <a:endParaRPr/>
          </a:p>
          <a:p>
            <a:pPr indent="0" lvl="0" marL="0" rtl="0" algn="l">
              <a:spcBef>
                <a:spcPts val="0"/>
              </a:spcBef>
              <a:spcAft>
                <a:spcPts val="0"/>
              </a:spcAft>
              <a:buNone/>
            </a:pPr>
            <a:r>
              <a:rPr lang="zh-TW"/>
              <a:t>一個橢圓就是切出來的成果，所以都是可以展開來看的。</a:t>
            </a:r>
            <a:endParaRPr/>
          </a:p>
          <a:p>
            <a:pPr indent="0" lvl="0" marL="0" rtl="0" algn="l">
              <a:spcBef>
                <a:spcPts val="0"/>
              </a:spcBef>
              <a:spcAft>
                <a:spcPts val="0"/>
              </a:spcAft>
              <a:buNone/>
            </a:pPr>
            <a:r>
              <a:rPr lang="zh-TW"/>
              <a:t>他怎麼切後面會詳細說明。</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48845c8b7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48845c8b7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NOI </a:t>
            </a:r>
            <a:r>
              <a:rPr lang="zh-TW"/>
              <a:t>是node </a:t>
            </a:r>
            <a:r>
              <a:rPr lang="zh-TW"/>
              <a:t>- IOC</a:t>
            </a:r>
            <a:r>
              <a:rPr lang="zh-TW"/>
              <a:t>是一個整體行為</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定義：NOI 指的是在 APT 攻擊活動中，執行了惡意行為的系統實體 。</a:t>
            </a:r>
            <a:endParaRPr/>
          </a:p>
          <a:p>
            <a:pPr indent="0" lvl="0" marL="0" rtl="0" algn="l">
              <a:spcBef>
                <a:spcPts val="0"/>
              </a:spcBef>
              <a:spcAft>
                <a:spcPts val="0"/>
              </a:spcAft>
              <a:buNone/>
            </a:pPr>
            <a:r>
              <a:rPr lang="zh-TW"/>
              <a:t>4:</a:t>
            </a:r>
            <a:r>
              <a:rPr lang="zh-TW"/>
              <a:t>用windows的process monitor錄log，用spade建provenance graph。 把所有惡意節點以後的子節點標記成惡意，被惡意寫入的benign process被標記成汙染(tainted)。但是標籤並不是0或1，而是根據離惡意節點距離決定的</a:t>
            </a:r>
            <a:r>
              <a:rPr lang="zh-TW">
                <a:highlight>
                  <a:schemeClr val="accent4"/>
                </a:highlight>
              </a:rPr>
              <a:t>惡意機率。</a:t>
            </a:r>
            <a:r>
              <a:rPr lang="zh-TW"/>
              <a:t> 所以說在標記完的label本身就多了一個惡意機率的特徵。</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本篇的做法是用類似anamoly detecion 的方式區分正常和惡意nodes。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48845c8b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c48845c8b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我們的做法跟我們的三位老朋友很像。</a:t>
            </a:r>
            <a:endParaRPr/>
          </a:p>
          <a:p>
            <a:pPr indent="0" lvl="0" marL="0" rtl="0" algn="l">
              <a:spcBef>
                <a:spcPts val="0"/>
              </a:spcBef>
              <a:spcAft>
                <a:spcPts val="0"/>
              </a:spcAft>
              <a:buNone/>
            </a:pPr>
            <a:r>
              <a:rPr lang="zh-TW"/>
              <a:t>1.作者假設作業系統與底層的稽核模組（Audit modules）是完整且未被駭客破壞的，因此收集到的溯源資料（Provenance data）被視為絕對可信 。</a:t>
            </a:r>
            <a:endParaRPr/>
          </a:p>
          <a:p>
            <a:pPr indent="0" lvl="0" marL="0" rtl="0" algn="l">
              <a:spcBef>
                <a:spcPts val="0"/>
              </a:spcBef>
              <a:spcAft>
                <a:spcPts val="0"/>
              </a:spcAft>
              <a:buNone/>
            </a:pPr>
            <a:r>
              <a:rPr lang="zh-TW"/>
              <a:t>2.作者假設攻擊者可以使用任何高階的戰術與技術來進行 APT 攻擊，但無論他們怎麼變換手法，其惡意行為最終都會被稽核模組捕捉並記錄下來。</a:t>
            </a:r>
            <a:endParaRPr/>
          </a:p>
          <a:p>
            <a:pPr indent="0" lvl="0" marL="0" rtl="0" algn="l">
              <a:spcBef>
                <a:spcPts val="0"/>
              </a:spcBef>
              <a:spcAft>
                <a:spcPts val="0"/>
              </a:spcAft>
              <a:buNone/>
            </a:pPr>
            <a:r>
              <a:rPr lang="zh-TW"/>
              <a:t>3.作者假設APT的technique具有不同的特徵並且可以被統計或語意等特徵捕捉</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48845c8b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c48845c8b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highlight>
                  <a:schemeClr val="accent4"/>
                </a:highlight>
              </a:rPr>
              <a:t>3.作者假設APT的technique具有不同的特徵並且可以被統計或語意等特徵捕捉</a:t>
            </a:r>
            <a:endParaRPr>
              <a:highlight>
                <a:schemeClr val="accent4"/>
              </a:highlight>
            </a:endParaRPr>
          </a:p>
          <a:p>
            <a:pPr indent="0" lvl="0" marL="0" rtl="0" algn="l">
              <a:spcBef>
                <a:spcPts val="0"/>
              </a:spcBef>
              <a:spcAft>
                <a:spcPts val="0"/>
              </a:spcAft>
              <a:buNone/>
            </a:pPr>
            <a:r>
              <a:rPr lang="zh-TW"/>
              <a:t>T1218:Adversaries may bypass process and/or signature-based defenses by proxying(代理server) execution of malicious content with signed, or otherwise trusted, binaries.</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Proxy Execution 是指攻擊者利用作業系統內建的、合法的、且通常帶有受信任數位簽章的執行檔，來「代為執行」惡意的程式碼、腳本或 Payload。</a:t>
            </a:r>
            <a:endParaRPr/>
          </a:p>
          <a:p>
            <a:pPr indent="0" lvl="0" marL="0" rtl="0" algn="l">
              <a:spcBef>
                <a:spcPts val="0"/>
              </a:spcBef>
              <a:spcAft>
                <a:spcPts val="0"/>
              </a:spcAft>
              <a:buNone/>
            </a:pPr>
            <a:r>
              <a:rPr lang="zh-TW"/>
              <a:t>127.0.0.1是loopback address 所以只會執行在本機裡面</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48845c8b7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c48845c8b7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作者沒有使用現成的公開資料集，而是透過專業工具自行模擬並收集。</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48845c8b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48845c8b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highlight>
                  <a:srgbClr val="F4CCCC"/>
                </a:highlight>
              </a:rPr>
              <a:t>可以偷他的映射表</a:t>
            </a:r>
            <a:br>
              <a:rPr lang="zh-TW"/>
            </a:br>
            <a:br>
              <a:rPr lang="zh-TW"/>
            </a:br>
            <a:r>
              <a:rPr lang="zh-TW"/>
              <a:t>由於這個 ID 是無效的，分析人員無法直接從這條日誌判斷是哪個進程（Process）發起的網路請求，這給了 APT 攻擊者掩蓋行為的機會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48845c8b7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c48845c8b7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由於這個 ID 是無效的，分析人員無法直接從這條日誌判斷是哪個進程（Process）發起的網路請求，這給了 APT 攻擊者掩蓋行為的機會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c48845c8b7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c48845c8b7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由於這個 ID 是無效的，分析人員無法直接從這條日誌判斷是哪個進程（Process）發起的網路請求，這給了 APT 攻擊者掩蓋行為的機會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c48845c8b7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c48845c8b7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zh-TW"/>
              <a:t>Audit log裡面有Atomic red team的APT attack</a:t>
            </a:r>
            <a:endParaRPr/>
          </a:p>
          <a:p>
            <a:pPr indent="-298450" lvl="0" marL="457200" rtl="0" algn="l">
              <a:spcBef>
                <a:spcPts val="0"/>
              </a:spcBef>
              <a:spcAft>
                <a:spcPts val="0"/>
              </a:spcAft>
              <a:buSzPts val="1100"/>
              <a:buAutoNum type="arabicPeriod"/>
            </a:pPr>
            <a:r>
              <a:rPr lang="zh-TW"/>
              <a:t>用anamoly detection把惡意節點圈出來</a:t>
            </a:r>
            <a:endParaRPr/>
          </a:p>
          <a:p>
            <a:pPr indent="-298450" lvl="0" marL="457200" rtl="0" algn="l">
              <a:spcBef>
                <a:spcPts val="0"/>
              </a:spcBef>
              <a:spcAft>
                <a:spcPts val="0"/>
              </a:spcAft>
              <a:buSzPts val="1100"/>
              <a:buAutoNum type="arabicPeriod"/>
            </a:pPr>
            <a:r>
              <a:rPr lang="zh-TW"/>
              <a:t>用TSG大法(Subgraph sampling algorithm)切分子圖</a:t>
            </a:r>
            <a:endParaRPr/>
          </a:p>
          <a:p>
            <a:pPr indent="-298450" lvl="0" marL="457200" rtl="0" algn="l">
              <a:spcBef>
                <a:spcPts val="0"/>
              </a:spcBef>
              <a:spcAft>
                <a:spcPts val="0"/>
              </a:spcAft>
              <a:buSzPts val="1100"/>
              <a:buAutoNum type="arabicPeriod"/>
            </a:pPr>
            <a:r>
              <a:rPr lang="zh-TW"/>
              <a:t>用APT辨識大法判斷TSG是甚麼APT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ee11c7d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cee11c7d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c48845c8b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c48845c8b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highlight>
                  <a:srgbClr val="F4CCCC"/>
                </a:highlight>
              </a:rPr>
              <a:t>用他的定義方式</a:t>
            </a:r>
            <a:br>
              <a:rPr lang="zh-TW"/>
            </a:br>
            <a:br>
              <a:rPr lang="zh-TW"/>
            </a:br>
            <a:r>
              <a:rPr lang="zh-TW"/>
              <a:t>前 21 維：記錄該節點「接收」到各類邊緣的數量（Incoming edges） 。</a:t>
            </a:r>
            <a:endParaRPr/>
          </a:p>
          <a:p>
            <a:pPr indent="0" lvl="0" marL="0" rtl="0" algn="l">
              <a:spcBef>
                <a:spcPts val="0"/>
              </a:spcBef>
              <a:spcAft>
                <a:spcPts val="0"/>
              </a:spcAft>
              <a:buNone/>
            </a:pPr>
            <a:r>
              <a:rPr lang="zh-TW"/>
              <a:t>後 21 維：記錄該節點「發出」到各類邊緣的數量（Outgoing edges） 。</a:t>
            </a:r>
            <a:endParaRPr/>
          </a:p>
          <a:p>
            <a:pPr indent="0" lvl="0" marL="0" rtl="0" algn="l">
              <a:spcBef>
                <a:spcPts val="0"/>
              </a:spcBef>
              <a:spcAft>
                <a:spcPts val="0"/>
              </a:spcAft>
              <a:buNone/>
            </a:pPr>
            <a:r>
              <a:rPr lang="zh-TW"/>
              <a:t>𝑒𝑖用兩個one-hot encoding計數的方式作為代表。</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c49999a9d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c49999a9d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highlight>
                  <a:srgbClr val="EA9999"/>
                </a:highlight>
              </a:rPr>
              <a:t>用這個</a:t>
            </a:r>
            <a:br>
              <a:rPr lang="zh-TW"/>
            </a:br>
            <a:br>
              <a:rPr lang="zh-TW"/>
            </a:br>
            <a:r>
              <a:rPr lang="zh-TW"/>
              <a:t>用GNN去疊代node的資訊量，t越多資訊越多。</a:t>
            </a:r>
            <a:endParaRPr/>
          </a:p>
          <a:p>
            <a:pPr indent="0" lvl="0" marL="0" rtl="0" algn="l">
              <a:spcBef>
                <a:spcPts val="0"/>
              </a:spcBef>
              <a:spcAft>
                <a:spcPts val="0"/>
              </a:spcAft>
              <a:buNone/>
            </a:pPr>
            <a:r>
              <a:rPr lang="zh-TW"/>
              <a:t>用GNN架構去學這個node的最終矩陣，然後把Et拿去做分類學習(node type classification.). -&gt;每個節點輸出四個機率值（對應 Process, File, Registry, Socket）。</a:t>
            </a:r>
            <a:br>
              <a:rPr lang="zh-TW"/>
            </a:br>
            <a:endParaRPr/>
          </a:p>
          <a:p>
            <a:pPr indent="0" lvl="0" marL="0" rtl="0" algn="l">
              <a:spcBef>
                <a:spcPts val="0"/>
              </a:spcBef>
              <a:spcAft>
                <a:spcPts val="0"/>
              </a:spcAft>
              <a:buNone/>
            </a:pPr>
            <a:r>
              <a:rPr lang="zh-TW"/>
              <a:t>經過 1 層 GNN ($t=1$)：節點 D 的特徵向量融合了 C (File) 和 E (Registry) 的資訊。</a:t>
            </a:r>
            <a:endParaRPr/>
          </a:p>
          <a:p>
            <a:pPr indent="0" lvl="0" marL="0" rtl="0" algn="l">
              <a:spcBef>
                <a:spcPts val="0"/>
              </a:spcBef>
              <a:spcAft>
                <a:spcPts val="0"/>
              </a:spcAft>
              <a:buNone/>
            </a:pPr>
            <a:r>
              <a:rPr lang="zh-TW"/>
              <a:t>經過 2 層 GNN ($t=2$)：節點 D 透過節點 C，進一步「看見」了節點 B (powershell.exe)。</a:t>
            </a:r>
            <a:endParaRPr/>
          </a:p>
          <a:p>
            <a:pPr indent="0" lvl="0" marL="0" rtl="0" algn="l">
              <a:spcBef>
                <a:spcPts val="0"/>
              </a:spcBef>
              <a:spcAft>
                <a:spcPts val="0"/>
              </a:spcAft>
              <a:buNone/>
            </a:pPr>
            <a:r>
              <a:rPr lang="zh-TW"/>
              <a:t>經過 T 層 GNN：節點 D 的特徵矩陣 E(T 不再只是一個普通的行程特徵。它現在包含了一整串故事：「這是一個由外部網路連線觸發 PowerShell 下載後，進而執行並寫入開機機碼的行程」。</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權重更新：GNN 透過公式中的 $W^{(t-1)}$ 聚合周圍鄰居的資訊來猜測。如果它猜成「Socket」，模型就會產生誤差（Loss），進而修正參數；如果猜成「File」，模型就學到了正確的系統運作邏輯。</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這一頁舉例怎麼辦</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49999a9d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49999a9d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在獲得每個節點包含 T 上下文資訊的最終特徵向量 E(T)後，系統不再區分「它是什麼類型」，而是觀察「誰的行為最怪」 。</a:t>
            </a:r>
            <a:br>
              <a:rPr lang="zh-TW"/>
            </a:b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49999a9d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c49999a9d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基於29說的很多連線的node很大機率是壞node，所以他們把seed node以這個現象當基準。</a:t>
            </a:r>
            <a:br>
              <a:rPr lang="zh-TW"/>
            </a:br>
            <a:r>
              <a:rPr lang="zh-TW"/>
              <a:t>C2 頻道外傳技術（Exfiltration over C2 Channel）：惡意節點通常會對遠端 IP 產生大量的 connect（連線）與 send（傳送）邊緣 。</a:t>
            </a:r>
            <a:endParaRPr/>
          </a:p>
          <a:p>
            <a:pPr indent="0" lvl="0" marL="0" rtl="0" algn="l">
              <a:spcBef>
                <a:spcPts val="0"/>
              </a:spcBef>
              <a:spcAft>
                <a:spcPts val="0"/>
              </a:spcAft>
              <a:buNone/>
            </a:pPr>
            <a:r>
              <a:rPr lang="zh-TW"/>
              <a:t>就地取材技術（Living off the Land）：例如被濫用的 powershell 節點，為了執行敏感指令，會產生大量的 launch（啟動）邊緣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c49999a9d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c49999a9d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搜尋策略：從選定的種子節點 vk 開始，執行深度優先搜尋 (DFS) 。</a:t>
            </a:r>
            <a:endParaRPr/>
          </a:p>
          <a:p>
            <a:pPr indent="0" lvl="0" marL="0" rtl="0" algn="l">
              <a:spcBef>
                <a:spcPts val="0"/>
              </a:spcBef>
              <a:spcAft>
                <a:spcPts val="0"/>
              </a:spcAft>
              <a:buNone/>
            </a:pPr>
            <a:r>
              <a:rPr lang="zh-TW"/>
              <a:t>雙向探索：搜尋不限於單一方向，而是可以向前（順著事件流）或向後（溯源原因）進行探索 。</a:t>
            </a:r>
            <a:endParaRPr/>
          </a:p>
          <a:p>
            <a:pPr indent="0" lvl="0" marL="0" rtl="0" algn="l">
              <a:spcBef>
                <a:spcPts val="0"/>
              </a:spcBef>
              <a:spcAft>
                <a:spcPts val="0"/>
              </a:spcAft>
              <a:buNone/>
            </a:pPr>
            <a:r>
              <a:rPr lang="zh-TW"/>
              <a:t>路徑門檻：系統引入了一個𝜆長度閾值 （預定義的 hop 數），作為搜尋的終止條件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zh-TW"/>
              <a:t>seed node是指連接率很高的node，通常能包含惡意節點但不是一定</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如果𝜆找不到NOI就停</a:t>
            </a:r>
            <a:endParaRPr/>
          </a:p>
          <a:p>
            <a:pPr indent="0" lvl="0" marL="0" rtl="0" algn="l">
              <a:spcBef>
                <a:spcPts val="0"/>
              </a:spcBef>
              <a:spcAft>
                <a:spcPts val="0"/>
              </a:spcAft>
              <a:buNone/>
            </a:pPr>
            <a:r>
              <a:rPr lang="zh-TW"/>
              <a:t>否則用其他找到的NOI去擴展路徑</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c49999a9da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c49999a9d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節點集合 SV_k：包含搜尋過程中所有被訪問過的節點。這裡有一個關鍵點：它同時包含 NOI（潛在惡意節點）與良性節點（Benign nodes） 。邊緣集合 SE_k：對應於這些節點之間的所有系統事件連線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c49999a9d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c49999a9d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為了把子圖分類不同的APT tatic/techniques，必須用所有涉及的node特徵向量把子圖變成特徵向量。</a:t>
            </a:r>
            <a:endParaRPr/>
          </a:p>
          <a:p>
            <a:pPr indent="0" lvl="0" marL="0" rtl="0" algn="l">
              <a:spcBef>
                <a:spcPts val="0"/>
              </a:spcBef>
              <a:spcAft>
                <a:spcPts val="0"/>
              </a:spcAft>
              <a:buNone/>
            </a:pPr>
            <a:r>
              <a:rPr lang="zh-TW"/>
              <a:t>但是，</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異質性 (Heterogeneity)：子圖包含多種類型的節點（Process, File, etc.）與邊緣（Read, Write, etc.），必須同時考慮這些不同類型的語意 。</a:t>
            </a:r>
            <a:endParaRPr/>
          </a:p>
          <a:p>
            <a:pPr indent="0" lvl="0" marL="0" rtl="0" algn="l">
              <a:spcBef>
                <a:spcPts val="0"/>
              </a:spcBef>
              <a:spcAft>
                <a:spcPts val="0"/>
              </a:spcAft>
              <a:buNone/>
            </a:pPr>
            <a:r>
              <a:rPr lang="zh-TW"/>
              <a:t>尺寸差異巨大 (Size Diversity)：不同 APT 技術產生的圖規模差異極大。在作者的資料集中，最大的子圖有 20,841 個節點，最小的僅有 436 個，模型必須能處理這種變動性 。</a:t>
            </a:r>
            <a:endParaRPr/>
          </a:p>
          <a:p>
            <a:pPr indent="0" lvl="0" marL="0" rtl="0" algn="l">
              <a:spcBef>
                <a:spcPts val="0"/>
              </a:spcBef>
              <a:spcAft>
                <a:spcPts val="0"/>
              </a:spcAft>
              <a:buNone/>
            </a:pPr>
            <a:r>
              <a:rPr lang="zh-TW"/>
              <a:t>良性雜訊過高 (Noise Interference)：每個技術子圖中仍包含大量良性節點導致最終的特徵向量會壞掉，這些節點對最終特徵的貢獻度應遠低於惡意節點。</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c49999a9d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c49999a9d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作者透過擴展 HAN (Heterogeneous Graph Attention Network) 演算法來學習一個函數，將技術子圖 TSG = (SV, SE) 映射到一個低維度的 d 維特徵向量 h_TSG</a:t>
            </a:r>
            <a:endParaRPr/>
          </a:p>
          <a:p>
            <a:pPr indent="0" lvl="0" marL="0" rtl="0" algn="l">
              <a:spcBef>
                <a:spcPts val="0"/>
              </a:spcBef>
              <a:spcAft>
                <a:spcPts val="0"/>
              </a:spcAft>
              <a:buNone/>
            </a:pPr>
            <a:r>
              <a:rPr lang="zh-TW"/>
              <a:t>SV是node set，SE是edge set。</a:t>
            </a:r>
            <a:endParaRPr/>
          </a:p>
          <a:p>
            <a:pPr indent="0" lvl="0" marL="0" rtl="0" algn="l">
              <a:spcBef>
                <a:spcPts val="0"/>
              </a:spcBef>
              <a:spcAft>
                <a:spcPts val="0"/>
              </a:spcAft>
              <a:buNone/>
            </a:pPr>
            <a:r>
              <a:rPr lang="zh-TW"/>
              <a:t>特徵向量h_TSG應該要包含TSG的關鍵語意。</a:t>
            </a:r>
            <a:br>
              <a:rPr lang="zh-TW"/>
            </a:br>
            <a:br>
              <a:rPr lang="zh-TW"/>
            </a:br>
            <a:r>
              <a:rPr lang="zh-TW"/>
              <a:t>要補充30是甚麼，怎麼映射的。後面有。</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c49999a9d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c49999a9d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元路徑方案 (Meta-path Scheme)：利用定義好的路徑規則，協助模型學習「節點與邊緣類型感知」的圖走訪路徑 。</a:t>
            </a:r>
            <a:endParaRPr/>
          </a:p>
          <a:p>
            <a:pPr indent="0" lvl="0" marL="0" rtl="0" algn="l">
              <a:spcBef>
                <a:spcPts val="0"/>
              </a:spcBef>
              <a:spcAft>
                <a:spcPts val="0"/>
              </a:spcAft>
              <a:buNone/>
            </a:pPr>
            <a:r>
              <a:rPr lang="zh-TW"/>
              <a:t>注意力機制 (Attention Mechanism)：強迫模型將注意力集中在子圖中「更重要」的部分（即與攻擊行為高度相關的節點），而非被良性節點淹沒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步驟一：定義元路徑 (Meta-path Defining)：</a:t>
            </a:r>
            <a:endParaRPr/>
          </a:p>
          <a:p>
            <a:pPr indent="0" lvl="0" marL="0" rtl="0" algn="l">
              <a:spcBef>
                <a:spcPts val="0"/>
              </a:spcBef>
              <a:spcAft>
                <a:spcPts val="0"/>
              </a:spcAft>
              <a:buNone/>
            </a:pPr>
            <a:r>
              <a:rPr lang="zh-TW"/>
              <a:t>原理：元路徑是一串預定義的節點與邊緣序列（例如：Process -&gt; File -&gt; Process），用來捕捉隱藏在異質圖中的特定語意關聯 。</a:t>
            </a:r>
            <a:endParaRPr/>
          </a:p>
          <a:p>
            <a:pPr indent="0" lvl="0" marL="0" rtl="0" algn="l">
              <a:spcBef>
                <a:spcPts val="0"/>
              </a:spcBef>
              <a:spcAft>
                <a:spcPts val="0"/>
              </a:spcAft>
              <a:buNone/>
            </a:pPr>
            <a:r>
              <a:rPr lang="zh-TW"/>
              <a:t>步驟二：異質技術子圖嵌入 (Heterogeneous Technique Subgraph Embedding)：</a:t>
            </a:r>
            <a:endParaRPr/>
          </a:p>
          <a:p>
            <a:pPr indent="0" lvl="0" marL="0" rtl="0" algn="l">
              <a:spcBef>
                <a:spcPts val="0"/>
              </a:spcBef>
              <a:spcAft>
                <a:spcPts val="0"/>
              </a:spcAft>
              <a:buNone/>
            </a:pPr>
            <a:r>
              <a:rPr lang="zh-TW"/>
              <a:t>原理：利用注意力機制，從不同維度（節點、路徑、全圖）對子圖資訊進行權重分配與聚合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c49999a9da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c49999a9da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ET就是用 table 2 的edge定義</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c4a9e02c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c4a9e02c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目標：在給定的一條 MP 之下，評估鄰居節點對中心節點 vᵢ 的重要性 。</a:t>
            </a:r>
            <a:br>
              <a:rPr lang="zh-TW">
                <a:solidFill>
                  <a:schemeClr val="dk1"/>
                </a:solidFill>
              </a:rPr>
            </a:br>
            <a:r>
              <a:rPr lang="zh-TW">
                <a:solidFill>
                  <a:schemeClr val="dk1"/>
                </a:solidFill>
              </a:rPr>
              <a:t>圈出範圍：</a:t>
            </a:r>
            <a:r>
              <a:rPr lang="zh-TW"/>
              <a:t>把node v 用MPj去遍歷vi連到其他node做為集合Nji，</a:t>
            </a:r>
            <a:r>
              <a:rPr lang="zh-TW"/>
              <a:t>ek</a:t>
            </a:r>
            <a:r>
              <a:rPr lang="zh-TW"/>
              <a:t>和ei就是前面提到的大小為42的矩陣。</a:t>
            </a:r>
            <a:endParaRPr/>
          </a:p>
          <a:p>
            <a:pPr indent="0" lvl="0" marL="0" rtl="0" algn="l">
              <a:spcBef>
                <a:spcPts val="0"/>
              </a:spcBef>
              <a:spcAft>
                <a:spcPts val="0"/>
              </a:spcAft>
              <a:buNone/>
            </a:pPr>
            <a:r>
              <a:rPr lang="zh-TW"/>
              <a:t>計算權重：利用自我注意力機制（Self-attention），vk就是Nji裡面所有的node，全部拿去算self-attention然後softmax算出 αjki。</a:t>
            </a:r>
            <a:endParaRPr/>
          </a:p>
          <a:p>
            <a:pPr indent="0" lvl="0" marL="0" rtl="0" algn="l">
              <a:spcBef>
                <a:spcPts val="0"/>
              </a:spcBef>
              <a:spcAft>
                <a:spcPts val="0"/>
              </a:spcAft>
              <a:buNone/>
            </a:pPr>
            <a:r>
              <a:rPr lang="zh-TW"/>
              <a:t>特徵集合：利用</a:t>
            </a:r>
            <a:r>
              <a:rPr lang="zh-TW">
                <a:solidFill>
                  <a:schemeClr val="dk1"/>
                </a:solidFill>
              </a:rPr>
              <a:t>所有鄰居的</a:t>
            </a:r>
            <a:r>
              <a:rPr lang="zh-TW"/>
              <a:t>α把資訊聚合起來，經過activation function後，得到節點 vi 在這條元路徑下的更新特徵 hji。</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c4a9e02c1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c4a9e02c1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目標：要決定哪一條MP對節點 vᵢ 來說最重要 。</a:t>
            </a:r>
            <a:endParaRPr/>
          </a:p>
          <a:p>
            <a:pPr indent="0" lvl="0" marL="0" rtl="0" algn="l">
              <a:spcBef>
                <a:spcPts val="0"/>
              </a:spcBef>
              <a:spcAft>
                <a:spcPts val="0"/>
              </a:spcAft>
              <a:buNone/>
            </a:pPr>
            <a:r>
              <a:rPr lang="zh-TW"/>
              <a:t>收集所有視角的結果：經過上一步，節點 vi已經拿到了所有元路徑的特徵集合 hij。</a:t>
            </a:r>
            <a:endParaRPr/>
          </a:p>
          <a:p>
            <a:pPr indent="0" lvl="0" marL="0" rtl="0" algn="l">
              <a:spcBef>
                <a:spcPts val="0"/>
              </a:spcBef>
              <a:spcAft>
                <a:spcPts val="0"/>
              </a:spcAft>
              <a:buNone/>
            </a:pPr>
            <a:r>
              <a:rPr lang="zh-TW"/>
              <a:t>計算路徑權重：將這些特徵乘上可訓練的參數矩陣 W1，計算出每條元路徑 $MPj 對節點 vi 的注意力權重 </a:t>
            </a:r>
            <a:r>
              <a:rPr lang="zh-TW" sz="1400">
                <a:solidFill>
                  <a:schemeClr val="dk1"/>
                </a:solidFill>
              </a:rPr>
              <a:t>𝛽ʲᵢ</a:t>
            </a:r>
            <a:r>
              <a:rPr lang="zh-TW"/>
              <a:t>。</a:t>
            </a:r>
            <a:endParaRPr/>
          </a:p>
          <a:p>
            <a:pPr indent="0" lvl="0" marL="0" rtl="0" algn="l">
              <a:spcBef>
                <a:spcPts val="0"/>
              </a:spcBef>
              <a:spcAft>
                <a:spcPts val="0"/>
              </a:spcAft>
              <a:buNone/>
            </a:pPr>
            <a:r>
              <a:rPr lang="zh-TW"/>
              <a:t>最終特徵融合：根據路徑權重 </a:t>
            </a:r>
            <a:r>
              <a:rPr lang="zh-TW" sz="1400">
                <a:solidFill>
                  <a:schemeClr val="dk1"/>
                </a:solidFill>
              </a:rPr>
              <a:t>𝛽ʲᵢ</a:t>
            </a:r>
            <a:r>
              <a:rPr lang="zh-TW"/>
              <a:t>，將不同元路徑的特徵融合在一起，得到節點 vi 最終的特徵向量 hi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c4a9e02c1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c4a9e02c1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萃取「全域上下文向量 (Global context vector, c)：系統會先將所有節點的特徵做一個初步的簡單平均，然後乘上一個可訓練的參數矩陣 W₂ 進行非線性轉換 。你可以把它想像成模型先粗略地「看一眼」這張圖的整體輪廓</a:t>
            </a:r>
            <a:r>
              <a:rPr lang="zh-TW"/>
              <a:t>。</a:t>
            </a:r>
            <a:endParaRPr/>
          </a:p>
          <a:p>
            <a:pPr indent="0" lvl="0" marL="0" rtl="0" algn="l">
              <a:spcBef>
                <a:spcPts val="0"/>
              </a:spcBef>
              <a:spcAft>
                <a:spcPts val="0"/>
              </a:spcAft>
              <a:buNone/>
            </a:pPr>
            <a:r>
              <a:rPr lang="zh-TW"/>
              <a:t>計算「節點專屬注意力權重 </a:t>
            </a:r>
            <a:r>
              <a:rPr lang="zh-TW" sz="1400">
                <a:solidFill>
                  <a:schemeClr val="dk1"/>
                </a:solidFill>
              </a:rPr>
              <a:t>𝛾ᵢ</a:t>
            </a:r>
            <a:r>
              <a:rPr lang="zh-TW"/>
              <a:t>」：接著，將剛剛算出來的全域向量 c，與每一個節點 vi 的特徵向量進行「內積（Inner product）」運算 。</a:t>
            </a:r>
            <a:endParaRPr/>
          </a:p>
          <a:p>
            <a:pPr indent="0" lvl="0" marL="0" rtl="0" algn="l">
              <a:spcBef>
                <a:spcPts val="0"/>
              </a:spcBef>
              <a:spcAft>
                <a:spcPts val="0"/>
              </a:spcAft>
              <a:buClr>
                <a:schemeClr val="dk1"/>
              </a:buClr>
              <a:buSzPts val="1100"/>
              <a:buFont typeface="Arial"/>
              <a:buNone/>
            </a:pPr>
            <a:r>
              <a:rPr lang="zh-TW"/>
              <a:t>產出「最終圖向量 (h)」：最後，根據算出來的權重 </a:t>
            </a:r>
            <a:r>
              <a:rPr lang="zh-TW" sz="1400">
                <a:solidFill>
                  <a:schemeClr val="dk1"/>
                </a:solidFill>
              </a:rPr>
              <a:t>𝛾ᵢ</a:t>
            </a:r>
            <a:r>
              <a:rPr lang="zh-TW"/>
              <a:t>，將所有節點的特徵進行加權總和（Weighted sum），產出最終代表這張子圖的特徵向量h。</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c4a9e02c1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c4a9e02c1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c4a9e02c1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c4a9e02c1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樣本極度稀缺：現實中無法為每種 APT 技術收集到足夠的訓練樣本，這導致</a:t>
            </a:r>
            <a:r>
              <a:rPr lang="zh-TW">
                <a:highlight>
                  <a:schemeClr val="accent4"/>
                </a:highlight>
              </a:rPr>
              <a:t>傳統分類模型無法有效捕捉各種技術的特徵，極容易失去泛化能力 </a:t>
            </a:r>
            <a:r>
              <a:rPr lang="zh-TW"/>
              <a:t>。</a:t>
            </a:r>
            <a:endParaRPr/>
          </a:p>
          <a:p>
            <a:pPr indent="0" lvl="0" marL="0" rtl="0" algn="l">
              <a:spcBef>
                <a:spcPts val="0"/>
              </a:spcBef>
              <a:spcAft>
                <a:spcPts val="0"/>
              </a:spcAft>
              <a:buClr>
                <a:schemeClr val="dk1"/>
              </a:buClr>
              <a:buSzPts val="1100"/>
              <a:buFont typeface="Arial"/>
              <a:buNone/>
            </a:pPr>
            <a:r>
              <a:rPr lang="zh-TW"/>
              <a:t>無法靈活應對新型攻擊：APT 技術不斷在演進 。傳統分類模型的「輸出標籤數量」是固定的，如果今天駭客發明了一種全新的攻擊技術，整個分類模型就必須重新訓練以適應新的標籤空間 。</a:t>
            </a:r>
            <a:endParaRPr/>
          </a:p>
          <a:p>
            <a:pPr indent="0" lvl="0" marL="0" rtl="0" algn="l">
              <a:spcBef>
                <a:spcPts val="0"/>
              </a:spcBef>
              <a:spcAft>
                <a:spcPts val="0"/>
              </a:spcAft>
              <a:buNone/>
            </a:pPr>
            <a:r>
              <a:rPr lang="zh-TW"/>
              <a:t>於是他們使用 Siamese neural network(孿生神經網路) based few-shot learning method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c4a9e02c1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c4a9e02c1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lphaUcPeriod"/>
            </a:pPr>
            <a:r>
              <a:rPr lang="zh-TW"/>
              <a:t>輸入層 (Input Layer)：雙分支結構運作邏輯：與傳統分類器一次只吃一張圖不同，孿生網路的輸入層有「兩個分支（Branches）」。</a:t>
            </a:r>
            <a:endParaRPr/>
          </a:p>
          <a:p>
            <a:pPr indent="-298450" lvl="1" marL="914400" rtl="0" algn="l">
              <a:spcBef>
                <a:spcPts val="0"/>
              </a:spcBef>
              <a:spcAft>
                <a:spcPts val="0"/>
              </a:spcAft>
              <a:buSzPts val="1100"/>
              <a:buAutoNum type="alphaLcPeriod"/>
            </a:pPr>
            <a:r>
              <a:rPr lang="zh-TW"/>
              <a:t>輸入資料：每次訓練或推論時，它會同時接收「一對」技術子圖（例如 $TSG_A$ 與 $TSG_B$）。這兩張圖可能是同類型的 APT 技術，也可能是不同類型的。</a:t>
            </a:r>
            <a:endParaRPr/>
          </a:p>
          <a:p>
            <a:pPr indent="-298450" lvl="0" marL="457200" rtl="0" algn="l">
              <a:spcBef>
                <a:spcPts val="0"/>
              </a:spcBef>
              <a:spcAft>
                <a:spcPts val="0"/>
              </a:spcAft>
              <a:buSzPts val="1100"/>
              <a:buAutoNum type="alphaUcPeriod"/>
            </a:pPr>
            <a:r>
              <a:rPr lang="zh-TW"/>
              <a:t>編碼層 (Encoding Layer)：特徵轉換與壓縮運作邏輯：這是系統的「大腦」，兩個分支同樣具備這套編碼層（且參數是完全共享的，這正是孿生的意義）。</a:t>
            </a:r>
            <a:endParaRPr/>
          </a:p>
          <a:p>
            <a:pPr indent="-298450" lvl="1" marL="914400" rtl="0" algn="l">
              <a:spcBef>
                <a:spcPts val="0"/>
              </a:spcBef>
              <a:spcAft>
                <a:spcPts val="0"/>
              </a:spcAft>
              <a:buSzPts val="1100"/>
              <a:buAutoNum type="alphaLcPeriod"/>
            </a:pPr>
            <a:r>
              <a:rPr lang="zh-TW"/>
              <a:t>兩階段處理：圖嵌入 (Graph Embedding)：首先套用前面（3.2節）辛苦建構好的「異質圖注意力模型 (HAN)」，將龐大的子圖 $TSG_A$ 壓縮成一個向量 $h_A$。</a:t>
            </a:r>
            <a:endParaRPr/>
          </a:p>
          <a:p>
            <a:pPr indent="-298450" lvl="1" marL="914400" rtl="0" algn="l">
              <a:spcBef>
                <a:spcPts val="0"/>
              </a:spcBef>
              <a:spcAft>
                <a:spcPts val="0"/>
              </a:spcAft>
              <a:buSzPts val="1100"/>
              <a:buAutoNum type="alphaLcPeriod"/>
            </a:pPr>
            <a:r>
              <a:rPr lang="zh-TW"/>
              <a:t>特徵映射 (Fully Connected Layer)：接著，再串接一個全連接層（FC Layer），對向量 $h_A$ 進行最後的非線性轉換，得出最適合用來算距離的終極特徵向量 $e_A$。</a:t>
            </a:r>
            <a:endParaRPr/>
          </a:p>
          <a:p>
            <a:pPr indent="-298450" lvl="0" marL="457200" rtl="0" algn="l">
              <a:spcBef>
                <a:spcPts val="0"/>
              </a:spcBef>
              <a:spcAft>
                <a:spcPts val="0"/>
              </a:spcAft>
              <a:buSzPts val="1100"/>
              <a:buAutoNum type="alphaUcPeriod"/>
            </a:pPr>
            <a:r>
              <a:rPr lang="zh-TW"/>
              <a:t>互動層 (Interactive Layer)：決斷相似度運作邏輯：它將兩個分支產出的終極向量 $e_A$ 與 $e_B$ 匯集在一起。距離計算：使用距離函數（Distance function，如歐幾里得距離或餘弦相似度）來計算這兩個向量在多維空間中的距離 d_AB。</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c4a9e02c17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c4a9e02c17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錨點樣本 sa, Anchor</a:t>
            </a:r>
            <a:r>
              <a:rPr lang="zh-TW">
                <a:solidFill>
                  <a:schemeClr val="dk1"/>
                </a:solidFill>
              </a:rPr>
              <a:t>：當下挑選出來作為基準的 APT 技術子圖。</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正樣本 sp, Positive</a:t>
            </a:r>
            <a:r>
              <a:rPr lang="zh-TW">
                <a:solidFill>
                  <a:schemeClr val="dk1"/>
                </a:solidFill>
              </a:rPr>
              <a:t>：與錨點屬於「</a:t>
            </a:r>
            <a:r>
              <a:rPr b="1" lang="zh-TW">
                <a:solidFill>
                  <a:schemeClr val="dk1"/>
                </a:solidFill>
              </a:rPr>
              <a:t>同一種</a:t>
            </a:r>
            <a:r>
              <a:rPr lang="zh-TW">
                <a:solidFill>
                  <a:schemeClr val="dk1"/>
                </a:solidFill>
              </a:rPr>
              <a:t>」APT 技術的另一個樣本。</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負樣本 s</a:t>
            </a:r>
            <a:r>
              <a:rPr b="1" lang="zh-TW">
                <a:solidFill>
                  <a:schemeClr val="dk1"/>
                </a:solidFill>
              </a:rPr>
              <a:t>n</a:t>
            </a:r>
            <a:r>
              <a:rPr b="1" lang="zh-TW">
                <a:solidFill>
                  <a:schemeClr val="dk1"/>
                </a:solidFill>
              </a:rPr>
              <a:t>, Negative</a:t>
            </a:r>
            <a:r>
              <a:rPr lang="zh-TW">
                <a:solidFill>
                  <a:schemeClr val="dk1"/>
                </a:solidFill>
              </a:rPr>
              <a:t>：與錨點屬於「</a:t>
            </a:r>
            <a:r>
              <a:rPr b="1" lang="zh-TW">
                <a:solidFill>
                  <a:schemeClr val="dk1"/>
                </a:solidFill>
              </a:rPr>
              <a:t>不同種</a:t>
            </a:r>
            <a:r>
              <a:rPr lang="zh-TW">
                <a:solidFill>
                  <a:schemeClr val="dk1"/>
                </a:solidFill>
              </a:rPr>
              <a:t>」APT 技術的樣本。</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zh-TW"/>
              <a:t>拉近同類：讓 sa 和 sp在高維特徵空間中的距離 d 盡可能小。推開異類：讓 sa 和 sn 在特徵空間中的距離盡可能大。</a:t>
            </a:r>
            <a:endParaRPr/>
          </a:p>
          <a:p>
            <a:pPr indent="0" lvl="0" marL="0" rtl="0" algn="l">
              <a:spcBef>
                <a:spcPts val="0"/>
              </a:spcBef>
              <a:spcAft>
                <a:spcPts val="0"/>
              </a:spcAft>
              <a:buNone/>
            </a:pPr>
            <a:r>
              <a:rPr lang="zh-TW"/>
              <a:t>設定 Margin 是為了模型比較能收斂與穩定。如果不設定 m，模型會把所有的運算資源浪費在把『已經分得很開的負樣本』推得更遠。引入 m 後，模型只要確保異類樣本之間的距離達到 m 就會停止懲罰（Loss 為 0），進而將算力集中在那些『難以分辨、靠得很近的邊緣樣本（Hard Negatives）』上。</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c4a9e02c17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c4a9e02c17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特徵轉換</a:t>
            </a:r>
            <a:r>
              <a:rPr lang="zh-TW">
                <a:solidFill>
                  <a:schemeClr val="dk1"/>
                </a:solidFill>
              </a:rPr>
              <a:t>：將新樣本 $s_k$ 與圖鑑上的標準樣本 si分別丟入孿生神經網路的兩個分支，得出各自的終極特徵向量 ek 與 ei。</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計算距離</a:t>
            </a:r>
            <a:r>
              <a:rPr lang="zh-TW">
                <a:solidFill>
                  <a:schemeClr val="dk1"/>
                </a:solidFill>
              </a:rPr>
              <a:t>：算出這兩個向量在多維空間中的距離 d</a:t>
            </a:r>
            <a:r>
              <a:rPr lang="zh-TW" sz="1800">
                <a:solidFill>
                  <a:schemeClr val="dk1"/>
                </a:solidFill>
              </a:rPr>
              <a:t>ₖᵢ</a:t>
            </a:r>
            <a:r>
              <a:rPr lang="zh-TW">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最小距離分類</a:t>
            </a:r>
            <a:r>
              <a:rPr lang="zh-TW">
                <a:solidFill>
                  <a:schemeClr val="dk1"/>
                </a:solidFill>
              </a:rPr>
              <a:t>：系統會把圖鑑裡所有的標準答案都拿出來跟 sk 算一次距離。最後，</a:t>
            </a:r>
            <a:r>
              <a:rPr b="1" lang="zh-TW">
                <a:solidFill>
                  <a:schemeClr val="dk1"/>
                </a:solidFill>
              </a:rPr>
              <a:t>誰的距離最小（長得最像），這個新樣本就被歸類為哪一種 APT 技術</a:t>
            </a:r>
            <a:r>
              <a:rPr lang="zh-TW">
                <a:solidFill>
                  <a:schemeClr val="dk1"/>
                </a:solidFill>
              </a:rPr>
              <a: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c4a9e02c1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c4a9e02c1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TW">
                <a:solidFill>
                  <a:schemeClr val="dk1"/>
                </a:solidFill>
                <a:highlight>
                  <a:srgbClr val="EA9999"/>
                </a:highlight>
              </a:rPr>
              <a:t>使用他的dataset</a:t>
            </a:r>
            <a:br>
              <a:rPr b="1" lang="zh-TW">
                <a:solidFill>
                  <a:schemeClr val="dk1"/>
                </a:solidFill>
              </a:rPr>
            </a:br>
            <a:br>
              <a:rPr b="1" lang="zh-TW">
                <a:solidFill>
                  <a:schemeClr val="dk1"/>
                </a:solidFill>
              </a:rPr>
            </a:br>
            <a:r>
              <a:rPr b="1" lang="zh-TW">
                <a:solidFill>
                  <a:schemeClr val="dk1"/>
                </a:solidFill>
              </a:rPr>
              <a:t>標籤顆粒度太粗</a:t>
            </a:r>
            <a:r>
              <a:rPr lang="zh-TW">
                <a:solidFill>
                  <a:schemeClr val="dk1"/>
                </a:solidFill>
              </a:rPr>
              <a:t>：現有的公開資料集（如 StreamSpot, DARPA TC）通常只給「二元標籤（Binary labels）」。也就是說，它們只會告訴你「這個節點/這張圖是惡意的還是正常的」，卻不會告訴你「這是哪一種 APT 技術」。這完全無法用來訓練分類器。</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極端的不平衡挑戰 (Needle in a Haystack)</a:t>
            </a:r>
            <a:r>
              <a:rPr lang="zh-TW">
                <a:solidFill>
                  <a:schemeClr val="dk1"/>
                </a:solidFill>
              </a:rPr>
              <a:t>：作者透過 Atomic Red Team 自己建構了資料集。你可以特別向教授強調這個驚人的數據：</a:t>
            </a:r>
            <a:r>
              <a:rPr b="1" lang="zh-TW">
                <a:solidFill>
                  <a:schemeClr val="dk1"/>
                </a:solidFill>
              </a:rPr>
              <a:t>每張圖平均有 8,957 個節點，但惡意節點 (NOI) 平均只有 4 個！</a:t>
            </a:r>
            <a:r>
              <a:rPr lang="zh-TW">
                <a:solidFill>
                  <a:schemeClr val="dk1"/>
                </a:solidFill>
              </a:rPr>
              <a:t> 這種極端的雜訊比例，完美還原了真實世界的資安困境。</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殘酷的少樣本現實 (Few-shot Reality)</a:t>
            </a:r>
            <a:r>
              <a:rPr lang="zh-TW">
                <a:solidFill>
                  <a:schemeClr val="dk1"/>
                </a:solidFill>
              </a:rPr>
              <a:t>：資料集涵蓋了 26 種技術，但平均每種技術</a:t>
            </a:r>
            <a:r>
              <a:rPr b="1" lang="zh-TW">
                <a:solidFill>
                  <a:schemeClr val="dk1"/>
                </a:solidFill>
              </a:rPr>
              <a:t>只有 18 個樣本</a:t>
            </a:r>
            <a:r>
              <a:rPr lang="zh-TW">
                <a:solidFill>
                  <a:schemeClr val="dk1"/>
                </a:solidFill>
              </a:rPr>
              <a:t>（子技術甚至只有 10 個）。這句話直接坐實了前面使用「孿生神經網路」的合理性——在這麼少的樣本下，傳統分類器絕對會崩潰（Overfitting），只有少樣本學習（Few-shot learning）能存活。</a:t>
            </a:r>
            <a:endParaRPr>
              <a:solidFill>
                <a:schemeClr val="dk1"/>
              </a:solidFill>
            </a:endParaRPr>
          </a:p>
          <a:p>
            <a:pPr indent="0" lvl="0" marL="0" rtl="0" algn="l">
              <a:spcBef>
                <a:spcPts val="0"/>
              </a:spcBef>
              <a:spcAft>
                <a:spcPts val="0"/>
              </a:spcAft>
              <a:buNone/>
            </a:pPr>
            <a:br>
              <a:rPr lang="zh-TW"/>
            </a:br>
            <a:r>
              <a:rPr lang="zh-TW"/>
              <a:t>Label 在 atomic就能找到。</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c4a9e02c17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c4a9e02c17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zh-TW">
                <a:solidFill>
                  <a:schemeClr val="dk1"/>
                </a:solidFill>
              </a:rPr>
              <a:t>標籤顆粒度太粗</a:t>
            </a:r>
            <a:r>
              <a:rPr lang="zh-TW">
                <a:solidFill>
                  <a:schemeClr val="dk1"/>
                </a:solidFill>
              </a:rPr>
              <a:t>：現有的公開資料集（如 StreamSpot, DARPA TC）通常只給「二元標籤（Binary labels）」。也就是說，它們只會告訴你「這個節點/這張圖是惡意的還是正常的」，卻不會告訴你「這是哪一種 APT 技術」。這完全無法用來訓練分類器。</a:t>
            </a:r>
            <a:endParaRPr>
              <a:solidFill>
                <a:schemeClr val="dk1"/>
              </a:solidFill>
            </a:endParaRPr>
          </a:p>
          <a:p>
            <a:pPr indent="0" lvl="0" marL="0" rtl="0" algn="l">
              <a:spcBef>
                <a:spcPts val="0"/>
              </a:spcBef>
              <a:spcAft>
                <a:spcPts val="0"/>
              </a:spcAft>
              <a:buNone/>
            </a:pPr>
            <a:r>
              <a:rPr b="1" lang="zh-TW">
                <a:solidFill>
                  <a:schemeClr val="dk1"/>
                </a:solidFill>
              </a:rPr>
              <a:t>極端的不平衡挑戰 (Needle in a Haystack)</a:t>
            </a:r>
            <a:r>
              <a:rPr lang="zh-TW">
                <a:solidFill>
                  <a:schemeClr val="dk1"/>
                </a:solidFill>
              </a:rPr>
              <a:t>：</a:t>
            </a:r>
            <a:r>
              <a:rPr b="1" lang="zh-TW">
                <a:solidFill>
                  <a:schemeClr val="dk1"/>
                </a:solidFill>
              </a:rPr>
              <a:t>每張圖平均有 8,957 個節點，但惡意節點 (NOI) 平均只有 4 個！</a:t>
            </a:r>
            <a:r>
              <a:rPr lang="zh-TW">
                <a:solidFill>
                  <a:schemeClr val="dk1"/>
                </a:solidFill>
              </a:rPr>
              <a:t> 這種極端的雜訊比例，完美還原了真實世界的資安困境。</a:t>
            </a:r>
            <a:endParaRPr>
              <a:solidFill>
                <a:schemeClr val="dk1"/>
              </a:solidFill>
            </a:endParaRPr>
          </a:p>
          <a:p>
            <a:pPr indent="0" lvl="0" marL="0" rtl="0" algn="l">
              <a:spcBef>
                <a:spcPts val="0"/>
              </a:spcBef>
              <a:spcAft>
                <a:spcPts val="0"/>
              </a:spcAft>
              <a:buNone/>
            </a:pPr>
            <a:r>
              <a:rPr b="1" lang="zh-TW">
                <a:solidFill>
                  <a:schemeClr val="dk1"/>
                </a:solidFill>
              </a:rPr>
              <a:t>殘酷的少樣本現實 (Few-shot Reality)</a:t>
            </a:r>
            <a:r>
              <a:rPr lang="zh-TW">
                <a:solidFill>
                  <a:schemeClr val="dk1"/>
                </a:solidFill>
              </a:rPr>
              <a:t>：資料集涵蓋了 26 種技術，但平均每種技術</a:t>
            </a:r>
            <a:r>
              <a:rPr b="1" lang="zh-TW">
                <a:solidFill>
                  <a:schemeClr val="dk1"/>
                </a:solidFill>
              </a:rPr>
              <a:t>只有 18 個樣本</a:t>
            </a:r>
            <a:r>
              <a:rPr lang="zh-TW">
                <a:solidFill>
                  <a:schemeClr val="dk1"/>
                </a:solidFill>
              </a:rPr>
              <a:t>（子技術甚至只有 10 個）。這句話直接坐實了前面使用「孿生神經網路」的合理性——在這麼少的樣本下，傳統分類器絕對會崩潰（Overfitting），只有少樣本學習（Few-shot learning）能存活。</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c4a9e02c17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c4a9e02c17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zh-TW">
                <a:solidFill>
                  <a:schemeClr val="dk1"/>
                </a:solidFill>
              </a:rPr>
              <a:t>A. NOI 偵測任務 (NOI Detection Task)</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TW">
                <a:solidFill>
                  <a:schemeClr val="dk1"/>
                </a:solidFill>
              </a:rPr>
              <a:t>評估重點</a:t>
            </a:r>
            <a:r>
              <a:rPr lang="zh-TW">
                <a:solidFill>
                  <a:schemeClr val="dk1"/>
                </a:solidFill>
              </a:rPr>
              <a:t>：測試無監督模型抓壞人的能力。</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策略 (Leave-Malicious-Out)</a:t>
            </a:r>
            <a:r>
              <a:rPr lang="zh-TW">
                <a:solidFill>
                  <a:schemeClr val="dk1"/>
                </a:solidFill>
              </a:rPr>
              <a:t>：這是一個非常嚴格的測試法。訓練時「完全不給看」惡意節點（只用純正常的背景雜訊訓練）；測試時才把惡意節點混進去。</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指標</a:t>
            </a:r>
            <a:r>
              <a:rPr lang="zh-TW">
                <a:solidFill>
                  <a:schemeClr val="dk1"/>
                </a:solidFill>
              </a:rPr>
              <a:t>：精準度 (Precision)、召回率 (Recall)、F1 Score，以及教授最在乎的 </a:t>
            </a:r>
            <a:r>
              <a:rPr b="1" lang="zh-TW">
                <a:solidFill>
                  <a:schemeClr val="dk1"/>
                </a:solidFill>
              </a:rPr>
              <a:t>FAR (誤報率)</a:t>
            </a:r>
            <a:r>
              <a:rPr lang="zh-TW">
                <a:solidFill>
                  <a:schemeClr val="dk1"/>
                </a:solidFill>
              </a:rPr>
              <a:t>。P,R,F1是為了惡意節點而計算的指標，FAR是為了誤報率。</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B. 子圖採樣任務 (Technique Subgraph Sampling Task)</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TW">
                <a:solidFill>
                  <a:schemeClr val="dk1"/>
                </a:solidFill>
              </a:rPr>
              <a:t>評估重點</a:t>
            </a:r>
            <a:r>
              <a:rPr lang="zh-TW">
                <a:solidFill>
                  <a:schemeClr val="dk1"/>
                </a:solidFill>
              </a:rPr>
              <a:t>：測試演算法切出來的圖，跟真實的攻擊範圍有多像。</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策略</a:t>
            </a:r>
            <a:r>
              <a:rPr lang="zh-TW">
                <a:solidFill>
                  <a:schemeClr val="dk1"/>
                </a:solidFill>
              </a:rPr>
              <a:t>：將系統自動採樣出來的子圖，與人工標記的「標準答案 (Ground-truth)」進行重疊度比對。</a:t>
            </a:r>
            <a:br>
              <a:rPr lang="zh-TW">
                <a:solidFill>
                  <a:schemeClr val="dk1"/>
                </a:solidFill>
              </a:rPr>
            </a:br>
            <a:r>
              <a:rPr lang="zh-TW">
                <a:solidFill>
                  <a:schemeClr val="dk1"/>
                </a:solidFill>
              </a:rPr>
              <a:t>可疑節點集合 D_NSk 中，到底有多少個是 真的惡意節點 G_NSk</a:t>
            </a:r>
            <a:br>
              <a:rPr lang="zh-TW">
                <a:solidFill>
                  <a:schemeClr val="dk1"/>
                </a:solidFill>
              </a:rPr>
            </a:br>
            <a:r>
              <a:rPr lang="zh-TW">
                <a:solidFill>
                  <a:schemeClr val="dk1"/>
                </a:solidFill>
              </a:rPr>
              <a:t>在所有標準答案的攻擊子圖集合 gTGS中，我們成功產出了多少張「正確（達標）的子圖」 真正及格的子圖 cTGS</a:t>
            </a:r>
            <a:br>
              <a:rPr lang="zh-TW">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C. APT 戰術/技術辨識任務 (APT Tactic / Technique Recognition Task)</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這是整篇論文的最高潮（也是消融實驗 Ablation Study 的精華）。作者設定了三個對照組來測試神經網路的辨識能力：</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zh-TW">
                <a:solidFill>
                  <a:srgbClr val="188038"/>
                </a:solidFill>
                <a:latin typeface="Roboto Mono"/>
                <a:ea typeface="Roboto Mono"/>
                <a:cs typeface="Roboto Mono"/>
                <a:sym typeface="Roboto Mono"/>
              </a:rPr>
              <a:t>True_Graph</a:t>
            </a:r>
            <a:r>
              <a:rPr b="1" lang="zh-TW">
                <a:solidFill>
                  <a:schemeClr val="dk1"/>
                </a:solidFill>
              </a:rPr>
              <a:t> (標準答案組)</a:t>
            </a:r>
            <a:r>
              <a:rPr lang="zh-TW">
                <a:solidFill>
                  <a:schemeClr val="dk1"/>
                </a:solidFill>
              </a:rPr>
              <a:t>：直接把完美無雜訊的攻擊子圖餵給 AI。這用來測量 AI **「純粹的辨識天花板」**有多高。</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TW">
                <a:solidFill>
                  <a:srgbClr val="188038"/>
                </a:solidFill>
                <a:latin typeface="Roboto Mono"/>
                <a:ea typeface="Roboto Mono"/>
                <a:cs typeface="Roboto Mono"/>
                <a:sym typeface="Roboto Mono"/>
              </a:rPr>
              <a:t>Sampled_Graph</a:t>
            </a:r>
            <a:r>
              <a:rPr b="1" lang="zh-TW">
                <a:solidFill>
                  <a:schemeClr val="dk1"/>
                </a:solidFill>
              </a:rPr>
              <a:t> (實戰驗證組)</a:t>
            </a:r>
            <a:r>
              <a:rPr lang="zh-TW">
                <a:solidFill>
                  <a:schemeClr val="dk1"/>
                </a:solidFill>
              </a:rPr>
              <a:t>：把 TREC 前面模組自己採樣出來（含有部分正常雜訊）的子圖餵給 AI。這代表了系統**「End-to-End 的綜合實戰能力」**。</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TW">
                <a:solidFill>
                  <a:srgbClr val="188038"/>
                </a:solidFill>
                <a:latin typeface="Roboto Mono"/>
                <a:ea typeface="Roboto Mono"/>
                <a:cs typeface="Roboto Mono"/>
                <a:sym typeface="Roboto Mono"/>
              </a:rPr>
              <a:t>Raw_Graph</a:t>
            </a:r>
            <a:r>
              <a:rPr b="1" lang="zh-TW">
                <a:solidFill>
                  <a:schemeClr val="dk1"/>
                </a:solidFill>
              </a:rPr>
              <a:t> (原始暴力組)</a:t>
            </a:r>
            <a:r>
              <a:rPr lang="zh-TW">
                <a:solidFill>
                  <a:schemeClr val="dk1"/>
                </a:solidFill>
              </a:rPr>
              <a:t>：什麼都不切，直接把整張 8,957 個節點的超大原始圖餵給 AI。</a:t>
            </a:r>
            <a:endParaRPr>
              <a:solidFill>
                <a:schemeClr val="dk1"/>
              </a:solidFill>
            </a:endParaRPr>
          </a:p>
          <a:p>
            <a:pPr indent="0" lvl="0" marL="0" rtl="0" algn="l">
              <a:lnSpc>
                <a:spcPct val="115000"/>
              </a:lnSpc>
              <a:spcBef>
                <a:spcPts val="1200"/>
              </a:spcBef>
              <a:spcAft>
                <a:spcPts val="0"/>
              </a:spcAft>
              <a:buNone/>
            </a:pPr>
            <a:br>
              <a:rPr lang="zh-TW">
                <a:solidFill>
                  <a:schemeClr val="dk1"/>
                </a:solidFill>
              </a:rPr>
            </a:br>
            <a:r>
              <a:rPr lang="zh-TW">
                <a:solidFill>
                  <a:schemeClr val="dk1"/>
                </a:solidFill>
              </a:rPr>
              <a:t>TacACC (戰術準確率, Tactic)：最寬鬆的指標。模型只要能看出攻擊者的「大方向目的」就算對（例如：知道這是在做「Initial Access 初期入侵」還是「Lateral Movement 橫向移動」）。</a:t>
            </a:r>
            <a:br>
              <a:rPr lang="zh-TW">
                <a:solidFill>
                  <a:schemeClr val="dk1"/>
                </a:solidFill>
              </a:rPr>
            </a:br>
            <a:r>
              <a:rPr lang="zh-TW">
                <a:solidFill>
                  <a:schemeClr val="dk1"/>
                </a:solidFill>
              </a:rPr>
              <a:t>TechACC (技術準確率, Technique)：中等難度。模型需要精準指出具體的攻擊手段（例如：知道這是透過「Phishing 釣魚」進來的）。</a:t>
            </a:r>
            <a:br>
              <a:rPr lang="zh-TW">
                <a:solidFill>
                  <a:schemeClr val="dk1"/>
                </a:solidFill>
              </a:rPr>
            </a:br>
            <a:r>
              <a:rPr lang="zh-TW">
                <a:solidFill>
                  <a:schemeClr val="dk1"/>
                </a:solidFill>
              </a:rPr>
              <a:t>SubACC (子技術準確率, Sub-technique)：最嚴苛的指標。模型必須看透最底層的細節（例如：精確指出這是「Spearphishing Attachment 夾帶惡意附件的魚叉式釣魚」）。</a:t>
            </a:r>
            <a:br>
              <a:rPr lang="zh-TW">
                <a:solidFill>
                  <a:schemeClr val="dk1"/>
                </a:solidFill>
              </a:rPr>
            </a:br>
            <a:br>
              <a:rPr lang="zh-TW">
                <a:solidFill>
                  <a:schemeClr val="dk1"/>
                </a:solidFill>
              </a:rPr>
            </a:br>
            <a:r>
              <a:rPr lang="zh-TW">
                <a:solidFill>
                  <a:schemeClr val="dk1"/>
                </a:solidFill>
              </a:rPr>
              <a:t>2.公式</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c4a9e02c17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c4a9e02c17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TacACC</a:t>
            </a:r>
            <a:r>
              <a:rPr lang="zh-TW"/>
              <a:t>最高因為他最寬鬆</a:t>
            </a:r>
            <a:endParaRPr/>
          </a:p>
          <a:p>
            <a:pPr indent="0" lvl="0" marL="0" rtl="0" algn="l">
              <a:spcBef>
                <a:spcPts val="0"/>
              </a:spcBef>
              <a:spcAft>
                <a:spcPts val="0"/>
              </a:spcAft>
              <a:buNone/>
            </a:pPr>
            <a:r>
              <a:rPr lang="zh-TW"/>
              <a:t>True_Graph比較好是因為他用無雜訊的圖</a:t>
            </a:r>
            <a:endParaRPr/>
          </a:p>
          <a:p>
            <a:pPr indent="0" lvl="0" marL="0" rtl="0" algn="l">
              <a:spcBef>
                <a:spcPts val="0"/>
              </a:spcBef>
              <a:spcAft>
                <a:spcPts val="0"/>
              </a:spcAft>
              <a:buNone/>
            </a:pPr>
            <a:r>
              <a:rPr lang="zh-TW"/>
              <a:t>TREC 勝過 GCN_S；HAN_C 勝過 GCN_C。代表異質圖很重要。</a:t>
            </a:r>
            <a:endParaRPr/>
          </a:p>
          <a:p>
            <a:pPr indent="0" lvl="0" marL="0" rtl="0" algn="l">
              <a:spcBef>
                <a:spcPts val="0"/>
              </a:spcBef>
              <a:spcAft>
                <a:spcPts val="0"/>
              </a:spcAft>
              <a:buNone/>
            </a:pPr>
            <a:r>
              <a:rPr lang="zh-TW"/>
              <a:t>TREC 勝過 HAN_C；GCN_S 勝過 GCN_C。代表孿生神經網路 (Siamese neural network )很有用。</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c4a9e02c17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c4a9e02c17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highlight>
                  <a:srgbClr val="EA9999"/>
                </a:highlight>
              </a:rPr>
              <a:t>我們要用這個</a:t>
            </a:r>
            <a:br>
              <a:rPr lang="zh-TW">
                <a:highlight>
                  <a:srgbClr val="EA9999"/>
                </a:highlight>
              </a:rPr>
            </a:br>
            <a:br>
              <a:rPr lang="zh-TW"/>
            </a:br>
            <a:r>
              <a:rPr lang="zh-TW"/>
              <a:t>HOLMES (基於 Kill-Chain)：</a:t>
            </a:r>
            <a:endParaRPr/>
          </a:p>
          <a:p>
            <a:pPr indent="0" lvl="0" marL="0" rtl="0" algn="l">
              <a:spcBef>
                <a:spcPts val="0"/>
              </a:spcBef>
              <a:spcAft>
                <a:spcPts val="0"/>
              </a:spcAft>
              <a:buClr>
                <a:schemeClr val="dk1"/>
              </a:buClr>
              <a:buSzPts val="1100"/>
              <a:buFont typeface="Arial"/>
              <a:buNone/>
            </a:pPr>
            <a:r>
              <a:rPr lang="zh-TW"/>
              <a:t>核心運作：它仰賴資安專家撰寫大量的「TTP 規則」，將底層雜亂的 Audit logs 先向上映射成「中介敏感活動（例如：執行了 Shell、讀取了敏感檔案）」。接著，再透過分析這些敏感活動之間的關聯，來拼湊出攻擊者目前處於 Kill-Chain 的哪一個戰術階段（分 7 類）。</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APTShield (基於 ATT&amp;CK)：</a:t>
            </a:r>
            <a:endParaRPr/>
          </a:p>
          <a:p>
            <a:pPr indent="0" lvl="0" marL="0" rtl="0" algn="l">
              <a:spcBef>
                <a:spcPts val="0"/>
              </a:spcBef>
              <a:spcAft>
                <a:spcPts val="0"/>
              </a:spcAft>
              <a:buClr>
                <a:schemeClr val="dk1"/>
              </a:buClr>
              <a:buSzPts val="1100"/>
              <a:buFont typeface="Arial"/>
              <a:buNone/>
            </a:pPr>
            <a:r>
              <a:rPr lang="zh-TW"/>
              <a:t>核心運作：它給各種可疑的系統實體與事件貼上「可疑標籤 (Suspicious labels)」。接著，依靠專家設計的「轉移規則 (Transfer rules)」，沿著資料流與控制流，把這些標籤一路傳遞、聚合起來。當標籤累積到一定程度，系統就能認出這屬於 ATT&amp;CK 框架中的哪一種戰術（分 10 類）。</a:t>
            </a:r>
            <a:endParaRPr/>
          </a:p>
          <a:p>
            <a:pPr indent="0" lvl="0" marL="0" rtl="0" algn="l">
              <a:spcBef>
                <a:spcPts val="0"/>
              </a:spcBef>
              <a:spcAft>
                <a:spcPts val="0"/>
              </a:spcAft>
              <a:buNone/>
            </a:pPr>
            <a:br>
              <a:rPr lang="zh-TW"/>
            </a:br>
            <a:r>
              <a:rPr lang="zh-TW"/>
              <a:t>兩者都應用在他們自己做的dataset上</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c4a9e02c17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c4a9e02c17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核心問題</a:t>
            </a:r>
            <a:r>
              <a:rPr lang="zh-TW">
                <a:solidFill>
                  <a:schemeClr val="dk1"/>
                </a:solidFill>
              </a:rPr>
              <a:t>：我們要把一張包含數百個節點的技術子圖（TSG），壓縮成一個長度為 d 的一維數學向量。這個 d 到底該設多大？</a:t>
            </a:r>
            <a:endParaRPr>
              <a:solidFill>
                <a:schemeClr val="dk1"/>
              </a:solidFill>
            </a:endParaRPr>
          </a:p>
          <a:p>
            <a:pPr indent="0" lvl="0" marL="0" rtl="0" algn="l">
              <a:lnSpc>
                <a:spcPct val="115000"/>
              </a:lnSpc>
              <a:spcBef>
                <a:spcPts val="0"/>
              </a:spcBef>
              <a:spcAft>
                <a:spcPts val="0"/>
              </a:spcAft>
              <a:buNone/>
            </a:pPr>
            <a:r>
              <a:rPr b="1" lang="zh-TW">
                <a:solidFill>
                  <a:schemeClr val="dk1"/>
                </a:solidFill>
              </a:rPr>
              <a:t>實驗範圍</a:t>
            </a:r>
            <a:r>
              <a:rPr lang="zh-TW">
                <a:solidFill>
                  <a:schemeClr val="dk1"/>
                </a:solidFill>
              </a:rPr>
              <a:t>：作者將維度 $d$ 從 $16$ 逐步調高到 $256$，觀察模型在辨識 APT 戰術與技術時的準確率變化。</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當維度太小（如 d=16 到 64 時）：資訊遺失 (Underfitting / Information Loss)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現象</a:t>
            </a:r>
            <a:r>
              <a:rPr lang="zh-TW">
                <a:solidFill>
                  <a:schemeClr val="dk1"/>
                </a:solidFill>
              </a:rPr>
              <a:t>：準確率呈現明顯的上升趨勢（也就是一開始效能很差，越調大越好）。</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解釋</a:t>
            </a:r>
            <a:r>
              <a:rPr lang="zh-TW">
                <a:solidFill>
                  <a:schemeClr val="dk1"/>
                </a:solidFill>
              </a:rPr>
              <a:t>：如果 $d$ 太小，就像用過度失真的 JPEG 格式壓縮圖片。作業系統底層複雜的圖形拓樸（Topology）和高階的資安語意（Semantics）根本塞不進這麼短的向量中，導致模型「看攏無」，無法分辨不同的攻擊手法。</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當維度太大（如 $d=128$ 增加到 $256$ 時）：過擬合與雜訊 (Overfitting / Noise)</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現象</a:t>
            </a:r>
            <a:r>
              <a:rPr lang="zh-TW">
                <a:solidFill>
                  <a:schemeClr val="dk1"/>
                </a:solidFill>
              </a:rPr>
              <a:t>：準確率的上升趨勢停止了，甚至出現</a:t>
            </a:r>
            <a:r>
              <a:rPr b="1" lang="zh-TW">
                <a:solidFill>
                  <a:schemeClr val="dk1"/>
                </a:solidFill>
              </a:rPr>
              <a:t>微幅下降 (Slight decrease)</a:t>
            </a:r>
            <a:r>
              <a:rPr lang="zh-TW">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解釋</a:t>
            </a:r>
            <a:r>
              <a:rPr lang="zh-TW">
                <a:solidFill>
                  <a:schemeClr val="dk1"/>
                </a:solidFill>
              </a:rPr>
              <a:t>：這是一個極佳的防禦亮點！您可以解釋：「報告委員，維度並不是越大越好。當我們賦予模型過高的維度空間時，它會開始把子圖裡那些『不重要的正常系統行為（雜訊）』也一起死記硬背下來。在我們這種樣本數極少的 Few-shot 學習環境中，這會直接導致</a:t>
            </a:r>
            <a:r>
              <a:rPr b="1" lang="zh-TW">
                <a:solidFill>
                  <a:schemeClr val="dk1"/>
                </a:solidFill>
              </a:rPr>
              <a:t>過擬合 (Overfitting)</a:t>
            </a:r>
            <a:r>
              <a:rPr lang="zh-TW">
                <a:solidFill>
                  <a:schemeClr val="dk1"/>
                </a:solidFill>
              </a:rPr>
              <a:t>，反而拖累了最終的辨識效能。」</a:t>
            </a:r>
            <a:endParaRPr>
              <a:solidFill>
                <a:schemeClr val="dk1"/>
              </a:solidFill>
            </a:endParaRPr>
          </a:p>
          <a:p>
            <a:pPr indent="0" lvl="0" marL="0" rtl="0" algn="l">
              <a:lnSpc>
                <a:spcPct val="115000"/>
              </a:lnSpc>
              <a:spcBef>
                <a:spcPts val="1200"/>
              </a:spcBef>
              <a:spcAft>
                <a:spcPts val="0"/>
              </a:spcAft>
              <a:buNone/>
            </a:pPr>
            <a:r>
              <a:rPr b="1" lang="zh-TW">
                <a:solidFill>
                  <a:schemeClr val="dk1"/>
                </a:solidFill>
              </a:rPr>
              <a:t>當 </a:t>
            </a:r>
            <a:r>
              <a:rPr lang="zh-TW" sz="1800">
                <a:solidFill>
                  <a:schemeClr val="dk1"/>
                </a:solidFill>
              </a:rPr>
              <a:t>λ</a:t>
            </a:r>
            <a:r>
              <a:rPr b="1" lang="zh-TW">
                <a:solidFill>
                  <a:schemeClr val="dk1"/>
                </a:solidFill>
              </a:rPr>
              <a:t> 太小（例如 </a:t>
            </a:r>
            <a:r>
              <a:rPr lang="zh-TW" sz="1800">
                <a:solidFill>
                  <a:schemeClr val="dk1"/>
                </a:solidFill>
              </a:rPr>
              <a:t>λ</a:t>
            </a:r>
            <a:r>
              <a:rPr b="1" lang="zh-TW">
                <a:solidFill>
                  <a:schemeClr val="dk1"/>
                </a:solidFill>
              </a:rPr>
              <a:t>=1）：見樹不見林</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TW">
                <a:solidFill>
                  <a:schemeClr val="dk1"/>
                </a:solidFill>
              </a:rPr>
              <a:t>現象</a:t>
            </a:r>
            <a:r>
              <a:rPr lang="zh-TW">
                <a:solidFill>
                  <a:schemeClr val="dk1"/>
                </a:solidFill>
              </a:rPr>
              <a:t>：覆蓋率（Coverage）極低，導致 TPR（真陽性率）慘不忍睹。</a:t>
            </a:r>
            <a:endParaRPr>
              <a:solidFill>
                <a:schemeClr val="dk1"/>
              </a:solidFill>
            </a:endParaRPr>
          </a:p>
          <a:p>
            <a:pPr indent="0" lvl="0" marL="0" rtl="0" algn="l">
              <a:lnSpc>
                <a:spcPct val="115000"/>
              </a:lnSpc>
              <a:spcBef>
                <a:spcPts val="1200"/>
              </a:spcBef>
              <a:spcAft>
                <a:spcPts val="0"/>
              </a:spcAft>
              <a:buNone/>
            </a:pPr>
            <a:r>
              <a:rPr b="1" lang="zh-TW">
                <a:solidFill>
                  <a:schemeClr val="dk1"/>
                </a:solidFill>
              </a:rPr>
              <a:t>當 </a:t>
            </a:r>
            <a:r>
              <a:rPr lang="zh-TW" sz="1800">
                <a:solidFill>
                  <a:schemeClr val="dk1"/>
                </a:solidFill>
              </a:rPr>
              <a:t>λ</a:t>
            </a:r>
            <a:r>
              <a:rPr b="1" lang="zh-TW">
                <a:solidFill>
                  <a:schemeClr val="dk1"/>
                </a:solidFill>
              </a:rPr>
              <a:t> 太大（例如 </a:t>
            </a:r>
            <a:r>
              <a:rPr lang="zh-TW" sz="1800">
                <a:solidFill>
                  <a:schemeClr val="dk1"/>
                </a:solidFill>
              </a:rPr>
              <a:t>λ</a:t>
            </a:r>
            <a:r>
              <a:rPr b="1" lang="zh-TW">
                <a:solidFill>
                  <a:schemeClr val="dk1"/>
                </a:solidFill>
              </a:rPr>
              <a:t>=5）：雜訊大爆炸</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TW">
                <a:solidFill>
                  <a:schemeClr val="dk1"/>
                </a:solidFill>
              </a:rPr>
              <a:t>現象</a:t>
            </a:r>
            <a:r>
              <a:rPr lang="zh-TW">
                <a:solidFill>
                  <a:schemeClr val="dk1"/>
                </a:solidFill>
              </a:rPr>
              <a:t>：覆蓋率雖然到頂了，但精準度（Precision）出現了**「懸崖式的暴跌 (cliff-like decline)」**。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c4a9e02c17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c4a9e02c17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ThreaTrace 的作法：它疊加了多層分類器來死磕「降低誤報」（追求高 Precision），因為它的異常偵測結果就是最終的警報。</a:t>
            </a:r>
            <a:endParaRPr/>
          </a:p>
          <a:p>
            <a:pPr indent="0" lvl="0" marL="0" rtl="0" algn="l">
              <a:spcBef>
                <a:spcPts val="0"/>
              </a:spcBef>
              <a:spcAft>
                <a:spcPts val="0"/>
              </a:spcAft>
              <a:buClr>
                <a:schemeClr val="dk1"/>
              </a:buClr>
              <a:buSzPts val="1100"/>
              <a:buFont typeface="Arial"/>
              <a:buNone/>
            </a:pPr>
            <a:r>
              <a:rPr lang="zh-TW"/>
              <a:t>TREC 的作法：TREC 的異常偵測只是一個「輔助起點」，目的是為了找出嫌疑犯（種子節點），交給下一關的「子圖採樣（Subgraph sampling）」去畫出完整的犯罪地圖。</a:t>
            </a:r>
            <a:endParaRPr/>
          </a:p>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c4a9e02c17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c4a9e02c17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TW"/>
              <a:t>例如 $MPC_1$ 只看 Process 之間的關係。</a:t>
            </a:r>
            <a:endParaRPr/>
          </a:p>
          <a:p>
            <a:pPr indent="0" lvl="0" marL="0" rtl="0" algn="l">
              <a:lnSpc>
                <a:spcPct val="115000"/>
              </a:lnSpc>
              <a:spcBef>
                <a:spcPts val="0"/>
              </a:spcBef>
              <a:spcAft>
                <a:spcPts val="0"/>
              </a:spcAft>
              <a:buClr>
                <a:schemeClr val="dk1"/>
              </a:buClr>
              <a:buSzPts val="1100"/>
              <a:buFont typeface="Arial"/>
              <a:buNone/>
            </a:pPr>
            <a:r>
              <a:rPr lang="zh-TW"/>
              <a:t>MPC_3 結合了 Process, File 和 Socket（通常這包含了下載惡意軟體並執行的行為）。</a:t>
            </a:r>
            <a:endParaRPr/>
          </a:p>
          <a:p>
            <a:pPr indent="0" lvl="0" marL="0" rtl="0" algn="l">
              <a:lnSpc>
                <a:spcPct val="115000"/>
              </a:lnSpc>
              <a:spcBef>
                <a:spcPts val="0"/>
              </a:spcBef>
              <a:spcAft>
                <a:spcPts val="0"/>
              </a:spcAft>
              <a:buClr>
                <a:schemeClr val="dk1"/>
              </a:buClr>
              <a:buSzPts val="1100"/>
              <a:buFont typeface="Arial"/>
              <a:buNone/>
            </a:pPr>
            <a:r>
              <a:rPr lang="zh-TW"/>
              <a:t>MPC_6 則是火力全開，包含所有元路徑。</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APT 攻擊從來不是單一維度的。如果模型只看行程與檔案如MPC_2，它可能抓得到勒索軟體，但絕對抓不到透過網路進行的 C&amp;C 橫向移動。</a:t>
            </a:r>
            <a:endParaRPr/>
          </a:p>
          <a:p>
            <a:pPr indent="0" lvl="0" marL="0" rtl="0" algn="l">
              <a:spcBef>
                <a:spcPts val="0"/>
              </a:spcBef>
              <a:spcAft>
                <a:spcPts val="0"/>
              </a:spcAft>
              <a:buNone/>
            </a:pPr>
            <a:r>
              <a:rPr lang="zh-TW"/>
              <a:t>這段消融實驗的設計，正是為了量化不同系統實體（File, Socket, Registry）在 APT 攻擊生命週期中所貢獻的語意價值。</a:t>
            </a:r>
            <a:endParaRPr/>
          </a:p>
          <a:p>
            <a:pPr indent="0" lvl="0" marL="0" rtl="0" algn="l">
              <a:spcBef>
                <a:spcPts val="0"/>
              </a:spcBef>
              <a:spcAft>
                <a:spcPts val="0"/>
              </a:spcAft>
              <a:buNone/>
            </a:pPr>
            <a:r>
              <a:rPr lang="zh-TW"/>
              <a:t>最終的數據證明，唯有融合所有元路徑的 MPC6，才能在異質圖中捕捉到最完整的攻擊</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c4a9e02c17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c4a9e02c17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Node一多成本會指數型提高</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c4a9e02c17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c4a9e02c17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Significant larger label space (對辨識攻擊而言，labeling很難)</a:t>
            </a:r>
            <a:endParaRPr/>
          </a:p>
          <a:p>
            <a:pPr indent="0" lvl="0" marL="0" rtl="0" algn="l">
              <a:spcBef>
                <a:spcPts val="0"/>
              </a:spcBef>
              <a:spcAft>
                <a:spcPts val="0"/>
              </a:spcAft>
              <a:buNone/>
            </a:pPr>
            <a:r>
              <a:rPr lang="zh-TW"/>
              <a:t>Subtle deviations(隱藏偏差，找不到攻擊)</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c4a9e02c17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c4a9e02c17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zh-TW">
                <a:solidFill>
                  <a:schemeClr val="dk1"/>
                </a:solidFill>
              </a:rPr>
              <a:t>技術力總結</a:t>
            </a:r>
            <a:r>
              <a:rPr lang="zh-TW">
                <a:solidFill>
                  <a:schemeClr val="dk1"/>
                </a:solidFill>
              </a:rPr>
              <a:t>：TREC 成功將異常偵測、圖形採樣、圖嵌入與距離度量學習完美融合，證明了「機器學習能在極少數訓練樣本下，碾壓傳統的規則式專家系統」。</a:t>
            </a:r>
            <a:br>
              <a:rPr lang="zh-TW">
                <a:solidFill>
                  <a:schemeClr val="dk1"/>
                </a:solidFill>
              </a:rPr>
            </a:br>
            <a:r>
              <a:rPr b="1" lang="zh-TW">
                <a:solidFill>
                  <a:schemeClr val="dk1"/>
                </a:solidFill>
              </a:rPr>
              <a:t>引入外部威脅情資 (CTI) 與專家知識</a:t>
            </a:r>
            <a:r>
              <a:rPr lang="zh-TW">
                <a:solidFill>
                  <a:schemeClr val="dk1"/>
                </a:solidFill>
              </a:rPr>
              <a:t>：目前的模型只看系統 Log，但真實世界的駭客知識大多存在於文字報告（CTI）或 IoC 黑名單中。未來應該要把這些知識跟機器學習融合。</a:t>
            </a:r>
            <a:br>
              <a:rPr lang="zh-TW">
                <a:solidFill>
                  <a:schemeClr val="dk1"/>
                </a:solidFill>
              </a:rPr>
            </a:br>
            <a:r>
              <a:rPr b="1" lang="zh-TW">
                <a:solidFill>
                  <a:schemeClr val="dk1"/>
                </a:solidFill>
              </a:rPr>
              <a:t>從「單一技術」走向「宏觀戰役 (Big Picture)」</a:t>
            </a:r>
            <a:r>
              <a:rPr lang="zh-TW">
                <a:solidFill>
                  <a:schemeClr val="dk1"/>
                </a:solidFill>
              </a:rPr>
              <a:t>：TREC 目前只做到了認出「單一個別的 APT 技術」，但 APT 是一場長期的戰役。未來的挑戰是如何利用這些辨識出的技術，去拼湊出整個 APT 攻擊的宏觀全貌。</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c4ebd4d7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c4ebd4d7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c4ebd4d7d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c4ebd4d7d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c4ebd4d7d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c4ebd4d7d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c4ebd4d7d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c4ebd4d7d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c4ebd4d7d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c4ebd4d7d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c4ebd4d7d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c4ebd4d7d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c4ebd4d7d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c4ebd4d7d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l.acm.org/doi/proceedings/10.1145/365864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arxiv.org/pdf/2006.01722" TargetMode="External"/><Relationship Id="rId4" Type="http://schemas.openxmlformats.org/officeDocument/2006/relationships/hyperlink" Target="https://arxiv.org/pdf/2006.01722" TargetMode="External"/><Relationship Id="rId9" Type="http://schemas.openxmlformats.org/officeDocument/2006/relationships/image" Target="../media/image5.png"/><Relationship Id="rId5" Type="http://schemas.openxmlformats.org/officeDocument/2006/relationships/hyperlink" Target="https://arxiv.org/pdf/2006.01722" TargetMode="External"/><Relationship Id="rId6" Type="http://schemas.openxmlformats.org/officeDocument/2006/relationships/hyperlink" Target="https://arxiv.org/pdf/2006.01722" TargetMode="External"/><Relationship Id="rId7" Type="http://schemas.openxmlformats.org/officeDocument/2006/relationships/hyperlink" Target="https://dl.acm.org/doi/epdf/10.1145/3539605" TargetMode="External"/><Relationship Id="rId8" Type="http://schemas.openxmlformats.org/officeDocument/2006/relationships/hyperlink" Target="https://dl.acm.org/doi/epdf/10.1145/353960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ieeexplore.ieee.org/document/9417210"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arxiv.org/pdf/2601.08328" TargetMode="External"/><Relationship Id="rId4" Type="http://schemas.openxmlformats.org/officeDocument/2006/relationships/hyperlink" Target="https://arxiv.org/abs/2111.04333" TargetMode="External"/><Relationship Id="rId5" Type="http://schemas.openxmlformats.org/officeDocument/2006/relationships/hyperlink" Target="https://users.cs.northwestern.edu/~ychen/Papers/CONAN_TDSC.pdf" TargetMode="External"/><Relationship Id="rId6" Type="http://schemas.openxmlformats.org/officeDocument/2006/relationships/hyperlink" Target="https://www.ndss-symposium.org/wp-content/uploads/2019/02/ndss2019_03B-1-3_UlHassan_paper.pdf" TargetMode="External"/><Relationship Id="rId7" Type="http://schemas.openxmlformats.org/officeDocument/2006/relationships/hyperlink" Target="https://www.usenix.org/system/files/conference/usenixsecurity17/sec17-hossain.pdf" TargetMode="External"/><Relationship Id="rId8" Type="http://schemas.openxmlformats.org/officeDocument/2006/relationships/hyperlink" Target="https://ieeexplore.ieee.org/stamp/stamp.jsp?tp=&amp;arnumber=883539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cs.google.com/presentation/d/1Ua7mpn-RgDVl6zq4hDh8R3d4et4VDJCPobqCyQvk_PI/edit?slide=id.p#slide=id.p"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usenix.org/system/files/tapp2019-paper-barre.pdf" TargetMode="External"/><Relationship Id="rId4" Type="http://schemas.openxmlformats.org/officeDocument/2006/relationships/hyperlink" Target="https://www.usenix.org/system/files/tapp2019-paper-barre.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ndss-symposium.org/wp-content/uploads/2020/02/24046-paper.pdf" TargetMode="External"/><Relationship Id="rId4" Type="http://schemas.openxmlformats.org/officeDocument/2006/relationships/hyperlink" Target="https://www.ndss-symposium.org/wp-content/uploads/2020/02/24046-paper.pdf" TargetMode="External"/><Relationship Id="rId5" Type="http://schemas.openxmlformats.org/officeDocument/2006/relationships/hyperlink" Target="https://www.ndss-symposium.org/wp-content/uploads/2019/02/ndss2019_03B-1-3_UlHassan_paper.pdf" TargetMode="External"/><Relationship Id="rId6" Type="http://schemas.openxmlformats.org/officeDocument/2006/relationships/hyperlink" Target="https://www.ndss-symposium.org/wp-content/uploads/2024-204-paper.pd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github.com/redcanaryco/atomic-red-team" TargetMode="External"/><Relationship Id="rId4" Type="http://schemas.openxmlformats.org/officeDocument/2006/relationships/hyperlink" Target="https://www.kellect.org/#/" TargetMode="External"/><Relationship Id="rId5" Type="http://schemas.openxmlformats.org/officeDocument/2006/relationships/image" Target="../media/image18.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arxiv.org/pdf/2207.11530" TargetMode="External"/><Relationship Id="rId4" Type="http://schemas.openxmlformats.org/officeDocument/2006/relationships/hyperlink" Target="https://www.kellect.org/#/kellect-4-aptdatase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arxiv.org/pdf/2207.11530" TargetMode="Externa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arxiv.org/pdf/2207.11530" TargetMode="External"/><Relationship Id="rId4" Type="http://schemas.openxmlformats.org/officeDocument/2006/relationships/image" Target="../media/image8.png"/><Relationship Id="rId5"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ieeexplore.ieee.org/document/4781136" TargetMode="External"/><Relationship Id="rId4" Type="http://schemas.openxmlformats.org/officeDocument/2006/relationships/image" Target="../media/image16.png"/><Relationship Id="rId5" Type="http://schemas.openxmlformats.org/officeDocument/2006/relationships/hyperlink" Target="https://lianxh.cn/news/70c082bb378cc.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arxiv.org/pdf/2111.04333" TargetMode="External"/><Relationship Id="rId4" Type="http://schemas.openxmlformats.org/officeDocument/2006/relationships/hyperlink" Target="https://arxiv.org/pdf/2111.04333" TargetMode="External"/><Relationship Id="rId5" Type="http://schemas.openxmlformats.org/officeDocument/2006/relationships/hyperlink" Target="https://arxiv.org/pdf/2111.04333" TargetMode="External"/><Relationship Id="rId6" Type="http://schemas.openxmlformats.org/officeDocument/2006/relationships/hyperlink" Target="https://arxiv.org/pdf/2111.04333"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dl.acm.org/doi/epdf/10.1145/3308558.3313562"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dl.acm.org/doi/epdf/10.1145/3097983.3098036" TargetMode="External"/><Relationship Id="rId4" Type="http://schemas.openxmlformats.org/officeDocument/2006/relationships/hyperlink" Target="https://dl.acm.org/doi/epdf/10.1145/3097983.3098036" TargetMode="External"/><Relationship Id="rId5" Type="http://schemas.openxmlformats.org/officeDocument/2006/relationships/hyperlink" Target="https://dl.acm.org/doi/epdf/10.1145/3097983.3098036" TargetMode="External"/><Relationship Id="rId6" Type="http://schemas.openxmlformats.org/officeDocument/2006/relationships/hyperlink" Target="https://dl.acm.org/doi/epdf/10.1145/3097983.3098036"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slide" Target="/ppt/slides/slide18.xml"/><Relationship Id="rId4" Type="http://schemas.openxmlformats.org/officeDocument/2006/relationships/hyperlink" Target="https://www.kellect.org/#/kellect-4-aptdataset"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2.png"/><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1.png"/><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0.png"/><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5.png"/><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sz="4200"/>
              <a:t>TREC: APT Tactic / Technique Recognition via Few-Shot Provenance Subgraph Learning</a:t>
            </a:r>
            <a:endParaRPr sz="4200"/>
          </a:p>
        </p:txBody>
      </p:sp>
      <p:sp>
        <p:nvSpPr>
          <p:cNvPr id="55" name="Google Shape;55;p13"/>
          <p:cNvSpPr txBox="1"/>
          <p:nvPr>
            <p:ph idx="1" type="subTitle"/>
          </p:nvPr>
        </p:nvSpPr>
        <p:spPr>
          <a:xfrm>
            <a:off x="311700" y="2834125"/>
            <a:ext cx="8520600" cy="8295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zh-TW"/>
              <a:t>Mingqi Lv¹,Hongzhe Gao¹,Xuebo Qiu¹,Tieming Chen¹,Tiantian Zhu¹,Jinyin Chen¹,Shouling Ji²</a:t>
            </a:r>
            <a:endParaRPr/>
          </a:p>
        </p:txBody>
      </p:sp>
      <p:sp>
        <p:nvSpPr>
          <p:cNvPr id="56" name="Google Shape;56;p13"/>
          <p:cNvSpPr txBox="1"/>
          <p:nvPr/>
        </p:nvSpPr>
        <p:spPr>
          <a:xfrm>
            <a:off x="1029000" y="3663675"/>
            <a:ext cx="7086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1.</a:t>
            </a:r>
            <a:r>
              <a:rPr lang="zh-TW"/>
              <a:t>College of Computer Science and Technology, Zhejiang University of Technology</a:t>
            </a:r>
            <a:endParaRPr/>
          </a:p>
          <a:p>
            <a:pPr indent="0" lvl="0" marL="0" rtl="0" algn="l">
              <a:spcBef>
                <a:spcPts val="0"/>
              </a:spcBef>
              <a:spcAft>
                <a:spcPts val="0"/>
              </a:spcAft>
              <a:buNone/>
            </a:pPr>
            <a:r>
              <a:rPr lang="zh-TW"/>
              <a:t>2.</a:t>
            </a:r>
            <a:r>
              <a:rPr lang="zh-TW"/>
              <a:t>College of Computer Science andTechnology, Zhejiang University</a:t>
            </a:r>
            <a:endParaRPr/>
          </a:p>
        </p:txBody>
      </p:sp>
      <p:sp>
        <p:nvSpPr>
          <p:cNvPr id="57" name="Google Shape;57;p13"/>
          <p:cNvSpPr txBox="1"/>
          <p:nvPr/>
        </p:nvSpPr>
        <p:spPr>
          <a:xfrm>
            <a:off x="0" y="4420200"/>
            <a:ext cx="67329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50" u="sng">
                <a:solidFill>
                  <a:schemeClr val="hlink"/>
                </a:solidFill>
                <a:highlight>
                  <a:srgbClr val="FFFFFF"/>
                </a:highlight>
                <a:hlinkClick r:id="rId3"/>
              </a:rPr>
              <a:t>CCS '24: Proceedings of the 2024 on ACM SIGSAC Conference on Computer and Communications Security</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Outline</a:t>
            </a:r>
            <a:endParaRPr/>
          </a:p>
        </p:txBody>
      </p:sp>
      <p:sp>
        <p:nvSpPr>
          <p:cNvPr id="63" name="Google Shape;63;p14"/>
          <p:cNvSpPr txBox="1"/>
          <p:nvPr>
            <p:ph idx="1" type="body"/>
          </p:nvPr>
        </p:nvSpPr>
        <p:spPr>
          <a:xfrm>
            <a:off x="-62496" y="1152475"/>
            <a:ext cx="4696200" cy="3790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Abstract</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Introduction</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Rule based discussion</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The scarcity of training samples</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The difficulty of fine-grained sample labeling</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The confusion of sample segmentation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Preliminary</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Definitions</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Threat Model</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DataCollection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Methodology</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NOI Detection and Subgraph Sampling</a:t>
            </a:r>
            <a:endParaRPr>
              <a:solidFill>
                <a:schemeClr val="dk1"/>
              </a:solidFill>
            </a:endParaRPr>
          </a:p>
        </p:txBody>
      </p:sp>
      <p:sp>
        <p:nvSpPr>
          <p:cNvPr id="64" name="Google Shape;64;p14"/>
          <p:cNvSpPr txBox="1"/>
          <p:nvPr>
            <p:ph idx="1" type="body"/>
          </p:nvPr>
        </p:nvSpPr>
        <p:spPr>
          <a:xfrm>
            <a:off x="4633700" y="1152475"/>
            <a:ext cx="4510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Technique Subgraph Representation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APT Technique Recognition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EXPERIMENT</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Discussion and Limitation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CONCLUSION AND FUTURE WORK</a:t>
            </a:r>
            <a:endParaRPr>
              <a:solidFill>
                <a:schemeClr val="dk1"/>
              </a:solidFill>
            </a:endParaRPr>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Abstract</a:t>
            </a:r>
            <a:endParaRPr/>
          </a:p>
        </p:txBody>
      </p:sp>
      <p:sp>
        <p:nvSpPr>
          <p:cNvPr id="71" name="Google Shape;71;p15"/>
          <p:cNvSpPr txBox="1"/>
          <p:nvPr>
            <p:ph idx="1" type="body"/>
          </p:nvPr>
        </p:nvSpPr>
        <p:spPr>
          <a:xfrm>
            <a:off x="311700" y="1152475"/>
            <a:ext cx="8658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APT (Advanced Persistent Threat) with the characteristics of persistence, stealth, and diversity is one of the greatest threats against cyber-infrastructure.</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understanding the tactics / techniques (e.g., Kill-Chain, ATT&amp;CK) applied to organize and accomplish the APT attack campaign is also important for security operations.</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Existing studies try to manually design a set of rules to map low-level system events to high-level APT tactics / techniques.</a:t>
            </a:r>
            <a:br>
              <a:rPr lang="zh-TW">
                <a:solidFill>
                  <a:schemeClr val="dk1"/>
                </a:solidFill>
              </a:rPr>
            </a:br>
            <a:r>
              <a:rPr lang="zh-TW">
                <a:solidFill>
                  <a:schemeClr val="dk1"/>
                </a:solidFill>
              </a:rPr>
              <a:t>But </a:t>
            </a:r>
            <a:r>
              <a:rPr lang="zh-TW">
                <a:solidFill>
                  <a:srgbClr val="FF0000"/>
                </a:solidFill>
                <a:highlight>
                  <a:srgbClr val="FFFF00"/>
                </a:highlight>
              </a:rPr>
              <a:t>coarse-grained and lack generalization ability.</a:t>
            </a:r>
            <a:endParaRPr>
              <a:solidFill>
                <a:srgbClr val="FF0000"/>
              </a:solidFill>
              <a:highlight>
                <a:srgbClr val="FFFF00"/>
              </a:highlight>
            </a:endParaRPr>
          </a:p>
        </p:txBody>
      </p:sp>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Abstract</a:t>
            </a:r>
            <a:endParaRPr/>
          </a:p>
        </p:txBody>
      </p:sp>
      <p:sp>
        <p:nvSpPr>
          <p:cNvPr id="78" name="Google Shape;78;p16"/>
          <p:cNvSpPr txBox="1"/>
          <p:nvPr>
            <p:ph idx="1" type="body"/>
          </p:nvPr>
        </p:nvSpPr>
        <p:spPr>
          <a:xfrm>
            <a:off x="311700" y="1152475"/>
            <a:ext cx="8658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zh-TW">
                <a:solidFill>
                  <a:schemeClr val="dk1"/>
                </a:solidFill>
              </a:rPr>
              <a:t>TREC, the first attempt to recognize </a:t>
            </a:r>
            <a:r>
              <a:rPr lang="zh-TW">
                <a:solidFill>
                  <a:schemeClr val="dk1"/>
                </a:solidFill>
                <a:highlight>
                  <a:schemeClr val="accent6"/>
                </a:highlight>
              </a:rPr>
              <a:t>APT tactics / techniques from provenance graphs</a:t>
            </a:r>
            <a:r>
              <a:rPr lang="zh-TW">
                <a:solidFill>
                  <a:schemeClr val="dk1"/>
                </a:solidFill>
              </a:rPr>
              <a:t> by exploiting deep learning techniques.</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To address the “needle in a haystack” problem, TREC segments small and compact subgraphs covering individual APT technique instances from a large provenance graph based on a</a:t>
            </a:r>
            <a:r>
              <a:rPr lang="zh-TW">
                <a:solidFill>
                  <a:schemeClr val="dk1"/>
                </a:solidFill>
                <a:highlight>
                  <a:schemeClr val="accent6"/>
                </a:highlight>
              </a:rPr>
              <a:t> malicious node detection model and a subgraph sampling algorithm</a:t>
            </a:r>
            <a:br>
              <a:rPr lang="zh-TW">
                <a:solidFill>
                  <a:schemeClr val="dk1"/>
                </a:solidFill>
                <a:highlight>
                  <a:schemeClr val="accent6"/>
                </a:highlight>
              </a:rPr>
            </a:br>
            <a:endParaRPr>
              <a:solidFill>
                <a:schemeClr val="dk1"/>
              </a:solidFill>
              <a:highlight>
                <a:schemeClr val="accent6"/>
              </a:highlight>
            </a:endParaRPr>
          </a:p>
          <a:p>
            <a:pPr indent="-342900" lvl="0" marL="457200" rtl="0" algn="l">
              <a:spcBef>
                <a:spcPts val="0"/>
              </a:spcBef>
              <a:spcAft>
                <a:spcPts val="0"/>
              </a:spcAft>
              <a:buClr>
                <a:schemeClr val="dk1"/>
              </a:buClr>
              <a:buSzPts val="1800"/>
              <a:buChar char="●"/>
            </a:pPr>
            <a:r>
              <a:rPr lang="zh-TW">
                <a:solidFill>
                  <a:schemeClr val="dk1"/>
                </a:solidFill>
              </a:rPr>
              <a:t>To address the “training sample scarcity” problem, TREC trains the APT tactic / technique recognition model in a </a:t>
            </a:r>
            <a:r>
              <a:rPr lang="zh-TW">
                <a:solidFill>
                  <a:schemeClr val="dk1"/>
                </a:solidFill>
                <a:highlight>
                  <a:schemeClr val="accent6"/>
                </a:highlight>
              </a:rPr>
              <a:t>few-shot learning</a:t>
            </a:r>
            <a:r>
              <a:rPr lang="zh-TW">
                <a:solidFill>
                  <a:schemeClr val="dk1"/>
                </a:solidFill>
              </a:rPr>
              <a:t> manner by adopting a Siamese neural network.</a:t>
            </a:r>
            <a:endParaRPr>
              <a:solidFill>
                <a:schemeClr val="dk1"/>
              </a:solidFill>
            </a:endParaRPr>
          </a:p>
        </p:txBody>
      </p:sp>
      <p:sp>
        <p:nvSpPr>
          <p:cNvPr id="79" name="Google Shape;7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a:t>
            </a:r>
            <a:endParaRPr/>
          </a:p>
        </p:txBody>
      </p:sp>
      <p:sp>
        <p:nvSpPr>
          <p:cNvPr id="85" name="Google Shape;85;p17"/>
          <p:cNvSpPr txBox="1"/>
          <p:nvPr>
            <p:ph idx="1" type="body"/>
          </p:nvPr>
        </p:nvSpPr>
        <p:spPr>
          <a:xfrm>
            <a:off x="311700" y="8857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To effectively detect the complex APT attacks, the detection systems should capture the </a:t>
            </a:r>
            <a:r>
              <a:rPr lang="zh-TW">
                <a:solidFill>
                  <a:schemeClr val="dk1"/>
                </a:solidFill>
                <a:highlight>
                  <a:schemeClr val="accent6"/>
                </a:highlight>
              </a:rPr>
              <a:t>long-term casual</a:t>
            </a:r>
            <a:r>
              <a:rPr lang="zh-TW">
                <a:solidFill>
                  <a:schemeClr val="dk1"/>
                </a:solidFill>
              </a:rPr>
              <a:t> and </a:t>
            </a:r>
            <a:r>
              <a:rPr lang="zh-TW">
                <a:solidFill>
                  <a:schemeClr val="dk1"/>
                </a:solidFill>
                <a:highlight>
                  <a:schemeClr val="accent6"/>
                </a:highlight>
              </a:rPr>
              <a:t>co</a:t>
            </a:r>
            <a:r>
              <a:rPr lang="zh-TW">
                <a:solidFill>
                  <a:schemeClr val="dk1"/>
                </a:solidFill>
                <a:highlight>
                  <a:schemeClr val="accent6"/>
                </a:highlight>
              </a:rPr>
              <a:t>n</a:t>
            </a:r>
            <a:r>
              <a:rPr lang="zh-TW">
                <a:solidFill>
                  <a:schemeClr val="dk1"/>
                </a:solidFill>
                <a:highlight>
                  <a:schemeClr val="accent6"/>
                </a:highlight>
              </a:rPr>
              <a:t>textual information</a:t>
            </a:r>
            <a:r>
              <a:rPr lang="zh-TW">
                <a:solidFill>
                  <a:schemeClr val="dk1"/>
                </a:solidFill>
              </a:rPr>
              <a:t> of the fine-grained behaviors of the hosts.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Therefore, recent studies utilize provenance data collected from low-level kernel audit logs for APT detection [18, 39].</a:t>
            </a:r>
            <a:br>
              <a:rPr lang="zh-TW">
                <a:solidFill>
                  <a:schemeClr val="dk1"/>
                </a:solidFill>
              </a:rPr>
            </a:br>
            <a:r>
              <a:rPr lang="zh-TW">
                <a:solidFill>
                  <a:schemeClr val="dk1"/>
                </a:solidFill>
              </a:rPr>
              <a:t>The provenance data can be represented as an acyclic graph (called a provenance graph).</a:t>
            </a:r>
            <a:endParaRPr>
              <a:solidFill>
                <a:schemeClr val="dk1"/>
              </a:solidFill>
            </a:endParaRPr>
          </a:p>
          <a:p>
            <a:pPr indent="0" lvl="0" marL="457200" rtl="0" algn="l">
              <a:spcBef>
                <a:spcPts val="1200"/>
              </a:spcBef>
              <a:spcAft>
                <a:spcPts val="1200"/>
              </a:spcAft>
              <a:buNone/>
            </a:pPr>
            <a:r>
              <a:rPr lang="zh-TW">
                <a:solidFill>
                  <a:schemeClr val="dk1"/>
                </a:solidFill>
              </a:rPr>
              <a:t>nodes stand for system entities (e.g., processes, files, sockets)</a:t>
            </a:r>
            <a:br>
              <a:rPr lang="zh-TW">
                <a:solidFill>
                  <a:schemeClr val="dk1"/>
                </a:solidFill>
              </a:rPr>
            </a:br>
            <a:r>
              <a:rPr lang="zh-TW">
                <a:solidFill>
                  <a:schemeClr val="dk1"/>
                </a:solidFill>
              </a:rPr>
              <a:t>edges stand for system events (e.g., fork, write, open)</a:t>
            </a:r>
            <a:endParaRPr>
              <a:solidFill>
                <a:schemeClr val="dk1"/>
              </a:solidFill>
            </a:endParaRPr>
          </a:p>
        </p:txBody>
      </p:sp>
      <p:sp>
        <p:nvSpPr>
          <p:cNvPr id="86" name="Google Shape;86;p17"/>
          <p:cNvSpPr txBox="1"/>
          <p:nvPr/>
        </p:nvSpPr>
        <p:spPr>
          <a:xfrm>
            <a:off x="0" y="4205275"/>
            <a:ext cx="9663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u="sng">
                <a:solidFill>
                  <a:schemeClr val="hlink"/>
                </a:solidFill>
                <a:hlinkClick r:id="rId3"/>
              </a:rPr>
              <a:t>[18] </a:t>
            </a:r>
            <a:r>
              <a:rPr lang="zh-TW" sz="1200" u="sng">
                <a:solidFill>
                  <a:schemeClr val="hlink"/>
                </a:solidFill>
                <a:hlinkClick r:id="rId4"/>
              </a:rPr>
              <a:t>Zhenyuan Li, Qi Alfred Chen, Runqing Yang, Yan Chen, and Wei Ruan. 2021.</a:t>
            </a:r>
            <a:r>
              <a:rPr lang="zh-TW" sz="1200" u="sng">
                <a:solidFill>
                  <a:schemeClr val="hlink"/>
                </a:solidFill>
                <a:hlinkClick r:id="rId5"/>
              </a:rPr>
              <a:t> </a:t>
            </a:r>
            <a:r>
              <a:rPr lang="zh-TW" sz="1200" u="sng">
                <a:solidFill>
                  <a:schemeClr val="hlink"/>
                </a:solidFill>
                <a:hlinkClick r:id="rId6"/>
              </a:rPr>
              <a:t>Threat detection and investigation with system-level provenance graphs: a survey.</a:t>
            </a:r>
            <a:endParaRPr sz="1200"/>
          </a:p>
        </p:txBody>
      </p:sp>
      <p:sp>
        <p:nvSpPr>
          <p:cNvPr id="87" name="Google Shape;87;p17"/>
          <p:cNvSpPr txBox="1"/>
          <p:nvPr/>
        </p:nvSpPr>
        <p:spPr>
          <a:xfrm>
            <a:off x="0" y="4568875"/>
            <a:ext cx="9144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u="sng">
                <a:solidFill>
                  <a:schemeClr val="hlink"/>
                </a:solidFill>
                <a:hlinkClick r:id="rId7"/>
              </a:rPr>
              <a:t>[39] </a:t>
            </a:r>
            <a:r>
              <a:rPr lang="zh-TW" sz="1200" u="sng">
                <a:solidFill>
                  <a:schemeClr val="hlink"/>
                </a:solidFill>
                <a:hlinkClick r:id="rId8"/>
              </a:rPr>
              <a:t>Michael Zipperle, Florian Gottwalt, Elizabeth Chang, and Tharam Dillon. 2022. Provenance-based intrusion detection systems: A survey. Comput. Surveys 55, 7 (2022), 1–36.</a:t>
            </a:r>
            <a:endParaRPr sz="1200"/>
          </a:p>
        </p:txBody>
      </p:sp>
      <p:pic>
        <p:nvPicPr>
          <p:cNvPr id="88" name="Google Shape;88;p17"/>
          <p:cNvPicPr preferRelativeResize="0"/>
          <p:nvPr/>
        </p:nvPicPr>
        <p:blipFill>
          <a:blip r:embed="rId9">
            <a:alphaModFix/>
          </a:blip>
          <a:stretch>
            <a:fillRect/>
          </a:stretch>
        </p:blipFill>
        <p:spPr>
          <a:xfrm>
            <a:off x="7275400" y="2947975"/>
            <a:ext cx="1747398" cy="1257301"/>
          </a:xfrm>
          <a:prstGeom prst="rect">
            <a:avLst/>
          </a:prstGeom>
          <a:noFill/>
          <a:ln cap="flat" cmpd="sng" w="9525">
            <a:solidFill>
              <a:schemeClr val="dk2"/>
            </a:solidFill>
            <a:prstDash val="solid"/>
            <a:round/>
            <a:headEnd len="sm" w="sm" type="none"/>
            <a:tailEnd len="sm" w="sm" type="none"/>
          </a:ln>
        </p:spPr>
      </p:pic>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a:t>
            </a:r>
            <a:endParaRPr/>
          </a:p>
        </p:txBody>
      </p:sp>
      <p:sp>
        <p:nvSpPr>
          <p:cNvPr id="95" name="Google Shape;95;p18"/>
          <p:cNvSpPr txBox="1"/>
          <p:nvPr>
            <p:ph idx="1" type="body"/>
          </p:nvPr>
        </p:nvSpPr>
        <p:spPr>
          <a:xfrm>
            <a:off x="311700" y="885775"/>
            <a:ext cx="42603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zh-TW">
                <a:solidFill>
                  <a:schemeClr val="dk1"/>
                </a:solidFill>
              </a:rPr>
              <a:t>Due to the persistence of APT attacks, the provenance graphs can be extremely large and complex. Even a single host can generate tens of millions of system events per day [37].</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existing studies try to map the system events in raw provenance graphs to APT tactics / techniques based on attack knowledge such as </a:t>
            </a:r>
            <a:r>
              <a:rPr lang="zh-TW">
                <a:solidFill>
                  <a:schemeClr val="dk1"/>
                </a:solidFill>
                <a:highlight>
                  <a:schemeClr val="accent6"/>
                </a:highlight>
              </a:rPr>
              <a:t>Kill Chain and ATT&amp;CK.</a:t>
            </a:r>
            <a:endParaRPr>
              <a:solidFill>
                <a:schemeClr val="dk1"/>
              </a:solidFill>
              <a:highlight>
                <a:schemeClr val="accent6"/>
              </a:highlight>
            </a:endParaRPr>
          </a:p>
        </p:txBody>
      </p:sp>
      <p:sp>
        <p:nvSpPr>
          <p:cNvPr id="96" name="Google Shape;96;p18"/>
          <p:cNvSpPr txBox="1"/>
          <p:nvPr/>
        </p:nvSpPr>
        <p:spPr>
          <a:xfrm>
            <a:off x="0" y="4521250"/>
            <a:ext cx="9144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u="sng">
                <a:solidFill>
                  <a:schemeClr val="hlink"/>
                </a:solidFill>
                <a:hlinkClick r:id="rId3"/>
              </a:rPr>
              <a:t>[37] TiantianZhu,JiayuWang,LinqiRuan,ChunlinXiong,JinkaiYu,YaoshengLi,Yan Chen, Mingqi Lv, and Tieming Chen. 2021. General, efficient, and real-time data compaction strategy for apt forensic analysis.</a:t>
            </a:r>
            <a:r>
              <a:rPr lang="zh-TW" sz="1200"/>
              <a:t> </a:t>
            </a:r>
            <a:r>
              <a:rPr lang="zh-TW" sz="1000"/>
              <a:t>(IEEE Transactions on Information Forensics and Security)</a:t>
            </a:r>
            <a:endParaRPr sz="1000"/>
          </a:p>
        </p:txBody>
      </p:sp>
      <p:pic>
        <p:nvPicPr>
          <p:cNvPr id="97" name="Google Shape;97;p18"/>
          <p:cNvPicPr preferRelativeResize="0"/>
          <p:nvPr/>
        </p:nvPicPr>
        <p:blipFill>
          <a:blip r:embed="rId4">
            <a:alphaModFix/>
          </a:blip>
          <a:stretch>
            <a:fillRect/>
          </a:stretch>
        </p:blipFill>
        <p:spPr>
          <a:xfrm>
            <a:off x="4673701" y="197775"/>
            <a:ext cx="4158601" cy="4371100"/>
          </a:xfrm>
          <a:prstGeom prst="rect">
            <a:avLst/>
          </a:prstGeom>
          <a:noFill/>
          <a:ln cap="flat" cmpd="sng" w="9525">
            <a:solidFill>
              <a:schemeClr val="dk2"/>
            </a:solidFill>
            <a:prstDash val="solid"/>
            <a:round/>
            <a:headEnd len="sm" w="sm" type="none"/>
            <a:tailEnd len="sm" w="sm" type="none"/>
          </a:ln>
        </p:spPr>
      </p:pic>
      <p:sp>
        <p:nvSpPr>
          <p:cNvPr id="98" name="Google Shape;9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445025"/>
            <a:ext cx="2062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a:t>
            </a:r>
            <a:endParaRPr/>
          </a:p>
        </p:txBody>
      </p:sp>
      <p:sp>
        <p:nvSpPr>
          <p:cNvPr id="104" name="Google Shape;104;p19"/>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The majority of existing work detects APT attacks based on </a:t>
            </a:r>
            <a:r>
              <a:rPr lang="zh-TW">
                <a:solidFill>
                  <a:schemeClr val="dk1"/>
                </a:solidFill>
                <a:highlight>
                  <a:schemeClr val="accent6"/>
                </a:highlight>
              </a:rPr>
              <a:t>binary classification</a:t>
            </a:r>
            <a:r>
              <a:rPr lang="zh-TW">
                <a:solidFill>
                  <a:schemeClr val="dk1"/>
                </a:solidFill>
              </a:rPr>
              <a:t> </a:t>
            </a:r>
            <a:r>
              <a:rPr lang="zh-TW">
                <a:solidFill>
                  <a:schemeClr val="dk1"/>
                </a:solidFill>
              </a:rPr>
              <a:t>[5, 29, 31]</a:t>
            </a:r>
            <a:r>
              <a:rPr lang="zh-TW">
                <a:solidFill>
                  <a:schemeClr val="dk1"/>
                </a:solidFill>
              </a:rPr>
              <a:t>. Without pinpointing the detailed APT tactics / techniques, it would make cybersecurity analysts suffer from discovering true APT attacks among an enormous number of alerts [12].</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Aiming at this problem, several existing studies try to recognize APT tactics / techniques in raw provenance graphs using </a:t>
            </a:r>
            <a:r>
              <a:rPr lang="zh-TW">
                <a:solidFill>
                  <a:schemeClr val="dk1"/>
                </a:solidFill>
                <a:highlight>
                  <a:schemeClr val="accent6"/>
                </a:highlight>
              </a:rPr>
              <a:t>rule based methods</a:t>
            </a:r>
            <a:r>
              <a:rPr lang="zh-TW">
                <a:solidFill>
                  <a:schemeClr val="dk1"/>
                </a:solidFill>
              </a:rPr>
              <a:t> [13, 24, 31], where a predefined rule data base is applied to map each system event to a specific APT tactic / technique.</a:t>
            </a:r>
            <a:endParaRPr>
              <a:solidFill>
                <a:schemeClr val="dk1"/>
              </a:solidFill>
            </a:endParaRPr>
          </a:p>
        </p:txBody>
      </p:sp>
      <p:sp>
        <p:nvSpPr>
          <p:cNvPr id="105" name="Google Shape;105;p19"/>
          <p:cNvSpPr txBox="1"/>
          <p:nvPr/>
        </p:nvSpPr>
        <p:spPr>
          <a:xfrm>
            <a:off x="84750" y="3895166"/>
            <a:ext cx="89745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u="sng">
                <a:solidFill>
                  <a:schemeClr val="hlink"/>
                </a:solidFill>
                <a:hlinkClick r:id="rId3"/>
              </a:rPr>
              <a:t>[5] APT-KGL: An Intelligent APT Detection System Based on Threat Knowledge and Heterogeneous Provenance Graph Learning.</a:t>
            </a:r>
            <a:endParaRPr sz="1200"/>
          </a:p>
          <a:p>
            <a:pPr indent="0" lvl="0" marL="0" rtl="0" algn="l">
              <a:spcBef>
                <a:spcPts val="0"/>
              </a:spcBef>
              <a:spcAft>
                <a:spcPts val="0"/>
              </a:spcAft>
              <a:buNone/>
            </a:pPr>
            <a:r>
              <a:rPr lang="zh-TW" sz="1200" u="sng">
                <a:solidFill>
                  <a:schemeClr val="hlink"/>
                </a:solidFill>
                <a:hlinkClick r:id="rId4"/>
              </a:rPr>
              <a:t>[29] Threa trace:Detecting and tracing host based threats in node level through provenance graph learning.</a:t>
            </a:r>
            <a:endParaRPr sz="1200"/>
          </a:p>
          <a:p>
            <a:pPr indent="0" lvl="0" marL="0" rtl="0" algn="l">
              <a:spcBef>
                <a:spcPts val="0"/>
              </a:spcBef>
              <a:spcAft>
                <a:spcPts val="0"/>
              </a:spcAft>
              <a:buNone/>
            </a:pPr>
            <a:r>
              <a:rPr lang="zh-TW" sz="1200" u="sng">
                <a:solidFill>
                  <a:schemeClr val="hlink"/>
                </a:solidFill>
                <a:hlinkClick r:id="rId5"/>
              </a:rPr>
              <a:t>[31] CONAN:A practical real time APT detection system with high accuracy and efficiency</a:t>
            </a:r>
            <a:endParaRPr sz="1200"/>
          </a:p>
          <a:p>
            <a:pPr indent="0" lvl="0" marL="0" rtl="0" algn="l">
              <a:spcBef>
                <a:spcPts val="0"/>
              </a:spcBef>
              <a:spcAft>
                <a:spcPts val="0"/>
              </a:spcAft>
              <a:buNone/>
            </a:pPr>
            <a:r>
              <a:rPr lang="zh-TW" sz="1200" u="sng">
                <a:solidFill>
                  <a:schemeClr val="hlink"/>
                </a:solidFill>
                <a:hlinkClick r:id="rId6"/>
              </a:rPr>
              <a:t>[12] Nodoze: Combatting threat alert fatigue with automated provenance triage.</a:t>
            </a:r>
            <a:endParaRPr sz="1200"/>
          </a:p>
          <a:p>
            <a:pPr indent="0" lvl="0" marL="0" rtl="0" algn="l">
              <a:spcBef>
                <a:spcPts val="0"/>
              </a:spcBef>
              <a:spcAft>
                <a:spcPts val="0"/>
              </a:spcAft>
              <a:buNone/>
            </a:pPr>
            <a:r>
              <a:rPr lang="zh-TW" sz="1200" u="sng">
                <a:solidFill>
                  <a:schemeClr val="hlink"/>
                </a:solidFill>
                <a:hlinkClick r:id="rId7"/>
              </a:rPr>
              <a:t>[13] {SLEUTH}:Real-time attack scenario reconstruction from {COTS} auditdata.</a:t>
            </a:r>
            <a:endParaRPr sz="1200"/>
          </a:p>
          <a:p>
            <a:pPr indent="0" lvl="0" marL="0" rtl="0" algn="l">
              <a:spcBef>
                <a:spcPts val="0"/>
              </a:spcBef>
              <a:spcAft>
                <a:spcPts val="0"/>
              </a:spcAft>
              <a:buNone/>
            </a:pPr>
            <a:r>
              <a:rPr lang="zh-TW" sz="1200" u="sng">
                <a:solidFill>
                  <a:schemeClr val="hlink"/>
                </a:solidFill>
                <a:hlinkClick r:id="rId8"/>
              </a:rPr>
              <a:t>[24] Holmes: real-time apt detection through correlation of suspicious information flows.</a:t>
            </a:r>
            <a:endParaRPr sz="1200"/>
          </a:p>
        </p:txBody>
      </p:sp>
      <p:sp>
        <p:nvSpPr>
          <p:cNvPr id="106" name="Google Shape;10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Introduction - Rule based discussion</a:t>
            </a:r>
            <a:endParaRPr/>
          </a:p>
        </p:txBody>
      </p:sp>
      <p:sp>
        <p:nvSpPr>
          <p:cNvPr id="112" name="Google Shape;11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zh-TW">
                <a:solidFill>
                  <a:schemeClr val="dk1"/>
                </a:solidFill>
              </a:rPr>
              <a:t>First, the human defined rules are arbitrary and can only represent the </a:t>
            </a:r>
            <a:r>
              <a:rPr lang="zh-TW">
                <a:solidFill>
                  <a:schemeClr val="dk1"/>
                </a:solidFill>
                <a:highlight>
                  <a:schemeClr val="accent6"/>
                </a:highlight>
              </a:rPr>
              <a:t>superficial patterns</a:t>
            </a:r>
            <a:r>
              <a:rPr lang="zh-TW">
                <a:solidFill>
                  <a:schemeClr val="dk1"/>
                </a:solidFill>
              </a:rPr>
              <a:t> of APT tactics / techniques, which can be easily confused with specific benign activities.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Therefore, the rule based methods would usually cause a </a:t>
            </a:r>
            <a:r>
              <a:rPr lang="zh-TW">
                <a:solidFill>
                  <a:schemeClr val="dk1"/>
                </a:solidFill>
                <a:highlight>
                  <a:schemeClr val="accent6"/>
                </a:highlight>
              </a:rPr>
              <a:t>high degree of false alarms</a:t>
            </a:r>
            <a:r>
              <a:rPr lang="zh-TW">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Second, the rules are often defined </a:t>
            </a:r>
            <a:r>
              <a:rPr lang="zh-TW">
                <a:solidFill>
                  <a:schemeClr val="dk1"/>
                </a:solidFill>
                <a:highlight>
                  <a:schemeClr val="accent6"/>
                </a:highlight>
              </a:rPr>
              <a:t>based on hard knowledge</a:t>
            </a:r>
            <a:r>
              <a:rPr lang="zh-TW">
                <a:solidFill>
                  <a:schemeClr val="dk1"/>
                </a:solidFill>
              </a:rPr>
              <a:t> (e.g., whitelists, blacklists), which is difficult to generalize to new or mutant attacks.</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On the other hand, learning based methods (i.e., machine learning and deep learning) are capable of discovering latent patterns from raw data in an automatic way.</a:t>
            </a:r>
            <a:endParaRPr>
              <a:solidFill>
                <a:schemeClr val="dk1"/>
              </a:solidFill>
            </a:endParaRPr>
          </a:p>
        </p:txBody>
      </p:sp>
      <p:sp>
        <p:nvSpPr>
          <p:cNvPr id="113" name="Google Shape;11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 - The scarcity of training samples (C1)</a:t>
            </a:r>
            <a:endParaRPr/>
          </a:p>
        </p:txBody>
      </p:sp>
      <p:sp>
        <p:nvSpPr>
          <p:cNvPr id="119" name="Google Shape;11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APT attacks are extremely rare events, and thus it is almost impossible to collect a large number of real APT attack samples.</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There are hundreds and thousands of APT techniques. For example, the current version of ATT&amp;CK Matrix involves 227 APT techniques, some of which have more sub-techniques.</a:t>
            </a:r>
            <a:br>
              <a:rPr lang="zh-TW">
                <a:solidFill>
                  <a:schemeClr val="dk1"/>
                </a:solidFill>
              </a:rPr>
            </a:b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120" name="Google Shape;120;p21"/>
          <p:cNvSpPr txBox="1"/>
          <p:nvPr/>
        </p:nvSpPr>
        <p:spPr>
          <a:xfrm>
            <a:off x="1146000" y="4568875"/>
            <a:ext cx="6852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800">
                <a:solidFill>
                  <a:schemeClr val="dk2"/>
                </a:solidFill>
              </a:rPr>
              <a:t>以上環境解釋了為甚麼他們要使用few-shot learning 去做學習。</a:t>
            </a:r>
            <a:endParaRPr>
              <a:solidFill>
                <a:schemeClr val="dk2"/>
              </a:solidFill>
            </a:endParaRPr>
          </a:p>
        </p:txBody>
      </p:sp>
      <p:sp>
        <p:nvSpPr>
          <p:cNvPr id="121" name="Google Shape;12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102923" y="445025"/>
            <a:ext cx="914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 - The difficulty of fine-grained sample labeling (C2)</a:t>
            </a:r>
            <a:endParaRPr/>
          </a:p>
          <a:p>
            <a:pPr indent="0" lvl="0" marL="0" rtl="0" algn="l">
              <a:spcBef>
                <a:spcPts val="0"/>
              </a:spcBef>
              <a:spcAft>
                <a:spcPts val="0"/>
              </a:spcAft>
              <a:buNone/>
            </a:pPr>
            <a:r>
              <a:t/>
            </a:r>
            <a:endParaRPr/>
          </a:p>
        </p:txBody>
      </p:sp>
      <p:sp>
        <p:nvSpPr>
          <p:cNvPr id="127" name="Google Shape;12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APT attacks are stealthy, so the malicious activities of APT attacks are usually hidden in tens of thousands of system entities in a provenance graph.</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In addition, the APT attacks often conceal their malicious activities in normal system entities (e.g., process injection,file contamination).</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As a result, it is like looking for needles in a haystack to perform a binary benign / malicious labeling on all nodes in a provenance graph, let alone performing a multi-class APT tactic / technique labeling.</a:t>
            </a:r>
            <a:endParaRPr>
              <a:solidFill>
                <a:schemeClr val="dk1"/>
              </a:solidFill>
            </a:endParaRPr>
          </a:p>
        </p:txBody>
      </p:sp>
      <p:sp>
        <p:nvSpPr>
          <p:cNvPr id="128" name="Google Shape;128;p22"/>
          <p:cNvSpPr txBox="1"/>
          <p:nvPr/>
        </p:nvSpPr>
        <p:spPr>
          <a:xfrm>
            <a:off x="801900" y="4568875"/>
            <a:ext cx="7540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u="sng">
                <a:solidFill>
                  <a:schemeClr val="hlink"/>
                </a:solidFill>
                <a:hlinkClick r:id="rId3"/>
              </a:rPr>
              <a:t>Slot: Provenance-Driven APT Detection through Graph Reinforcement Learning - Google 簡報</a:t>
            </a:r>
            <a:endParaRPr sz="1200"/>
          </a:p>
        </p:txBody>
      </p:sp>
      <p:sp>
        <p:nvSpPr>
          <p:cNvPr id="129" name="Google Shape;129;p22"/>
          <p:cNvSpPr txBox="1"/>
          <p:nvPr/>
        </p:nvSpPr>
        <p:spPr>
          <a:xfrm>
            <a:off x="51325" y="4137775"/>
            <a:ext cx="9247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600">
                <a:solidFill>
                  <a:schemeClr val="dk2"/>
                </a:solidFill>
              </a:rPr>
              <a:t>學習「正常系統行為模式」。只要揪出行為嚴重偏離常態的節點，就能鎖定潛在惡意節點（NOIs）。</a:t>
            </a:r>
            <a:endParaRPr sz="1600">
              <a:solidFill>
                <a:schemeClr val="dk2"/>
              </a:solidFill>
            </a:endParaRPr>
          </a:p>
        </p:txBody>
      </p:sp>
      <p:sp>
        <p:nvSpPr>
          <p:cNvPr id="130" name="Google Shape;13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102923" y="445025"/>
            <a:ext cx="914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 - </a:t>
            </a:r>
            <a:r>
              <a:rPr lang="zh-TW"/>
              <a:t>The confusion of sample segmentation(C3)</a:t>
            </a:r>
            <a:endParaRPr/>
          </a:p>
          <a:p>
            <a:pPr indent="0" lvl="0" marL="0" rtl="0" algn="l">
              <a:spcBef>
                <a:spcPts val="0"/>
              </a:spcBef>
              <a:spcAft>
                <a:spcPts val="0"/>
              </a:spcAft>
              <a:buNone/>
            </a:pPr>
            <a:r>
              <a:t/>
            </a:r>
            <a:endParaRPr/>
          </a:p>
        </p:txBody>
      </p:sp>
      <p:sp>
        <p:nvSpPr>
          <p:cNvPr id="136" name="Google Shape;136;p23"/>
          <p:cNvSpPr txBox="1"/>
          <p:nvPr>
            <p:ph idx="1" type="body"/>
          </p:nvPr>
        </p:nvSpPr>
        <p:spPr>
          <a:xfrm>
            <a:off x="311700" y="1152475"/>
            <a:ext cx="8520600" cy="2851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the malicious operations and the associated system entities of an APT technique instance can be </a:t>
            </a:r>
            <a:r>
              <a:rPr lang="zh-TW">
                <a:solidFill>
                  <a:schemeClr val="dk1"/>
                </a:solidFill>
                <a:highlight>
                  <a:schemeClr val="accent6"/>
                </a:highlight>
              </a:rPr>
              <a:t>mixed up with massive other benign system entities and system events</a:t>
            </a:r>
            <a:r>
              <a:rPr lang="zh-TW">
                <a:solidFill>
                  <a:schemeClr val="dk1"/>
                </a:solidFill>
              </a:rPr>
              <a:t>.</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and thus it is extremely difficult to determine the boundary of the subgraphs representing the APT technique instances.</a:t>
            </a:r>
            <a:endParaRPr>
              <a:solidFill>
                <a:schemeClr val="dk1"/>
              </a:solidFill>
            </a:endParaRPr>
          </a:p>
        </p:txBody>
      </p:sp>
      <p:sp>
        <p:nvSpPr>
          <p:cNvPr id="137" name="Google Shape;137;p23"/>
          <p:cNvSpPr txBox="1"/>
          <p:nvPr/>
        </p:nvSpPr>
        <p:spPr>
          <a:xfrm>
            <a:off x="1212450" y="4505050"/>
            <a:ext cx="6719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600">
                <a:solidFill>
                  <a:schemeClr val="dk2"/>
                </a:solidFill>
              </a:rPr>
              <a:t>說明了為甚麼要使用:subgraph sampling algorithm (</a:t>
            </a:r>
            <a:r>
              <a:rPr lang="zh-TW" sz="1600">
                <a:solidFill>
                  <a:schemeClr val="dk2"/>
                </a:solidFill>
              </a:rPr>
              <a:t>子圖採樣演算法</a:t>
            </a:r>
            <a:r>
              <a:rPr lang="zh-TW" sz="1600">
                <a:solidFill>
                  <a:schemeClr val="dk2"/>
                </a:solidFill>
              </a:rPr>
              <a:t>)</a:t>
            </a:r>
            <a:endParaRPr sz="1600">
              <a:solidFill>
                <a:schemeClr val="dk2"/>
              </a:solidFill>
            </a:endParaRPr>
          </a:p>
        </p:txBody>
      </p:sp>
      <p:sp>
        <p:nvSpPr>
          <p:cNvPr id="138" name="Google Shape;13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Definitions 2.1</a:t>
            </a:r>
            <a:endParaRPr/>
          </a:p>
        </p:txBody>
      </p:sp>
      <p:sp>
        <p:nvSpPr>
          <p:cNvPr id="144" name="Google Shape;14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Definition 2.1. (Provenance Graph): A provenance graph is defined as 𝑃𝐺 = (𝑉,𝐸),where the node set 𝑉 represents all system entities and the edge set 𝐸 represents all system events. Each edge 𝑒 = (𝑢,𝑣,𝑝) denotes that system entity 𝑢 (called subject) performs operation 𝑝 on system entity 𝑣 (called object).</a:t>
            </a:r>
            <a:br>
              <a:rPr lang="zh-TW">
                <a:solidFill>
                  <a:schemeClr val="dk1"/>
                </a:solidFill>
              </a:rPr>
            </a:br>
            <a:endParaRPr>
              <a:solidFill>
                <a:schemeClr val="dk1"/>
              </a:solidFill>
            </a:endParaRPr>
          </a:p>
        </p:txBody>
      </p:sp>
      <p:sp>
        <p:nvSpPr>
          <p:cNvPr id="145" name="Google Shape;145;p24"/>
          <p:cNvSpPr txBox="1"/>
          <p:nvPr/>
        </p:nvSpPr>
        <p:spPr>
          <a:xfrm>
            <a:off x="2178925" y="4107175"/>
            <a:ext cx="1321500" cy="461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800">
                <a:solidFill>
                  <a:schemeClr val="dk1"/>
                </a:solidFill>
              </a:rPr>
              <a:t>𝑒 = (</a:t>
            </a:r>
            <a:r>
              <a:rPr lang="zh-TW" sz="1800">
                <a:solidFill>
                  <a:schemeClr val="dk1"/>
                </a:solidFill>
              </a:rPr>
              <a:t>𝑢</a:t>
            </a:r>
            <a:r>
              <a:rPr lang="zh-TW" sz="1800">
                <a:solidFill>
                  <a:schemeClr val="dk1"/>
                </a:solidFill>
              </a:rPr>
              <a:t>,</a:t>
            </a:r>
            <a:r>
              <a:rPr lang="zh-TW" sz="1800">
                <a:solidFill>
                  <a:schemeClr val="dk1"/>
                </a:solidFill>
              </a:rPr>
              <a:t>𝑣</a:t>
            </a:r>
            <a:r>
              <a:rPr lang="zh-TW" sz="1800">
                <a:solidFill>
                  <a:schemeClr val="dk1"/>
                </a:solidFill>
              </a:rPr>
              <a:t>,𝑝)</a:t>
            </a:r>
            <a:endParaRPr/>
          </a:p>
        </p:txBody>
      </p:sp>
      <p:grpSp>
        <p:nvGrpSpPr>
          <p:cNvPr id="146" name="Google Shape;146;p24"/>
          <p:cNvGrpSpPr/>
          <p:nvPr/>
        </p:nvGrpSpPr>
        <p:grpSpPr>
          <a:xfrm>
            <a:off x="311698" y="2943625"/>
            <a:ext cx="5687515" cy="1034400"/>
            <a:chOff x="727948" y="2742175"/>
            <a:chExt cx="5687515" cy="1034400"/>
          </a:xfrm>
        </p:grpSpPr>
        <p:pic>
          <p:nvPicPr>
            <p:cNvPr id="147" name="Google Shape;147;p24"/>
            <p:cNvPicPr preferRelativeResize="0"/>
            <p:nvPr/>
          </p:nvPicPr>
          <p:blipFill>
            <a:blip r:embed="rId3">
              <a:alphaModFix/>
            </a:blip>
            <a:stretch>
              <a:fillRect/>
            </a:stretch>
          </p:blipFill>
          <p:spPr>
            <a:xfrm>
              <a:off x="727948" y="3203875"/>
              <a:ext cx="5687515" cy="572700"/>
            </a:xfrm>
            <a:prstGeom prst="rect">
              <a:avLst/>
            </a:prstGeom>
            <a:noFill/>
            <a:ln cap="flat" cmpd="sng" w="9525">
              <a:solidFill>
                <a:schemeClr val="dk2"/>
              </a:solidFill>
              <a:prstDash val="solid"/>
              <a:round/>
              <a:headEnd len="sm" w="sm" type="none"/>
              <a:tailEnd len="sm" w="sm" type="none"/>
            </a:ln>
          </p:spPr>
        </p:pic>
        <p:sp>
          <p:nvSpPr>
            <p:cNvPr id="148" name="Google Shape;148;p24"/>
            <p:cNvSpPr txBox="1"/>
            <p:nvPr/>
          </p:nvSpPr>
          <p:spPr>
            <a:xfrm>
              <a:off x="1402550" y="2742175"/>
              <a:ext cx="408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800">
                  <a:solidFill>
                    <a:schemeClr val="dk1"/>
                  </a:solidFill>
                </a:rPr>
                <a:t>𝑢</a:t>
              </a:r>
              <a:endParaRPr/>
            </a:p>
          </p:txBody>
        </p:sp>
        <p:sp>
          <p:nvSpPr>
            <p:cNvPr id="149" name="Google Shape;149;p24"/>
            <p:cNvSpPr txBox="1"/>
            <p:nvPr/>
          </p:nvSpPr>
          <p:spPr>
            <a:xfrm>
              <a:off x="5291950" y="2742175"/>
              <a:ext cx="607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800">
                  <a:solidFill>
                    <a:schemeClr val="dk1"/>
                  </a:solidFill>
                </a:rPr>
                <a:t>𝑣</a:t>
              </a:r>
              <a:endParaRPr/>
            </a:p>
          </p:txBody>
        </p:sp>
        <p:sp>
          <p:nvSpPr>
            <p:cNvPr id="150" name="Google Shape;150;p24"/>
            <p:cNvSpPr txBox="1"/>
            <p:nvPr/>
          </p:nvSpPr>
          <p:spPr>
            <a:xfrm>
              <a:off x="2933050" y="2742175"/>
              <a:ext cx="408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800">
                  <a:solidFill>
                    <a:schemeClr val="dk1"/>
                  </a:solidFill>
                </a:rPr>
                <a:t>𝑝</a:t>
              </a:r>
              <a:endParaRPr/>
            </a:p>
          </p:txBody>
        </p:sp>
      </p:grpSp>
      <p:pic>
        <p:nvPicPr>
          <p:cNvPr id="151" name="Google Shape;151;p24"/>
          <p:cNvPicPr preferRelativeResize="0"/>
          <p:nvPr/>
        </p:nvPicPr>
        <p:blipFill rotWithShape="1">
          <a:blip r:embed="rId4">
            <a:alphaModFix/>
          </a:blip>
          <a:srcRect b="39853" l="0" r="0" t="0"/>
          <a:stretch/>
        </p:blipFill>
        <p:spPr>
          <a:xfrm>
            <a:off x="6145896" y="2786400"/>
            <a:ext cx="2819529" cy="1782475"/>
          </a:xfrm>
          <a:prstGeom prst="rect">
            <a:avLst/>
          </a:prstGeom>
          <a:noFill/>
          <a:ln cap="flat" cmpd="sng" w="9525">
            <a:solidFill>
              <a:schemeClr val="dk2"/>
            </a:solidFill>
            <a:prstDash val="solid"/>
            <a:round/>
            <a:headEnd len="sm" w="sm" type="none"/>
            <a:tailEnd len="sm" w="sm" type="none"/>
          </a:ln>
        </p:spPr>
      </p:pic>
      <p:sp>
        <p:nvSpPr>
          <p:cNvPr id="152" name="Google Shape;152;p24"/>
          <p:cNvSpPr txBox="1"/>
          <p:nvPr/>
        </p:nvSpPr>
        <p:spPr>
          <a:xfrm>
            <a:off x="6894913" y="4584563"/>
            <a:ext cx="1321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800">
                <a:solidFill>
                  <a:schemeClr val="dk1"/>
                </a:solidFill>
              </a:rPr>
              <a:t>𝑃𝐺 = (𝑉,𝐸)</a:t>
            </a:r>
            <a:endParaRPr/>
          </a:p>
        </p:txBody>
      </p:sp>
      <p:sp>
        <p:nvSpPr>
          <p:cNvPr id="153" name="Google Shape;153;p24"/>
          <p:cNvSpPr txBox="1"/>
          <p:nvPr/>
        </p:nvSpPr>
        <p:spPr>
          <a:xfrm>
            <a:off x="4065125" y="4326056"/>
            <a:ext cx="1934100" cy="780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800">
                <a:solidFill>
                  <a:schemeClr val="dk1"/>
                </a:solidFill>
              </a:rPr>
              <a:t>大</a:t>
            </a:r>
            <a:r>
              <a:rPr lang="zh-TW" sz="1800">
                <a:solidFill>
                  <a:schemeClr val="dk1"/>
                </a:solidFill>
              </a:rPr>
              <a:t>𝑉</a:t>
            </a:r>
            <a:r>
              <a:rPr lang="zh-TW" sz="1800">
                <a:solidFill>
                  <a:schemeClr val="dk1"/>
                </a:solidFill>
              </a:rPr>
              <a:t>是node集合</a:t>
            </a:r>
            <a:br>
              <a:rPr lang="zh-TW" sz="1800">
                <a:solidFill>
                  <a:schemeClr val="dk1"/>
                </a:solidFill>
              </a:rPr>
            </a:br>
            <a:r>
              <a:rPr lang="zh-TW" sz="1800">
                <a:solidFill>
                  <a:schemeClr val="dk1"/>
                </a:solidFill>
              </a:rPr>
              <a:t>大E是edge集合</a:t>
            </a:r>
            <a:endParaRPr sz="1800">
              <a:solidFill>
                <a:schemeClr val="dk1"/>
              </a:solidFill>
            </a:endParaRPr>
          </a:p>
        </p:txBody>
      </p:sp>
      <p:cxnSp>
        <p:nvCxnSpPr>
          <p:cNvPr id="154" name="Google Shape;154;p24"/>
          <p:cNvCxnSpPr>
            <a:stCxn id="153" idx="3"/>
            <a:endCxn id="152" idx="1"/>
          </p:cNvCxnSpPr>
          <p:nvPr/>
        </p:nvCxnSpPr>
        <p:spPr>
          <a:xfrm>
            <a:off x="5999225" y="4716206"/>
            <a:ext cx="895800" cy="99300"/>
          </a:xfrm>
          <a:prstGeom prst="straightConnector1">
            <a:avLst/>
          </a:prstGeom>
          <a:noFill/>
          <a:ln cap="flat" cmpd="sng" w="9525">
            <a:solidFill>
              <a:schemeClr val="dk2"/>
            </a:solidFill>
            <a:prstDash val="solid"/>
            <a:round/>
            <a:headEnd len="med" w="med" type="none"/>
            <a:tailEnd len="med" w="med" type="triangle"/>
          </a:ln>
        </p:spPr>
      </p:cxnSp>
      <p:sp>
        <p:nvSpPr>
          <p:cNvPr id="155" name="Google Shape;155;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Definitions</a:t>
            </a:r>
            <a:r>
              <a:rPr lang="zh-TW"/>
              <a:t> 2.2</a:t>
            </a:r>
            <a:endParaRPr/>
          </a:p>
        </p:txBody>
      </p:sp>
      <p:sp>
        <p:nvSpPr>
          <p:cNvPr id="161" name="Google Shape;16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Definition 2.2. (Technique Subgraph): A technique subgraph 𝑇𝑆𝐺 is a subgraph segmented from a provenance graph.</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It contains system events belonging to the same APT technique instance. Note that it is </a:t>
            </a:r>
            <a:r>
              <a:rPr lang="zh-TW">
                <a:solidFill>
                  <a:schemeClr val="dk1"/>
                </a:solidFill>
                <a:highlight>
                  <a:schemeClr val="accent6"/>
                </a:highlight>
              </a:rPr>
              <a:t>usually impossible to construct perfect technique subgraphs in practice</a:t>
            </a:r>
            <a:r>
              <a:rPr lang="zh-TW">
                <a:solidFill>
                  <a:schemeClr val="dk1"/>
                </a:solidFill>
              </a:rPr>
              <a:t>. In this paper, we try to find system entities that are strongly correlated with each other to form compact subgraphs as potential technique subgraphs.</a:t>
            </a:r>
            <a:endParaRPr>
              <a:solidFill>
                <a:schemeClr val="dk1"/>
              </a:solidFill>
            </a:endParaRPr>
          </a:p>
        </p:txBody>
      </p:sp>
      <p:sp>
        <p:nvSpPr>
          <p:cNvPr id="162" name="Google Shape;16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Definitions</a:t>
            </a:r>
            <a:r>
              <a:rPr lang="zh-TW"/>
              <a:t> 2.2 - example</a:t>
            </a:r>
            <a:endParaRPr/>
          </a:p>
        </p:txBody>
      </p:sp>
      <p:sp>
        <p:nvSpPr>
          <p:cNvPr id="168" name="Google Shape;168;p26"/>
          <p:cNvSpPr txBox="1"/>
          <p:nvPr>
            <p:ph idx="1" type="body"/>
          </p:nvPr>
        </p:nvSpPr>
        <p:spPr>
          <a:xfrm>
            <a:off x="311700" y="1152475"/>
            <a:ext cx="3503700" cy="1461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is a technique subgraph covering an instance of the APT technique “Obtain Capabilities”.</a:t>
            </a:r>
            <a:endParaRPr>
              <a:solidFill>
                <a:schemeClr val="dk1"/>
              </a:solidFill>
            </a:endParaRPr>
          </a:p>
        </p:txBody>
      </p:sp>
      <p:pic>
        <p:nvPicPr>
          <p:cNvPr id="169" name="Google Shape;169;p26"/>
          <p:cNvPicPr preferRelativeResize="0"/>
          <p:nvPr/>
        </p:nvPicPr>
        <p:blipFill>
          <a:blip r:embed="rId3">
            <a:alphaModFix/>
          </a:blip>
          <a:stretch>
            <a:fillRect/>
          </a:stretch>
        </p:blipFill>
        <p:spPr>
          <a:xfrm>
            <a:off x="3974149" y="1017725"/>
            <a:ext cx="5016899" cy="3939100"/>
          </a:xfrm>
          <a:prstGeom prst="rect">
            <a:avLst/>
          </a:prstGeom>
          <a:noFill/>
          <a:ln cap="flat" cmpd="sng" w="9525">
            <a:solidFill>
              <a:schemeClr val="dk2"/>
            </a:solidFill>
            <a:prstDash val="solid"/>
            <a:round/>
            <a:headEnd len="sm" w="sm" type="none"/>
            <a:tailEnd len="sm" w="sm" type="none"/>
          </a:ln>
        </p:spPr>
      </p:pic>
      <p:sp>
        <p:nvSpPr>
          <p:cNvPr id="170" name="Google Shape;170;p26"/>
          <p:cNvSpPr/>
          <p:nvPr/>
        </p:nvSpPr>
        <p:spPr>
          <a:xfrm>
            <a:off x="4251975" y="1621775"/>
            <a:ext cx="4739400" cy="1984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6"/>
          <p:cNvSpPr/>
          <p:nvPr/>
        </p:nvSpPr>
        <p:spPr>
          <a:xfrm>
            <a:off x="4245850" y="3665688"/>
            <a:ext cx="4739400" cy="1150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2" name="Google Shape;172;p26"/>
          <p:cNvCxnSpPr>
            <a:stCxn id="170" idx="1"/>
          </p:cNvCxnSpPr>
          <p:nvPr/>
        </p:nvCxnSpPr>
        <p:spPr>
          <a:xfrm rot="10800000">
            <a:off x="3656775" y="1998725"/>
            <a:ext cx="595200" cy="615300"/>
          </a:xfrm>
          <a:prstGeom prst="straightConnector1">
            <a:avLst/>
          </a:prstGeom>
          <a:noFill/>
          <a:ln cap="flat" cmpd="sng" w="9525">
            <a:solidFill>
              <a:schemeClr val="dk2"/>
            </a:solidFill>
            <a:prstDash val="solid"/>
            <a:round/>
            <a:headEnd len="med" w="med" type="none"/>
            <a:tailEnd len="med" w="med" type="triangle"/>
          </a:ln>
        </p:spPr>
      </p:cxnSp>
      <p:sp>
        <p:nvSpPr>
          <p:cNvPr id="173" name="Google Shape;173;p26"/>
          <p:cNvSpPr txBox="1"/>
          <p:nvPr>
            <p:ph idx="1" type="body"/>
          </p:nvPr>
        </p:nvSpPr>
        <p:spPr>
          <a:xfrm>
            <a:off x="311700" y="3354900"/>
            <a:ext cx="3503700" cy="1461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not raw provenance graph nodes, but the abstract of a subgraph for presentation convenience.</a:t>
            </a:r>
            <a:endParaRPr>
              <a:solidFill>
                <a:schemeClr val="dk1"/>
              </a:solidFill>
            </a:endParaRPr>
          </a:p>
        </p:txBody>
      </p:sp>
      <p:cxnSp>
        <p:nvCxnSpPr>
          <p:cNvPr id="174" name="Google Shape;174;p26"/>
          <p:cNvCxnSpPr>
            <a:stCxn id="171" idx="1"/>
            <a:endCxn id="173" idx="3"/>
          </p:cNvCxnSpPr>
          <p:nvPr/>
        </p:nvCxnSpPr>
        <p:spPr>
          <a:xfrm rot="10800000">
            <a:off x="3815350" y="4085688"/>
            <a:ext cx="430500" cy="155400"/>
          </a:xfrm>
          <a:prstGeom prst="straightConnector1">
            <a:avLst/>
          </a:prstGeom>
          <a:noFill/>
          <a:ln cap="flat" cmpd="sng" w="9525">
            <a:solidFill>
              <a:schemeClr val="dk2"/>
            </a:solidFill>
            <a:prstDash val="solid"/>
            <a:round/>
            <a:headEnd len="med" w="med" type="none"/>
            <a:tailEnd len="med" w="med" type="triangle"/>
          </a:ln>
        </p:spPr>
      </p:cxnSp>
      <p:sp>
        <p:nvSpPr>
          <p:cNvPr id="175" name="Google Shape;17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Definitions 2.3</a:t>
            </a:r>
            <a:endParaRPr/>
          </a:p>
        </p:txBody>
      </p:sp>
      <p:sp>
        <p:nvSpPr>
          <p:cNvPr id="181" name="Google Shape;18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Definition 2.3. (NOI): A NOI (Node of Interest) is a system entity that performs malicious activity in an APT attack campaign. </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Note that due to the propagation effect of malicious labels (i.e., the malicious labels would be propagated to all the nodes that are connected to the nodes that are initially labeled as malicious, resulting in too many malicious nodes) [4], it might be ambiguous whether a node is a NOI.</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In this paper, we detect NOIs as </a:t>
            </a:r>
            <a:r>
              <a:rPr lang="zh-TW">
                <a:solidFill>
                  <a:schemeClr val="dk1"/>
                </a:solidFill>
                <a:highlight>
                  <a:schemeClr val="accent6"/>
                </a:highlight>
              </a:rPr>
              <a:t>nodes whose behaviors have great difference with normal nodes</a:t>
            </a:r>
            <a:r>
              <a:rPr lang="zh-TW">
                <a:solidFill>
                  <a:schemeClr val="dk1"/>
                </a:solidFill>
              </a:rPr>
              <a:t>.</a:t>
            </a:r>
            <a:endParaRPr>
              <a:solidFill>
                <a:schemeClr val="dk1"/>
              </a:solidFill>
            </a:endParaRPr>
          </a:p>
        </p:txBody>
      </p:sp>
      <p:sp>
        <p:nvSpPr>
          <p:cNvPr id="182" name="Google Shape;182;p27"/>
          <p:cNvSpPr txBox="1"/>
          <p:nvPr/>
        </p:nvSpPr>
        <p:spPr>
          <a:xfrm>
            <a:off x="0" y="4743300"/>
            <a:ext cx="540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u="sng">
                <a:solidFill>
                  <a:schemeClr val="hlink"/>
                </a:solidFill>
                <a:hlinkClick r:id="rId3"/>
              </a:rPr>
              <a:t>[4]</a:t>
            </a:r>
            <a:r>
              <a:rPr lang="zh-TW" u="sng">
                <a:solidFill>
                  <a:schemeClr val="hlink"/>
                </a:solidFill>
                <a:hlinkClick r:id="rId4"/>
              </a:rPr>
              <a:t> Mining data provenance to detect advanced persistent threats</a:t>
            </a:r>
            <a:endParaRPr/>
          </a:p>
        </p:txBody>
      </p:sp>
      <p:sp>
        <p:nvSpPr>
          <p:cNvPr id="183" name="Google Shape;18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a:t>
            </a:r>
            <a:r>
              <a:rPr lang="zh-TW"/>
              <a:t>Threat Model</a:t>
            </a:r>
            <a:endParaRPr/>
          </a:p>
        </p:txBody>
      </p:sp>
      <p:sp>
        <p:nvSpPr>
          <p:cNvPr id="189" name="Google Shape;18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Our threat model is similar to the previous work on provenance based APT detection [9, 12, 17].</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First, we assume the integrity of the operation system and audit modules, and thus the provenance data are considered credible. </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Second, we assume that the attackers can use any tactics and techniques to conduct APT attacks, but their malicious behaviors are captured by the audit modules.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highlight>
                  <a:schemeClr val="accent6"/>
                </a:highlight>
              </a:rPr>
              <a:t>In addition, we also assume that APT techniques have distinct patterns, which can be captured by statistical or semantic features [17].</a:t>
            </a:r>
            <a:endParaRPr>
              <a:solidFill>
                <a:schemeClr val="dk1"/>
              </a:solidFill>
              <a:highlight>
                <a:schemeClr val="accent6"/>
              </a:highlight>
            </a:endParaRPr>
          </a:p>
        </p:txBody>
      </p:sp>
      <p:sp>
        <p:nvSpPr>
          <p:cNvPr id="190" name="Google Shape;190;p28"/>
          <p:cNvSpPr txBox="1"/>
          <p:nvPr/>
        </p:nvSpPr>
        <p:spPr>
          <a:xfrm>
            <a:off x="0" y="4286250"/>
            <a:ext cx="7803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u="sng">
                <a:solidFill>
                  <a:schemeClr val="hlink"/>
                </a:solidFill>
                <a:hlinkClick r:id="rId3"/>
              </a:rPr>
              <a:t>[9] </a:t>
            </a:r>
            <a:r>
              <a:rPr lang="zh-TW" u="sng">
                <a:solidFill>
                  <a:schemeClr val="hlink"/>
                </a:solidFill>
                <a:hlinkClick r:id="rId4"/>
              </a:rPr>
              <a:t>Unicorn: Runtime Provenance-Based Detector for Advanced Persistent Threats.</a:t>
            </a:r>
            <a:endParaRPr/>
          </a:p>
          <a:p>
            <a:pPr indent="0" lvl="0" marL="0" rtl="0" algn="l">
              <a:spcBef>
                <a:spcPts val="0"/>
              </a:spcBef>
              <a:spcAft>
                <a:spcPts val="0"/>
              </a:spcAft>
              <a:buNone/>
            </a:pPr>
            <a:r>
              <a:rPr lang="zh-TW" u="sng">
                <a:solidFill>
                  <a:schemeClr val="hlink"/>
                </a:solidFill>
                <a:hlinkClick r:id="rId5"/>
              </a:rPr>
              <a:t>[12] Nodoze: Combatting threat alert fatigue with automated provenance triage.</a:t>
            </a:r>
            <a:endParaRPr/>
          </a:p>
          <a:p>
            <a:pPr indent="0" lvl="0" marL="0" rtl="0" algn="l">
              <a:spcBef>
                <a:spcPts val="0"/>
              </a:spcBef>
              <a:spcAft>
                <a:spcPts val="0"/>
              </a:spcAft>
              <a:buNone/>
            </a:pPr>
            <a:r>
              <a:rPr lang="zh-TW" u="sng">
                <a:solidFill>
                  <a:schemeClr val="hlink"/>
                </a:solidFill>
                <a:hlinkClick r:id="rId6"/>
              </a:rPr>
              <a:t>[17] NODLINK: An Online System for Fine Grained APT Attack Detection and Investigation.</a:t>
            </a:r>
            <a:endParaRPr/>
          </a:p>
        </p:txBody>
      </p:sp>
      <p:sp>
        <p:nvSpPr>
          <p:cNvPr id="191" name="Google Shape;19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txBox="1"/>
          <p:nvPr>
            <p:ph type="title"/>
          </p:nvPr>
        </p:nvSpPr>
        <p:spPr>
          <a:xfrm>
            <a:off x="311700" y="445025"/>
            <a:ext cx="4019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Threat Model</a:t>
            </a:r>
            <a:endParaRPr/>
          </a:p>
        </p:txBody>
      </p:sp>
      <p:sp>
        <p:nvSpPr>
          <p:cNvPr id="197" name="Google Shape;19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In addition, we also assume that APT techniques have distinct patterns, which can be captured by statistical or semantic features [17].</a:t>
            </a:r>
            <a:endParaRPr>
              <a:solidFill>
                <a:schemeClr val="dk1"/>
              </a:solidFill>
            </a:endParaRPr>
          </a:p>
        </p:txBody>
      </p:sp>
      <p:pic>
        <p:nvPicPr>
          <p:cNvPr id="198" name="Google Shape;198;p29"/>
          <p:cNvPicPr preferRelativeResize="0"/>
          <p:nvPr/>
        </p:nvPicPr>
        <p:blipFill>
          <a:blip r:embed="rId3">
            <a:alphaModFix/>
          </a:blip>
          <a:stretch>
            <a:fillRect/>
          </a:stretch>
        </p:blipFill>
        <p:spPr>
          <a:xfrm>
            <a:off x="861673" y="1860120"/>
            <a:ext cx="7420675" cy="3196705"/>
          </a:xfrm>
          <a:prstGeom prst="rect">
            <a:avLst/>
          </a:prstGeom>
          <a:noFill/>
          <a:ln cap="flat" cmpd="sng" w="9525">
            <a:solidFill>
              <a:schemeClr val="dk2"/>
            </a:solidFill>
            <a:prstDash val="solid"/>
            <a:round/>
            <a:headEnd len="sm" w="sm" type="none"/>
            <a:tailEnd len="sm" w="sm" type="none"/>
          </a:ln>
        </p:spPr>
      </p:pic>
      <p:sp>
        <p:nvSpPr>
          <p:cNvPr id="199" name="Google Shape;199;p29"/>
          <p:cNvSpPr txBox="1"/>
          <p:nvPr/>
        </p:nvSpPr>
        <p:spPr>
          <a:xfrm>
            <a:off x="4667700" y="146525"/>
            <a:ext cx="4164600" cy="871200"/>
          </a:xfrm>
          <a:prstGeom prst="rect">
            <a:avLst/>
          </a:prstGeom>
          <a:solidFill>
            <a:schemeClr val="lt2"/>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zh-TW" sz="1800">
                <a:solidFill>
                  <a:srgbClr val="39434C"/>
                </a:solidFill>
              </a:rPr>
              <a:t>T1003:</a:t>
            </a:r>
            <a:r>
              <a:rPr lang="zh-TW" sz="1800">
                <a:solidFill>
                  <a:srgbClr val="39434C"/>
                </a:solidFill>
              </a:rPr>
              <a:t>OS Credential Dumping</a:t>
            </a:r>
            <a:endParaRPr sz="1800">
              <a:solidFill>
                <a:srgbClr val="39434C"/>
              </a:solidFill>
            </a:endParaRPr>
          </a:p>
          <a:p>
            <a:pPr indent="0" lvl="0" marL="0" rtl="0" algn="l">
              <a:lnSpc>
                <a:spcPct val="120000"/>
              </a:lnSpc>
              <a:spcBef>
                <a:spcPts val="600"/>
              </a:spcBef>
              <a:spcAft>
                <a:spcPts val="600"/>
              </a:spcAft>
              <a:buNone/>
            </a:pPr>
            <a:r>
              <a:rPr lang="zh-TW" sz="1800">
                <a:solidFill>
                  <a:srgbClr val="39434C"/>
                </a:solidFill>
              </a:rPr>
              <a:t>T1218:System Binary Proxy Execution</a:t>
            </a:r>
            <a:endParaRPr sz="1800">
              <a:solidFill>
                <a:srgbClr val="39434C"/>
              </a:solidFill>
            </a:endParaRPr>
          </a:p>
        </p:txBody>
      </p:sp>
      <p:sp>
        <p:nvSpPr>
          <p:cNvPr id="200" name="Google Shape;20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a:t>
            </a:r>
            <a:r>
              <a:rPr lang="zh-TW"/>
              <a:t>Data Collection</a:t>
            </a:r>
            <a:endParaRPr/>
          </a:p>
        </p:txBody>
      </p:sp>
      <p:sp>
        <p:nvSpPr>
          <p:cNvPr id="206" name="Google Shape;206;p30"/>
          <p:cNvSpPr txBox="1"/>
          <p:nvPr>
            <p:ph idx="1" type="body"/>
          </p:nvPr>
        </p:nvSpPr>
        <p:spPr>
          <a:xfrm>
            <a:off x="311700" y="1152475"/>
            <a:ext cx="8520600" cy="1757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To collect large-scale provenance data to cover the APT techniques in ATT&amp;CK,we used </a:t>
            </a:r>
            <a:r>
              <a:rPr lang="zh-TW" u="sng">
                <a:solidFill>
                  <a:schemeClr val="hlink"/>
                </a:solidFill>
                <a:hlinkClick r:id="rId3"/>
              </a:rPr>
              <a:t>Atomic Red Team</a:t>
            </a:r>
            <a:r>
              <a:rPr lang="zh-TW">
                <a:solidFill>
                  <a:schemeClr val="dk1"/>
                </a:solidFill>
              </a:rPr>
              <a:t>,an automatic security test tool provided by Red Canary.</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and collected provenance dataset by using </a:t>
            </a:r>
            <a:r>
              <a:rPr lang="zh-TW" u="sng">
                <a:solidFill>
                  <a:schemeClr val="hlink"/>
                </a:solidFill>
                <a:hlinkClick r:id="rId4"/>
              </a:rPr>
              <a:t>KELLECT</a:t>
            </a:r>
            <a:r>
              <a:rPr lang="zh-TW">
                <a:solidFill>
                  <a:schemeClr val="dk1"/>
                </a:solidFill>
              </a:rPr>
              <a:t>, an efficient kernel level provenance data collection tool developed by our research team.</a:t>
            </a:r>
            <a:endParaRPr>
              <a:solidFill>
                <a:schemeClr val="dk1"/>
              </a:solidFill>
            </a:endParaRPr>
          </a:p>
        </p:txBody>
      </p:sp>
      <p:pic>
        <p:nvPicPr>
          <p:cNvPr id="207" name="Google Shape;207;p30"/>
          <p:cNvPicPr preferRelativeResize="0"/>
          <p:nvPr/>
        </p:nvPicPr>
        <p:blipFill>
          <a:blip r:embed="rId5">
            <a:alphaModFix/>
          </a:blip>
          <a:stretch>
            <a:fillRect/>
          </a:stretch>
        </p:blipFill>
        <p:spPr>
          <a:xfrm>
            <a:off x="959376" y="3183014"/>
            <a:ext cx="1005174" cy="1005174"/>
          </a:xfrm>
          <a:prstGeom prst="rect">
            <a:avLst/>
          </a:prstGeom>
          <a:noFill/>
          <a:ln>
            <a:noFill/>
          </a:ln>
        </p:spPr>
      </p:pic>
      <p:pic>
        <p:nvPicPr>
          <p:cNvPr id="208" name="Google Shape;208;p30"/>
          <p:cNvPicPr preferRelativeResize="0"/>
          <p:nvPr/>
        </p:nvPicPr>
        <p:blipFill>
          <a:blip r:embed="rId6">
            <a:alphaModFix/>
          </a:blip>
          <a:stretch>
            <a:fillRect/>
          </a:stretch>
        </p:blipFill>
        <p:spPr>
          <a:xfrm>
            <a:off x="4433100" y="3240595"/>
            <a:ext cx="3905651" cy="850300"/>
          </a:xfrm>
          <a:prstGeom prst="rect">
            <a:avLst/>
          </a:prstGeom>
          <a:noFill/>
          <a:ln>
            <a:noFill/>
          </a:ln>
        </p:spPr>
      </p:pic>
      <p:sp>
        <p:nvSpPr>
          <p:cNvPr id="209" name="Google Shape;209;p30"/>
          <p:cNvSpPr txBox="1"/>
          <p:nvPr/>
        </p:nvSpPr>
        <p:spPr>
          <a:xfrm>
            <a:off x="133138" y="4148000"/>
            <a:ext cx="2816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600">
                <a:solidFill>
                  <a:schemeClr val="dk1"/>
                </a:solidFill>
              </a:rPr>
              <a:t>Atomic Red Team提供具有TTP根源的APT technique</a:t>
            </a:r>
            <a:endParaRPr sz="1600"/>
          </a:p>
        </p:txBody>
      </p:sp>
      <p:sp>
        <p:nvSpPr>
          <p:cNvPr id="210" name="Google Shape;210;p30"/>
          <p:cNvSpPr txBox="1"/>
          <p:nvPr/>
        </p:nvSpPr>
        <p:spPr>
          <a:xfrm>
            <a:off x="4765000" y="4148000"/>
            <a:ext cx="3360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600">
                <a:solidFill>
                  <a:schemeClr val="dk1"/>
                </a:solidFill>
              </a:rPr>
              <a:t>KELLECT是浙江大學和其他資安學院及組織製作的log錄製工具</a:t>
            </a:r>
            <a:endParaRPr sz="1600">
              <a:solidFill>
                <a:schemeClr val="dk1"/>
              </a:solidFill>
            </a:endParaRPr>
          </a:p>
        </p:txBody>
      </p:sp>
      <p:sp>
        <p:nvSpPr>
          <p:cNvPr id="211" name="Google Shape;211;p30"/>
          <p:cNvSpPr txBox="1"/>
          <p:nvPr/>
        </p:nvSpPr>
        <p:spPr>
          <a:xfrm>
            <a:off x="3679150" y="2909575"/>
            <a:ext cx="5532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600">
                <a:solidFill>
                  <a:schemeClr val="dk1"/>
                </a:solidFill>
              </a:rPr>
              <a:t>a Kernel-based Efficient and Loss</a:t>
            </a:r>
            <a:r>
              <a:rPr lang="zh-TW" sz="1600">
                <a:solidFill>
                  <a:schemeClr val="dk1"/>
                </a:solidFill>
              </a:rPr>
              <a:t>L</a:t>
            </a:r>
            <a:r>
              <a:rPr lang="zh-TW" sz="1600">
                <a:solidFill>
                  <a:schemeClr val="dk1"/>
                </a:solidFill>
              </a:rPr>
              <a:t>ess Event log Collec</a:t>
            </a:r>
            <a:r>
              <a:rPr lang="zh-TW" sz="1600">
                <a:solidFill>
                  <a:schemeClr val="dk1"/>
                </a:solidFill>
              </a:rPr>
              <a:t>T</a:t>
            </a:r>
            <a:r>
              <a:rPr lang="zh-TW" sz="1600">
                <a:solidFill>
                  <a:schemeClr val="dk1"/>
                </a:solidFill>
              </a:rPr>
              <a:t>or</a:t>
            </a:r>
            <a:endParaRPr/>
          </a:p>
        </p:txBody>
      </p:sp>
      <p:sp>
        <p:nvSpPr>
          <p:cNvPr id="212" name="Google Shape;21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1"/>
          <p:cNvSpPr txBox="1"/>
          <p:nvPr>
            <p:ph type="title"/>
          </p:nvPr>
        </p:nvSpPr>
        <p:spPr>
          <a:xfrm>
            <a:off x="311700" y="445025"/>
            <a:ext cx="3741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a:t>
            </a:r>
            <a:r>
              <a:rPr lang="zh-TW" u="sng">
                <a:solidFill>
                  <a:schemeClr val="hlink"/>
                </a:solidFill>
                <a:hlinkClick r:id="rId3"/>
              </a:rPr>
              <a:t>KELLECT</a:t>
            </a:r>
            <a:endParaRPr/>
          </a:p>
        </p:txBody>
      </p:sp>
      <p:sp>
        <p:nvSpPr>
          <p:cNvPr id="218" name="Google Shape;218;p31"/>
          <p:cNvSpPr txBox="1"/>
          <p:nvPr>
            <p:ph idx="1" type="body"/>
          </p:nvPr>
        </p:nvSpPr>
        <p:spPr>
          <a:xfrm>
            <a:off x="311700" y="1152475"/>
            <a:ext cx="8520600" cy="2529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zh-TW">
                <a:solidFill>
                  <a:schemeClr val="dk1"/>
                </a:solidFill>
              </a:rPr>
              <a:t>由 C++ 開發，主打「核心級 (Kernel-based)」、「高效能」與「無損 (Lossless)」。對記憶體的運用和錄製原理相較於微軟做了一些升級...</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u="sng">
                <a:solidFill>
                  <a:schemeClr val="hlink"/>
                </a:solidFill>
                <a:hlinkClick r:id="rId4"/>
              </a:rPr>
              <a:t>Kellect4APT </a:t>
            </a:r>
            <a:r>
              <a:rPr lang="zh-TW">
                <a:solidFill>
                  <a:schemeClr val="dk1"/>
                </a:solidFill>
              </a:rPr>
              <a:t>資料集：根據 MITRE ATT&amp;CK 框架錄製並開源了第一個針對特定技術行為的基準數據集，包含 178 種攻擊行為 。</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highlight>
                  <a:schemeClr val="accent6"/>
                </a:highlight>
              </a:rPr>
              <a:t>關係映射表</a:t>
            </a:r>
            <a:r>
              <a:rPr lang="zh-TW">
                <a:solidFill>
                  <a:schemeClr val="dk1"/>
                </a:solidFill>
              </a:rPr>
              <a:t>：建立 18 個關聯映射表（例如將執行緒 ID 映射回Process名稱），在解析過程中即時補全缺失的屬性（如補全 FileRead 事件中的文件名）。</a:t>
            </a:r>
            <a:endParaRPr>
              <a:solidFill>
                <a:schemeClr val="dk1"/>
              </a:solidFill>
            </a:endParaRPr>
          </a:p>
        </p:txBody>
      </p:sp>
      <p:sp>
        <p:nvSpPr>
          <p:cNvPr id="219" name="Google Shape;21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2"/>
          <p:cNvSpPr txBox="1"/>
          <p:nvPr>
            <p:ph type="title"/>
          </p:nvPr>
        </p:nvSpPr>
        <p:spPr>
          <a:xfrm>
            <a:off x="311700" y="445025"/>
            <a:ext cx="3741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a:t>
            </a:r>
            <a:r>
              <a:rPr lang="zh-TW" u="sng">
                <a:solidFill>
                  <a:schemeClr val="hlink"/>
                </a:solidFill>
                <a:hlinkClick r:id="rId3"/>
              </a:rPr>
              <a:t>KELLECT</a:t>
            </a:r>
            <a:endParaRPr/>
          </a:p>
        </p:txBody>
      </p:sp>
      <p:sp>
        <p:nvSpPr>
          <p:cNvPr id="225" name="Google Shape;225;p32"/>
          <p:cNvSpPr txBox="1"/>
          <p:nvPr>
            <p:ph idx="1" type="body"/>
          </p:nvPr>
        </p:nvSpPr>
        <p:spPr>
          <a:xfrm>
            <a:off x="311700" y="1152475"/>
            <a:ext cx="8520600" cy="902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highlight>
                  <a:schemeClr val="accent6"/>
                </a:highlight>
              </a:rPr>
              <a:t>關係映射表</a:t>
            </a:r>
            <a:r>
              <a:rPr lang="zh-TW">
                <a:solidFill>
                  <a:schemeClr val="dk1"/>
                </a:solidFill>
              </a:rPr>
              <a:t>：</a:t>
            </a:r>
            <a:r>
              <a:rPr lang="zh-TW">
                <a:solidFill>
                  <a:schemeClr val="dk1"/>
                </a:solidFill>
              </a:rPr>
              <a:t>建立</a:t>
            </a:r>
            <a:r>
              <a:rPr lang="zh-TW">
                <a:solidFill>
                  <a:schemeClr val="dk1"/>
                </a:solidFill>
              </a:rPr>
              <a:t> 18 個關聯映射表（例如將</a:t>
            </a:r>
            <a:r>
              <a:rPr lang="zh-TW">
                <a:solidFill>
                  <a:schemeClr val="dk1"/>
                </a:solidFill>
              </a:rPr>
              <a:t>執行緒</a:t>
            </a:r>
            <a:r>
              <a:rPr lang="zh-TW">
                <a:solidFill>
                  <a:schemeClr val="dk1"/>
                </a:solidFill>
              </a:rPr>
              <a:t> ID 映射回</a:t>
            </a:r>
            <a:r>
              <a:rPr lang="zh-TW">
                <a:solidFill>
                  <a:schemeClr val="dk1"/>
                </a:solidFill>
              </a:rPr>
              <a:t>Process</a:t>
            </a:r>
            <a:r>
              <a:rPr lang="zh-TW">
                <a:solidFill>
                  <a:schemeClr val="dk1"/>
                </a:solidFill>
              </a:rPr>
              <a:t>名稱），在解析過程中即時補全缺失的屬性（如補全 FileRead 事件中的文件名）。</a:t>
            </a:r>
            <a:endParaRPr>
              <a:solidFill>
                <a:schemeClr val="dk1"/>
              </a:solidFill>
            </a:endParaRPr>
          </a:p>
        </p:txBody>
      </p:sp>
      <p:sp>
        <p:nvSpPr>
          <p:cNvPr id="226" name="Google Shape;226;p32"/>
          <p:cNvSpPr txBox="1"/>
          <p:nvPr/>
        </p:nvSpPr>
        <p:spPr>
          <a:xfrm>
            <a:off x="615150" y="2054875"/>
            <a:ext cx="837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當系統產生原生 TCP/IP 事件（如 </a:t>
            </a:r>
            <a:r>
              <a:rPr lang="zh-TW">
                <a:solidFill>
                  <a:schemeClr val="dk1"/>
                </a:solidFill>
                <a:latin typeface="Roboto Mono"/>
                <a:ea typeface="Roboto Mono"/>
                <a:cs typeface="Roboto Mono"/>
                <a:sym typeface="Roboto Mono"/>
              </a:rPr>
              <a:t>TcpIpSend</a:t>
            </a:r>
            <a:r>
              <a:rPr lang="zh-TW">
                <a:solidFill>
                  <a:schemeClr val="dk1"/>
                </a:solidFill>
              </a:rPr>
              <a:t>）時，ETW 紀錄中的執行緒 ID（Thread ID）通常會顯示為預設值 </a:t>
            </a:r>
            <a:r>
              <a:rPr b="1" lang="zh-TW">
                <a:solidFill>
                  <a:schemeClr val="dk1"/>
                </a:solidFill>
              </a:rPr>
              <a:t>0xffffffff</a:t>
            </a:r>
            <a:r>
              <a:rPr lang="zh-TW">
                <a:solidFill>
                  <a:schemeClr val="dk1"/>
                </a:solidFill>
              </a:rPr>
              <a:t> 。</a:t>
            </a:r>
            <a:endParaRPr>
              <a:solidFill>
                <a:schemeClr val="dk1"/>
              </a:solidFill>
            </a:endParaRPr>
          </a:p>
        </p:txBody>
      </p:sp>
      <p:pic>
        <p:nvPicPr>
          <p:cNvPr id="227" name="Google Shape;227;p32"/>
          <p:cNvPicPr preferRelativeResize="0"/>
          <p:nvPr/>
        </p:nvPicPr>
        <p:blipFill>
          <a:blip r:embed="rId4">
            <a:alphaModFix/>
          </a:blip>
          <a:stretch>
            <a:fillRect/>
          </a:stretch>
        </p:blipFill>
        <p:spPr>
          <a:xfrm>
            <a:off x="767545" y="2886175"/>
            <a:ext cx="8074804" cy="902400"/>
          </a:xfrm>
          <a:prstGeom prst="rect">
            <a:avLst/>
          </a:prstGeom>
          <a:noFill/>
          <a:ln cap="flat" cmpd="sng" w="9525">
            <a:solidFill>
              <a:schemeClr val="dk2"/>
            </a:solidFill>
            <a:prstDash val="solid"/>
            <a:round/>
            <a:headEnd len="sm" w="sm" type="none"/>
            <a:tailEnd len="sm" w="sm" type="none"/>
          </a:ln>
        </p:spPr>
      </p:pic>
      <p:cxnSp>
        <p:nvCxnSpPr>
          <p:cNvPr id="228" name="Google Shape;228;p32"/>
          <p:cNvCxnSpPr>
            <a:stCxn id="226" idx="2"/>
            <a:endCxn id="227" idx="0"/>
          </p:cNvCxnSpPr>
          <p:nvPr/>
        </p:nvCxnSpPr>
        <p:spPr>
          <a:xfrm>
            <a:off x="4804950" y="2670475"/>
            <a:ext cx="0" cy="215700"/>
          </a:xfrm>
          <a:prstGeom prst="straightConnector1">
            <a:avLst/>
          </a:prstGeom>
          <a:noFill/>
          <a:ln cap="flat" cmpd="sng" w="9525">
            <a:solidFill>
              <a:schemeClr val="dk2"/>
            </a:solidFill>
            <a:prstDash val="solid"/>
            <a:round/>
            <a:headEnd len="med" w="med" type="none"/>
            <a:tailEnd len="med" w="med" type="triangle"/>
          </a:ln>
        </p:spPr>
      </p:cxnSp>
      <p:sp>
        <p:nvSpPr>
          <p:cNvPr id="229" name="Google Shape;229;p32"/>
          <p:cNvSpPr txBox="1"/>
          <p:nvPr/>
        </p:nvSpPr>
        <p:spPr>
          <a:xfrm>
            <a:off x="615150" y="4004275"/>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每當CPU切換執行任務時，Kellect 就會紀錄下當前</a:t>
            </a:r>
            <a:r>
              <a:rPr lang="zh-TW"/>
              <a:t>Process</a:t>
            </a:r>
            <a:r>
              <a:rPr lang="zh-TW"/>
              <a:t> ID 與執行緒 ID 的對應關係並存入映射表 。</a:t>
            </a:r>
            <a:endParaRPr/>
          </a:p>
          <a:p>
            <a:pPr indent="0" lvl="0" marL="0" rtl="0" algn="l">
              <a:spcBef>
                <a:spcPts val="0"/>
              </a:spcBef>
              <a:spcAft>
                <a:spcPts val="0"/>
              </a:spcAft>
              <a:buNone/>
            </a:pPr>
            <a:r>
              <a:rPr lang="zh-TW"/>
              <a:t>結果會被補全為「Process A (某惡意腳本) 透過執行緒 B 發起了網路連線」。</a:t>
            </a:r>
            <a:endParaRPr/>
          </a:p>
        </p:txBody>
      </p:sp>
      <p:sp>
        <p:nvSpPr>
          <p:cNvPr id="230" name="Google Shape;23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3"/>
          <p:cNvSpPr txBox="1"/>
          <p:nvPr>
            <p:ph type="title"/>
          </p:nvPr>
        </p:nvSpPr>
        <p:spPr>
          <a:xfrm>
            <a:off x="311700" y="445025"/>
            <a:ext cx="3741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a:t>
            </a:r>
            <a:r>
              <a:rPr lang="zh-TW" u="sng">
                <a:solidFill>
                  <a:schemeClr val="hlink"/>
                </a:solidFill>
                <a:hlinkClick r:id="rId3"/>
              </a:rPr>
              <a:t>KELLECT</a:t>
            </a:r>
            <a:endParaRPr/>
          </a:p>
        </p:txBody>
      </p:sp>
      <p:sp>
        <p:nvSpPr>
          <p:cNvPr id="236" name="Google Shape;236;p33"/>
          <p:cNvSpPr txBox="1"/>
          <p:nvPr>
            <p:ph idx="1" type="body"/>
          </p:nvPr>
        </p:nvSpPr>
        <p:spPr>
          <a:xfrm>
            <a:off x="311700" y="1152475"/>
            <a:ext cx="8520600" cy="902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highlight>
                  <a:schemeClr val="accent6"/>
                </a:highlight>
              </a:rPr>
              <a:t>關係映射表</a:t>
            </a:r>
            <a:r>
              <a:rPr lang="zh-TW">
                <a:solidFill>
                  <a:schemeClr val="dk1"/>
                </a:solidFill>
              </a:rPr>
              <a:t>：維護 18 個關聯映射表（例如將</a:t>
            </a:r>
            <a:r>
              <a:rPr lang="zh-TW">
                <a:solidFill>
                  <a:schemeClr val="dk1"/>
                </a:solidFill>
              </a:rPr>
              <a:t>執行緒 </a:t>
            </a:r>
            <a:r>
              <a:rPr lang="zh-TW">
                <a:solidFill>
                  <a:schemeClr val="dk1"/>
                </a:solidFill>
              </a:rPr>
              <a:t>ID 映射回</a:t>
            </a:r>
            <a:r>
              <a:rPr lang="zh-TW">
                <a:solidFill>
                  <a:schemeClr val="dk1"/>
                </a:solidFill>
              </a:rPr>
              <a:t>Process</a:t>
            </a:r>
            <a:r>
              <a:rPr lang="zh-TW">
                <a:solidFill>
                  <a:schemeClr val="dk1"/>
                </a:solidFill>
              </a:rPr>
              <a:t>名稱），在解析過程中即時補全缺失的屬性（如補全 FileRead 事件中的文件名）。</a:t>
            </a:r>
            <a:endParaRPr>
              <a:solidFill>
                <a:schemeClr val="dk1"/>
              </a:solidFill>
            </a:endParaRPr>
          </a:p>
        </p:txBody>
      </p:sp>
      <p:sp>
        <p:nvSpPr>
          <p:cNvPr id="237" name="Google Shape;237;p33"/>
          <p:cNvSpPr txBox="1"/>
          <p:nvPr/>
        </p:nvSpPr>
        <p:spPr>
          <a:xfrm>
            <a:off x="311700" y="2054875"/>
            <a:ext cx="8613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在 FileRead 事件中通常缺少文件名，Kellect 會利用 FileObject2Name 映射表（編號 3），將核心內的指針轉換回人類可讀的檔案路徑 。</a:t>
            </a:r>
            <a:endParaRPr>
              <a:solidFill>
                <a:schemeClr val="dk1"/>
              </a:solidFill>
            </a:endParaRPr>
          </a:p>
        </p:txBody>
      </p:sp>
      <p:cxnSp>
        <p:nvCxnSpPr>
          <p:cNvPr id="238" name="Google Shape;238;p33"/>
          <p:cNvCxnSpPr>
            <a:stCxn id="237" idx="2"/>
            <a:endCxn id="239" idx="0"/>
          </p:cNvCxnSpPr>
          <p:nvPr/>
        </p:nvCxnSpPr>
        <p:spPr>
          <a:xfrm>
            <a:off x="4618350" y="2670475"/>
            <a:ext cx="0" cy="215700"/>
          </a:xfrm>
          <a:prstGeom prst="straightConnector1">
            <a:avLst/>
          </a:prstGeom>
          <a:noFill/>
          <a:ln cap="flat" cmpd="sng" w="9525">
            <a:solidFill>
              <a:schemeClr val="dk2"/>
            </a:solidFill>
            <a:prstDash val="solid"/>
            <a:round/>
            <a:headEnd len="med" w="med" type="none"/>
            <a:tailEnd len="med" w="med" type="triangle"/>
          </a:ln>
        </p:spPr>
      </p:cxnSp>
      <p:sp>
        <p:nvSpPr>
          <p:cNvPr id="240" name="Google Shape;240;p33"/>
          <p:cNvSpPr txBox="1"/>
          <p:nvPr/>
        </p:nvSpPr>
        <p:spPr>
          <a:xfrm>
            <a:off x="265350" y="3597125"/>
            <a:ext cx="8613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將核心格式路徑 \device\harddrive... 轉換為使用者熟悉的 C:\...（編號 9），使日誌能直接用於後續的威脅狩獵（Threat Hunting）。</a:t>
            </a:r>
            <a:endParaRPr/>
          </a:p>
        </p:txBody>
      </p:sp>
      <p:pic>
        <p:nvPicPr>
          <p:cNvPr id="241" name="Google Shape;241;p33"/>
          <p:cNvPicPr preferRelativeResize="0"/>
          <p:nvPr/>
        </p:nvPicPr>
        <p:blipFill rotWithShape="1">
          <a:blip r:embed="rId4">
            <a:alphaModFix/>
          </a:blip>
          <a:srcRect b="0" l="0" r="12034" t="0"/>
          <a:stretch/>
        </p:blipFill>
        <p:spPr>
          <a:xfrm>
            <a:off x="917025" y="3001500"/>
            <a:ext cx="7775850" cy="381075"/>
          </a:xfrm>
          <a:prstGeom prst="rect">
            <a:avLst/>
          </a:prstGeom>
          <a:noFill/>
          <a:ln cap="flat" cmpd="sng" w="9525">
            <a:solidFill>
              <a:schemeClr val="dk2"/>
            </a:solidFill>
            <a:prstDash val="solid"/>
            <a:round/>
            <a:headEnd len="sm" w="sm" type="none"/>
            <a:tailEnd len="sm" w="sm" type="none"/>
          </a:ln>
        </p:spPr>
      </p:pic>
      <p:pic>
        <p:nvPicPr>
          <p:cNvPr id="242" name="Google Shape;242;p33"/>
          <p:cNvPicPr preferRelativeResize="0"/>
          <p:nvPr/>
        </p:nvPicPr>
        <p:blipFill rotWithShape="1">
          <a:blip r:embed="rId5">
            <a:alphaModFix/>
          </a:blip>
          <a:srcRect b="80" l="0" r="12034" t="0"/>
          <a:stretch/>
        </p:blipFill>
        <p:spPr>
          <a:xfrm>
            <a:off x="917025" y="4567325"/>
            <a:ext cx="7775849" cy="381075"/>
          </a:xfrm>
          <a:prstGeom prst="rect">
            <a:avLst/>
          </a:prstGeom>
          <a:noFill/>
          <a:ln cap="flat" cmpd="sng" w="9525">
            <a:solidFill>
              <a:schemeClr val="dk2"/>
            </a:solidFill>
            <a:prstDash val="solid"/>
            <a:round/>
            <a:headEnd len="sm" w="sm" type="none"/>
            <a:tailEnd len="sm" w="sm" type="none"/>
          </a:ln>
        </p:spPr>
      </p:pic>
      <p:cxnSp>
        <p:nvCxnSpPr>
          <p:cNvPr id="243" name="Google Shape;243;p33"/>
          <p:cNvCxnSpPr>
            <a:stCxn id="240" idx="2"/>
          </p:cNvCxnSpPr>
          <p:nvPr/>
        </p:nvCxnSpPr>
        <p:spPr>
          <a:xfrm>
            <a:off x="4572000" y="4212725"/>
            <a:ext cx="3300" cy="349800"/>
          </a:xfrm>
          <a:prstGeom prst="straightConnector1">
            <a:avLst/>
          </a:prstGeom>
          <a:noFill/>
          <a:ln cap="flat" cmpd="sng" w="9525">
            <a:solidFill>
              <a:schemeClr val="dk2"/>
            </a:solidFill>
            <a:prstDash val="solid"/>
            <a:round/>
            <a:headEnd len="med" w="med" type="none"/>
            <a:tailEnd len="med" w="med" type="triangle"/>
          </a:ln>
        </p:spPr>
      </p:cxnSp>
      <p:sp>
        <p:nvSpPr>
          <p:cNvPr id="244" name="Google Shape;24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Preliminary - System Architecture</a:t>
            </a:r>
            <a:endParaRPr/>
          </a:p>
        </p:txBody>
      </p:sp>
      <p:sp>
        <p:nvSpPr>
          <p:cNvPr id="250" name="Google Shape;250;p34"/>
          <p:cNvSpPr txBox="1"/>
          <p:nvPr>
            <p:ph idx="1" type="body"/>
          </p:nvPr>
        </p:nvSpPr>
        <p:spPr>
          <a:xfrm>
            <a:off x="311700" y="1152475"/>
            <a:ext cx="3960000" cy="39909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chemeClr val="dk1"/>
              </a:buClr>
              <a:buSzPct val="100000"/>
              <a:buChar char="●"/>
            </a:pPr>
            <a:r>
              <a:rPr lang="zh-TW">
                <a:solidFill>
                  <a:schemeClr val="dk1"/>
                </a:solidFill>
              </a:rPr>
              <a:t>The provenance graph construction module</a:t>
            </a:r>
            <a:endParaRPr>
              <a:solidFill>
                <a:schemeClr val="dk1"/>
              </a:solidFill>
            </a:endParaRPr>
          </a:p>
          <a:p>
            <a:pPr indent="-304165" lvl="1" marL="914400" rtl="0" algn="l">
              <a:spcBef>
                <a:spcPts val="0"/>
              </a:spcBef>
              <a:spcAft>
                <a:spcPts val="0"/>
              </a:spcAft>
              <a:buClr>
                <a:schemeClr val="dk1"/>
              </a:buClr>
              <a:buSzPct val="100000"/>
              <a:buChar char="○"/>
            </a:pPr>
            <a:r>
              <a:rPr lang="zh-TW">
                <a:solidFill>
                  <a:schemeClr val="dk1"/>
                </a:solidFill>
              </a:rPr>
              <a:t>持續收集底層的系統核心事</a:t>
            </a:r>
            <a:r>
              <a:rPr lang="zh-TW">
                <a:solidFill>
                  <a:schemeClr val="dk1"/>
                </a:solidFill>
              </a:rPr>
              <a:t>件</a:t>
            </a:r>
            <a:r>
              <a:rPr lang="zh-TW">
                <a:solidFill>
                  <a:schemeClr val="dk1"/>
                </a:solidFill>
              </a:rPr>
              <a:t>，並將這些事件編排建構成一張完整的Provenance Graph</a:t>
            </a:r>
            <a:endParaRPr>
              <a:solidFill>
                <a:schemeClr val="dk1"/>
              </a:solidFill>
            </a:endParaRPr>
          </a:p>
          <a:p>
            <a:pPr indent="-325755" lvl="0" marL="457200" rtl="0" algn="l">
              <a:spcBef>
                <a:spcPts val="0"/>
              </a:spcBef>
              <a:spcAft>
                <a:spcPts val="0"/>
              </a:spcAft>
              <a:buClr>
                <a:schemeClr val="dk1"/>
              </a:buClr>
              <a:buSzPct val="100000"/>
              <a:buChar char="●"/>
            </a:pPr>
            <a:r>
              <a:rPr lang="zh-TW">
                <a:solidFill>
                  <a:schemeClr val="dk1"/>
                </a:solidFill>
              </a:rPr>
              <a:t>The NOI detection and sub-graph sampling module</a:t>
            </a:r>
            <a:endParaRPr>
              <a:solidFill>
                <a:schemeClr val="dk1"/>
              </a:solidFill>
            </a:endParaRPr>
          </a:p>
          <a:p>
            <a:pPr indent="-304165" lvl="1" marL="914400" rtl="0" algn="l">
              <a:spcBef>
                <a:spcPts val="0"/>
              </a:spcBef>
              <a:spcAft>
                <a:spcPts val="0"/>
              </a:spcAft>
              <a:buClr>
                <a:schemeClr val="dk1"/>
              </a:buClr>
              <a:buSzPct val="100000"/>
              <a:buChar char="○"/>
            </a:pPr>
            <a:r>
              <a:rPr lang="zh-TW">
                <a:solidFill>
                  <a:schemeClr val="dk1"/>
                </a:solidFill>
              </a:rPr>
              <a:t>套用異常偵測模型，在無監督的情況下，找出圖中潛在的惡意節點然後套用「子圖採樣演算法 (Subgraph sampling algorithm)」</a:t>
            </a:r>
            <a:endParaRPr>
              <a:solidFill>
                <a:schemeClr val="dk1"/>
              </a:solidFill>
            </a:endParaRPr>
          </a:p>
          <a:p>
            <a:pPr indent="-325755" lvl="0" marL="457200" rtl="0" algn="l">
              <a:spcBef>
                <a:spcPts val="0"/>
              </a:spcBef>
              <a:spcAft>
                <a:spcPts val="0"/>
              </a:spcAft>
              <a:buClr>
                <a:schemeClr val="dk1"/>
              </a:buClr>
              <a:buSzPct val="100000"/>
              <a:buChar char="●"/>
            </a:pPr>
            <a:r>
              <a:rPr lang="zh-TW">
                <a:solidFill>
                  <a:schemeClr val="dk1"/>
                </a:solidFill>
              </a:rPr>
              <a:t>The technique subgraph representation module</a:t>
            </a:r>
            <a:endParaRPr>
              <a:solidFill>
                <a:schemeClr val="dk1"/>
              </a:solidFill>
            </a:endParaRPr>
          </a:p>
          <a:p>
            <a:pPr indent="-304165" lvl="1" marL="914400" rtl="0" algn="l">
              <a:spcBef>
                <a:spcPts val="0"/>
              </a:spcBef>
              <a:spcAft>
                <a:spcPts val="0"/>
              </a:spcAft>
              <a:buClr>
                <a:schemeClr val="dk1"/>
              </a:buClr>
              <a:buSzPct val="100000"/>
              <a:buChar char="○"/>
            </a:pPr>
            <a:r>
              <a:rPr lang="zh-TW">
                <a:solidFill>
                  <a:schemeClr val="dk1"/>
                </a:solidFill>
              </a:rPr>
              <a:t>運用「異質圖嵌入技術 (Heterogeneous graph embedding)」，將剛切出來的技術子圖（TSG）編碼轉換成一段特徵向量 。</a:t>
            </a:r>
            <a:endParaRPr>
              <a:solidFill>
                <a:schemeClr val="dk1"/>
              </a:solidFill>
            </a:endParaRPr>
          </a:p>
          <a:p>
            <a:pPr indent="-325755" lvl="0" marL="457200" rtl="0" algn="l">
              <a:spcBef>
                <a:spcPts val="0"/>
              </a:spcBef>
              <a:spcAft>
                <a:spcPts val="0"/>
              </a:spcAft>
              <a:buClr>
                <a:schemeClr val="dk1"/>
              </a:buClr>
              <a:buSzPct val="100000"/>
              <a:buChar char="●"/>
            </a:pPr>
            <a:r>
              <a:rPr lang="zh-TW">
                <a:solidFill>
                  <a:schemeClr val="dk1"/>
                </a:solidFill>
              </a:rPr>
              <a:t>The APT technique recognition module</a:t>
            </a:r>
            <a:endParaRPr>
              <a:solidFill>
                <a:schemeClr val="dk1"/>
              </a:solidFill>
            </a:endParaRPr>
          </a:p>
          <a:p>
            <a:pPr indent="-304165" lvl="1" marL="914400" rtl="0" algn="l">
              <a:spcBef>
                <a:spcPts val="0"/>
              </a:spcBef>
              <a:spcAft>
                <a:spcPts val="0"/>
              </a:spcAft>
              <a:buClr>
                <a:schemeClr val="dk1"/>
              </a:buClr>
              <a:buSzPct val="100000"/>
              <a:buChar char="○"/>
            </a:pPr>
            <a:r>
              <a:rPr lang="zh-TW">
                <a:solidFill>
                  <a:schemeClr val="dk1"/>
                </a:solidFill>
              </a:rPr>
              <a:t>判斷該技術子圖屬於哪一種 APT 技術 。</a:t>
            </a:r>
            <a:endParaRPr>
              <a:solidFill>
                <a:schemeClr val="dk1"/>
              </a:solidFill>
            </a:endParaRPr>
          </a:p>
        </p:txBody>
      </p:sp>
      <p:pic>
        <p:nvPicPr>
          <p:cNvPr id="251" name="Google Shape;251;p34"/>
          <p:cNvPicPr preferRelativeResize="0"/>
          <p:nvPr/>
        </p:nvPicPr>
        <p:blipFill>
          <a:blip r:embed="rId3">
            <a:alphaModFix/>
          </a:blip>
          <a:stretch>
            <a:fillRect/>
          </a:stretch>
        </p:blipFill>
        <p:spPr>
          <a:xfrm>
            <a:off x="4415650" y="1293375"/>
            <a:ext cx="4659451" cy="3346376"/>
          </a:xfrm>
          <a:prstGeom prst="rect">
            <a:avLst/>
          </a:prstGeom>
          <a:noFill/>
          <a:ln cap="flat" cmpd="sng" w="9525">
            <a:solidFill>
              <a:schemeClr val="dk2"/>
            </a:solidFill>
            <a:prstDash val="solid"/>
            <a:round/>
            <a:headEnd len="sm" w="sm" type="none"/>
            <a:tailEnd len="sm" w="sm" type="none"/>
          </a:ln>
        </p:spPr>
      </p:pic>
      <p:sp>
        <p:nvSpPr>
          <p:cNvPr id="252" name="Google Shape;252;p34"/>
          <p:cNvSpPr txBox="1"/>
          <p:nvPr/>
        </p:nvSpPr>
        <p:spPr>
          <a:xfrm>
            <a:off x="4404034" y="1246913"/>
            <a:ext cx="46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1"/>
                </a:solidFill>
              </a:rPr>
              <a:t>1.</a:t>
            </a:r>
            <a:endParaRPr sz="1800"/>
          </a:p>
        </p:txBody>
      </p:sp>
      <p:sp>
        <p:nvSpPr>
          <p:cNvPr id="253" name="Google Shape;253;p34"/>
          <p:cNvSpPr txBox="1"/>
          <p:nvPr/>
        </p:nvSpPr>
        <p:spPr>
          <a:xfrm>
            <a:off x="4404034" y="2165959"/>
            <a:ext cx="46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1"/>
                </a:solidFill>
              </a:rPr>
              <a:t>2</a:t>
            </a:r>
            <a:r>
              <a:rPr lang="zh-TW" sz="1800">
                <a:solidFill>
                  <a:schemeClr val="dk1"/>
                </a:solidFill>
              </a:rPr>
              <a:t>.</a:t>
            </a:r>
            <a:endParaRPr sz="1800"/>
          </a:p>
        </p:txBody>
      </p:sp>
      <p:sp>
        <p:nvSpPr>
          <p:cNvPr id="254" name="Google Shape;254;p34"/>
          <p:cNvSpPr txBox="1"/>
          <p:nvPr/>
        </p:nvSpPr>
        <p:spPr>
          <a:xfrm>
            <a:off x="6960909" y="2165939"/>
            <a:ext cx="46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1"/>
                </a:solidFill>
              </a:rPr>
              <a:t>3</a:t>
            </a:r>
            <a:r>
              <a:rPr lang="zh-TW" sz="1800">
                <a:solidFill>
                  <a:schemeClr val="dk1"/>
                </a:solidFill>
              </a:rPr>
              <a:t>.</a:t>
            </a:r>
            <a:endParaRPr sz="1800"/>
          </a:p>
        </p:txBody>
      </p:sp>
      <p:sp>
        <p:nvSpPr>
          <p:cNvPr id="255" name="Google Shape;255;p34"/>
          <p:cNvSpPr txBox="1"/>
          <p:nvPr/>
        </p:nvSpPr>
        <p:spPr>
          <a:xfrm>
            <a:off x="8100659" y="3202539"/>
            <a:ext cx="46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1"/>
                </a:solidFill>
              </a:rPr>
              <a:t>4</a:t>
            </a:r>
            <a:r>
              <a:rPr lang="zh-TW" sz="1800">
                <a:solidFill>
                  <a:schemeClr val="dk1"/>
                </a:solidFill>
              </a:rPr>
              <a:t>.</a:t>
            </a:r>
            <a:endParaRPr sz="1800"/>
          </a:p>
        </p:txBody>
      </p:sp>
      <p:sp>
        <p:nvSpPr>
          <p:cNvPr id="256" name="Google Shape;256;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2" name="Google Shape;262;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63" name="Google Shape;263;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64" name="Google Shape;264;p35"/>
          <p:cNvPicPr preferRelativeResize="0"/>
          <p:nvPr/>
        </p:nvPicPr>
        <p:blipFill>
          <a:blip r:embed="rId3">
            <a:alphaModFix/>
          </a:blip>
          <a:stretch>
            <a:fillRect/>
          </a:stretch>
        </p:blipFill>
        <p:spPr>
          <a:xfrm>
            <a:off x="2750900" y="1263851"/>
            <a:ext cx="4861574" cy="349155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 - </a:t>
            </a:r>
            <a:r>
              <a:rPr lang="zh-TW">
                <a:highlight>
                  <a:schemeClr val="accent6"/>
                </a:highlight>
              </a:rPr>
              <a:t>NOI Detection</a:t>
            </a:r>
            <a:r>
              <a:rPr lang="zh-TW"/>
              <a:t> and Subgraph Sampling</a:t>
            </a:r>
            <a:endParaRPr/>
          </a:p>
        </p:txBody>
      </p:sp>
      <p:sp>
        <p:nvSpPr>
          <p:cNvPr id="270" name="Google Shape;270;p36"/>
          <p:cNvSpPr txBox="1"/>
          <p:nvPr>
            <p:ph idx="1" type="body"/>
          </p:nvPr>
        </p:nvSpPr>
        <p:spPr>
          <a:xfrm>
            <a:off x="311700" y="1152475"/>
            <a:ext cx="8520600" cy="83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The purpose of NOI detection is to quickly discover potential malicious nodes in the provenance graph.</a:t>
            </a:r>
            <a:endParaRPr>
              <a:solidFill>
                <a:schemeClr val="dk1"/>
              </a:solidFill>
            </a:endParaRPr>
          </a:p>
        </p:txBody>
      </p:sp>
      <p:sp>
        <p:nvSpPr>
          <p:cNvPr id="271" name="Google Shape;271;p36"/>
          <p:cNvSpPr txBox="1"/>
          <p:nvPr>
            <p:ph idx="1" type="body"/>
          </p:nvPr>
        </p:nvSpPr>
        <p:spPr>
          <a:xfrm>
            <a:off x="311700" y="1988875"/>
            <a:ext cx="8520600" cy="2961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zh-TW">
                <a:solidFill>
                  <a:schemeClr val="dk1"/>
                </a:solidFill>
              </a:rPr>
              <a:t>Feature initialization</a:t>
            </a:r>
            <a:br>
              <a:rPr lang="zh-TW">
                <a:solidFill>
                  <a:schemeClr val="dk1"/>
                </a:solidFill>
              </a:rPr>
            </a:br>
            <a:r>
              <a:rPr lang="zh-TW">
                <a:solidFill>
                  <a:schemeClr val="dk1"/>
                </a:solidFill>
              </a:rPr>
              <a:t>First, we categorize the nodes in a provenance graph into four types , and the interactions between different types of nodes can form 21 types of edges.</a:t>
            </a:r>
            <a:endParaRPr>
              <a:solidFill>
                <a:schemeClr val="dk1"/>
              </a:solidFill>
            </a:endParaRPr>
          </a:p>
        </p:txBody>
      </p:sp>
      <p:pic>
        <p:nvPicPr>
          <p:cNvPr id="272" name="Google Shape;272;p36"/>
          <p:cNvPicPr preferRelativeResize="0"/>
          <p:nvPr/>
        </p:nvPicPr>
        <p:blipFill>
          <a:blip r:embed="rId3">
            <a:alphaModFix/>
          </a:blip>
          <a:stretch>
            <a:fillRect/>
          </a:stretch>
        </p:blipFill>
        <p:spPr>
          <a:xfrm>
            <a:off x="5551775" y="2975550"/>
            <a:ext cx="3467924" cy="2090250"/>
          </a:xfrm>
          <a:prstGeom prst="rect">
            <a:avLst/>
          </a:prstGeom>
          <a:noFill/>
          <a:ln cap="flat" cmpd="sng" w="9525">
            <a:solidFill>
              <a:schemeClr val="dk2"/>
            </a:solidFill>
            <a:prstDash val="solid"/>
            <a:round/>
            <a:headEnd len="sm" w="sm" type="none"/>
            <a:tailEnd len="sm" w="sm" type="none"/>
          </a:ln>
        </p:spPr>
      </p:pic>
      <p:sp>
        <p:nvSpPr>
          <p:cNvPr id="273" name="Google Shape;273;p36"/>
          <p:cNvSpPr txBox="1"/>
          <p:nvPr/>
        </p:nvSpPr>
        <p:spPr>
          <a:xfrm>
            <a:off x="249525" y="3107875"/>
            <a:ext cx="5193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t>Then, for each node 𝑣ᵢ in the provenance graph, we cre ate a 42-dimensional vector 𝑒𝑖 = [𝑎1,𝑎2, ...,𝑎21,𝑎22,𝑎23, ...,𝑎42] as the initial features of 𝑣ᵢ</a:t>
            </a:r>
            <a:endParaRPr sz="1800"/>
          </a:p>
        </p:txBody>
      </p:sp>
      <p:sp>
        <p:nvSpPr>
          <p:cNvPr id="274" name="Google Shape;274;p36"/>
          <p:cNvSpPr txBox="1"/>
          <p:nvPr/>
        </p:nvSpPr>
        <p:spPr>
          <a:xfrm>
            <a:off x="645825" y="4239225"/>
            <a:ext cx="440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1"/>
                </a:solidFill>
              </a:rPr>
              <a:t>𝑒𝑖 = [𝑎1,𝑎2, ...,𝑎21,𝑎22,𝑎23, ...,𝑎42]</a:t>
            </a:r>
            <a:endParaRPr/>
          </a:p>
        </p:txBody>
      </p:sp>
      <p:sp>
        <p:nvSpPr>
          <p:cNvPr id="275" name="Google Shape;275;p36"/>
          <p:cNvSpPr txBox="1"/>
          <p:nvPr/>
        </p:nvSpPr>
        <p:spPr>
          <a:xfrm>
            <a:off x="1180993" y="4747543"/>
            <a:ext cx="14805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a:t>i</a:t>
            </a:r>
            <a:r>
              <a:rPr lang="zh-TW"/>
              <a:t>ncoming edges</a:t>
            </a:r>
            <a:endParaRPr/>
          </a:p>
        </p:txBody>
      </p:sp>
      <p:sp>
        <p:nvSpPr>
          <p:cNvPr id="276" name="Google Shape;276;p36"/>
          <p:cNvSpPr txBox="1"/>
          <p:nvPr/>
        </p:nvSpPr>
        <p:spPr>
          <a:xfrm>
            <a:off x="2700832" y="4747543"/>
            <a:ext cx="14805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a:t>outgoing </a:t>
            </a:r>
            <a:r>
              <a:rPr lang="zh-TW"/>
              <a:t>edges</a:t>
            </a:r>
            <a:endParaRPr/>
          </a:p>
        </p:txBody>
      </p:sp>
      <p:sp>
        <p:nvSpPr>
          <p:cNvPr id="277" name="Google Shape;277;p36"/>
          <p:cNvSpPr/>
          <p:nvPr/>
        </p:nvSpPr>
        <p:spPr>
          <a:xfrm>
            <a:off x="1247375" y="4343925"/>
            <a:ext cx="1367400" cy="264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36"/>
          <p:cNvSpPr/>
          <p:nvPr/>
        </p:nvSpPr>
        <p:spPr>
          <a:xfrm>
            <a:off x="2654227" y="4343925"/>
            <a:ext cx="1573800" cy="264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9" name="Google Shape;279;p36"/>
          <p:cNvCxnSpPr>
            <a:stCxn id="277" idx="2"/>
            <a:endCxn id="275" idx="0"/>
          </p:cNvCxnSpPr>
          <p:nvPr/>
        </p:nvCxnSpPr>
        <p:spPr>
          <a:xfrm flipH="1">
            <a:off x="1921175" y="4608225"/>
            <a:ext cx="9900" cy="139200"/>
          </a:xfrm>
          <a:prstGeom prst="straightConnector1">
            <a:avLst/>
          </a:prstGeom>
          <a:noFill/>
          <a:ln cap="flat" cmpd="sng" w="9525">
            <a:solidFill>
              <a:schemeClr val="dk2"/>
            </a:solidFill>
            <a:prstDash val="solid"/>
            <a:round/>
            <a:headEnd len="med" w="med" type="none"/>
            <a:tailEnd len="med" w="med" type="triangle"/>
          </a:ln>
        </p:spPr>
      </p:cxnSp>
      <p:cxnSp>
        <p:nvCxnSpPr>
          <p:cNvPr id="280" name="Google Shape;280;p36"/>
          <p:cNvCxnSpPr>
            <a:stCxn id="278" idx="2"/>
            <a:endCxn id="276" idx="0"/>
          </p:cNvCxnSpPr>
          <p:nvPr/>
        </p:nvCxnSpPr>
        <p:spPr>
          <a:xfrm>
            <a:off x="3441127" y="4608225"/>
            <a:ext cx="0" cy="139200"/>
          </a:xfrm>
          <a:prstGeom prst="straightConnector1">
            <a:avLst/>
          </a:prstGeom>
          <a:noFill/>
          <a:ln cap="flat" cmpd="sng" w="9525">
            <a:solidFill>
              <a:schemeClr val="dk2"/>
            </a:solidFill>
            <a:prstDash val="solid"/>
            <a:round/>
            <a:headEnd len="med" w="med" type="none"/>
            <a:tailEnd len="med" w="med" type="triangle"/>
          </a:ln>
        </p:spPr>
      </p:cxnSp>
      <p:cxnSp>
        <p:nvCxnSpPr>
          <p:cNvPr id="281" name="Google Shape;281;p36"/>
          <p:cNvCxnSpPr>
            <a:stCxn id="272" idx="1"/>
          </p:cNvCxnSpPr>
          <p:nvPr/>
        </p:nvCxnSpPr>
        <p:spPr>
          <a:xfrm flipH="1">
            <a:off x="4517975" y="4020675"/>
            <a:ext cx="1033800" cy="365700"/>
          </a:xfrm>
          <a:prstGeom prst="straightConnector1">
            <a:avLst/>
          </a:prstGeom>
          <a:noFill/>
          <a:ln cap="flat" cmpd="sng" w="9525">
            <a:solidFill>
              <a:schemeClr val="dk2"/>
            </a:solidFill>
            <a:prstDash val="solid"/>
            <a:round/>
            <a:headEnd len="med" w="med" type="none"/>
            <a:tailEnd len="med" w="med" type="triangle"/>
          </a:ln>
        </p:spPr>
      </p:cxnSp>
      <p:sp>
        <p:nvSpPr>
          <p:cNvPr id="282" name="Google Shape;282;p36"/>
          <p:cNvSpPr txBox="1"/>
          <p:nvPr/>
        </p:nvSpPr>
        <p:spPr>
          <a:xfrm>
            <a:off x="4572275" y="4343925"/>
            <a:ext cx="92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21edges</a:t>
            </a:r>
            <a:endParaRPr/>
          </a:p>
        </p:txBody>
      </p:sp>
      <p:sp>
        <p:nvSpPr>
          <p:cNvPr id="283" name="Google Shape;283;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 - </a:t>
            </a:r>
            <a:r>
              <a:rPr lang="zh-TW">
                <a:highlight>
                  <a:schemeClr val="accent6"/>
                </a:highlight>
              </a:rPr>
              <a:t>NOI Detection</a:t>
            </a:r>
            <a:r>
              <a:rPr lang="zh-TW"/>
              <a:t> and Subgraph Sampling</a:t>
            </a:r>
            <a:endParaRPr/>
          </a:p>
        </p:txBody>
      </p:sp>
      <p:sp>
        <p:nvSpPr>
          <p:cNvPr id="289" name="Google Shape;289;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startAt="2"/>
            </a:pPr>
            <a:r>
              <a:rPr lang="zh-TW">
                <a:solidFill>
                  <a:schemeClr val="dk1"/>
                </a:solidFill>
              </a:rPr>
              <a:t>Feature learning</a:t>
            </a:r>
            <a:br>
              <a:rPr lang="zh-TW">
                <a:solidFill>
                  <a:schemeClr val="dk1"/>
                </a:solidFill>
              </a:rPr>
            </a:br>
            <a:r>
              <a:rPr lang="zh-TW">
                <a:solidFill>
                  <a:schemeClr val="dk1"/>
                </a:solidFill>
              </a:rPr>
              <a:t>we use node types as the </a:t>
            </a:r>
            <a:r>
              <a:rPr lang="zh-TW">
                <a:solidFill>
                  <a:schemeClr val="dk1"/>
                </a:solidFill>
                <a:highlight>
                  <a:schemeClr val="accent6"/>
                </a:highlight>
              </a:rPr>
              <a:t>supervised signals</a:t>
            </a:r>
            <a:r>
              <a:rPr lang="zh-TW">
                <a:solidFill>
                  <a:schemeClr val="dk1"/>
                </a:solidFill>
              </a:rPr>
              <a:t>, and train the GNN with a downstream task of node type classification (i.e.,classifying a node into process, file, registry, or socket).</a:t>
            </a:r>
            <a:br>
              <a:rPr lang="zh-TW">
                <a:solidFill>
                  <a:schemeClr val="dk1"/>
                </a:solidFill>
              </a:rPr>
            </a:br>
            <a:br>
              <a:rPr lang="zh-TW">
                <a:solidFill>
                  <a:schemeClr val="dk1"/>
                </a:solidFill>
              </a:rPr>
            </a:br>
            <a:r>
              <a:rPr lang="zh-TW">
                <a:solidFill>
                  <a:schemeClr val="dk1"/>
                </a:solidFill>
              </a:rPr>
              <a:t>E(𝑡) is node feature matrix</a:t>
            </a:r>
            <a:br>
              <a:rPr lang="zh-TW">
                <a:solidFill>
                  <a:schemeClr val="dk1"/>
                </a:solidFill>
              </a:rPr>
            </a:br>
            <a:r>
              <a:rPr lang="zh-TW">
                <a:solidFill>
                  <a:schemeClr val="dk1"/>
                </a:solidFill>
              </a:rPr>
              <a:t>𝐺 is the topology of the provenance graph</a:t>
            </a:r>
            <a:br>
              <a:rPr lang="zh-TW">
                <a:solidFill>
                  <a:schemeClr val="dk1"/>
                </a:solidFill>
              </a:rPr>
            </a:br>
            <a:r>
              <a:rPr lang="zh-TW">
                <a:solidFill>
                  <a:schemeClr val="dk1"/>
                </a:solidFill>
              </a:rPr>
              <a:t>W(𝑡−1) is a trainable parameter matrix</a:t>
            </a:r>
            <a:br>
              <a:rPr lang="zh-TW">
                <a:solidFill>
                  <a:schemeClr val="dk1"/>
                </a:solidFill>
              </a:rPr>
            </a:br>
            <a:br>
              <a:rPr lang="zh-TW">
                <a:solidFill>
                  <a:schemeClr val="dk1"/>
                </a:solidFill>
              </a:rPr>
            </a:br>
            <a:r>
              <a:rPr lang="zh-TW">
                <a:solidFill>
                  <a:schemeClr val="dk1"/>
                </a:solidFill>
              </a:rPr>
              <a:t>then input E(𝑡) into a softmax classifier to make node type classification.</a:t>
            </a:r>
            <a:endParaRPr>
              <a:solidFill>
                <a:schemeClr val="dk1"/>
              </a:solidFill>
            </a:endParaRPr>
          </a:p>
        </p:txBody>
      </p:sp>
      <p:pic>
        <p:nvPicPr>
          <p:cNvPr id="290" name="Google Shape;290;p37"/>
          <p:cNvPicPr preferRelativeResize="0"/>
          <p:nvPr/>
        </p:nvPicPr>
        <p:blipFill>
          <a:blip r:embed="rId3">
            <a:alphaModFix/>
          </a:blip>
          <a:stretch>
            <a:fillRect/>
          </a:stretch>
        </p:blipFill>
        <p:spPr>
          <a:xfrm>
            <a:off x="5196650" y="2998575"/>
            <a:ext cx="3757950" cy="644475"/>
          </a:xfrm>
          <a:prstGeom prst="rect">
            <a:avLst/>
          </a:prstGeom>
          <a:noFill/>
          <a:ln cap="flat" cmpd="sng" w="9525">
            <a:solidFill>
              <a:schemeClr val="dk2"/>
            </a:solidFill>
            <a:prstDash val="solid"/>
            <a:round/>
            <a:headEnd len="sm" w="sm" type="none"/>
            <a:tailEnd len="sm" w="sm" type="none"/>
          </a:ln>
        </p:spPr>
      </p:pic>
      <p:sp>
        <p:nvSpPr>
          <p:cNvPr id="291" name="Google Shape;291;p37"/>
          <p:cNvSpPr txBox="1"/>
          <p:nvPr/>
        </p:nvSpPr>
        <p:spPr>
          <a:xfrm>
            <a:off x="843975" y="4527900"/>
            <a:ext cx="574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我們可以得知作者</a:t>
            </a:r>
            <a:r>
              <a:rPr lang="zh-TW">
                <a:solidFill>
                  <a:schemeClr val="dk1"/>
                </a:solidFill>
              </a:rPr>
              <a:t>用GNN去疊代node的資訊量，t越</a:t>
            </a:r>
            <a:r>
              <a:rPr lang="zh-TW">
                <a:solidFill>
                  <a:schemeClr val="dk1"/>
                </a:solidFill>
              </a:rPr>
              <a:t>大</a:t>
            </a:r>
            <a:r>
              <a:rPr lang="zh-TW">
                <a:solidFill>
                  <a:schemeClr val="dk1"/>
                </a:solidFill>
              </a:rPr>
              <a:t>資訊越多。</a:t>
            </a:r>
            <a:endParaRPr>
              <a:solidFill>
                <a:schemeClr val="dk1"/>
              </a:solidFill>
            </a:endParaRPr>
          </a:p>
          <a:p>
            <a:pPr indent="0" lvl="0" marL="0" rtl="0" algn="l">
              <a:spcBef>
                <a:spcPts val="0"/>
              </a:spcBef>
              <a:spcAft>
                <a:spcPts val="0"/>
              </a:spcAft>
              <a:buNone/>
            </a:pPr>
            <a:r>
              <a:rPr lang="zh-TW">
                <a:solidFill>
                  <a:schemeClr val="dk1"/>
                </a:solidFill>
              </a:rPr>
              <a:t>但是不清楚t的大小跟hop是否絕對相關，只能說是正相關。</a:t>
            </a:r>
            <a:endParaRPr>
              <a:solidFill>
                <a:schemeClr val="dk1"/>
              </a:solidFill>
            </a:endParaRPr>
          </a:p>
        </p:txBody>
      </p:sp>
      <p:sp>
        <p:nvSpPr>
          <p:cNvPr id="292" name="Google Shape;29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 - </a:t>
            </a:r>
            <a:r>
              <a:rPr lang="zh-TW">
                <a:highlight>
                  <a:schemeClr val="accent6"/>
                </a:highlight>
              </a:rPr>
              <a:t>NOI Detection</a:t>
            </a:r>
            <a:r>
              <a:rPr lang="zh-TW"/>
              <a:t> and Subgraph Sampling</a:t>
            </a:r>
            <a:endParaRPr/>
          </a:p>
        </p:txBody>
      </p:sp>
      <p:sp>
        <p:nvSpPr>
          <p:cNvPr id="298" name="Google Shape;298;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startAt="3"/>
            </a:pPr>
            <a:r>
              <a:rPr lang="zh-TW">
                <a:solidFill>
                  <a:schemeClr val="dk1"/>
                </a:solidFill>
              </a:rPr>
              <a:t>NOI detection</a:t>
            </a:r>
            <a:br>
              <a:rPr lang="zh-TW">
                <a:solidFill>
                  <a:schemeClr val="dk1"/>
                </a:solidFill>
              </a:rPr>
            </a:br>
            <a:r>
              <a:rPr lang="zh-TW">
                <a:solidFill>
                  <a:schemeClr val="dk1"/>
                </a:solidFill>
              </a:rPr>
              <a:t>Specifically, we apply iForest [20], which has been proven to be an effective outlier mining algorithm, to detect outliers in all “process” nodes in the provenance graph. These outliers are treated as NOIs.</a:t>
            </a:r>
            <a:endParaRPr>
              <a:solidFill>
                <a:schemeClr val="dk1"/>
              </a:solidFill>
            </a:endParaRPr>
          </a:p>
        </p:txBody>
      </p:sp>
      <p:sp>
        <p:nvSpPr>
          <p:cNvPr id="299" name="Google Shape;299;p38"/>
          <p:cNvSpPr txBox="1"/>
          <p:nvPr/>
        </p:nvSpPr>
        <p:spPr>
          <a:xfrm>
            <a:off x="0" y="47036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u="sng">
                <a:solidFill>
                  <a:schemeClr val="hlink"/>
                </a:solidFill>
                <a:hlinkClick r:id="rId3"/>
              </a:rPr>
              <a:t>[20] Isolation forest.</a:t>
            </a:r>
            <a:endParaRPr/>
          </a:p>
        </p:txBody>
      </p:sp>
      <p:pic>
        <p:nvPicPr>
          <p:cNvPr id="300" name="Google Shape;300;p38"/>
          <p:cNvPicPr preferRelativeResize="0"/>
          <p:nvPr/>
        </p:nvPicPr>
        <p:blipFill>
          <a:blip r:embed="rId4">
            <a:alphaModFix/>
          </a:blip>
          <a:stretch>
            <a:fillRect/>
          </a:stretch>
        </p:blipFill>
        <p:spPr>
          <a:xfrm>
            <a:off x="3321375" y="2605779"/>
            <a:ext cx="5698026" cy="2116849"/>
          </a:xfrm>
          <a:prstGeom prst="rect">
            <a:avLst/>
          </a:prstGeom>
          <a:noFill/>
          <a:ln cap="flat" cmpd="sng" w="9525">
            <a:solidFill>
              <a:schemeClr val="dk2"/>
            </a:solidFill>
            <a:prstDash val="solid"/>
            <a:round/>
            <a:headEnd len="sm" w="sm" type="none"/>
            <a:tailEnd len="sm" w="sm" type="none"/>
          </a:ln>
        </p:spPr>
      </p:pic>
      <p:sp>
        <p:nvSpPr>
          <p:cNvPr id="301" name="Google Shape;301;p38"/>
          <p:cNvSpPr txBox="1"/>
          <p:nvPr/>
        </p:nvSpPr>
        <p:spPr>
          <a:xfrm>
            <a:off x="4670388" y="4711466"/>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100" u="sng">
                <a:solidFill>
                  <a:schemeClr val="hlink"/>
                </a:solidFill>
                <a:hlinkClick r:id="rId5"/>
              </a:rPr>
              <a:t>Stata：异常值检测算法-分离森林-iforest</a:t>
            </a:r>
            <a:endParaRPr/>
          </a:p>
        </p:txBody>
      </p:sp>
      <p:sp>
        <p:nvSpPr>
          <p:cNvPr id="302" name="Google Shape;30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 - NOI Detection and </a:t>
            </a:r>
            <a:r>
              <a:rPr lang="zh-TW">
                <a:highlight>
                  <a:schemeClr val="accent6"/>
                </a:highlight>
              </a:rPr>
              <a:t>Subgraph Sampling</a:t>
            </a:r>
            <a:endParaRPr>
              <a:highlight>
                <a:schemeClr val="accent6"/>
              </a:highlight>
            </a:endParaRPr>
          </a:p>
        </p:txBody>
      </p:sp>
      <p:sp>
        <p:nvSpPr>
          <p:cNvPr id="308" name="Google Shape;308;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zh-TW">
                <a:solidFill>
                  <a:schemeClr val="dk1"/>
                </a:solidFill>
              </a:rPr>
              <a:t>Seed node selecting</a:t>
            </a:r>
            <a:br>
              <a:rPr lang="zh-TW">
                <a:solidFill>
                  <a:schemeClr val="dk1"/>
                </a:solidFill>
              </a:rPr>
            </a:br>
            <a:r>
              <a:rPr lang="zh-TW">
                <a:solidFill>
                  <a:schemeClr val="dk1"/>
                </a:solidFill>
              </a:rPr>
              <a:t>In network science, a </a:t>
            </a:r>
            <a:r>
              <a:rPr lang="zh-TW">
                <a:solidFill>
                  <a:schemeClr val="dk1"/>
                </a:solidFill>
                <a:highlight>
                  <a:schemeClr val="accent6"/>
                </a:highlight>
              </a:rPr>
              <a:t>hub node</a:t>
            </a:r>
            <a:r>
              <a:rPr lang="zh-TW">
                <a:solidFill>
                  <a:schemeClr val="dk1"/>
                </a:solidFill>
              </a:rPr>
              <a:t> is a node that has a significant higher degree of connectivity in the graph.[29]</a:t>
            </a:r>
            <a:br>
              <a:rPr lang="zh-TW">
                <a:solidFill>
                  <a:schemeClr val="dk1"/>
                </a:solidFill>
              </a:rPr>
            </a:br>
            <a:br>
              <a:rPr lang="zh-TW">
                <a:solidFill>
                  <a:schemeClr val="dk1"/>
                </a:solidFill>
              </a:rPr>
            </a:br>
            <a:r>
              <a:rPr lang="zh-TW">
                <a:solidFill>
                  <a:schemeClr val="dk1"/>
                </a:solidFill>
              </a:rPr>
              <a:t>For example, a malicious node related to the APT technique “Exfiltration over C2 Channel” usually has a large number of “connect” and “send” edges to remote IP nodes.</a:t>
            </a:r>
            <a:br>
              <a:rPr lang="zh-TW">
                <a:solidFill>
                  <a:schemeClr val="dk1"/>
                </a:solidFill>
              </a:rPr>
            </a:br>
            <a:br>
              <a:rPr lang="zh-TW">
                <a:solidFill>
                  <a:schemeClr val="dk1"/>
                </a:solidFill>
              </a:rPr>
            </a:br>
            <a:r>
              <a:rPr lang="zh-TW">
                <a:solidFill>
                  <a:schemeClr val="dk1"/>
                </a:solidFill>
              </a:rPr>
              <a:t>Thus, we select the</a:t>
            </a:r>
            <a:r>
              <a:rPr lang="zh-TW">
                <a:solidFill>
                  <a:schemeClr val="dk1"/>
                </a:solidFill>
              </a:rPr>
              <a:t> </a:t>
            </a:r>
            <a:r>
              <a:rPr lang="zh-TW">
                <a:solidFill>
                  <a:schemeClr val="dk1"/>
                </a:solidFill>
              </a:rPr>
              <a:t>NOI with the </a:t>
            </a:r>
            <a:r>
              <a:rPr lang="zh-TW">
                <a:solidFill>
                  <a:schemeClr val="dk1"/>
                </a:solidFill>
                <a:highlight>
                  <a:schemeClr val="accent6"/>
                </a:highlight>
              </a:rPr>
              <a:t>highest degree of connectivity</a:t>
            </a:r>
            <a:r>
              <a:rPr lang="zh-TW">
                <a:solidFill>
                  <a:schemeClr val="dk1"/>
                </a:solidFill>
              </a:rPr>
              <a:t> as the seed node.</a:t>
            </a:r>
            <a:endParaRPr>
              <a:solidFill>
                <a:schemeClr val="dk1"/>
              </a:solidFill>
            </a:endParaRPr>
          </a:p>
        </p:txBody>
      </p:sp>
      <p:sp>
        <p:nvSpPr>
          <p:cNvPr id="309" name="Google Shape;309;p39"/>
          <p:cNvSpPr txBox="1"/>
          <p:nvPr/>
        </p:nvSpPr>
        <p:spPr>
          <a:xfrm>
            <a:off x="0" y="4703625"/>
            <a:ext cx="867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u="sng">
                <a:solidFill>
                  <a:schemeClr val="hlink"/>
                </a:solidFill>
                <a:hlinkClick r:id="rId3"/>
              </a:rPr>
              <a:t>[29] </a:t>
            </a:r>
            <a:r>
              <a:rPr lang="zh-TW" u="sng">
                <a:solidFill>
                  <a:schemeClr val="hlink"/>
                </a:solidFill>
                <a:hlinkClick r:id="rId4"/>
              </a:rPr>
              <a:t>Threa trace:Detecting</a:t>
            </a:r>
            <a:r>
              <a:rPr lang="zh-TW" u="sng">
                <a:solidFill>
                  <a:schemeClr val="hlink"/>
                </a:solidFill>
                <a:hlinkClick r:id="rId5"/>
              </a:rPr>
              <a:t> and tracing host </a:t>
            </a:r>
            <a:r>
              <a:rPr lang="zh-TW" u="sng">
                <a:solidFill>
                  <a:schemeClr val="hlink"/>
                </a:solidFill>
                <a:hlinkClick r:id="rId6"/>
              </a:rPr>
              <a:t>based threats in node level through provenance graph learning.</a:t>
            </a:r>
            <a:endParaRPr/>
          </a:p>
        </p:txBody>
      </p:sp>
      <p:sp>
        <p:nvSpPr>
          <p:cNvPr id="310" name="Google Shape;310;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 - NOI Detection and </a:t>
            </a:r>
            <a:r>
              <a:rPr lang="zh-TW">
                <a:highlight>
                  <a:schemeClr val="accent6"/>
                </a:highlight>
              </a:rPr>
              <a:t>Subgraph Sampling</a:t>
            </a:r>
            <a:endParaRPr>
              <a:highlight>
                <a:schemeClr val="accent6"/>
              </a:highlight>
            </a:endParaRPr>
          </a:p>
        </p:txBody>
      </p:sp>
      <p:sp>
        <p:nvSpPr>
          <p:cNvPr id="316" name="Google Shape;316;p40"/>
          <p:cNvSpPr txBox="1"/>
          <p:nvPr>
            <p:ph idx="1" type="body"/>
          </p:nvPr>
        </p:nvSpPr>
        <p:spPr>
          <a:xfrm>
            <a:off x="311700" y="1152475"/>
            <a:ext cx="8520600" cy="3405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startAt="2"/>
            </a:pPr>
            <a:r>
              <a:rPr lang="zh-TW">
                <a:solidFill>
                  <a:schemeClr val="dk1"/>
                </a:solidFill>
              </a:rPr>
              <a:t>Graph searching</a:t>
            </a:r>
            <a:br>
              <a:rPr lang="zh-TW">
                <a:solidFill>
                  <a:schemeClr val="dk1"/>
                </a:solidFill>
              </a:rPr>
            </a:br>
            <a:r>
              <a:rPr lang="zh-TW">
                <a:solidFill>
                  <a:schemeClr val="dk1"/>
                </a:solidFill>
              </a:rPr>
              <a:t>Starting from a seed node 𝑣ₖ, we firstly perform a DFS (Depth-First Search), going forward or backward, to</a:t>
            </a:r>
            <a:r>
              <a:rPr lang="zh-TW">
                <a:solidFill>
                  <a:schemeClr val="dk1"/>
                </a:solidFill>
              </a:rPr>
              <a:t> </a:t>
            </a:r>
            <a:r>
              <a:rPr lang="zh-TW">
                <a:solidFill>
                  <a:schemeClr val="dk1"/>
                </a:solidFill>
              </a:rPr>
              <a:t>find out whether we can reach other NOIs in 𝜆 hops, where 𝜆 is a</a:t>
            </a:r>
            <a:r>
              <a:rPr lang="zh-TW">
                <a:solidFill>
                  <a:schemeClr val="dk1"/>
                </a:solidFill>
              </a:rPr>
              <a:t> </a:t>
            </a:r>
            <a:r>
              <a:rPr lang="zh-TW">
                <a:solidFill>
                  <a:schemeClr val="dk1"/>
                </a:solidFill>
              </a:rPr>
              <a:t>pre-defined length threshold of search paths.</a:t>
            </a:r>
            <a:br>
              <a:rPr lang="zh-TW">
                <a:solidFill>
                  <a:schemeClr val="dk1"/>
                </a:solidFill>
              </a:rPr>
            </a:br>
            <a:br>
              <a:rPr lang="zh-TW">
                <a:solidFill>
                  <a:schemeClr val="dk1"/>
                </a:solidFill>
              </a:rPr>
            </a:br>
            <a:r>
              <a:rPr lang="zh-TW">
                <a:solidFill>
                  <a:schemeClr val="dk1"/>
                </a:solidFill>
              </a:rPr>
              <a:t>If no NOI could be found in a 𝜆-hop search path, we stop expanding the search along this path. </a:t>
            </a:r>
            <a:br>
              <a:rPr lang="zh-TW">
                <a:solidFill>
                  <a:schemeClr val="dk1"/>
                </a:solidFill>
              </a:rPr>
            </a:br>
            <a:br>
              <a:rPr lang="zh-TW">
                <a:solidFill>
                  <a:schemeClr val="dk1"/>
                </a:solidFill>
              </a:rPr>
            </a:br>
            <a:r>
              <a:rPr lang="zh-TW">
                <a:solidFill>
                  <a:schemeClr val="dk1"/>
                </a:solidFill>
              </a:rPr>
              <a:t>Otherwise, we recursively start the DFSs from each found NOI to expand the search paths.</a:t>
            </a:r>
            <a:endParaRPr>
              <a:solidFill>
                <a:schemeClr val="dk1"/>
              </a:solidFill>
            </a:endParaRPr>
          </a:p>
        </p:txBody>
      </p:sp>
      <p:sp>
        <p:nvSpPr>
          <p:cNvPr id="317" name="Google Shape;317;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18" name="Google Shape;318;p40"/>
          <p:cNvSpPr txBox="1"/>
          <p:nvPr/>
        </p:nvSpPr>
        <p:spPr>
          <a:xfrm>
            <a:off x="1029450" y="4557475"/>
            <a:ext cx="7085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800">
                <a:solidFill>
                  <a:schemeClr val="dk2"/>
                </a:solidFill>
              </a:rPr>
              <a:t>seed node是指連接率很高的node，通常能包含惡意節點但不是一定</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 - NOI Detection and </a:t>
            </a:r>
            <a:r>
              <a:rPr lang="zh-TW">
                <a:highlight>
                  <a:schemeClr val="accent6"/>
                </a:highlight>
              </a:rPr>
              <a:t>Subgraph Sampling</a:t>
            </a:r>
            <a:endParaRPr>
              <a:highlight>
                <a:schemeClr val="accent6"/>
              </a:highlight>
            </a:endParaRPr>
          </a:p>
        </p:txBody>
      </p:sp>
      <p:sp>
        <p:nvSpPr>
          <p:cNvPr id="324" name="Google Shape;32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startAt="3"/>
            </a:pPr>
            <a:r>
              <a:rPr lang="zh-TW">
                <a:solidFill>
                  <a:schemeClr val="dk1"/>
                </a:solidFill>
              </a:rPr>
              <a:t>Subgraph sampling</a:t>
            </a:r>
            <a:br>
              <a:rPr lang="zh-TW">
                <a:solidFill>
                  <a:schemeClr val="dk1"/>
                </a:solidFill>
              </a:rPr>
            </a:br>
            <a:r>
              <a:rPr lang="zh-TW">
                <a:solidFill>
                  <a:schemeClr val="dk1"/>
                </a:solidFill>
              </a:rPr>
              <a:t>When the graph searching process from seed node 𝑣𝑘 stops, a technique subgraph 𝑇𝑆𝐺𝑘 = (𝑆𝑉𝑘,𝑆𝐸𝑘) will be created where 𝑆𝑉𝑘 is the node set containing </a:t>
            </a:r>
            <a:r>
              <a:rPr lang="zh-TW">
                <a:solidFill>
                  <a:schemeClr val="dk1"/>
                </a:solidFill>
                <a:highlight>
                  <a:schemeClr val="accent6"/>
                </a:highlight>
              </a:rPr>
              <a:t>all the visited nodes</a:t>
            </a:r>
            <a:r>
              <a:rPr lang="zh-TW">
                <a:solidFill>
                  <a:schemeClr val="dk1"/>
                </a:solidFill>
              </a:rPr>
              <a:t> during the graph searching process (including both NOIs and benign nodes) and 𝑆𝐸𝑘 is the corresponding edge set.</a:t>
            </a:r>
            <a:br>
              <a:rPr lang="zh-TW">
                <a:solidFill>
                  <a:schemeClr val="dk1"/>
                </a:solidFill>
              </a:rPr>
            </a:br>
            <a:endParaRPr>
              <a:solidFill>
                <a:schemeClr val="dk1"/>
              </a:solidFill>
            </a:endParaRPr>
          </a:p>
        </p:txBody>
      </p:sp>
      <p:sp>
        <p:nvSpPr>
          <p:cNvPr id="325" name="Google Shape;32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Technique Subgraph Representation</a:t>
            </a:r>
            <a:endParaRPr/>
          </a:p>
        </p:txBody>
      </p:sp>
      <p:sp>
        <p:nvSpPr>
          <p:cNvPr id="331" name="Google Shape;331;p42"/>
          <p:cNvSpPr txBox="1"/>
          <p:nvPr>
            <p:ph idx="1" type="body"/>
          </p:nvPr>
        </p:nvSpPr>
        <p:spPr>
          <a:xfrm>
            <a:off x="311700" y="1152475"/>
            <a:ext cx="8520600" cy="3877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zh-TW">
                <a:solidFill>
                  <a:schemeClr val="dk1"/>
                </a:solidFill>
              </a:rPr>
              <a:t>To classify the technique subgraphs into different APT tactics / techniques, they have to be embedded into feature vectors by aggregating the feature vectors of all the involved nodes.</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First, the technique subgraphs involve </a:t>
            </a:r>
            <a:r>
              <a:rPr lang="zh-TW">
                <a:solidFill>
                  <a:schemeClr val="dk1"/>
                </a:solidFill>
                <a:highlight>
                  <a:schemeClr val="accent6"/>
                </a:highlight>
              </a:rPr>
              <a:t>multiple types of nodes and edges</a:t>
            </a:r>
            <a:r>
              <a:rPr lang="zh-TW">
                <a:solidFill>
                  <a:schemeClr val="dk1"/>
                </a:solidFill>
              </a:rPr>
              <a:t>, which should be taken into account when learning the representations.</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Second, due to the diversity of APT techniques, the technique subgraphs could have </a:t>
            </a:r>
            <a:r>
              <a:rPr lang="zh-TW">
                <a:solidFill>
                  <a:schemeClr val="dk1"/>
                </a:solidFill>
                <a:highlight>
                  <a:schemeClr val="accent6"/>
                </a:highlight>
              </a:rPr>
              <a:t>great difference in the sizes</a:t>
            </a:r>
            <a:r>
              <a:rPr lang="zh-TW">
                <a:solidFill>
                  <a:schemeClr val="dk1"/>
                </a:solidFill>
              </a:rPr>
              <a:t>.</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Third, each technique subgraph contains a </a:t>
            </a:r>
            <a:r>
              <a:rPr lang="zh-TW">
                <a:solidFill>
                  <a:schemeClr val="dk1"/>
                </a:solidFill>
                <a:highlight>
                  <a:schemeClr val="accent6"/>
                </a:highlight>
              </a:rPr>
              <a:t>large portion of benign nodes</a:t>
            </a:r>
            <a:r>
              <a:rPr lang="zh-TW">
                <a:solidFill>
                  <a:schemeClr val="dk1"/>
                </a:solidFill>
              </a:rPr>
              <a:t>, and thus different nodes in a technique subgraph should have great differences in the impact on the final representation.</a:t>
            </a:r>
            <a:endParaRPr>
              <a:solidFill>
                <a:schemeClr val="dk1"/>
              </a:solidFill>
            </a:endParaRPr>
          </a:p>
        </p:txBody>
      </p:sp>
      <p:sp>
        <p:nvSpPr>
          <p:cNvPr id="332" name="Google Shape;33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Technique Subgraph Representation</a:t>
            </a:r>
            <a:endParaRPr/>
          </a:p>
          <a:p>
            <a:pPr indent="0" lvl="0" marL="0" rtl="0" algn="l">
              <a:spcBef>
                <a:spcPts val="0"/>
              </a:spcBef>
              <a:spcAft>
                <a:spcPts val="0"/>
              </a:spcAft>
              <a:buNone/>
            </a:pPr>
            <a:r>
              <a:t/>
            </a:r>
            <a:endParaRPr/>
          </a:p>
        </p:txBody>
      </p:sp>
      <p:sp>
        <p:nvSpPr>
          <p:cNvPr id="338" name="Google Shape;338;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we design a technique subgraph embedding model by extending HAN (Heterogeneous Graph Attention Network) [30].</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Formally, the purpose of technique subgraph embedding is to learn a function that map seach technique subgraph 𝑇𝑆𝐺 = (𝑆𝑉,𝑆𝐸) </a:t>
            </a:r>
            <a:r>
              <a:rPr lang="zh-TW">
                <a:solidFill>
                  <a:schemeClr val="dk1"/>
                </a:solidFill>
              </a:rPr>
              <a:t>t</a:t>
            </a:r>
            <a:r>
              <a:rPr lang="zh-TW">
                <a:solidFill>
                  <a:schemeClr val="dk1"/>
                </a:solidFill>
              </a:rPr>
              <a:t>o a 𝑑-dimensional feature vector h_𝑇𝑆𝐺(𝑑 ≪ |𝑆𝑉|), where 𝑆𝑉 </a:t>
            </a:r>
            <a:r>
              <a:rPr lang="zh-TW">
                <a:solidFill>
                  <a:schemeClr val="dk1"/>
                </a:solidFill>
              </a:rPr>
              <a:t>and 𝑆𝐸 </a:t>
            </a:r>
            <a:r>
              <a:rPr lang="zh-TW">
                <a:solidFill>
                  <a:schemeClr val="dk1"/>
                </a:solidFill>
              </a:rPr>
              <a:t>are node set and edge set.</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The feature vector h_𝑇𝑆𝐺 should be capable of preserving the key semantics in 𝑇𝑆𝐺.</a:t>
            </a:r>
            <a:endParaRPr>
              <a:solidFill>
                <a:schemeClr val="dk1"/>
              </a:solidFill>
            </a:endParaRPr>
          </a:p>
        </p:txBody>
      </p:sp>
      <p:sp>
        <p:nvSpPr>
          <p:cNvPr id="339" name="Google Shape;339;p43"/>
          <p:cNvSpPr txBox="1"/>
          <p:nvPr/>
        </p:nvSpPr>
        <p:spPr>
          <a:xfrm>
            <a:off x="0" y="4703625"/>
            <a:ext cx="386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u="sng">
                <a:solidFill>
                  <a:schemeClr val="hlink"/>
                </a:solidFill>
              </a:rPr>
              <a:t>[30] </a:t>
            </a:r>
            <a:r>
              <a:rPr lang="zh-TW" u="sng">
                <a:solidFill>
                  <a:schemeClr val="hlink"/>
                </a:solidFill>
                <a:hlinkClick r:id="rId3"/>
              </a:rPr>
              <a:t>Heterogeneous Graph Attention Network.</a:t>
            </a:r>
            <a:endParaRPr/>
          </a:p>
        </p:txBody>
      </p:sp>
      <p:sp>
        <p:nvSpPr>
          <p:cNvPr id="340" name="Google Shape;34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Technique Subgraph Representation</a:t>
            </a:r>
            <a:endParaRPr/>
          </a:p>
          <a:p>
            <a:pPr indent="0" lvl="0" marL="0" rtl="0" algn="l">
              <a:spcBef>
                <a:spcPts val="0"/>
              </a:spcBef>
              <a:spcAft>
                <a:spcPts val="0"/>
              </a:spcAft>
              <a:buNone/>
            </a:pPr>
            <a:r>
              <a:t/>
            </a:r>
            <a:endParaRPr/>
          </a:p>
        </p:txBody>
      </p:sp>
      <p:sp>
        <p:nvSpPr>
          <p:cNvPr id="346" name="Google Shape;346;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a:t>
            </a:r>
            <a:r>
              <a:rPr lang="zh-TW">
                <a:solidFill>
                  <a:schemeClr val="dk1"/>
                </a:solidFill>
              </a:rPr>
              <a:t>he feature vector h</a:t>
            </a:r>
            <a:r>
              <a:rPr lang="zh-TW">
                <a:solidFill>
                  <a:schemeClr val="dk1"/>
                </a:solidFill>
              </a:rPr>
              <a:t>_</a:t>
            </a:r>
            <a:r>
              <a:rPr lang="zh-TW">
                <a:solidFill>
                  <a:schemeClr val="dk1"/>
                </a:solidFill>
              </a:rPr>
              <a:t>𝑇𝑆𝐺 should be capable of preserving the key semantics in 𝑇𝑆𝐺.</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First, since provenance graphs are heterogeneous, we apply meta-path scheme [7] to help the </a:t>
            </a:r>
            <a:r>
              <a:rPr lang="zh-TW">
                <a:solidFill>
                  <a:schemeClr val="dk1"/>
                </a:solidFill>
              </a:rPr>
              <a:t>m</a:t>
            </a:r>
            <a:r>
              <a:rPr lang="zh-TW">
                <a:solidFill>
                  <a:schemeClr val="dk1"/>
                </a:solidFill>
              </a:rPr>
              <a:t>odel to learn node/edge type aware graph traversal paths.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Second, we use attention mechanism to force the technique subgraph representations to focus on more important parts of the subgraph.To this end, we perform technique subgraph embedding through two steps, i.e., meta-path defining and heterogeneous technique subgraph embedding.</a:t>
            </a:r>
            <a:endParaRPr>
              <a:solidFill>
                <a:schemeClr val="dk1"/>
              </a:solidFill>
            </a:endParaRPr>
          </a:p>
        </p:txBody>
      </p:sp>
      <p:sp>
        <p:nvSpPr>
          <p:cNvPr id="347" name="Google Shape;347;p44"/>
          <p:cNvSpPr txBox="1"/>
          <p:nvPr/>
        </p:nvSpPr>
        <p:spPr>
          <a:xfrm>
            <a:off x="0" y="4703625"/>
            <a:ext cx="803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u="sng">
                <a:solidFill>
                  <a:schemeClr val="hlink"/>
                </a:solidFill>
                <a:hlinkClick r:id="rId3"/>
              </a:rPr>
              <a:t>[</a:t>
            </a:r>
            <a:r>
              <a:rPr lang="zh-TW" u="sng">
                <a:solidFill>
                  <a:schemeClr val="hlink"/>
                </a:solidFill>
                <a:hlinkClick r:id="rId4"/>
              </a:rPr>
              <a:t>7</a:t>
            </a:r>
            <a:r>
              <a:rPr lang="zh-TW" u="sng">
                <a:solidFill>
                  <a:schemeClr val="hlink"/>
                </a:solidFill>
                <a:hlinkClick r:id="rId5"/>
              </a:rPr>
              <a:t>] </a:t>
            </a:r>
            <a:r>
              <a:rPr lang="zh-TW" u="sng">
                <a:solidFill>
                  <a:schemeClr val="hlink"/>
                </a:solidFill>
                <a:hlinkClick r:id="rId6"/>
              </a:rPr>
              <a:t>metapath2vec: Scalable representation learning for heterogeneous networks</a:t>
            </a:r>
            <a:endParaRPr u="sng">
              <a:solidFill>
                <a:schemeClr val="hlink"/>
              </a:solidFill>
            </a:endParaRPr>
          </a:p>
        </p:txBody>
      </p:sp>
      <p:sp>
        <p:nvSpPr>
          <p:cNvPr id="348" name="Google Shape;348;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Technique Subgraph Representation - Meta-path defining</a:t>
            </a:r>
            <a:endParaRPr/>
          </a:p>
          <a:p>
            <a:pPr indent="0" lvl="0" marL="0" rtl="0" algn="l">
              <a:spcBef>
                <a:spcPts val="0"/>
              </a:spcBef>
              <a:spcAft>
                <a:spcPts val="0"/>
              </a:spcAft>
              <a:buNone/>
            </a:pPr>
            <a:r>
              <a:t/>
            </a:r>
            <a:endParaRPr/>
          </a:p>
        </p:txBody>
      </p:sp>
      <p:sp>
        <p:nvSpPr>
          <p:cNvPr id="354" name="Google Shape;354;p45"/>
          <p:cNvSpPr txBox="1"/>
          <p:nvPr>
            <p:ph idx="1" type="body"/>
          </p:nvPr>
        </p:nvSpPr>
        <p:spPr>
          <a:xfrm>
            <a:off x="311700" y="932675"/>
            <a:ext cx="8520600" cy="743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Meta-path defining</a:t>
            </a:r>
            <a:endParaRPr>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A meta-path is defined as a sequence of node / edge types in the form of</a:t>
            </a:r>
            <a:endParaRPr sz="1600">
              <a:solidFill>
                <a:schemeClr val="dk1"/>
              </a:solidFill>
            </a:endParaRPr>
          </a:p>
        </p:txBody>
      </p:sp>
      <p:pic>
        <p:nvPicPr>
          <p:cNvPr id="355" name="Google Shape;355;p45"/>
          <p:cNvPicPr preferRelativeResize="0"/>
          <p:nvPr/>
        </p:nvPicPr>
        <p:blipFill>
          <a:blip r:embed="rId3">
            <a:alphaModFix/>
          </a:blip>
          <a:stretch>
            <a:fillRect/>
          </a:stretch>
        </p:blipFill>
        <p:spPr>
          <a:xfrm>
            <a:off x="6468000" y="1676074"/>
            <a:ext cx="2424250" cy="1929450"/>
          </a:xfrm>
          <a:prstGeom prst="rect">
            <a:avLst/>
          </a:prstGeom>
          <a:noFill/>
          <a:ln cap="flat" cmpd="sng" w="9525">
            <a:solidFill>
              <a:schemeClr val="dk2"/>
            </a:solidFill>
            <a:prstDash val="solid"/>
            <a:round/>
            <a:headEnd len="sm" w="sm" type="none"/>
            <a:tailEnd len="sm" w="sm" type="none"/>
          </a:ln>
        </p:spPr>
      </p:pic>
      <p:sp>
        <p:nvSpPr>
          <p:cNvPr id="356" name="Google Shape;356;p45"/>
          <p:cNvSpPr txBox="1"/>
          <p:nvPr/>
        </p:nvSpPr>
        <p:spPr>
          <a:xfrm>
            <a:off x="107550" y="1595825"/>
            <a:ext cx="6275400" cy="32985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zh-TW" sz="1800">
                <a:solidFill>
                  <a:schemeClr val="dk1"/>
                </a:solidFill>
              </a:rPr>
              <a:t>Heterogeneous technique subgraph embedding</a:t>
            </a:r>
            <a:endParaRPr sz="1800">
              <a:solidFill>
                <a:schemeClr val="dk1"/>
              </a:solidFill>
            </a:endParaRPr>
          </a:p>
          <a:p>
            <a:pPr indent="-330200" lvl="1" marL="914400" rtl="0" algn="l">
              <a:lnSpc>
                <a:spcPct val="115000"/>
              </a:lnSpc>
              <a:spcBef>
                <a:spcPts val="0"/>
              </a:spcBef>
              <a:spcAft>
                <a:spcPts val="0"/>
              </a:spcAft>
              <a:buClr>
                <a:schemeClr val="dk1"/>
              </a:buClr>
              <a:buSzPts val="1600"/>
              <a:buChar char="○"/>
            </a:pPr>
            <a:r>
              <a:rPr lang="zh-TW" sz="1600">
                <a:solidFill>
                  <a:schemeClr val="dk1"/>
                </a:solidFill>
              </a:rPr>
              <a:t>The hierarchical attention mechanism used for the heterogeneous technique</a:t>
            </a:r>
            <a:r>
              <a:rPr lang="zh-TW" sz="1600">
                <a:solidFill>
                  <a:schemeClr val="dk1"/>
                </a:solidFill>
              </a:rPr>
              <a:t> </a:t>
            </a:r>
            <a:r>
              <a:rPr lang="zh-TW" sz="1600">
                <a:solidFill>
                  <a:schemeClr val="dk1"/>
                </a:solidFill>
              </a:rPr>
              <a:t>subgraph embedding includes a </a:t>
            </a:r>
            <a:r>
              <a:rPr lang="zh-TW" sz="1600">
                <a:solidFill>
                  <a:schemeClr val="dk1"/>
                </a:solidFill>
                <a:highlight>
                  <a:schemeClr val="accent6"/>
                </a:highlight>
              </a:rPr>
              <a:t>node-level attention</a:t>
            </a:r>
            <a:r>
              <a:rPr lang="zh-TW" sz="1600">
                <a:solidFill>
                  <a:schemeClr val="dk1"/>
                </a:solidFill>
              </a:rPr>
              <a:t>, a </a:t>
            </a:r>
            <a:r>
              <a:rPr lang="zh-TW" sz="1600">
                <a:solidFill>
                  <a:schemeClr val="dk1"/>
                </a:solidFill>
                <a:highlight>
                  <a:schemeClr val="accent6"/>
                </a:highlight>
              </a:rPr>
              <a:t>path-level</a:t>
            </a:r>
            <a:r>
              <a:rPr lang="zh-TW" sz="1600">
                <a:solidFill>
                  <a:schemeClr val="dk1"/>
                </a:solidFill>
                <a:highlight>
                  <a:schemeClr val="accent6"/>
                </a:highlight>
              </a:rPr>
              <a:t> </a:t>
            </a:r>
            <a:r>
              <a:rPr lang="zh-TW" sz="1600">
                <a:solidFill>
                  <a:schemeClr val="dk1"/>
                </a:solidFill>
                <a:highlight>
                  <a:schemeClr val="accent6"/>
                </a:highlight>
              </a:rPr>
              <a:t>attention</a:t>
            </a:r>
            <a:r>
              <a:rPr lang="zh-TW" sz="1600">
                <a:solidFill>
                  <a:schemeClr val="dk1"/>
                </a:solidFill>
              </a:rPr>
              <a:t>, and a </a:t>
            </a:r>
            <a:r>
              <a:rPr lang="zh-TW" sz="1600">
                <a:solidFill>
                  <a:schemeClr val="dk1"/>
                </a:solidFill>
                <a:highlight>
                  <a:schemeClr val="accent6"/>
                </a:highlight>
              </a:rPr>
              <a:t>graph-level attention</a:t>
            </a:r>
            <a:r>
              <a:rPr lang="zh-TW" sz="1600">
                <a:solidFill>
                  <a:schemeClr val="dk1"/>
                </a:solidFill>
              </a:rPr>
              <a:t>.</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zh-TW" sz="1600">
                <a:solidFill>
                  <a:schemeClr val="dk1"/>
                </a:solidFill>
              </a:rPr>
              <a:t>node-level attention</a:t>
            </a:r>
            <a:endParaRPr sz="1600">
              <a:solidFill>
                <a:schemeClr val="dk1"/>
              </a:solidFill>
            </a:endParaRPr>
          </a:p>
          <a:p>
            <a:pPr indent="-330200" lvl="2" marL="1371600" rtl="0" algn="l">
              <a:lnSpc>
                <a:spcPct val="115000"/>
              </a:lnSpc>
              <a:spcBef>
                <a:spcPts val="0"/>
              </a:spcBef>
              <a:spcAft>
                <a:spcPts val="0"/>
              </a:spcAft>
              <a:buClr>
                <a:schemeClr val="dk1"/>
              </a:buClr>
              <a:buSzPts val="1600"/>
              <a:buChar char="■"/>
            </a:pPr>
            <a:r>
              <a:rPr lang="zh-TW" sz="1600">
                <a:solidFill>
                  <a:schemeClr val="dk1"/>
                </a:solidFill>
              </a:rPr>
              <a:t>在給定的一條 MP 之下，評估鄰居節點對中心節點 vᵢ 的重要性 。</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zh-TW" sz="1600">
                <a:solidFill>
                  <a:schemeClr val="dk1"/>
                </a:solidFill>
              </a:rPr>
              <a:t>path-level attention</a:t>
            </a:r>
            <a:endParaRPr sz="1600">
              <a:solidFill>
                <a:schemeClr val="dk1"/>
              </a:solidFill>
            </a:endParaRPr>
          </a:p>
          <a:p>
            <a:pPr indent="-330200" lvl="2" marL="1371600" rtl="0" algn="l">
              <a:lnSpc>
                <a:spcPct val="115000"/>
              </a:lnSpc>
              <a:spcBef>
                <a:spcPts val="0"/>
              </a:spcBef>
              <a:spcAft>
                <a:spcPts val="0"/>
              </a:spcAft>
              <a:buClr>
                <a:schemeClr val="dk1"/>
              </a:buClr>
              <a:buSzPts val="1600"/>
              <a:buChar char="■"/>
            </a:pPr>
            <a:r>
              <a:rPr lang="zh-TW" sz="1600">
                <a:solidFill>
                  <a:schemeClr val="dk1"/>
                </a:solidFill>
              </a:rPr>
              <a:t>要決定哪一條MP對節點 vᵢ 來說最重要 。</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zh-TW" sz="1600">
                <a:solidFill>
                  <a:schemeClr val="dk1"/>
                </a:solidFill>
              </a:rPr>
              <a:t>graph-level attention</a:t>
            </a:r>
            <a:endParaRPr sz="1600">
              <a:solidFill>
                <a:schemeClr val="dk1"/>
              </a:solidFill>
            </a:endParaRPr>
          </a:p>
        </p:txBody>
      </p:sp>
      <p:sp>
        <p:nvSpPr>
          <p:cNvPr id="357" name="Google Shape;357;p45"/>
          <p:cNvSpPr txBox="1"/>
          <p:nvPr/>
        </p:nvSpPr>
        <p:spPr>
          <a:xfrm>
            <a:off x="104825" y="4677402"/>
            <a:ext cx="9237600" cy="431100"/>
          </a:xfrm>
          <a:prstGeom prst="rect">
            <a:avLst/>
          </a:prstGeom>
          <a:noFill/>
          <a:ln>
            <a:noFill/>
          </a:ln>
        </p:spPr>
        <p:txBody>
          <a:bodyPr anchorCtr="0" anchor="t" bIns="91425" lIns="91425" spcFirstLastPara="1" rIns="91425" wrap="square" tIns="91425">
            <a:spAutoFit/>
          </a:bodyPr>
          <a:lstStyle/>
          <a:p>
            <a:pPr indent="-330200" lvl="2" marL="1371600" rtl="0" algn="l">
              <a:lnSpc>
                <a:spcPct val="115000"/>
              </a:lnSpc>
              <a:spcBef>
                <a:spcPts val="0"/>
              </a:spcBef>
              <a:spcAft>
                <a:spcPts val="0"/>
              </a:spcAft>
              <a:buClr>
                <a:schemeClr val="dk1"/>
              </a:buClr>
              <a:buSzPts val="1600"/>
              <a:buChar char="■"/>
            </a:pPr>
            <a:r>
              <a:rPr lang="zh-TW" sz="1600">
                <a:solidFill>
                  <a:schemeClr val="dk1"/>
                </a:solidFill>
              </a:rPr>
              <a:t>將子圖內所有節點的特徵向量，濃縮成能代表整張技術子圖TSG的最終特徵向量 h。</a:t>
            </a:r>
            <a:endParaRPr/>
          </a:p>
        </p:txBody>
      </p:sp>
      <p:sp>
        <p:nvSpPr>
          <p:cNvPr id="358" name="Google Shape;358;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6"/>
          <p:cNvSpPr txBox="1"/>
          <p:nvPr>
            <p:ph type="title"/>
          </p:nvPr>
        </p:nvSpPr>
        <p:spPr>
          <a:xfrm>
            <a:off x="311700" y="101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Technique Subgraph Representation - Heterogeneous technique subgraph embedding</a:t>
            </a:r>
            <a:endParaRPr/>
          </a:p>
          <a:p>
            <a:pPr indent="0" lvl="0" marL="0" rtl="0" algn="l">
              <a:spcBef>
                <a:spcPts val="0"/>
              </a:spcBef>
              <a:spcAft>
                <a:spcPts val="0"/>
              </a:spcAft>
              <a:buNone/>
            </a:pPr>
            <a:r>
              <a:t/>
            </a:r>
            <a:endParaRPr/>
          </a:p>
        </p:txBody>
      </p:sp>
      <p:sp>
        <p:nvSpPr>
          <p:cNvPr id="364" name="Google Shape;36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node-level attention</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Specifically, given the node 𝑣𝑖 and a meta-path 𝑀𝑃ⱼ, we travel 𝑀𝑃ⱼ starting from 𝑣𝑖 to form a set of nodes (denoted as 𝑁ʲᵢ ), which connect with 𝑣</a:t>
            </a:r>
            <a:r>
              <a:rPr lang="zh-TW">
                <a:solidFill>
                  <a:schemeClr val="dk1"/>
                </a:solidFill>
              </a:rPr>
              <a:t>ᵢ </a:t>
            </a:r>
            <a:r>
              <a:rPr lang="zh-TW">
                <a:solidFill>
                  <a:schemeClr val="dk1"/>
                </a:solidFill>
              </a:rPr>
              <a:t> via 𝑀𝑃ⱼ (including 𝑣</a:t>
            </a:r>
            <a:r>
              <a:rPr lang="zh-TW">
                <a:solidFill>
                  <a:schemeClr val="dk1"/>
                </a:solidFill>
              </a:rPr>
              <a:t>ᵢ </a:t>
            </a:r>
            <a:r>
              <a:rPr lang="zh-TW">
                <a:solidFill>
                  <a:schemeClr val="dk1"/>
                </a:solidFill>
              </a:rPr>
              <a:t> itself).</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Then, we apply self-attention to learn the attention weight of each node 𝑣𝑘 in 𝑁</a:t>
            </a:r>
            <a:r>
              <a:rPr lang="zh-TW">
                <a:solidFill>
                  <a:schemeClr val="dk1"/>
                </a:solidFill>
              </a:rPr>
              <a:t>ʲᵢ</a:t>
            </a:r>
            <a:r>
              <a:rPr lang="zh-TW">
                <a:solidFill>
                  <a:schemeClr val="dk1"/>
                </a:solidFill>
              </a:rPr>
              <a:t> on 𝑣</a:t>
            </a:r>
            <a:r>
              <a:rPr lang="zh-TW">
                <a:solidFill>
                  <a:schemeClr val="dk1"/>
                </a:solidFill>
              </a:rPr>
              <a:t>ᵢ </a:t>
            </a:r>
            <a:r>
              <a:rPr lang="zh-TW">
                <a:solidFill>
                  <a:schemeClr val="dk1"/>
                </a:solidFill>
              </a:rPr>
              <a:t> (denoted as 𝛼ʲₖᵢ ), where 𝑒ₖ and 𝑒</a:t>
            </a:r>
            <a:r>
              <a:rPr lang="zh-TW">
                <a:solidFill>
                  <a:schemeClr val="dk1"/>
                </a:solidFill>
              </a:rPr>
              <a:t>ᵢ</a:t>
            </a:r>
            <a:r>
              <a:rPr lang="zh-TW">
                <a:solidFill>
                  <a:schemeClr val="dk1"/>
                </a:solidFill>
              </a:rPr>
              <a:t> are the initial feature vectors of nodes 𝑣𝑘 and 𝑣</a:t>
            </a:r>
            <a:r>
              <a:rPr lang="zh-TW">
                <a:solidFill>
                  <a:schemeClr val="dk1"/>
                </a:solidFill>
              </a:rPr>
              <a:t>ᵢ </a:t>
            </a:r>
            <a:r>
              <a:rPr lang="zh-TW">
                <a:solidFill>
                  <a:schemeClr val="dk1"/>
                </a:solidFill>
              </a:rPr>
              <a:t>.</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Finally, the feature vector of 𝑣</a:t>
            </a:r>
            <a:r>
              <a:rPr lang="zh-TW">
                <a:solidFill>
                  <a:schemeClr val="dk1"/>
                </a:solidFill>
              </a:rPr>
              <a:t>ᵢ </a:t>
            </a:r>
            <a:r>
              <a:rPr lang="zh-TW">
                <a:solidFill>
                  <a:schemeClr val="dk1"/>
                </a:solidFill>
              </a:rPr>
              <a:t> (</a:t>
            </a:r>
            <a:r>
              <a:rPr lang="zh-TW">
                <a:solidFill>
                  <a:schemeClr val="dk1"/>
                </a:solidFill>
              </a:rPr>
              <a:t>𝑒ᵢ </a:t>
            </a:r>
            <a:r>
              <a:rPr lang="zh-TW">
                <a:solidFill>
                  <a:schemeClr val="dk1"/>
                </a:solidFill>
              </a:rPr>
              <a:t>) is updated by aggregating the feature vectors of all nodes in 𝑁ʲ</a:t>
            </a:r>
            <a:r>
              <a:rPr lang="zh-TW">
                <a:solidFill>
                  <a:schemeClr val="dk1"/>
                </a:solidFill>
              </a:rPr>
              <a:t>ᵢ </a:t>
            </a:r>
            <a:r>
              <a:rPr lang="zh-TW">
                <a:solidFill>
                  <a:schemeClr val="dk1"/>
                </a:solidFill>
              </a:rPr>
              <a:t>with the corresponding attention weights.</a:t>
            </a:r>
            <a:endParaRPr>
              <a:solidFill>
                <a:schemeClr val="dk1"/>
              </a:solidFill>
            </a:endParaRPr>
          </a:p>
        </p:txBody>
      </p:sp>
      <p:pic>
        <p:nvPicPr>
          <p:cNvPr id="365" name="Google Shape;365;p46"/>
          <p:cNvPicPr preferRelativeResize="0"/>
          <p:nvPr/>
        </p:nvPicPr>
        <p:blipFill>
          <a:blip r:embed="rId3">
            <a:alphaModFix/>
          </a:blip>
          <a:stretch>
            <a:fillRect/>
          </a:stretch>
        </p:blipFill>
        <p:spPr>
          <a:xfrm>
            <a:off x="6005975" y="855775"/>
            <a:ext cx="2826325" cy="416150"/>
          </a:xfrm>
          <a:prstGeom prst="rect">
            <a:avLst/>
          </a:prstGeom>
          <a:noFill/>
          <a:ln cap="flat" cmpd="sng" w="9525">
            <a:solidFill>
              <a:schemeClr val="dk2"/>
            </a:solidFill>
            <a:prstDash val="solid"/>
            <a:round/>
            <a:headEnd len="sm" w="sm" type="none"/>
            <a:tailEnd len="sm" w="sm" type="none"/>
          </a:ln>
        </p:spPr>
      </p:pic>
      <p:pic>
        <p:nvPicPr>
          <p:cNvPr id="366" name="Google Shape;366;p46"/>
          <p:cNvPicPr preferRelativeResize="0"/>
          <p:nvPr/>
        </p:nvPicPr>
        <p:blipFill>
          <a:blip r:embed="rId4">
            <a:alphaModFix/>
          </a:blip>
          <a:stretch>
            <a:fillRect/>
          </a:stretch>
        </p:blipFill>
        <p:spPr>
          <a:xfrm>
            <a:off x="6675450" y="3577000"/>
            <a:ext cx="2156849" cy="535875"/>
          </a:xfrm>
          <a:prstGeom prst="rect">
            <a:avLst/>
          </a:prstGeom>
          <a:noFill/>
          <a:ln cap="flat" cmpd="sng" w="9525">
            <a:solidFill>
              <a:schemeClr val="dk2"/>
            </a:solidFill>
            <a:prstDash val="solid"/>
            <a:round/>
            <a:headEnd len="sm" w="sm" type="none"/>
            <a:tailEnd len="sm" w="sm" type="none"/>
          </a:ln>
        </p:spPr>
      </p:pic>
      <p:sp>
        <p:nvSpPr>
          <p:cNvPr id="367" name="Google Shape;36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7"/>
          <p:cNvSpPr txBox="1"/>
          <p:nvPr>
            <p:ph type="title"/>
          </p:nvPr>
        </p:nvSpPr>
        <p:spPr>
          <a:xfrm>
            <a:off x="311700" y="101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Technique Subgraph Representation - Heterogeneous technique subgraph embedding</a:t>
            </a:r>
            <a:endParaRPr/>
          </a:p>
          <a:p>
            <a:pPr indent="0" lvl="0" marL="0" rtl="0" algn="l">
              <a:spcBef>
                <a:spcPts val="0"/>
              </a:spcBef>
              <a:spcAft>
                <a:spcPts val="0"/>
              </a:spcAft>
              <a:buNone/>
            </a:pPr>
            <a:r>
              <a:t/>
            </a:r>
            <a:endParaRPr/>
          </a:p>
        </p:txBody>
      </p:sp>
      <p:sp>
        <p:nvSpPr>
          <p:cNvPr id="373" name="Google Shape;37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edge-level attention</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for each node 𝑣ᵢ in the technique subgraph, after obtaining the updated feature vectors of 𝑣ᵢ for all meta-paths (denoted as 		),we try to measure the importance of each meta-path for 𝑣ᵢ.</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given the node 𝑣ᵢ and a meta-path 𝑀𝑃ⱼ, we compute the attention weight of 𝑀𝑃ⱼ on 𝑣ᵢ (denoted as 𝛽ʲᵢ ), where W₁ is a trainable parameter matrix, q and b are trainable parameter vectors.</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we can fuse the meta-path aware feature vectors to obtain the final feature vector of 𝑣ᵢ (denoted as hᵢ)</a:t>
            </a:r>
            <a:endParaRPr>
              <a:solidFill>
                <a:schemeClr val="dk1"/>
              </a:solidFill>
            </a:endParaRPr>
          </a:p>
        </p:txBody>
      </p:sp>
      <p:pic>
        <p:nvPicPr>
          <p:cNvPr id="374" name="Google Shape;374;p47"/>
          <p:cNvPicPr preferRelativeResize="0"/>
          <p:nvPr/>
        </p:nvPicPr>
        <p:blipFill>
          <a:blip r:embed="rId3">
            <a:alphaModFix/>
          </a:blip>
          <a:stretch>
            <a:fillRect/>
          </a:stretch>
        </p:blipFill>
        <p:spPr>
          <a:xfrm>
            <a:off x="3758380" y="1797910"/>
            <a:ext cx="672110" cy="269825"/>
          </a:xfrm>
          <a:prstGeom prst="rect">
            <a:avLst/>
          </a:prstGeom>
          <a:noFill/>
          <a:ln>
            <a:noFill/>
          </a:ln>
        </p:spPr>
      </p:pic>
      <p:pic>
        <p:nvPicPr>
          <p:cNvPr id="375" name="Google Shape;375;p47"/>
          <p:cNvPicPr preferRelativeResize="0"/>
          <p:nvPr/>
        </p:nvPicPr>
        <p:blipFill>
          <a:blip r:embed="rId4">
            <a:alphaModFix/>
          </a:blip>
          <a:stretch>
            <a:fillRect/>
          </a:stretch>
        </p:blipFill>
        <p:spPr>
          <a:xfrm>
            <a:off x="5936250" y="981950"/>
            <a:ext cx="2896049" cy="447950"/>
          </a:xfrm>
          <a:prstGeom prst="rect">
            <a:avLst/>
          </a:prstGeom>
          <a:noFill/>
          <a:ln cap="flat" cmpd="sng" w="9525">
            <a:solidFill>
              <a:schemeClr val="dk2"/>
            </a:solidFill>
            <a:prstDash val="solid"/>
            <a:round/>
            <a:headEnd len="sm" w="sm" type="none"/>
            <a:tailEnd len="sm" w="sm" type="none"/>
          </a:ln>
        </p:spPr>
      </p:pic>
      <p:pic>
        <p:nvPicPr>
          <p:cNvPr id="376" name="Google Shape;376;p47"/>
          <p:cNvPicPr preferRelativeResize="0"/>
          <p:nvPr/>
        </p:nvPicPr>
        <p:blipFill>
          <a:blip r:embed="rId5">
            <a:alphaModFix/>
          </a:blip>
          <a:stretch>
            <a:fillRect/>
          </a:stretch>
        </p:blipFill>
        <p:spPr>
          <a:xfrm>
            <a:off x="6475950" y="3678450"/>
            <a:ext cx="2356350" cy="515875"/>
          </a:xfrm>
          <a:prstGeom prst="rect">
            <a:avLst/>
          </a:prstGeom>
          <a:noFill/>
          <a:ln cap="flat" cmpd="sng" w="9525">
            <a:solidFill>
              <a:schemeClr val="dk2"/>
            </a:solidFill>
            <a:prstDash val="solid"/>
            <a:round/>
            <a:headEnd len="sm" w="sm" type="none"/>
            <a:tailEnd len="sm" w="sm" type="none"/>
          </a:ln>
        </p:spPr>
      </p:pic>
      <p:sp>
        <p:nvSpPr>
          <p:cNvPr id="377" name="Google Shape;377;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8"/>
          <p:cNvSpPr txBox="1"/>
          <p:nvPr>
            <p:ph type="title"/>
          </p:nvPr>
        </p:nvSpPr>
        <p:spPr>
          <a:xfrm>
            <a:off x="311700" y="101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Technique Subgraph Representation - Heterogeneous technique subgraph embedding</a:t>
            </a:r>
            <a:endParaRPr/>
          </a:p>
          <a:p>
            <a:pPr indent="0" lvl="0" marL="0" rtl="0" algn="l">
              <a:spcBef>
                <a:spcPts val="0"/>
              </a:spcBef>
              <a:spcAft>
                <a:spcPts val="0"/>
              </a:spcAft>
              <a:buNone/>
            </a:pPr>
            <a:r>
              <a:t/>
            </a:r>
            <a:endParaRPr/>
          </a:p>
        </p:txBody>
      </p:sp>
      <p:sp>
        <p:nvSpPr>
          <p:cNvPr id="383" name="Google Shape;383;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graph-level attention</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we try to generate one embedding for the technique subgraph TSG based on the final feature vectors of all nodes in SV.</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we firstly compute a global context vector c by simply averaging the node feature vectors followed by a nonlinear transformation. where W₂ is a trainable parameter matrix.</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Then, we compute the attention weight for each node 𝑣ᵢ (denoted as 𝛾ᵢ) that is aware of the global context vector c.</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Finally, we compute the technique subgraph embedding (denoted as h) as the weighted sum of node feature vectors</a:t>
            </a:r>
            <a:endParaRPr>
              <a:solidFill>
                <a:schemeClr val="dk1"/>
              </a:solidFill>
            </a:endParaRPr>
          </a:p>
        </p:txBody>
      </p:sp>
      <p:pic>
        <p:nvPicPr>
          <p:cNvPr id="384" name="Google Shape;384;p48"/>
          <p:cNvPicPr preferRelativeResize="0"/>
          <p:nvPr/>
        </p:nvPicPr>
        <p:blipFill>
          <a:blip r:embed="rId3">
            <a:alphaModFix/>
          </a:blip>
          <a:stretch>
            <a:fillRect/>
          </a:stretch>
        </p:blipFill>
        <p:spPr>
          <a:xfrm>
            <a:off x="6684225" y="915675"/>
            <a:ext cx="2232626" cy="517400"/>
          </a:xfrm>
          <a:prstGeom prst="rect">
            <a:avLst/>
          </a:prstGeom>
          <a:noFill/>
          <a:ln cap="flat" cmpd="sng" w="9525">
            <a:solidFill>
              <a:schemeClr val="dk2"/>
            </a:solidFill>
            <a:prstDash val="solid"/>
            <a:round/>
            <a:headEnd len="sm" w="sm" type="none"/>
            <a:tailEnd len="sm" w="sm" type="none"/>
          </a:ln>
        </p:spPr>
      </p:pic>
      <p:pic>
        <p:nvPicPr>
          <p:cNvPr id="385" name="Google Shape;385;p48"/>
          <p:cNvPicPr preferRelativeResize="0"/>
          <p:nvPr/>
        </p:nvPicPr>
        <p:blipFill>
          <a:blip r:embed="rId4">
            <a:alphaModFix/>
          </a:blip>
          <a:stretch>
            <a:fillRect/>
          </a:stretch>
        </p:blipFill>
        <p:spPr>
          <a:xfrm>
            <a:off x="7236200" y="3290425"/>
            <a:ext cx="1715125" cy="403075"/>
          </a:xfrm>
          <a:prstGeom prst="rect">
            <a:avLst/>
          </a:prstGeom>
          <a:noFill/>
          <a:ln cap="flat" cmpd="sng" w="9525">
            <a:solidFill>
              <a:schemeClr val="dk2"/>
            </a:solidFill>
            <a:prstDash val="solid"/>
            <a:round/>
            <a:headEnd len="sm" w="sm" type="none"/>
            <a:tailEnd len="sm" w="sm" type="none"/>
          </a:ln>
        </p:spPr>
      </p:pic>
      <p:pic>
        <p:nvPicPr>
          <p:cNvPr id="386" name="Google Shape;386;p48"/>
          <p:cNvPicPr preferRelativeResize="0"/>
          <p:nvPr/>
        </p:nvPicPr>
        <p:blipFill>
          <a:blip r:embed="rId5">
            <a:alphaModFix/>
          </a:blip>
          <a:stretch>
            <a:fillRect/>
          </a:stretch>
        </p:blipFill>
        <p:spPr>
          <a:xfrm>
            <a:off x="7429875" y="4114825"/>
            <a:ext cx="1521450" cy="454050"/>
          </a:xfrm>
          <a:prstGeom prst="rect">
            <a:avLst/>
          </a:prstGeom>
          <a:noFill/>
          <a:ln cap="flat" cmpd="sng" w="9525">
            <a:solidFill>
              <a:schemeClr val="dk2"/>
            </a:solidFill>
            <a:prstDash val="solid"/>
            <a:round/>
            <a:headEnd len="sm" w="sm" type="none"/>
            <a:tailEnd len="sm" w="sm" type="none"/>
          </a:ln>
        </p:spPr>
      </p:pic>
      <p:sp>
        <p:nvSpPr>
          <p:cNvPr id="387" name="Google Shape;387;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1" name="Shape 391"/>
        <p:cNvGrpSpPr/>
        <p:nvPr/>
      </p:nvGrpSpPr>
      <p:grpSpPr>
        <a:xfrm>
          <a:off x="0" y="0"/>
          <a:ext cx="0" cy="0"/>
          <a:chOff x="0" y="0"/>
          <a:chExt cx="0" cy="0"/>
        </a:xfrm>
      </p:grpSpPr>
      <p:sp>
        <p:nvSpPr>
          <p:cNvPr id="392" name="Google Shape;392;p49"/>
          <p:cNvSpPr txBox="1"/>
          <p:nvPr>
            <p:ph type="title"/>
          </p:nvPr>
        </p:nvSpPr>
        <p:spPr>
          <a:xfrm>
            <a:off x="311700" y="155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Overall process of the proposed heterogeneous technique</a:t>
            </a:r>
            <a:endParaRPr/>
          </a:p>
          <a:p>
            <a:pPr indent="0" lvl="0" marL="0" rtl="0" algn="l">
              <a:spcBef>
                <a:spcPts val="0"/>
              </a:spcBef>
              <a:spcAft>
                <a:spcPts val="0"/>
              </a:spcAft>
              <a:buClr>
                <a:schemeClr val="dk1"/>
              </a:buClr>
              <a:buSzPct val="39286"/>
              <a:buFont typeface="Arial"/>
              <a:buNone/>
            </a:pPr>
            <a:r>
              <a:rPr lang="zh-TW"/>
              <a:t>subgraph embedding</a:t>
            </a:r>
            <a:endParaRPr/>
          </a:p>
          <a:p>
            <a:pPr indent="0" lvl="0" marL="0" rtl="0" algn="l">
              <a:spcBef>
                <a:spcPts val="0"/>
              </a:spcBef>
              <a:spcAft>
                <a:spcPts val="0"/>
              </a:spcAft>
              <a:buNone/>
            </a:pPr>
            <a:r>
              <a:t/>
            </a:r>
            <a:endParaRPr/>
          </a:p>
        </p:txBody>
      </p:sp>
      <p:sp>
        <p:nvSpPr>
          <p:cNvPr id="393" name="Google Shape;393;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dk1"/>
              </a:solidFill>
            </a:endParaRPr>
          </a:p>
        </p:txBody>
      </p:sp>
      <p:pic>
        <p:nvPicPr>
          <p:cNvPr id="394" name="Google Shape;394;p49"/>
          <p:cNvPicPr preferRelativeResize="0"/>
          <p:nvPr/>
        </p:nvPicPr>
        <p:blipFill>
          <a:blip r:embed="rId3">
            <a:alphaModFix/>
          </a:blip>
          <a:stretch>
            <a:fillRect/>
          </a:stretch>
        </p:blipFill>
        <p:spPr>
          <a:xfrm>
            <a:off x="5704197" y="865162"/>
            <a:ext cx="3214353" cy="3991023"/>
          </a:xfrm>
          <a:prstGeom prst="rect">
            <a:avLst/>
          </a:prstGeom>
          <a:noFill/>
          <a:ln cap="flat" cmpd="sng" w="9525">
            <a:solidFill>
              <a:schemeClr val="dk2"/>
            </a:solidFill>
            <a:prstDash val="solid"/>
            <a:round/>
            <a:headEnd len="sm" w="sm" type="none"/>
            <a:tailEnd len="sm" w="sm" type="none"/>
          </a:ln>
        </p:spPr>
      </p:pic>
      <p:sp>
        <p:nvSpPr>
          <p:cNvPr id="395" name="Google Shape;395;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0"/>
          <p:cNvSpPr txBox="1"/>
          <p:nvPr>
            <p:ph type="title"/>
          </p:nvPr>
        </p:nvSpPr>
        <p:spPr>
          <a:xfrm>
            <a:off x="311700" y="136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APT Technique Recognition</a:t>
            </a:r>
            <a:endParaRPr/>
          </a:p>
          <a:p>
            <a:pPr indent="0" lvl="0" marL="0" rtl="0" algn="l">
              <a:spcBef>
                <a:spcPts val="0"/>
              </a:spcBef>
              <a:spcAft>
                <a:spcPts val="0"/>
              </a:spcAft>
              <a:buNone/>
            </a:pPr>
            <a:r>
              <a:t/>
            </a:r>
            <a:endParaRPr/>
          </a:p>
        </p:txBody>
      </p:sp>
      <p:sp>
        <p:nvSpPr>
          <p:cNvPr id="401" name="Google Shape;401;p50"/>
          <p:cNvSpPr txBox="1"/>
          <p:nvPr>
            <p:ph idx="1" type="body"/>
          </p:nvPr>
        </p:nvSpPr>
        <p:spPr>
          <a:xfrm>
            <a:off x="311700" y="766375"/>
            <a:ext cx="8520600" cy="3645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First, it is almost impossible to train a multi-class classification model with high generalization ability to effectively capture and distinguish the diverse patterns of different APT techniques.</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Second, the APT techniques are constantly evolving. When we need to consider a new APT technique, the entire classification model has to be retrained to adapt to the new label space.</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Aiming at these problems, we adopt a Siamese neural network based few-shot learning method to build the APT technique recognition model. </a:t>
            </a:r>
            <a:endParaRPr>
              <a:solidFill>
                <a:schemeClr val="dk1"/>
              </a:solidFill>
            </a:endParaRPr>
          </a:p>
        </p:txBody>
      </p:sp>
      <p:sp>
        <p:nvSpPr>
          <p:cNvPr id="402" name="Google Shape;40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1"/>
          <p:cNvSpPr txBox="1"/>
          <p:nvPr>
            <p:ph type="title"/>
          </p:nvPr>
        </p:nvSpPr>
        <p:spPr>
          <a:xfrm>
            <a:off x="311700" y="136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APT Technique Recognition - Model </a:t>
            </a:r>
            <a:r>
              <a:rPr lang="zh-TW"/>
              <a:t>Architecture</a:t>
            </a:r>
            <a:endParaRPr/>
          </a:p>
          <a:p>
            <a:pPr indent="0" lvl="0" marL="0" rtl="0" algn="l">
              <a:spcBef>
                <a:spcPts val="0"/>
              </a:spcBef>
              <a:spcAft>
                <a:spcPts val="0"/>
              </a:spcAft>
              <a:buNone/>
            </a:pPr>
            <a:r>
              <a:t/>
            </a:r>
            <a:endParaRPr/>
          </a:p>
        </p:txBody>
      </p:sp>
      <p:sp>
        <p:nvSpPr>
          <p:cNvPr id="408" name="Google Shape;408;p51"/>
          <p:cNvSpPr txBox="1"/>
          <p:nvPr>
            <p:ph idx="1" type="body"/>
          </p:nvPr>
        </p:nvSpPr>
        <p:spPr>
          <a:xfrm>
            <a:off x="0" y="708900"/>
            <a:ext cx="4794600" cy="43275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Clr>
                <a:schemeClr val="dk1"/>
              </a:buClr>
              <a:buSzPct val="100000"/>
              <a:buAutoNum type="arabicPeriod"/>
            </a:pPr>
            <a:r>
              <a:rPr lang="zh-TW">
                <a:solidFill>
                  <a:schemeClr val="dk1"/>
                </a:solidFill>
              </a:rPr>
              <a:t>Input Layer</a:t>
            </a:r>
            <a:br>
              <a:rPr lang="zh-TW">
                <a:solidFill>
                  <a:schemeClr val="dk1"/>
                </a:solidFill>
              </a:rPr>
            </a:br>
            <a:r>
              <a:rPr lang="zh-TW">
                <a:solidFill>
                  <a:schemeClr val="dk1"/>
                </a:solidFill>
              </a:rPr>
              <a:t>First, each branch of the input layer accepts a technique subgraph (i.e., 𝑇𝑆𝐺𝐴) representing an </a:t>
            </a:r>
            <a:r>
              <a:rPr lang="zh-TW">
                <a:solidFill>
                  <a:schemeClr val="dk1"/>
                </a:solidFill>
                <a:highlight>
                  <a:schemeClr val="accent6"/>
                </a:highlight>
              </a:rPr>
              <a:t>individual APT technique instance as input</a:t>
            </a:r>
            <a:r>
              <a:rPr lang="zh-TW">
                <a:solidFill>
                  <a:schemeClr val="dk1"/>
                </a:solidFill>
              </a:rPr>
              <a:t>.</a:t>
            </a:r>
            <a:endParaRPr>
              <a:solidFill>
                <a:schemeClr val="dk1"/>
              </a:solidFill>
            </a:endParaRPr>
          </a:p>
          <a:p>
            <a:pPr indent="-334328" lvl="0" marL="457200" rtl="0" algn="l">
              <a:spcBef>
                <a:spcPts val="0"/>
              </a:spcBef>
              <a:spcAft>
                <a:spcPts val="0"/>
              </a:spcAft>
              <a:buClr>
                <a:schemeClr val="dk1"/>
              </a:buClr>
              <a:buSzPct val="100000"/>
              <a:buAutoNum type="arabicPeriod"/>
            </a:pPr>
            <a:r>
              <a:rPr lang="zh-TW">
                <a:solidFill>
                  <a:schemeClr val="dk1"/>
                </a:solidFill>
              </a:rPr>
              <a:t>Encoding Layer</a:t>
            </a:r>
            <a:br>
              <a:rPr lang="zh-TW">
                <a:solidFill>
                  <a:schemeClr val="dk1"/>
                </a:solidFill>
              </a:rPr>
            </a:br>
            <a:r>
              <a:rPr lang="zh-TW">
                <a:solidFill>
                  <a:schemeClr val="dk1"/>
                </a:solidFill>
              </a:rPr>
              <a:t>transform the technique subgraph into a feature vector (i.e., h𝐴), and then stacks a fully connected layer to further process the feature vector to obtain a </a:t>
            </a:r>
            <a:r>
              <a:rPr lang="zh-TW">
                <a:solidFill>
                  <a:schemeClr val="dk1"/>
                </a:solidFill>
                <a:highlight>
                  <a:schemeClr val="accent6"/>
                </a:highlight>
              </a:rPr>
              <a:t>final embedding</a:t>
            </a:r>
            <a:r>
              <a:rPr lang="zh-TW">
                <a:solidFill>
                  <a:schemeClr val="dk1"/>
                </a:solidFill>
              </a:rPr>
              <a:t> (i.e., e𝐴)</a:t>
            </a:r>
            <a:endParaRPr>
              <a:solidFill>
                <a:schemeClr val="dk1"/>
              </a:solidFill>
            </a:endParaRPr>
          </a:p>
          <a:p>
            <a:pPr indent="-334328" lvl="0" marL="457200" rtl="0" algn="l">
              <a:spcBef>
                <a:spcPts val="0"/>
              </a:spcBef>
              <a:spcAft>
                <a:spcPts val="0"/>
              </a:spcAft>
              <a:buClr>
                <a:schemeClr val="dk1"/>
              </a:buClr>
              <a:buSzPct val="100000"/>
              <a:buAutoNum type="arabicPeriod"/>
            </a:pPr>
            <a:r>
              <a:rPr lang="zh-TW">
                <a:solidFill>
                  <a:schemeClr val="dk1"/>
                </a:solidFill>
              </a:rPr>
              <a:t>Interactive Layer</a:t>
            </a:r>
            <a:br>
              <a:rPr lang="zh-TW">
                <a:solidFill>
                  <a:schemeClr val="dk1"/>
                </a:solidFill>
              </a:rPr>
            </a:br>
            <a:r>
              <a:rPr lang="zh-TW">
                <a:solidFill>
                  <a:schemeClr val="dk1"/>
                </a:solidFill>
              </a:rPr>
              <a:t>the interactive layer uses distance function (e.g.,Euclidean distance, cosine similarity, etc.) to calculate the </a:t>
            </a:r>
            <a:r>
              <a:rPr lang="zh-TW">
                <a:solidFill>
                  <a:schemeClr val="dk1"/>
                </a:solidFill>
                <a:highlight>
                  <a:schemeClr val="accent6"/>
                </a:highlight>
              </a:rPr>
              <a:t>distance</a:t>
            </a:r>
            <a:r>
              <a:rPr lang="zh-TW">
                <a:solidFill>
                  <a:schemeClr val="dk1"/>
                </a:solidFill>
              </a:rPr>
              <a:t> between the final embeddings of the two branches (i.e., 𝑑𝐴𝐵).</a:t>
            </a:r>
            <a:endParaRPr>
              <a:solidFill>
                <a:schemeClr val="dk1"/>
              </a:solidFill>
            </a:endParaRPr>
          </a:p>
        </p:txBody>
      </p:sp>
      <p:pic>
        <p:nvPicPr>
          <p:cNvPr id="409" name="Google Shape;409;p51"/>
          <p:cNvPicPr preferRelativeResize="0"/>
          <p:nvPr/>
        </p:nvPicPr>
        <p:blipFill>
          <a:blip r:embed="rId3">
            <a:alphaModFix/>
          </a:blip>
          <a:stretch>
            <a:fillRect/>
          </a:stretch>
        </p:blipFill>
        <p:spPr>
          <a:xfrm>
            <a:off x="5100325" y="1264513"/>
            <a:ext cx="3954599" cy="2614475"/>
          </a:xfrm>
          <a:prstGeom prst="rect">
            <a:avLst/>
          </a:prstGeom>
          <a:noFill/>
          <a:ln cap="flat" cmpd="sng" w="9525">
            <a:solidFill>
              <a:schemeClr val="dk2"/>
            </a:solidFill>
            <a:prstDash val="solid"/>
            <a:round/>
            <a:headEnd len="sm" w="sm" type="none"/>
            <a:tailEnd len="sm" w="sm" type="none"/>
          </a:ln>
        </p:spPr>
      </p:pic>
      <p:sp>
        <p:nvSpPr>
          <p:cNvPr id="410" name="Google Shape;410;p51"/>
          <p:cNvSpPr/>
          <p:nvPr/>
        </p:nvSpPr>
        <p:spPr>
          <a:xfrm>
            <a:off x="5256560" y="3128875"/>
            <a:ext cx="3716400" cy="689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51"/>
          <p:cNvSpPr/>
          <p:nvPr/>
        </p:nvSpPr>
        <p:spPr>
          <a:xfrm>
            <a:off x="5256560" y="2378050"/>
            <a:ext cx="3716400" cy="689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51"/>
          <p:cNvSpPr/>
          <p:nvPr/>
        </p:nvSpPr>
        <p:spPr>
          <a:xfrm>
            <a:off x="5256560" y="1574188"/>
            <a:ext cx="3716400" cy="689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51"/>
          <p:cNvSpPr txBox="1"/>
          <p:nvPr/>
        </p:nvSpPr>
        <p:spPr>
          <a:xfrm>
            <a:off x="4703000" y="3295750"/>
            <a:ext cx="5121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AutoNum type="arabicPeriod"/>
            </a:pPr>
            <a:r>
              <a:t/>
            </a:r>
            <a:endParaRPr/>
          </a:p>
        </p:txBody>
      </p:sp>
      <p:sp>
        <p:nvSpPr>
          <p:cNvPr id="414" name="Google Shape;414;p51"/>
          <p:cNvSpPr txBox="1"/>
          <p:nvPr/>
        </p:nvSpPr>
        <p:spPr>
          <a:xfrm>
            <a:off x="4703000" y="2491900"/>
            <a:ext cx="5121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AutoNum type="arabicPeriod" startAt="2"/>
            </a:pPr>
            <a:r>
              <a:t/>
            </a:r>
            <a:endParaRPr/>
          </a:p>
        </p:txBody>
      </p:sp>
      <p:sp>
        <p:nvSpPr>
          <p:cNvPr id="415" name="Google Shape;415;p51"/>
          <p:cNvSpPr txBox="1"/>
          <p:nvPr/>
        </p:nvSpPr>
        <p:spPr>
          <a:xfrm>
            <a:off x="4703000" y="1688050"/>
            <a:ext cx="5121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AutoNum type="arabicPeriod" startAt="3"/>
            </a:pPr>
            <a:r>
              <a:t/>
            </a:r>
            <a:endParaRPr/>
          </a:p>
        </p:txBody>
      </p:sp>
      <p:sp>
        <p:nvSpPr>
          <p:cNvPr id="416" name="Google Shape;416;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APT Technique Recognition - Model Training</a:t>
            </a:r>
            <a:endParaRPr/>
          </a:p>
          <a:p>
            <a:pPr indent="0" lvl="0" marL="0" rtl="0" algn="l">
              <a:spcBef>
                <a:spcPts val="0"/>
              </a:spcBef>
              <a:spcAft>
                <a:spcPts val="0"/>
              </a:spcAft>
              <a:buNone/>
            </a:pPr>
            <a:r>
              <a:t/>
            </a:r>
            <a:endParaRPr/>
          </a:p>
        </p:txBody>
      </p:sp>
      <p:sp>
        <p:nvSpPr>
          <p:cNvPr id="422" name="Google Shape;422;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for each available technique subgraph sample, we treat it as an anchor sample (denoted as 𝑠ₐ), and randomly select a positive sample from the same APT technique (denoted as 𝑠ₚ) and a negative sample from a different APT technique (denoted as 𝑠ₙ). </a:t>
            </a:r>
            <a:endParaRPr>
              <a:solidFill>
                <a:schemeClr val="dk1"/>
              </a:solidFill>
            </a:endParaRPr>
          </a:p>
        </p:txBody>
      </p:sp>
      <p:pic>
        <p:nvPicPr>
          <p:cNvPr id="423" name="Google Shape;423;p52"/>
          <p:cNvPicPr preferRelativeResize="0"/>
          <p:nvPr/>
        </p:nvPicPr>
        <p:blipFill>
          <a:blip r:embed="rId3">
            <a:alphaModFix/>
          </a:blip>
          <a:stretch>
            <a:fillRect/>
          </a:stretch>
        </p:blipFill>
        <p:spPr>
          <a:xfrm>
            <a:off x="5713194" y="3018575"/>
            <a:ext cx="3210900" cy="811600"/>
          </a:xfrm>
          <a:prstGeom prst="rect">
            <a:avLst/>
          </a:prstGeom>
          <a:noFill/>
          <a:ln cap="flat" cmpd="sng" w="9525">
            <a:solidFill>
              <a:schemeClr val="dk2"/>
            </a:solidFill>
            <a:prstDash val="solid"/>
            <a:round/>
            <a:headEnd len="sm" w="sm" type="none"/>
            <a:tailEnd len="sm" w="sm" type="none"/>
          </a:ln>
        </p:spPr>
      </p:pic>
      <p:sp>
        <p:nvSpPr>
          <p:cNvPr id="424" name="Google Shape;424;p52"/>
          <p:cNvSpPr txBox="1"/>
          <p:nvPr/>
        </p:nvSpPr>
        <p:spPr>
          <a:xfrm>
            <a:off x="311700" y="2626900"/>
            <a:ext cx="5401500" cy="17361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zh-TW" sz="1800">
                <a:solidFill>
                  <a:schemeClr val="dk1"/>
                </a:solidFill>
              </a:rPr>
              <a:t>Then, we could split the</a:t>
            </a:r>
            <a:r>
              <a:rPr lang="zh-TW" sz="1800">
                <a:solidFill>
                  <a:schemeClr val="dk1"/>
                </a:solidFill>
              </a:rPr>
              <a:t> </a:t>
            </a:r>
            <a:r>
              <a:rPr lang="zh-TW" sz="1800">
                <a:solidFill>
                  <a:schemeClr val="dk1"/>
                </a:solidFill>
              </a:rPr>
              <a:t>triplet into two sample pairs 𝑥1 = (𝑠𝑎,𝑠𝑝) and 𝑥2 = (𝑠𝑎,𝑠𝑛), and</a:t>
            </a:r>
            <a:r>
              <a:rPr lang="zh-TW" sz="1800">
                <a:solidFill>
                  <a:schemeClr val="dk1"/>
                </a:solidFill>
              </a:rPr>
              <a:t> </a:t>
            </a:r>
            <a:r>
              <a:rPr lang="zh-TW" sz="1800">
                <a:solidFill>
                  <a:schemeClr val="dk1"/>
                </a:solidFill>
              </a:rPr>
              <a:t>adopt them to train the Siamese neural network with the aim to</a:t>
            </a:r>
            <a:r>
              <a:rPr lang="zh-TW" sz="1800">
                <a:solidFill>
                  <a:schemeClr val="dk1"/>
                </a:solidFill>
              </a:rPr>
              <a:t> </a:t>
            </a:r>
            <a:r>
              <a:rPr lang="zh-TW" sz="1800">
                <a:solidFill>
                  <a:schemeClr val="dk1"/>
                </a:solidFill>
              </a:rPr>
              <a:t>minimize the contrastive loss function</a:t>
            </a:r>
            <a:endParaRPr sz="1800">
              <a:solidFill>
                <a:schemeClr val="dk1"/>
              </a:solidFill>
            </a:endParaRPr>
          </a:p>
        </p:txBody>
      </p:sp>
      <p:sp>
        <p:nvSpPr>
          <p:cNvPr id="425" name="Google Shape;425;p52"/>
          <p:cNvSpPr txBox="1"/>
          <p:nvPr/>
        </p:nvSpPr>
        <p:spPr>
          <a:xfrm>
            <a:off x="311700" y="4323025"/>
            <a:ext cx="84612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zh-TW" sz="1800">
                <a:solidFill>
                  <a:schemeClr val="dk1"/>
                </a:solidFill>
              </a:rPr>
              <a:t>where 𝑑 is the distance between two input samples and 𝑚 is the margin.</a:t>
            </a:r>
            <a:endParaRPr/>
          </a:p>
        </p:txBody>
      </p:sp>
      <p:sp>
        <p:nvSpPr>
          <p:cNvPr id="426" name="Google Shape;426;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APT Technique Recognition - Model Inference</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None/>
            </a:pPr>
            <a:r>
              <a:t/>
            </a:r>
            <a:endParaRPr/>
          </a:p>
        </p:txBody>
      </p:sp>
      <p:sp>
        <p:nvSpPr>
          <p:cNvPr id="432" name="Google Shape;432;p53"/>
          <p:cNvSpPr txBox="1"/>
          <p:nvPr>
            <p:ph idx="1" type="body"/>
          </p:nvPr>
        </p:nvSpPr>
        <p:spPr>
          <a:xfrm>
            <a:off x="311700" y="1152475"/>
            <a:ext cx="8520600" cy="3631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for each APT technique 𝐶𝑖, we pick a representative sample for 𝐶𝑖 (i.e.,𝑠𝑖).</a:t>
            </a:r>
            <a:br>
              <a:rPr lang="zh-TW">
                <a:solidFill>
                  <a:schemeClr val="dk1"/>
                </a:solidFill>
              </a:rPr>
            </a:br>
            <a:r>
              <a:rPr lang="zh-TW">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input 𝑠𝑘 and 𝑠𝑖 into the two branches of the trained Siamese neural network to obtain two final embeddings (i.e., 𝑒𝑘 and 𝑒𝑖).</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calculate the distance between 𝑒𝑘 and 𝑒𝑖 (denoted as 𝑑)</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could classify 𝑠𝑘 to the APT technique with the smallest distance. We could also set a lower-bound distance threshold to discover outlier samples that are not belong to any known APT technique.</a:t>
            </a:r>
            <a:endParaRPr>
              <a:solidFill>
                <a:schemeClr val="dk1"/>
              </a:solidFill>
            </a:endParaRPr>
          </a:p>
        </p:txBody>
      </p:sp>
      <p:sp>
        <p:nvSpPr>
          <p:cNvPr id="433" name="Google Shape;433;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EXPERIMENT - Experiment Setup</a:t>
            </a:r>
            <a:endParaRPr/>
          </a:p>
        </p:txBody>
      </p:sp>
      <p:sp>
        <p:nvSpPr>
          <p:cNvPr id="439" name="Google Shape;439;p54"/>
          <p:cNvSpPr txBox="1"/>
          <p:nvPr>
            <p:ph idx="1" type="body"/>
          </p:nvPr>
        </p:nvSpPr>
        <p:spPr>
          <a:xfrm>
            <a:off x="311700" y="1152475"/>
            <a:ext cx="8520600" cy="3955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Dataset</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The existing public provenance datasets are not suitable for the evaluation of APT tactic / technique recognition methods due to the following reasons. (StreamSpot是圖層級、ATLAS, DARPA TC 只有anamoly的label)</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所以他們用</a:t>
            </a:r>
            <a:r>
              <a:rPr lang="zh-TW" u="sng">
                <a:solidFill>
                  <a:schemeClr val="hlink"/>
                </a:solidFill>
                <a:hlinkClick action="ppaction://hlinksldjump" r:id="rId3"/>
              </a:rPr>
              <a:t>18</a:t>
            </a:r>
            <a:r>
              <a:rPr lang="zh-TW">
                <a:solidFill>
                  <a:schemeClr val="dk1"/>
                </a:solidFill>
              </a:rPr>
              <a:t>頁的方式自己錄製並蒐集</a:t>
            </a:r>
            <a:r>
              <a:rPr lang="zh-TW" u="sng">
                <a:solidFill>
                  <a:schemeClr val="hlink"/>
                </a:solidFill>
                <a:hlinkClick r:id="rId4"/>
              </a:rPr>
              <a:t>dataset</a:t>
            </a:r>
            <a:r>
              <a:rPr lang="zh-TW">
                <a:solidFill>
                  <a:schemeClr val="dk1"/>
                </a:solidFill>
              </a:rPr>
              <a:t>。</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The dataset contains 473 provenance graph samples, which involve 26 APT techniques and 45 APT sub-techniques from 9 APT tactics.</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Each APT technique / sub-technique has an average of only 18 / 10 samples, so it is a typical few-shot learning problem.</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The average number of nodes and NOIs of the provenance graph samples are 8957 and 4, respectively.</a:t>
            </a:r>
            <a:endParaRPr>
              <a:solidFill>
                <a:schemeClr val="dk1"/>
              </a:solidFill>
            </a:endParaRPr>
          </a:p>
        </p:txBody>
      </p:sp>
      <p:sp>
        <p:nvSpPr>
          <p:cNvPr id="440" name="Google Shape;440;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EXPERIMENT - Experiment Setup</a:t>
            </a:r>
            <a:endParaRPr/>
          </a:p>
        </p:txBody>
      </p:sp>
      <p:sp>
        <p:nvSpPr>
          <p:cNvPr id="446" name="Google Shape;446;p55"/>
          <p:cNvSpPr txBox="1"/>
          <p:nvPr>
            <p:ph idx="1" type="body"/>
          </p:nvPr>
        </p:nvSpPr>
        <p:spPr>
          <a:xfrm>
            <a:off x="0" y="1101625"/>
            <a:ext cx="3532800" cy="3955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Dataset</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26 APT techniques and 45 APT sub-techniques from 9 APT tactics.</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Each APT technique / sub-technique has an average of only 18 / 10 samples, so it is a typical </a:t>
            </a:r>
            <a:r>
              <a:rPr lang="zh-TW">
                <a:solidFill>
                  <a:schemeClr val="dk1"/>
                </a:solidFill>
                <a:highlight>
                  <a:schemeClr val="accent6"/>
                </a:highlight>
              </a:rPr>
              <a:t>few-shot learning</a:t>
            </a:r>
            <a:r>
              <a:rPr lang="zh-TW">
                <a:solidFill>
                  <a:schemeClr val="dk1"/>
                </a:solidFill>
              </a:rPr>
              <a:t> problem.</a:t>
            </a:r>
            <a:br>
              <a:rPr lang="zh-TW">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The average number of nodes and NOIs of the provenance graph samples are 8957 and 4, respectively.</a:t>
            </a:r>
            <a:endParaRPr>
              <a:solidFill>
                <a:schemeClr val="dk1"/>
              </a:solidFill>
            </a:endParaRPr>
          </a:p>
        </p:txBody>
      </p:sp>
      <p:sp>
        <p:nvSpPr>
          <p:cNvPr id="447" name="Google Shape;447;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48" name="Google Shape;448;p55"/>
          <p:cNvPicPr preferRelativeResize="0"/>
          <p:nvPr/>
        </p:nvPicPr>
        <p:blipFill>
          <a:blip r:embed="rId3">
            <a:alphaModFix/>
          </a:blip>
          <a:stretch>
            <a:fillRect/>
          </a:stretch>
        </p:blipFill>
        <p:spPr>
          <a:xfrm>
            <a:off x="3705248" y="1287375"/>
            <a:ext cx="5237977" cy="31062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6"/>
          <p:cNvSpPr txBox="1"/>
          <p:nvPr>
            <p:ph type="title"/>
          </p:nvPr>
        </p:nvSpPr>
        <p:spPr>
          <a:xfrm>
            <a:off x="311700" y="127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EXPERIMENT - </a:t>
            </a:r>
            <a:r>
              <a:rPr lang="zh-TW"/>
              <a:t>Evaluation strategies</a:t>
            </a:r>
            <a:endParaRPr/>
          </a:p>
        </p:txBody>
      </p:sp>
      <p:sp>
        <p:nvSpPr>
          <p:cNvPr id="454" name="Google Shape;454;p56"/>
          <p:cNvSpPr txBox="1"/>
          <p:nvPr>
            <p:ph idx="1" type="body"/>
          </p:nvPr>
        </p:nvSpPr>
        <p:spPr>
          <a:xfrm>
            <a:off x="311700" y="6535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zh-TW">
                <a:solidFill>
                  <a:schemeClr val="dk1"/>
                </a:solidFill>
              </a:rPr>
              <a:t>NOI Detection Task</a:t>
            </a:r>
            <a:endParaRPr>
              <a:solidFill>
                <a:schemeClr val="dk1"/>
              </a:solidFill>
            </a:endParaRPr>
          </a:p>
          <a:p>
            <a:pPr indent="-317500" lvl="1" marL="914400" rtl="0" algn="l">
              <a:spcBef>
                <a:spcPts val="0"/>
              </a:spcBef>
              <a:spcAft>
                <a:spcPts val="0"/>
              </a:spcAft>
              <a:buClr>
                <a:schemeClr val="dk1"/>
              </a:buClr>
              <a:buSzPts val="1400"/>
              <a:buAutoNum type="alphaLcPeriod"/>
            </a:pPr>
            <a:r>
              <a:rPr lang="zh-TW">
                <a:solidFill>
                  <a:schemeClr val="dk1"/>
                </a:solidFill>
              </a:rPr>
              <a:t>we apply a Leave-Malicious-Out evaluation strategy, i.e., the NOI detection model is trained on a dataset with all benign nodes, and tested on a dataset with malicious nodes and the same number of randomly sampled benign nodes. </a:t>
            </a:r>
            <a:endParaRPr>
              <a:solidFill>
                <a:schemeClr val="dk1"/>
              </a:solidFill>
            </a:endParaRPr>
          </a:p>
          <a:p>
            <a:pPr indent="-317500" lvl="1" marL="914400" rtl="0" algn="l">
              <a:spcBef>
                <a:spcPts val="0"/>
              </a:spcBef>
              <a:spcAft>
                <a:spcPts val="0"/>
              </a:spcAft>
              <a:buClr>
                <a:schemeClr val="dk1"/>
              </a:buClr>
              <a:buSzPts val="1400"/>
              <a:buAutoNum type="alphaLcPeriod"/>
            </a:pPr>
            <a:r>
              <a:rPr lang="zh-TW">
                <a:solidFill>
                  <a:schemeClr val="dk1"/>
                </a:solidFill>
              </a:rPr>
              <a:t>indicators : Accuracy,</a:t>
            </a:r>
            <a:r>
              <a:rPr lang="zh-TW">
                <a:solidFill>
                  <a:schemeClr val="dk1"/>
                </a:solidFill>
                <a:highlight>
                  <a:srgbClr val="EA9999"/>
                </a:highlight>
              </a:rPr>
              <a:t>Precision, Recall, F1 Score</a:t>
            </a:r>
            <a:r>
              <a:rPr lang="zh-TW">
                <a:solidFill>
                  <a:schemeClr val="dk1"/>
                </a:solidFill>
              </a:rPr>
              <a:t>, FAR (False Alarm Rate), and AUC (Area Under Curve)</a:t>
            </a:r>
            <a:endParaRPr>
              <a:solidFill>
                <a:schemeClr val="dk1"/>
              </a:solidFill>
            </a:endParaRPr>
          </a:p>
          <a:p>
            <a:pPr indent="-342900" lvl="0" marL="457200" rtl="0" algn="l">
              <a:spcBef>
                <a:spcPts val="0"/>
              </a:spcBef>
              <a:spcAft>
                <a:spcPts val="0"/>
              </a:spcAft>
              <a:buClr>
                <a:schemeClr val="dk1"/>
              </a:buClr>
              <a:buSzPts val="1800"/>
              <a:buAutoNum type="arabicPeriod"/>
            </a:pPr>
            <a:r>
              <a:rPr lang="zh-TW">
                <a:solidFill>
                  <a:schemeClr val="dk1"/>
                </a:solidFill>
              </a:rPr>
              <a:t>Technique Subgraph Sampling Task</a:t>
            </a:r>
            <a:endParaRPr>
              <a:solidFill>
                <a:schemeClr val="dk1"/>
              </a:solidFill>
            </a:endParaRPr>
          </a:p>
          <a:p>
            <a:pPr indent="-317500" lvl="1" marL="914400" rtl="0" algn="l">
              <a:spcBef>
                <a:spcPts val="0"/>
              </a:spcBef>
              <a:spcAft>
                <a:spcPts val="0"/>
              </a:spcAft>
              <a:buClr>
                <a:schemeClr val="dk1"/>
              </a:buClr>
              <a:buSzPts val="1400"/>
              <a:buAutoNum type="alphaLcPeriod"/>
            </a:pPr>
            <a:r>
              <a:rPr lang="zh-TW">
                <a:solidFill>
                  <a:schemeClr val="dk1"/>
                </a:solidFill>
              </a:rPr>
              <a:t>we evaluate its performance by comparing the </a:t>
            </a:r>
            <a:r>
              <a:rPr lang="zh-TW">
                <a:solidFill>
                  <a:schemeClr val="dk1"/>
                </a:solidFill>
                <a:highlight>
                  <a:schemeClr val="accent6"/>
                </a:highlight>
              </a:rPr>
              <a:t>sampled technique subgraphs</a:t>
            </a:r>
            <a:r>
              <a:rPr lang="zh-TW">
                <a:solidFill>
                  <a:schemeClr val="dk1"/>
                </a:solidFill>
              </a:rPr>
              <a:t> and </a:t>
            </a:r>
            <a:r>
              <a:rPr lang="zh-TW">
                <a:solidFill>
                  <a:schemeClr val="dk1"/>
                </a:solidFill>
                <a:highlight>
                  <a:schemeClr val="accent6"/>
                </a:highlight>
              </a:rPr>
              <a:t>ground-truth technique subgraphs</a:t>
            </a:r>
            <a:r>
              <a:rPr lang="zh-TW">
                <a:solidFill>
                  <a:schemeClr val="dk1"/>
                </a:solidFill>
              </a:rPr>
              <a:t> based on several </a:t>
            </a:r>
            <a:r>
              <a:rPr lang="zh-TW" u="sng">
                <a:solidFill>
                  <a:schemeClr val="dk1"/>
                </a:solidFill>
              </a:rPr>
              <a:t>customized evaluation metrics</a:t>
            </a:r>
            <a:r>
              <a:rPr lang="zh-TW">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AutoNum type="arabicPeriod"/>
            </a:pPr>
            <a:r>
              <a:rPr lang="zh-TW">
                <a:solidFill>
                  <a:schemeClr val="dk1"/>
                </a:solidFill>
              </a:rPr>
              <a:t>APT Tactic / Technique Recognition Task</a:t>
            </a:r>
            <a:endParaRPr>
              <a:solidFill>
                <a:schemeClr val="dk1"/>
              </a:solidFill>
            </a:endParaRPr>
          </a:p>
        </p:txBody>
      </p:sp>
      <p:sp>
        <p:nvSpPr>
          <p:cNvPr id="455" name="Google Shape;455;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pSp>
        <p:nvGrpSpPr>
          <p:cNvPr id="456" name="Google Shape;456;p56"/>
          <p:cNvGrpSpPr/>
          <p:nvPr/>
        </p:nvGrpSpPr>
        <p:grpSpPr>
          <a:xfrm>
            <a:off x="7173300" y="2906550"/>
            <a:ext cx="1930500" cy="1468500"/>
            <a:chOff x="7173300" y="3335725"/>
            <a:chExt cx="1930500" cy="1468500"/>
          </a:xfrm>
        </p:grpSpPr>
        <p:sp>
          <p:nvSpPr>
            <p:cNvPr id="457" name="Google Shape;457;p56"/>
            <p:cNvSpPr/>
            <p:nvPr/>
          </p:nvSpPr>
          <p:spPr>
            <a:xfrm>
              <a:off x="7173300" y="3335725"/>
              <a:ext cx="1930500" cy="1468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8" name="Google Shape;458;p56"/>
            <p:cNvPicPr preferRelativeResize="0"/>
            <p:nvPr/>
          </p:nvPicPr>
          <p:blipFill>
            <a:blip r:embed="rId3">
              <a:alphaModFix/>
            </a:blip>
            <a:stretch>
              <a:fillRect/>
            </a:stretch>
          </p:blipFill>
          <p:spPr>
            <a:xfrm>
              <a:off x="7240875" y="3404675"/>
              <a:ext cx="1780274" cy="860900"/>
            </a:xfrm>
            <a:prstGeom prst="rect">
              <a:avLst/>
            </a:prstGeom>
            <a:noFill/>
            <a:ln cap="flat" cmpd="sng" w="9525">
              <a:solidFill>
                <a:schemeClr val="dk2"/>
              </a:solidFill>
              <a:prstDash val="solid"/>
              <a:round/>
              <a:headEnd len="sm" w="sm" type="none"/>
              <a:tailEnd len="sm" w="sm" type="none"/>
            </a:ln>
          </p:spPr>
        </p:pic>
        <p:pic>
          <p:nvPicPr>
            <p:cNvPr id="459" name="Google Shape;459;p56"/>
            <p:cNvPicPr preferRelativeResize="0"/>
            <p:nvPr/>
          </p:nvPicPr>
          <p:blipFill>
            <a:blip r:embed="rId4">
              <a:alphaModFix/>
            </a:blip>
            <a:stretch>
              <a:fillRect/>
            </a:stretch>
          </p:blipFill>
          <p:spPr>
            <a:xfrm>
              <a:off x="7240864" y="4328898"/>
              <a:ext cx="1391148" cy="393600"/>
            </a:xfrm>
            <a:prstGeom prst="rect">
              <a:avLst/>
            </a:prstGeom>
            <a:noFill/>
            <a:ln cap="flat" cmpd="sng" w="9525">
              <a:solidFill>
                <a:schemeClr val="dk2"/>
              </a:solidFill>
              <a:prstDash val="solid"/>
              <a:round/>
              <a:headEnd len="sm" w="sm" type="none"/>
              <a:tailEnd len="sm" w="sm" type="none"/>
            </a:ln>
          </p:spPr>
        </p:pic>
      </p:grpSp>
      <p:cxnSp>
        <p:nvCxnSpPr>
          <p:cNvPr id="460" name="Google Shape;460;p56"/>
          <p:cNvCxnSpPr>
            <a:stCxn id="457" idx="1"/>
          </p:cNvCxnSpPr>
          <p:nvPr/>
        </p:nvCxnSpPr>
        <p:spPr>
          <a:xfrm rot="10800000">
            <a:off x="6842400" y="3113400"/>
            <a:ext cx="330900" cy="527400"/>
          </a:xfrm>
          <a:prstGeom prst="straightConnector1">
            <a:avLst/>
          </a:prstGeom>
          <a:noFill/>
          <a:ln cap="flat" cmpd="sng" w="9525">
            <a:solidFill>
              <a:schemeClr val="dk2"/>
            </a:solidFill>
            <a:prstDash val="solid"/>
            <a:round/>
            <a:headEnd len="med" w="med" type="none"/>
            <a:tailEnd len="med" w="med" type="triangle"/>
          </a:ln>
        </p:spPr>
      </p:cxnSp>
      <p:sp>
        <p:nvSpPr>
          <p:cNvPr id="461" name="Google Shape;461;p56"/>
          <p:cNvSpPr txBox="1"/>
          <p:nvPr/>
        </p:nvSpPr>
        <p:spPr>
          <a:xfrm>
            <a:off x="311700" y="3404675"/>
            <a:ext cx="6813300" cy="1639200"/>
          </a:xfrm>
          <a:prstGeom prst="rect">
            <a:avLst/>
          </a:prstGeom>
          <a:noFill/>
          <a:ln>
            <a:noFill/>
          </a:ln>
        </p:spPr>
        <p:txBody>
          <a:bodyPr anchorCtr="0" anchor="t" bIns="91425" lIns="91425" spcFirstLastPara="1" rIns="91425" wrap="square" tIns="91425">
            <a:spAutoFit/>
          </a:bodyPr>
          <a:lstStyle/>
          <a:p>
            <a:pPr indent="-317500" lvl="1" marL="914400" rtl="0" algn="l">
              <a:lnSpc>
                <a:spcPct val="115000"/>
              </a:lnSpc>
              <a:spcBef>
                <a:spcPts val="0"/>
              </a:spcBef>
              <a:spcAft>
                <a:spcPts val="0"/>
              </a:spcAft>
              <a:buClr>
                <a:schemeClr val="dk1"/>
              </a:buClr>
              <a:buSzPts val="1400"/>
              <a:buAutoNum type="alphaLcPeriod"/>
            </a:pPr>
            <a:r>
              <a:rPr lang="zh-TW">
                <a:solidFill>
                  <a:schemeClr val="dk1"/>
                </a:solidFill>
              </a:rPr>
              <a:t>True_Graph ：直接把完美無雜訊</a:t>
            </a:r>
            <a:r>
              <a:rPr lang="zh-TW">
                <a:solidFill>
                  <a:schemeClr val="dk1"/>
                </a:solidFill>
              </a:rPr>
              <a:t>(人工標記)</a:t>
            </a:r>
            <a:r>
              <a:rPr lang="zh-TW">
                <a:solidFill>
                  <a:schemeClr val="dk1"/>
                </a:solidFill>
              </a:rPr>
              <a:t>的攻擊子圖餵給 AI。</a:t>
            </a:r>
            <a:endParaRPr>
              <a:solidFill>
                <a:schemeClr val="dk1"/>
              </a:solidFill>
            </a:endParaRPr>
          </a:p>
          <a:p>
            <a:pPr indent="-317500" lvl="1" marL="914400" rtl="0" algn="l">
              <a:lnSpc>
                <a:spcPct val="115000"/>
              </a:lnSpc>
              <a:spcBef>
                <a:spcPts val="0"/>
              </a:spcBef>
              <a:spcAft>
                <a:spcPts val="0"/>
              </a:spcAft>
              <a:buClr>
                <a:schemeClr val="dk1"/>
              </a:buClr>
              <a:buSzPts val="1400"/>
              <a:buAutoNum type="alphaLcPeriod"/>
            </a:pPr>
            <a:r>
              <a:rPr lang="zh-TW">
                <a:solidFill>
                  <a:schemeClr val="dk1"/>
                </a:solidFill>
              </a:rPr>
              <a:t>Sampled_Graph ：把 TREC 前面模組自己採樣（含有部分正常雜訊）的子圖餵給</a:t>
            </a:r>
            <a:r>
              <a:rPr lang="zh-TW">
                <a:solidFill>
                  <a:schemeClr val="dk1"/>
                </a:solidFill>
              </a:rPr>
              <a:t>模型</a:t>
            </a:r>
            <a:r>
              <a:rPr lang="zh-TW">
                <a:solidFill>
                  <a:schemeClr val="dk1"/>
                </a:solidFill>
              </a:rPr>
              <a:t>。</a:t>
            </a:r>
            <a:endParaRPr>
              <a:solidFill>
                <a:schemeClr val="dk1"/>
              </a:solidFill>
            </a:endParaRPr>
          </a:p>
          <a:p>
            <a:pPr indent="-317500" lvl="1" marL="914400" rtl="0" algn="l">
              <a:lnSpc>
                <a:spcPct val="115000"/>
              </a:lnSpc>
              <a:spcBef>
                <a:spcPts val="0"/>
              </a:spcBef>
              <a:spcAft>
                <a:spcPts val="0"/>
              </a:spcAft>
              <a:buClr>
                <a:schemeClr val="dk1"/>
              </a:buClr>
              <a:buSzPts val="1400"/>
              <a:buAutoNum type="alphaLcPeriod"/>
            </a:pPr>
            <a:r>
              <a:rPr lang="zh-TW">
                <a:solidFill>
                  <a:schemeClr val="dk1"/>
                </a:solidFill>
              </a:rPr>
              <a:t>Raw_Graph ：什麼都不切，直接把整張 8,957 個節點的超大原始圖餵給 </a:t>
            </a:r>
            <a:r>
              <a:rPr lang="zh-TW">
                <a:solidFill>
                  <a:schemeClr val="dk1"/>
                </a:solidFill>
              </a:rPr>
              <a:t>模型</a:t>
            </a:r>
            <a:r>
              <a:rPr lang="zh-TW">
                <a:solidFill>
                  <a:schemeClr val="dk1"/>
                </a:solidFill>
              </a:rPr>
              <a:t>。</a:t>
            </a:r>
            <a:endParaRPr>
              <a:solidFill>
                <a:schemeClr val="dk1"/>
              </a:solidFill>
            </a:endParaRPr>
          </a:p>
          <a:p>
            <a:pPr indent="-317500" lvl="1" marL="914400" rtl="0" algn="l">
              <a:lnSpc>
                <a:spcPct val="115000"/>
              </a:lnSpc>
              <a:spcBef>
                <a:spcPts val="0"/>
              </a:spcBef>
              <a:spcAft>
                <a:spcPts val="0"/>
              </a:spcAft>
              <a:buClr>
                <a:schemeClr val="dk1"/>
              </a:buClr>
              <a:buSzPts val="1400"/>
              <a:buAutoNum type="alphaLcPeriod"/>
            </a:pPr>
            <a:r>
              <a:rPr lang="zh-TW">
                <a:solidFill>
                  <a:schemeClr val="dk1"/>
                </a:solidFill>
              </a:rPr>
              <a:t>indicators : TacACC</a:t>
            </a:r>
            <a:r>
              <a:rPr lang="zh-TW">
                <a:solidFill>
                  <a:schemeClr val="dk1"/>
                </a:solidFill>
              </a:rPr>
              <a:t>、TechACC、SubACC </a:t>
            </a:r>
            <a:endParaRPr>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Experiment 1: Comparison Experiment</a:t>
            </a:r>
            <a:endParaRPr/>
          </a:p>
        </p:txBody>
      </p:sp>
      <p:sp>
        <p:nvSpPr>
          <p:cNvPr id="467" name="Google Shape;467;p57"/>
          <p:cNvSpPr txBox="1"/>
          <p:nvPr>
            <p:ph idx="1" type="body"/>
          </p:nvPr>
        </p:nvSpPr>
        <p:spPr>
          <a:xfrm>
            <a:off x="311700" y="1152475"/>
            <a:ext cx="8709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zh-TW">
                <a:solidFill>
                  <a:schemeClr val="dk1"/>
                </a:solidFill>
              </a:rPr>
              <a:t>GCN_C:拔掉了異質圖屬性（無視 Process, File, Socket 的差異，全部當成一樣的節點）、拔掉了注意力機制（直接用簡單平均 Pooling，讓良性雜訊徹底稀釋惡意節點）、拔掉了孿生網路（改用傳統分類器）。</a:t>
            </a:r>
            <a:endParaRPr>
              <a:solidFill>
                <a:schemeClr val="dk1"/>
              </a:solidFill>
            </a:endParaRPr>
          </a:p>
          <a:p>
            <a:pPr indent="-342900" lvl="0" marL="457200" rtl="0" algn="l">
              <a:spcBef>
                <a:spcPts val="0"/>
              </a:spcBef>
              <a:spcAft>
                <a:spcPts val="0"/>
              </a:spcAft>
              <a:buClr>
                <a:schemeClr val="dk1"/>
              </a:buClr>
              <a:buSzPts val="1800"/>
              <a:buAutoNum type="arabicPeriod"/>
            </a:pPr>
            <a:r>
              <a:rPr lang="zh-TW">
                <a:solidFill>
                  <a:schemeClr val="dk1"/>
                </a:solidFill>
              </a:rPr>
              <a:t>GCN_S:依然拔掉了異質圖屬性與注意力機制，但保留了孿生神經網路 (Siamese neural network )。</a:t>
            </a:r>
            <a:endParaRPr>
              <a:solidFill>
                <a:schemeClr val="dk1"/>
              </a:solidFill>
            </a:endParaRPr>
          </a:p>
          <a:p>
            <a:pPr indent="-342900" lvl="0" marL="457200" rtl="0" algn="l">
              <a:spcBef>
                <a:spcPts val="0"/>
              </a:spcBef>
              <a:spcAft>
                <a:spcPts val="0"/>
              </a:spcAft>
              <a:buClr>
                <a:schemeClr val="dk1"/>
              </a:buClr>
              <a:buSzPts val="1800"/>
              <a:buAutoNum type="arabicPeriod"/>
            </a:pPr>
            <a:r>
              <a:rPr lang="zh-TW">
                <a:solidFill>
                  <a:schemeClr val="dk1"/>
                </a:solidFill>
              </a:rPr>
              <a:t>HAN_C:保留了為了 Meta-path 設計的的異質圖神經網路 HAN，以及能過濾雜訊的注意力機</a:t>
            </a:r>
            <a:r>
              <a:rPr lang="zh-TW">
                <a:solidFill>
                  <a:schemeClr val="dk1"/>
                </a:solidFill>
              </a:rPr>
              <a:t>制</a:t>
            </a:r>
            <a:r>
              <a:rPr lang="zh-TW">
                <a:solidFill>
                  <a:schemeClr val="dk1"/>
                </a:solidFill>
              </a:rPr>
              <a:t>，但拔掉了孿生網路(Siamese neural network)，使用傳統的分類器。</a:t>
            </a:r>
            <a:endParaRPr>
              <a:solidFill>
                <a:schemeClr val="dk1"/>
              </a:solidFill>
            </a:endParaRPr>
          </a:p>
        </p:txBody>
      </p:sp>
      <p:sp>
        <p:nvSpPr>
          <p:cNvPr id="468" name="Google Shape;468;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69" name="Google Shape;469;p57"/>
          <p:cNvPicPr preferRelativeResize="0"/>
          <p:nvPr/>
        </p:nvPicPr>
        <p:blipFill>
          <a:blip r:embed="rId3">
            <a:alphaModFix/>
          </a:blip>
          <a:stretch>
            <a:fillRect/>
          </a:stretch>
        </p:blipFill>
        <p:spPr>
          <a:xfrm>
            <a:off x="2262266" y="3553873"/>
            <a:ext cx="4619472" cy="15424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Experiment 1: Comparison Experiment</a:t>
            </a:r>
            <a:endParaRPr/>
          </a:p>
        </p:txBody>
      </p:sp>
      <p:sp>
        <p:nvSpPr>
          <p:cNvPr id="475" name="Google Shape;475;p58"/>
          <p:cNvSpPr txBox="1"/>
          <p:nvPr>
            <p:ph idx="1" type="body"/>
          </p:nvPr>
        </p:nvSpPr>
        <p:spPr>
          <a:xfrm>
            <a:off x="311700" y="1152475"/>
            <a:ext cx="8709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作者為了證明 AI 驅動的 TREC，比Rule-based的系統還要實用且強大。採用了</a:t>
            </a:r>
            <a:r>
              <a:rPr lang="zh-TW">
                <a:solidFill>
                  <a:schemeClr val="dk1"/>
                </a:solidFill>
              </a:rPr>
              <a:t>HOLMES</a:t>
            </a:r>
            <a:r>
              <a:rPr lang="zh-TW">
                <a:solidFill>
                  <a:schemeClr val="dk1"/>
                </a:solidFill>
              </a:rPr>
              <a:t>的Kill-chain tactic 和 APTShield Tactic Recognition做比較。</a:t>
            </a:r>
            <a:endParaRPr>
              <a:solidFill>
                <a:schemeClr val="dk1"/>
              </a:solidFill>
            </a:endParaRPr>
          </a:p>
        </p:txBody>
      </p:sp>
      <p:sp>
        <p:nvSpPr>
          <p:cNvPr id="476" name="Google Shape;476;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77" name="Google Shape;477;p58"/>
          <p:cNvPicPr preferRelativeResize="0"/>
          <p:nvPr/>
        </p:nvPicPr>
        <p:blipFill>
          <a:blip r:embed="rId3">
            <a:alphaModFix/>
          </a:blip>
          <a:stretch>
            <a:fillRect/>
          </a:stretch>
        </p:blipFill>
        <p:spPr>
          <a:xfrm>
            <a:off x="4623676" y="2571748"/>
            <a:ext cx="4397476" cy="1454425"/>
          </a:xfrm>
          <a:prstGeom prst="rect">
            <a:avLst/>
          </a:prstGeom>
          <a:noFill/>
          <a:ln cap="flat" cmpd="sng" w="9525">
            <a:solidFill>
              <a:schemeClr val="dk2"/>
            </a:solidFill>
            <a:prstDash val="solid"/>
            <a:round/>
            <a:headEnd len="sm" w="sm" type="none"/>
            <a:tailEnd len="sm" w="sm" type="none"/>
          </a:ln>
        </p:spPr>
      </p:pic>
      <p:pic>
        <p:nvPicPr>
          <p:cNvPr id="478" name="Google Shape;478;p58"/>
          <p:cNvPicPr preferRelativeResize="0"/>
          <p:nvPr/>
        </p:nvPicPr>
        <p:blipFill rotWithShape="1">
          <a:blip r:embed="rId4">
            <a:alphaModFix/>
          </a:blip>
          <a:srcRect b="0" l="0" r="54002" t="8122"/>
          <a:stretch/>
        </p:blipFill>
        <p:spPr>
          <a:xfrm>
            <a:off x="1196600" y="2044800"/>
            <a:ext cx="2409398" cy="2854001"/>
          </a:xfrm>
          <a:prstGeom prst="rect">
            <a:avLst/>
          </a:prstGeom>
          <a:noFill/>
          <a:ln cap="flat" cmpd="sng" w="9525">
            <a:solidFill>
              <a:schemeClr val="dk2"/>
            </a:solidFill>
            <a:prstDash val="solid"/>
            <a:round/>
            <a:headEnd len="sm" w="sm" type="none"/>
            <a:tailEnd len="sm" w="sm" type="none"/>
          </a:ln>
        </p:spPr>
      </p:pic>
      <p:sp>
        <p:nvSpPr>
          <p:cNvPr id="479" name="Google Shape;479;p58"/>
          <p:cNvSpPr/>
          <p:nvPr/>
        </p:nvSpPr>
        <p:spPr>
          <a:xfrm>
            <a:off x="1125100" y="1974225"/>
            <a:ext cx="963900" cy="281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58"/>
          <p:cNvSpPr/>
          <p:nvPr/>
        </p:nvSpPr>
        <p:spPr>
          <a:xfrm>
            <a:off x="2158800" y="1974800"/>
            <a:ext cx="1534200" cy="281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58"/>
          <p:cNvSpPr txBox="1"/>
          <p:nvPr/>
        </p:nvSpPr>
        <p:spPr>
          <a:xfrm>
            <a:off x="1084900" y="4785825"/>
            <a:ext cx="10443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600">
                <a:solidFill>
                  <a:schemeClr val="dk1"/>
                </a:solidFill>
              </a:rPr>
              <a:t>HOLMES</a:t>
            </a:r>
            <a:endParaRPr sz="1600"/>
          </a:p>
        </p:txBody>
      </p:sp>
      <p:sp>
        <p:nvSpPr>
          <p:cNvPr id="482" name="Google Shape;482;p58"/>
          <p:cNvSpPr txBox="1"/>
          <p:nvPr/>
        </p:nvSpPr>
        <p:spPr>
          <a:xfrm>
            <a:off x="2336850" y="4785825"/>
            <a:ext cx="1178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600">
                <a:solidFill>
                  <a:schemeClr val="dk1"/>
                </a:solidFill>
              </a:rPr>
              <a:t>APTShield</a:t>
            </a:r>
            <a:endParaRPr sz="16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Experiment 2: Parameter Tuning Experiment</a:t>
            </a:r>
            <a:endParaRPr/>
          </a:p>
          <a:p>
            <a:pPr indent="0" lvl="0" marL="0" rtl="0" algn="l">
              <a:spcBef>
                <a:spcPts val="0"/>
              </a:spcBef>
              <a:spcAft>
                <a:spcPts val="0"/>
              </a:spcAft>
              <a:buNone/>
            </a:pPr>
            <a:r>
              <a:t/>
            </a:r>
            <a:endParaRPr/>
          </a:p>
        </p:txBody>
      </p:sp>
      <p:sp>
        <p:nvSpPr>
          <p:cNvPr id="488" name="Google Shape;488;p59"/>
          <p:cNvSpPr txBox="1"/>
          <p:nvPr>
            <p:ph idx="1" type="body"/>
          </p:nvPr>
        </p:nvSpPr>
        <p:spPr>
          <a:xfrm>
            <a:off x="311700" y="1152475"/>
            <a:ext cx="8709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把一張包含數百個節點的技術子圖（TSG），壓縮成一個長度為 d 的一維數學向量。這個 d 到底該設多大？</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維度在16~64時發現d越大越好</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維度在128~256時發現出現微幅下降(Overfitting)</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λ代表我們從一個惡意節點出發，最多可以往外走幾步尋找下一個惡意節點。</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λ=1時覆蓋率極低、λ=5時準確率極低，於是他們選擇λ=3。</a:t>
            </a:r>
            <a:endParaRPr>
              <a:solidFill>
                <a:schemeClr val="dk1"/>
              </a:solidFill>
            </a:endParaRPr>
          </a:p>
        </p:txBody>
      </p:sp>
      <p:sp>
        <p:nvSpPr>
          <p:cNvPr id="489" name="Google Shape;489;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90" name="Google Shape;490;p59"/>
          <p:cNvPicPr preferRelativeResize="0"/>
          <p:nvPr/>
        </p:nvPicPr>
        <p:blipFill>
          <a:blip r:embed="rId3">
            <a:alphaModFix/>
          </a:blip>
          <a:stretch>
            <a:fillRect/>
          </a:stretch>
        </p:blipFill>
        <p:spPr>
          <a:xfrm>
            <a:off x="0" y="3119325"/>
            <a:ext cx="4609632" cy="1332074"/>
          </a:xfrm>
          <a:prstGeom prst="rect">
            <a:avLst/>
          </a:prstGeom>
          <a:noFill/>
          <a:ln cap="flat" cmpd="sng" w="9525">
            <a:solidFill>
              <a:schemeClr val="dk2"/>
            </a:solidFill>
            <a:prstDash val="solid"/>
            <a:round/>
            <a:headEnd len="sm" w="sm" type="none"/>
            <a:tailEnd len="sm" w="sm" type="none"/>
          </a:ln>
        </p:spPr>
      </p:pic>
      <p:pic>
        <p:nvPicPr>
          <p:cNvPr id="491" name="Google Shape;491;p59"/>
          <p:cNvPicPr preferRelativeResize="0"/>
          <p:nvPr/>
        </p:nvPicPr>
        <p:blipFill>
          <a:blip r:embed="rId4">
            <a:alphaModFix/>
          </a:blip>
          <a:stretch>
            <a:fillRect/>
          </a:stretch>
        </p:blipFill>
        <p:spPr>
          <a:xfrm>
            <a:off x="4725125" y="3099572"/>
            <a:ext cx="4418873" cy="13715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Experiment 3 : Ablation Experiment</a:t>
            </a:r>
            <a:endParaRPr/>
          </a:p>
        </p:txBody>
      </p:sp>
      <p:sp>
        <p:nvSpPr>
          <p:cNvPr id="497" name="Google Shape;497;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作者將 NOI Detection 與：StreamSpot（無監督分群）與 ThreaTrace（預測型自我監督 GNN）。進行比較</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在複雜的provenance graph中，依賴純粹的「無監督分群」是無效的，必須加入 GNN 的self-Supervised signals）才能精準抓出惡意特徵。</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ThreaTrace 在Precision和FPR上稍微贏過了 TREC。</a:t>
            </a:r>
            <a:endParaRPr>
              <a:solidFill>
                <a:schemeClr val="dk1"/>
              </a:solidFill>
            </a:endParaRPr>
          </a:p>
          <a:p>
            <a:pPr indent="-317500" lvl="2" marL="1371600" rtl="0" algn="l">
              <a:spcBef>
                <a:spcPts val="0"/>
              </a:spcBef>
              <a:spcAft>
                <a:spcPts val="0"/>
              </a:spcAft>
              <a:buClr>
                <a:schemeClr val="dk1"/>
              </a:buClr>
              <a:buSzPts val="1400"/>
              <a:buChar char="■"/>
            </a:pPr>
            <a:r>
              <a:rPr lang="zh-TW">
                <a:solidFill>
                  <a:schemeClr val="dk1"/>
                </a:solidFill>
              </a:rPr>
              <a:t>因為</a:t>
            </a:r>
            <a:r>
              <a:rPr lang="zh-TW">
                <a:solidFill>
                  <a:schemeClr val="dk1"/>
                </a:solidFill>
              </a:rPr>
              <a:t>ThreaTrace 有多層分類器所有Precision和FPR會比較好</a:t>
            </a:r>
            <a:endParaRPr>
              <a:solidFill>
                <a:schemeClr val="dk1"/>
              </a:solidFill>
            </a:endParaRPr>
          </a:p>
          <a:p>
            <a:pPr indent="-317500" lvl="2" marL="1371600" rtl="0" algn="l">
              <a:spcBef>
                <a:spcPts val="0"/>
              </a:spcBef>
              <a:spcAft>
                <a:spcPts val="0"/>
              </a:spcAft>
              <a:buClr>
                <a:schemeClr val="dk1"/>
              </a:buClr>
              <a:buSzPts val="1400"/>
              <a:buChar char="■"/>
            </a:pPr>
            <a:r>
              <a:rPr lang="zh-TW">
                <a:solidFill>
                  <a:schemeClr val="dk1"/>
                </a:solidFill>
              </a:rPr>
              <a:t>但是這一步只是TREC的輔助，所以重點在於Recall(為了涵蓋所有惡意節點)</a:t>
            </a:r>
            <a:endParaRPr>
              <a:solidFill>
                <a:schemeClr val="dk1"/>
              </a:solidFill>
            </a:endParaRPr>
          </a:p>
        </p:txBody>
      </p:sp>
      <p:sp>
        <p:nvSpPr>
          <p:cNvPr id="498" name="Google Shape;498;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99" name="Google Shape;499;p60"/>
          <p:cNvPicPr preferRelativeResize="0"/>
          <p:nvPr/>
        </p:nvPicPr>
        <p:blipFill>
          <a:blip r:embed="rId3">
            <a:alphaModFix/>
          </a:blip>
          <a:stretch>
            <a:fillRect/>
          </a:stretch>
        </p:blipFill>
        <p:spPr>
          <a:xfrm>
            <a:off x="5005700" y="3164701"/>
            <a:ext cx="3960151" cy="14985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Experiment 3 : Ablation Experiment</a:t>
            </a:r>
            <a:endParaRPr/>
          </a:p>
        </p:txBody>
      </p:sp>
      <p:sp>
        <p:nvSpPr>
          <p:cNvPr id="505" name="Google Shape;505;p61"/>
          <p:cNvSpPr txBox="1"/>
          <p:nvPr>
            <p:ph idx="1" type="body"/>
          </p:nvPr>
        </p:nvSpPr>
        <p:spPr>
          <a:xfrm>
            <a:off x="311700" y="1152475"/>
            <a:ext cx="6152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作者設計了 MPC₁ 到 MPC₆ 共六組不同的元路徑組合（Meta-path combinations）。</a:t>
            </a:r>
            <a:endParaRPr>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MPC₁</a:t>
            </a:r>
            <a:r>
              <a:rPr lang="zh-TW" sz="1600">
                <a:solidFill>
                  <a:schemeClr val="dk1"/>
                </a:solidFill>
              </a:rPr>
              <a:t>只</a:t>
            </a:r>
            <a:r>
              <a:rPr lang="zh-TW" sz="1600">
                <a:solidFill>
                  <a:schemeClr val="dk1"/>
                </a:solidFill>
              </a:rPr>
              <a:t>考慮MP</a:t>
            </a:r>
            <a:r>
              <a:rPr lang="zh-TW" sz="1800">
                <a:solidFill>
                  <a:schemeClr val="dk1"/>
                </a:solidFill>
              </a:rPr>
              <a:t>₁</a:t>
            </a:r>
            <a:endParaRPr sz="18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MPC₂只考慮MP</a:t>
            </a:r>
            <a:r>
              <a:rPr lang="zh-TW" sz="1800">
                <a:solidFill>
                  <a:schemeClr val="dk1"/>
                </a:solidFill>
              </a:rPr>
              <a:t>₁&amp;</a:t>
            </a:r>
            <a:r>
              <a:rPr lang="zh-TW" sz="1600">
                <a:solidFill>
                  <a:schemeClr val="dk1"/>
                </a:solidFill>
              </a:rPr>
              <a:t>MP₂</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MPC₃只考慮MP</a:t>
            </a:r>
            <a:r>
              <a:rPr lang="zh-TW" sz="1800">
                <a:solidFill>
                  <a:schemeClr val="dk1"/>
                </a:solidFill>
              </a:rPr>
              <a:t>₁&amp;</a:t>
            </a:r>
            <a:r>
              <a:rPr lang="zh-TW" sz="1600">
                <a:solidFill>
                  <a:schemeClr val="dk1"/>
                </a:solidFill>
              </a:rPr>
              <a:t>MP₂&amp;MP₄</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MPC₄只考慮MP</a:t>
            </a:r>
            <a:r>
              <a:rPr lang="zh-TW" sz="1800">
                <a:solidFill>
                  <a:schemeClr val="dk1"/>
                </a:solidFill>
              </a:rPr>
              <a:t>₁&amp;</a:t>
            </a:r>
            <a:r>
              <a:rPr lang="zh-TW" sz="1600">
                <a:solidFill>
                  <a:schemeClr val="dk1"/>
                </a:solidFill>
              </a:rPr>
              <a:t>MP₂&amp;MP₃</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MPC₅只考慮MP</a:t>
            </a:r>
            <a:r>
              <a:rPr lang="zh-TW" sz="1800">
                <a:solidFill>
                  <a:schemeClr val="dk1"/>
                </a:solidFill>
              </a:rPr>
              <a:t>₁&amp;</a:t>
            </a:r>
            <a:r>
              <a:rPr lang="zh-TW" sz="1600">
                <a:solidFill>
                  <a:schemeClr val="dk1"/>
                </a:solidFill>
              </a:rPr>
              <a:t>MP₃&amp;MP₄</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MPC₆只考慮MP</a:t>
            </a:r>
            <a:r>
              <a:rPr lang="zh-TW" sz="1800">
                <a:solidFill>
                  <a:schemeClr val="dk1"/>
                </a:solidFill>
              </a:rPr>
              <a:t>₁&amp;</a:t>
            </a:r>
            <a:r>
              <a:rPr lang="zh-TW" sz="1600">
                <a:solidFill>
                  <a:schemeClr val="dk1"/>
                </a:solidFill>
              </a:rPr>
              <a:t>MP₂</a:t>
            </a:r>
            <a:r>
              <a:rPr lang="zh-TW" sz="1800">
                <a:solidFill>
                  <a:schemeClr val="dk1"/>
                </a:solidFill>
              </a:rPr>
              <a:t>&amp;</a:t>
            </a:r>
            <a:r>
              <a:rPr lang="zh-TW" sz="1600">
                <a:solidFill>
                  <a:schemeClr val="dk1"/>
                </a:solidFill>
              </a:rPr>
              <a:t>MP₃&amp;MP₄</a:t>
            </a:r>
            <a:endParaRPr sz="1600">
              <a:solidFill>
                <a:schemeClr val="dk1"/>
              </a:solidFill>
            </a:endParaRPr>
          </a:p>
        </p:txBody>
      </p:sp>
      <p:sp>
        <p:nvSpPr>
          <p:cNvPr id="506" name="Google Shape;506;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507" name="Google Shape;507;p61"/>
          <p:cNvPicPr preferRelativeResize="0"/>
          <p:nvPr/>
        </p:nvPicPr>
        <p:blipFill>
          <a:blip r:embed="rId3">
            <a:alphaModFix/>
          </a:blip>
          <a:stretch>
            <a:fillRect/>
          </a:stretch>
        </p:blipFill>
        <p:spPr>
          <a:xfrm>
            <a:off x="4681900" y="2284000"/>
            <a:ext cx="4339252" cy="2446249"/>
          </a:xfrm>
          <a:prstGeom prst="rect">
            <a:avLst/>
          </a:prstGeom>
          <a:noFill/>
          <a:ln cap="flat" cmpd="sng" w="9525">
            <a:solidFill>
              <a:schemeClr val="dk2"/>
            </a:solidFill>
            <a:prstDash val="solid"/>
            <a:round/>
            <a:headEnd len="sm" w="sm" type="none"/>
            <a:tailEnd len="sm" w="sm" type="none"/>
          </a:ln>
        </p:spPr>
      </p:pic>
      <p:pic>
        <p:nvPicPr>
          <p:cNvPr id="508" name="Google Shape;508;p61"/>
          <p:cNvPicPr preferRelativeResize="0"/>
          <p:nvPr/>
        </p:nvPicPr>
        <p:blipFill>
          <a:blip r:embed="rId4">
            <a:alphaModFix/>
          </a:blip>
          <a:stretch>
            <a:fillRect/>
          </a:stretch>
        </p:blipFill>
        <p:spPr>
          <a:xfrm>
            <a:off x="6596900" y="133799"/>
            <a:ext cx="2424250" cy="19294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Experiment4 : Overhead Experiment</a:t>
            </a:r>
            <a:endParaRPr/>
          </a:p>
        </p:txBody>
      </p:sp>
      <p:sp>
        <p:nvSpPr>
          <p:cNvPr id="514" name="Google Shape;514;p62"/>
          <p:cNvSpPr txBox="1"/>
          <p:nvPr>
            <p:ph idx="1" type="body"/>
          </p:nvPr>
        </p:nvSpPr>
        <p:spPr>
          <a:xfrm>
            <a:off x="311700" y="1152475"/>
            <a:ext cx="8520600" cy="790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系統最耗時和記憶體的地方，在於特徵轉換（把圖變成向量）與孿生網路算距離的部分。</a:t>
            </a:r>
            <a:endParaRPr>
              <a:solidFill>
                <a:schemeClr val="dk1"/>
              </a:solidFill>
            </a:endParaRPr>
          </a:p>
        </p:txBody>
      </p:sp>
      <p:sp>
        <p:nvSpPr>
          <p:cNvPr id="515" name="Google Shape;515;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516" name="Google Shape;516;p62"/>
          <p:cNvPicPr preferRelativeResize="0"/>
          <p:nvPr/>
        </p:nvPicPr>
        <p:blipFill>
          <a:blip r:embed="rId3">
            <a:alphaModFix/>
          </a:blip>
          <a:stretch>
            <a:fillRect/>
          </a:stretch>
        </p:blipFill>
        <p:spPr>
          <a:xfrm>
            <a:off x="4883725" y="2078025"/>
            <a:ext cx="3948576" cy="2051650"/>
          </a:xfrm>
          <a:prstGeom prst="rect">
            <a:avLst/>
          </a:prstGeom>
          <a:noFill/>
          <a:ln cap="flat" cmpd="sng" w="9525">
            <a:solidFill>
              <a:schemeClr val="dk2"/>
            </a:solidFill>
            <a:prstDash val="solid"/>
            <a:round/>
            <a:headEnd len="sm" w="sm" type="none"/>
            <a:tailEnd len="sm" w="sm" type="none"/>
          </a:ln>
        </p:spPr>
      </p:pic>
      <p:sp>
        <p:nvSpPr>
          <p:cNvPr id="517" name="Google Shape;517;p62"/>
          <p:cNvSpPr txBox="1"/>
          <p:nvPr/>
        </p:nvSpPr>
        <p:spPr>
          <a:xfrm>
            <a:off x="311700" y="1943275"/>
            <a:ext cx="4342800" cy="2692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zh-TW" sz="1800">
                <a:solidFill>
                  <a:schemeClr val="dk1"/>
                </a:solidFill>
              </a:rPr>
              <a:t>一張</a:t>
            </a:r>
            <a:r>
              <a:rPr lang="zh-TW" sz="1800">
                <a:solidFill>
                  <a:schemeClr val="dk1"/>
                </a:solidFill>
              </a:rPr>
              <a:t>技術子圖TSG</a:t>
            </a:r>
            <a:r>
              <a:rPr lang="zh-TW" sz="1800">
                <a:solidFill>
                  <a:schemeClr val="dk1"/>
                </a:solidFill>
              </a:rPr>
              <a:t>平均</a:t>
            </a:r>
            <a:r>
              <a:rPr lang="zh-TW" sz="1800">
                <a:solidFill>
                  <a:schemeClr val="dk1"/>
                </a:solidFill>
              </a:rPr>
              <a:t>909個節點。</a:t>
            </a:r>
            <a:br>
              <a:rPr lang="zh-TW" sz="1800">
                <a:solidFill>
                  <a:schemeClr val="dk1"/>
                </a:solidFill>
              </a:rPr>
            </a:b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把這張未知的圖，拿去跟資料庫裡 26 種 APT 戰術範本比對一輪，只需約 0.5 秒。</a:t>
            </a:r>
            <a:br>
              <a:rPr lang="zh-TW" sz="1800">
                <a:solidFill>
                  <a:schemeClr val="dk1"/>
                </a:solidFill>
              </a:rPr>
            </a:b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拿去跟 45 種 APT sub technique範本比對一輪，只需約 0.9 秒。</a:t>
            </a:r>
            <a:endParaRPr sz="180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Discussion and Limitation</a:t>
            </a:r>
            <a:endParaRPr/>
          </a:p>
        </p:txBody>
      </p:sp>
      <p:sp>
        <p:nvSpPr>
          <p:cNvPr id="523" name="Google Shape;523;p63"/>
          <p:cNvSpPr txBox="1"/>
          <p:nvPr>
            <p:ph idx="1" type="body"/>
          </p:nvPr>
        </p:nvSpPr>
        <p:spPr>
          <a:xfrm>
            <a:off x="311700" y="1152475"/>
            <a:ext cx="8520600" cy="379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The prospect of TREC</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深度學習在 APT 偵測落地最大的問題就是「缺乏惡意</a:t>
            </a:r>
            <a:r>
              <a:rPr lang="zh-TW">
                <a:solidFill>
                  <a:schemeClr val="dk1"/>
                </a:solidFill>
              </a:rPr>
              <a:t>樣本</a:t>
            </a:r>
            <a:r>
              <a:rPr lang="zh-TW">
                <a:solidFill>
                  <a:schemeClr val="dk1"/>
                </a:solidFill>
              </a:rPr>
              <a:t>」。TREC 的初步成果證明了，只要架構設計得當（圖採樣 + 孿生網路），僅靠極少數樣本就能達到令人滿意的戰術與技術辨識率。</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The application of TREC</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輸入：接收底層系統吐出的、夾帶大量雜訊的惡意實體 (NOIs)。</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處理：將這些零碎的警報壓縮並賦予高階的語意特徵。</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輸出：產出乾淨的技術實例 (Technique instances)，再精準地交給後端溯源系統去串接成完整的攻擊鏈 (Campaign)。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The limitation of TREC</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Significant larger label space：偵測只是二元分類，但辨識是龐大的多類別分類（TTPs），這直接導致原本就很少的訓練樣本被嚴重稀釋，所以找不太到適合的樣本</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Subtle deviations：不同種的 APT 技術之間長得極度相似。攻擊者往往會使用系統內建的合法工具去隱藏攻擊行為。</a:t>
            </a:r>
            <a:endParaRPr>
              <a:solidFill>
                <a:schemeClr val="dk1"/>
              </a:solidFill>
            </a:endParaRPr>
          </a:p>
        </p:txBody>
      </p:sp>
      <p:sp>
        <p:nvSpPr>
          <p:cNvPr id="524" name="Google Shape;524;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CONCLUSION AND FUTURE WORK</a:t>
            </a:r>
            <a:endParaRPr/>
          </a:p>
        </p:txBody>
      </p:sp>
      <p:sp>
        <p:nvSpPr>
          <p:cNvPr id="530" name="Google Shape;530;p64"/>
          <p:cNvSpPr txBox="1"/>
          <p:nvPr>
            <p:ph idx="1" type="body"/>
          </p:nvPr>
        </p:nvSpPr>
        <p:spPr>
          <a:xfrm>
            <a:off x="311700" y="1136600"/>
            <a:ext cx="8520600" cy="3687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TREC employs a novel combination of techniques in anomaly detection, graph sampling, graph embedding, and distance metric learning, to detect and recognize APT tactic / technique instances from raw provenance graphs with very </a:t>
            </a:r>
            <a:r>
              <a:rPr lang="zh-TW">
                <a:solidFill>
                  <a:schemeClr val="dk1"/>
                </a:solidFill>
                <a:highlight>
                  <a:schemeClr val="accent6"/>
                </a:highlight>
              </a:rPr>
              <a:t>limited training samples</a:t>
            </a:r>
            <a:r>
              <a:rPr lang="zh-TW">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most APT attack knowledge is shared by documents (e.g., CTIs) or rules (e.g., blacklists, IoCs). Therefore, we will try to </a:t>
            </a:r>
            <a:r>
              <a:rPr lang="zh-TW">
                <a:solidFill>
                  <a:schemeClr val="dk1"/>
                </a:solidFill>
                <a:highlight>
                  <a:schemeClr val="accent6"/>
                </a:highlight>
              </a:rPr>
              <a:t>extract attack knowledge</a:t>
            </a:r>
            <a:r>
              <a:rPr lang="zh-TW">
                <a:solidFill>
                  <a:schemeClr val="dk1"/>
                </a:solidFill>
              </a:rPr>
              <a:t> and integrate it with machine learning methods for more robust APT tactic/ technique recognition.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APT is a long-range attack campaign, and thus how to leverage the APT tactic / technique recognition model proposed in this paper to </a:t>
            </a:r>
            <a:r>
              <a:rPr lang="zh-TW">
                <a:solidFill>
                  <a:schemeClr val="dk1"/>
                </a:solidFill>
                <a:highlight>
                  <a:schemeClr val="accent6"/>
                </a:highlight>
              </a:rPr>
              <a:t>capture the big picture of the APT attack campaign</a:t>
            </a:r>
            <a:r>
              <a:rPr lang="zh-TW">
                <a:solidFill>
                  <a:schemeClr val="dk1"/>
                </a:solidFill>
              </a:rPr>
              <a:t> will also be a promising research topic.</a:t>
            </a:r>
            <a:endParaRPr>
              <a:solidFill>
                <a:schemeClr val="dk1"/>
              </a:solidFill>
            </a:endParaRPr>
          </a:p>
        </p:txBody>
      </p:sp>
      <p:sp>
        <p:nvSpPr>
          <p:cNvPr id="531" name="Google Shape;53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Kellect4APT Dataset</a:t>
            </a:r>
            <a:endParaRPr/>
          </a:p>
        </p:txBody>
      </p:sp>
      <p:sp>
        <p:nvSpPr>
          <p:cNvPr id="537" name="Google Shape;537;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Kellect4APT uses the open-source collector Kellect for data collection.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Kellect is a real-time, non-invasive, efficient Windows kernel log collector that can provide rich kernel behavior data as the basis for user and application behavior.</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The dataset involves 9 tactics with 43 sub-techniques and 304 sample files, totaling 18.5GB.</a:t>
            </a:r>
            <a:endParaRPr>
              <a:solidFill>
                <a:schemeClr val="dk1"/>
              </a:solidFill>
            </a:endParaRPr>
          </a:p>
        </p:txBody>
      </p:sp>
      <p:sp>
        <p:nvSpPr>
          <p:cNvPr id="538" name="Google Shape;538;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Data collection environment</a:t>
            </a:r>
            <a:endParaRPr/>
          </a:p>
        </p:txBody>
      </p:sp>
      <p:sp>
        <p:nvSpPr>
          <p:cNvPr id="544" name="Google Shape;544;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Based on Windows 10, the CPU of the host is i5-10400F, the GPU is 1050ti, the memory is 16GB.</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Data was collected with specified noise and scripts running.</a:t>
            </a:r>
            <a:endParaRPr>
              <a:solidFill>
                <a:schemeClr val="dk1"/>
              </a:solidFill>
            </a:endParaRPr>
          </a:p>
        </p:txBody>
      </p:sp>
      <p:sp>
        <p:nvSpPr>
          <p:cNvPr id="545" name="Google Shape;545;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546" name="Google Shape;546;p66"/>
          <p:cNvGraphicFramePr/>
          <p:nvPr/>
        </p:nvGraphicFramePr>
        <p:xfrm>
          <a:off x="723900" y="2635925"/>
          <a:ext cx="3000000" cy="3000000"/>
        </p:xfrm>
        <a:graphic>
          <a:graphicData uri="http://schemas.openxmlformats.org/drawingml/2006/table">
            <a:tbl>
              <a:tblPr>
                <a:solidFill>
                  <a:srgbClr val="FFFFFF"/>
                </a:solidFill>
                <a:tableStyleId>{594DB756-C715-4B54-ADD8-DDC20CE4C5C1}</a:tableStyleId>
              </a:tblPr>
              <a:tblGrid>
                <a:gridCol w="1105725"/>
                <a:gridCol w="6433475"/>
              </a:tblGrid>
              <a:tr h="457200">
                <a:tc>
                  <a:txBody>
                    <a:bodyPr/>
                    <a:lstStyle/>
                    <a:p>
                      <a:pPr indent="0" lvl="0" marL="101600" marR="101600" rtl="0" algn="l">
                        <a:lnSpc>
                          <a:spcPct val="164285"/>
                        </a:lnSpc>
                        <a:spcBef>
                          <a:spcPts val="0"/>
                        </a:spcBef>
                        <a:spcAft>
                          <a:spcPts val="0"/>
                        </a:spcAft>
                        <a:buNone/>
                      </a:pPr>
                      <a:r>
                        <a:rPr lang="zh-TW" sz="1600">
                          <a:solidFill>
                            <a:schemeClr val="dk1"/>
                          </a:solidFill>
                          <a:highlight>
                            <a:srgbClr val="FFFFFF"/>
                          </a:highlight>
                        </a:rPr>
                        <a:t>Noise 1</a:t>
                      </a:r>
                      <a:endParaRPr sz="160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600">
                          <a:solidFill>
                            <a:schemeClr val="dk1"/>
                          </a:solidFill>
                          <a:highlight>
                            <a:srgbClr val="FFFFFF"/>
                          </a:highlight>
                        </a:rPr>
                        <a:t>Video live streaming and common office software</a:t>
                      </a:r>
                      <a:endParaRPr sz="160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7200">
                <a:tc>
                  <a:txBody>
                    <a:bodyPr/>
                    <a:lstStyle/>
                    <a:p>
                      <a:pPr indent="0" lvl="0" marL="101600" marR="101600" rtl="0" algn="l">
                        <a:lnSpc>
                          <a:spcPct val="164285"/>
                        </a:lnSpc>
                        <a:spcBef>
                          <a:spcPts val="0"/>
                        </a:spcBef>
                        <a:spcAft>
                          <a:spcPts val="0"/>
                        </a:spcAft>
                        <a:buNone/>
                      </a:pPr>
                      <a:r>
                        <a:rPr lang="zh-TW" sz="1600">
                          <a:solidFill>
                            <a:schemeClr val="dk1"/>
                          </a:solidFill>
                          <a:highlight>
                            <a:srgbClr val="FFFFFF"/>
                          </a:highlight>
                        </a:rPr>
                        <a:t>Noise 2</a:t>
                      </a:r>
                      <a:endParaRPr sz="160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600">
                          <a:solidFill>
                            <a:schemeClr val="dk1"/>
                          </a:solidFill>
                          <a:highlight>
                            <a:srgbClr val="FFFFFF"/>
                          </a:highlight>
                        </a:rPr>
                        <a:t>Gaming and file downloading</a:t>
                      </a:r>
                      <a:endParaRPr sz="160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7"/>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Collection content</a:t>
            </a:r>
            <a:endParaRPr/>
          </a:p>
        </p:txBody>
      </p:sp>
      <p:sp>
        <p:nvSpPr>
          <p:cNvPr id="552" name="Google Shape;552;p67"/>
          <p:cNvSpPr txBox="1"/>
          <p:nvPr>
            <p:ph idx="1" type="body"/>
          </p:nvPr>
        </p:nvSpPr>
        <p:spPr>
          <a:xfrm>
            <a:off x="311700" y="480875"/>
            <a:ext cx="8520600" cy="964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solidFill>
                  <a:schemeClr val="dk1"/>
                </a:solidFill>
              </a:rPr>
              <a:t>Referring to the events provided by Windows, we collect and analyze a total of the following seven events, which are included as follows:</a:t>
            </a:r>
            <a:endParaRPr>
              <a:solidFill>
                <a:schemeClr val="dk1"/>
              </a:solidFill>
            </a:endParaRPr>
          </a:p>
        </p:txBody>
      </p:sp>
      <p:sp>
        <p:nvSpPr>
          <p:cNvPr id="553" name="Google Shape;553;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554" name="Google Shape;554;p67"/>
          <p:cNvGraphicFramePr/>
          <p:nvPr/>
        </p:nvGraphicFramePr>
        <p:xfrm>
          <a:off x="270875" y="1200150"/>
          <a:ext cx="3000000" cy="3000000"/>
        </p:xfrm>
        <a:graphic>
          <a:graphicData uri="http://schemas.openxmlformats.org/drawingml/2006/table">
            <a:tbl>
              <a:tblPr>
                <a:noFill/>
                <a:tableStyleId>{594DB756-C715-4B54-ADD8-DDC20CE4C5C1}</a:tableStyleId>
              </a:tblPr>
              <a:tblGrid>
                <a:gridCol w="1059175"/>
                <a:gridCol w="7543050"/>
              </a:tblGrid>
              <a:tr h="819350">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TCP/IP</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TcpIpSendIPV4, TcpIpSendIPV6, TcpIpRetransmitIPV4, TcpIpRetransmitIPV6, TcpIpRecvIPV4, TcpIpRecvIPV6, TcpIpConnectIPV4, TcpIpReconnectIPV6, TcpIpConnectIPV6, TcpIpReconnectIPV4, TcpIpAcceptIPV4, TcpIpAcceptIPV6, TcpIpDisconnectIPV4, TcpIpDisconnectIPV6</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573600">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FileIO</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FileIOWrite, FileIORead, FileIOFileCreate, FileIORename, FileIOCreate, FileIOCleanup, FileIOFlush, FileIOClose, FileIODelete, FileIOFileDelete</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615475">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Registry</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RegistryCreate, RegistrySetValue, RegistryDeleteValue, RegistryOpen, RegistryDelete, RegistryFlush, RegistryClose, , RegistrySetInformation, RegistryQuery, RegistryQueryValue</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bl>
          </a:graphicData>
        </a:graphic>
      </p:graphicFrame>
      <p:graphicFrame>
        <p:nvGraphicFramePr>
          <p:cNvPr id="555" name="Google Shape;555;p67"/>
          <p:cNvGraphicFramePr/>
          <p:nvPr/>
        </p:nvGraphicFramePr>
        <p:xfrm>
          <a:off x="270875" y="3834900"/>
          <a:ext cx="3000000" cy="3000000"/>
        </p:xfrm>
        <a:graphic>
          <a:graphicData uri="http://schemas.openxmlformats.org/drawingml/2006/table">
            <a:tbl>
              <a:tblPr>
                <a:solidFill>
                  <a:srgbClr val="FFFFFF"/>
                </a:solidFill>
                <a:tableStyleId>{594DB756-C715-4B54-ADD8-DDC20CE4C5C1}</a:tableStyleId>
              </a:tblPr>
              <a:tblGrid>
                <a:gridCol w="1059175"/>
                <a:gridCol w="3840050"/>
                <a:gridCol w="845500"/>
                <a:gridCol w="2163475"/>
              </a:tblGrid>
              <a:tr h="332000">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Process</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ProcessStart, ProcessEnd, ProcessDCStart, ProcessDCEnd</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Image</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ImageDCStart, ImageLoad</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400050">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Thread</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ThreadStart, ThreadEnd, ThreadDCStart, ThreadDCEnd</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DiskIO</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DiskIOWrite, DiskIORead</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8"/>
          <p:cNvSpPr txBox="1"/>
          <p:nvPr>
            <p:ph idx="1" type="body"/>
          </p:nvPr>
        </p:nvSpPr>
        <p:spPr>
          <a:xfrm>
            <a:off x="311700" y="471175"/>
            <a:ext cx="8520600" cy="84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solidFill>
                  <a:schemeClr val="dk1"/>
                </a:solidFill>
              </a:rPr>
              <a:t>In this case, each event has two parts of attributes: </a:t>
            </a:r>
            <a:r>
              <a:rPr lang="zh-TW">
                <a:solidFill>
                  <a:schemeClr val="dk1"/>
                </a:solidFill>
                <a:highlight>
                  <a:schemeClr val="accent6"/>
                </a:highlight>
              </a:rPr>
              <a:t>public</a:t>
            </a:r>
            <a:r>
              <a:rPr lang="zh-TW">
                <a:solidFill>
                  <a:schemeClr val="dk1"/>
                </a:solidFill>
              </a:rPr>
              <a:t> and private attributes. Each public is described as follows:</a:t>
            </a:r>
            <a:endParaRPr>
              <a:solidFill>
                <a:schemeClr val="dk1"/>
              </a:solidFill>
            </a:endParaRPr>
          </a:p>
        </p:txBody>
      </p:sp>
      <p:sp>
        <p:nvSpPr>
          <p:cNvPr id="561" name="Google Shape;561;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562" name="Google Shape;562;p68"/>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Collection content - Common properties</a:t>
            </a:r>
            <a:endParaRPr/>
          </a:p>
        </p:txBody>
      </p:sp>
      <p:graphicFrame>
        <p:nvGraphicFramePr>
          <p:cNvPr id="563" name="Google Shape;563;p68"/>
          <p:cNvGraphicFramePr/>
          <p:nvPr/>
        </p:nvGraphicFramePr>
        <p:xfrm>
          <a:off x="785125" y="1389125"/>
          <a:ext cx="3000000" cy="3000000"/>
        </p:xfrm>
        <a:graphic>
          <a:graphicData uri="http://schemas.openxmlformats.org/drawingml/2006/table">
            <a:tbl>
              <a:tblPr>
                <a:solidFill>
                  <a:srgbClr val="FFFFFF"/>
                </a:solidFill>
                <a:tableStyleId>{594DB756-C715-4B54-ADD8-DDC20CE4C5C1}</a:tableStyleId>
              </a:tblPr>
              <a:tblGrid>
                <a:gridCol w="1330775"/>
                <a:gridCol w="6242975"/>
              </a:tblGrid>
              <a:tr h="457200">
                <a:tc>
                  <a:txBody>
                    <a:bodyPr/>
                    <a:lstStyle/>
                    <a:p>
                      <a:pPr indent="0" lvl="0" marL="101600" marR="101600" rtl="0" algn="l">
                        <a:lnSpc>
                          <a:spcPct val="164285"/>
                        </a:lnSpc>
                        <a:spcBef>
                          <a:spcPts val="0"/>
                        </a:spcBef>
                        <a:spcAft>
                          <a:spcPts val="0"/>
                        </a:spcAft>
                        <a:buNone/>
                      </a:pPr>
                      <a:r>
                        <a:rPr b="1" lang="zh-TW">
                          <a:solidFill>
                            <a:schemeClr val="dk1"/>
                          </a:solidFill>
                          <a:highlight>
                            <a:srgbClr val="FFFFFF"/>
                          </a:highlight>
                        </a:rPr>
                        <a:t>Event</a:t>
                      </a:r>
                      <a:endParaRPr b="1">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a:solidFill>
                            <a:schemeClr val="dk1"/>
                          </a:solidFill>
                          <a:highlight>
                            <a:srgbClr val="FFFFFF"/>
                          </a:highlight>
                        </a:rPr>
                        <a:t>corresponding event name</a:t>
                      </a:r>
                      <a:endParaRPr>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457200">
                <a:tc>
                  <a:txBody>
                    <a:bodyPr/>
                    <a:lstStyle/>
                    <a:p>
                      <a:pPr indent="0" lvl="0" marL="101600" marR="101600" rtl="0" algn="l">
                        <a:lnSpc>
                          <a:spcPct val="164285"/>
                        </a:lnSpc>
                        <a:spcBef>
                          <a:spcPts val="0"/>
                        </a:spcBef>
                        <a:spcAft>
                          <a:spcPts val="0"/>
                        </a:spcAft>
                        <a:buNone/>
                      </a:pPr>
                      <a:r>
                        <a:rPr b="1" lang="zh-TW">
                          <a:solidFill>
                            <a:schemeClr val="dk1"/>
                          </a:solidFill>
                          <a:highlight>
                            <a:srgbClr val="FFFFFF"/>
                          </a:highlight>
                        </a:rPr>
                        <a:t>TID</a:t>
                      </a:r>
                      <a:endParaRPr b="1">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a:solidFill>
                            <a:schemeClr val="dk1"/>
                          </a:solidFill>
                          <a:highlight>
                            <a:srgbClr val="FFFFFF"/>
                          </a:highlight>
                        </a:rPr>
                        <a:t>ID of the thread that generated the event</a:t>
                      </a:r>
                      <a:endParaRPr>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457200">
                <a:tc>
                  <a:txBody>
                    <a:bodyPr/>
                    <a:lstStyle/>
                    <a:p>
                      <a:pPr indent="0" lvl="0" marL="101600" marR="101600" rtl="0" algn="l">
                        <a:lnSpc>
                          <a:spcPct val="164285"/>
                        </a:lnSpc>
                        <a:spcBef>
                          <a:spcPts val="0"/>
                        </a:spcBef>
                        <a:spcAft>
                          <a:spcPts val="0"/>
                        </a:spcAft>
                        <a:buNone/>
                      </a:pPr>
                      <a:r>
                        <a:rPr b="1" lang="zh-TW">
                          <a:solidFill>
                            <a:schemeClr val="dk1"/>
                          </a:solidFill>
                          <a:highlight>
                            <a:srgbClr val="FFFFFF"/>
                          </a:highlight>
                        </a:rPr>
                        <a:t>PID</a:t>
                      </a:r>
                      <a:endParaRPr b="1">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a:solidFill>
                            <a:schemeClr val="dk1"/>
                          </a:solidFill>
                          <a:highlight>
                            <a:srgbClr val="FFFFFF"/>
                          </a:highlight>
                        </a:rPr>
                        <a:t>ID of the process that generated the event</a:t>
                      </a:r>
                      <a:endParaRPr>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457200">
                <a:tc>
                  <a:txBody>
                    <a:bodyPr/>
                    <a:lstStyle/>
                    <a:p>
                      <a:pPr indent="0" lvl="0" marL="101600" marR="101600" rtl="0" algn="l">
                        <a:lnSpc>
                          <a:spcPct val="164285"/>
                        </a:lnSpc>
                        <a:spcBef>
                          <a:spcPts val="0"/>
                        </a:spcBef>
                        <a:spcAft>
                          <a:spcPts val="0"/>
                        </a:spcAft>
                        <a:buNone/>
                      </a:pPr>
                      <a:r>
                        <a:rPr b="1" lang="zh-TW">
                          <a:solidFill>
                            <a:schemeClr val="dk1"/>
                          </a:solidFill>
                          <a:highlight>
                            <a:srgbClr val="FFFFFF"/>
                          </a:highlight>
                        </a:rPr>
                        <a:t>PName</a:t>
                      </a:r>
                      <a:endParaRPr b="1">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a:solidFill>
                            <a:schemeClr val="dk1"/>
                          </a:solidFill>
                          <a:highlight>
                            <a:srgbClr val="FFFFFF"/>
                          </a:highlight>
                        </a:rPr>
                        <a:t>name of the process that generated the event</a:t>
                      </a:r>
                      <a:endParaRPr>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457200">
                <a:tc>
                  <a:txBody>
                    <a:bodyPr/>
                    <a:lstStyle/>
                    <a:p>
                      <a:pPr indent="0" lvl="0" marL="101600" marR="101600" rtl="0" algn="l">
                        <a:lnSpc>
                          <a:spcPct val="164285"/>
                        </a:lnSpc>
                        <a:spcBef>
                          <a:spcPts val="0"/>
                        </a:spcBef>
                        <a:spcAft>
                          <a:spcPts val="0"/>
                        </a:spcAft>
                        <a:buNone/>
                      </a:pPr>
                      <a:r>
                        <a:rPr b="1" lang="zh-TW">
                          <a:solidFill>
                            <a:schemeClr val="dk1"/>
                          </a:solidFill>
                          <a:highlight>
                            <a:srgbClr val="FFFFFF"/>
                          </a:highlight>
                        </a:rPr>
                        <a:t>PPID</a:t>
                      </a:r>
                      <a:endParaRPr b="1">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a:solidFill>
                            <a:schemeClr val="dk1"/>
                          </a:solidFill>
                          <a:highlight>
                            <a:srgbClr val="FFFFFF"/>
                          </a:highlight>
                        </a:rPr>
                        <a:t>parent ID of the process that generated the event</a:t>
                      </a:r>
                      <a:endParaRPr>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9"/>
          <p:cNvSpPr txBox="1"/>
          <p:nvPr>
            <p:ph idx="1" type="body"/>
          </p:nvPr>
        </p:nvSpPr>
        <p:spPr>
          <a:xfrm>
            <a:off x="311700" y="471175"/>
            <a:ext cx="8520600" cy="84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solidFill>
                  <a:schemeClr val="dk1"/>
                </a:solidFill>
              </a:rPr>
              <a:t>In this case, each event has two parts of attributes: </a:t>
            </a:r>
            <a:r>
              <a:rPr lang="zh-TW">
                <a:solidFill>
                  <a:schemeClr val="dk1"/>
                </a:solidFill>
                <a:highlight>
                  <a:schemeClr val="accent6"/>
                </a:highlight>
              </a:rPr>
              <a:t>public</a:t>
            </a:r>
            <a:r>
              <a:rPr lang="zh-TW">
                <a:solidFill>
                  <a:schemeClr val="dk1"/>
                </a:solidFill>
              </a:rPr>
              <a:t> and private attributes. Each public is described as follows:</a:t>
            </a:r>
            <a:endParaRPr>
              <a:solidFill>
                <a:schemeClr val="dk1"/>
              </a:solidFill>
            </a:endParaRPr>
          </a:p>
        </p:txBody>
      </p:sp>
      <p:sp>
        <p:nvSpPr>
          <p:cNvPr id="569" name="Google Shape;569;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570" name="Google Shape;570;p69"/>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Collection content - Common properties</a:t>
            </a:r>
            <a:endParaRPr/>
          </a:p>
        </p:txBody>
      </p:sp>
      <p:graphicFrame>
        <p:nvGraphicFramePr>
          <p:cNvPr id="571" name="Google Shape;571;p69"/>
          <p:cNvGraphicFramePr/>
          <p:nvPr/>
        </p:nvGraphicFramePr>
        <p:xfrm>
          <a:off x="785125" y="1352550"/>
          <a:ext cx="3000000" cy="3000000"/>
        </p:xfrm>
        <a:graphic>
          <a:graphicData uri="http://schemas.openxmlformats.org/drawingml/2006/table">
            <a:tbl>
              <a:tblPr>
                <a:noFill/>
                <a:tableStyleId>{594DB756-C715-4B54-ADD8-DDC20CE4C5C1}</a:tableStyleId>
              </a:tblPr>
              <a:tblGrid>
                <a:gridCol w="1426025"/>
                <a:gridCol w="6147725"/>
              </a:tblGrid>
              <a:tr h="457200">
                <a:tc>
                  <a:txBody>
                    <a:bodyPr/>
                    <a:lstStyle/>
                    <a:p>
                      <a:pPr indent="0" lvl="0" marL="101600" marR="101600" rtl="0" algn="l">
                        <a:lnSpc>
                          <a:spcPct val="164285"/>
                        </a:lnSpc>
                        <a:spcBef>
                          <a:spcPts val="0"/>
                        </a:spcBef>
                        <a:spcAft>
                          <a:spcPts val="0"/>
                        </a:spcAft>
                        <a:buNone/>
                      </a:pPr>
                      <a:r>
                        <a:rPr b="1" lang="zh-TW">
                          <a:solidFill>
                            <a:schemeClr val="dk1"/>
                          </a:solidFill>
                          <a:highlight>
                            <a:srgbClr val="FFFFFF"/>
                          </a:highlight>
                        </a:rPr>
                        <a:t>PPName</a:t>
                      </a:r>
                      <a:endParaRPr b="1">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a:solidFill>
                            <a:schemeClr val="dk1"/>
                          </a:solidFill>
                          <a:highlight>
                            <a:srgbClr val="FFFFFF"/>
                          </a:highlight>
                        </a:rPr>
                        <a:t>parent name of the process that generated the event</a:t>
                      </a:r>
                      <a:endParaRPr>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457200">
                <a:tc>
                  <a:txBody>
                    <a:bodyPr/>
                    <a:lstStyle/>
                    <a:p>
                      <a:pPr indent="0" lvl="0" marL="101600" marR="101600" rtl="0" algn="l">
                        <a:lnSpc>
                          <a:spcPct val="164285"/>
                        </a:lnSpc>
                        <a:spcBef>
                          <a:spcPts val="0"/>
                        </a:spcBef>
                        <a:spcAft>
                          <a:spcPts val="0"/>
                        </a:spcAft>
                        <a:buNone/>
                      </a:pPr>
                      <a:r>
                        <a:rPr b="1" lang="zh-TW">
                          <a:solidFill>
                            <a:schemeClr val="dk1"/>
                          </a:solidFill>
                          <a:highlight>
                            <a:srgbClr val="FFFFFF"/>
                          </a:highlight>
                        </a:rPr>
                        <a:t>TimeStamp</a:t>
                      </a:r>
                      <a:endParaRPr b="1">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a:solidFill>
                            <a:schemeClr val="dk1"/>
                          </a:solidFill>
                          <a:highlight>
                            <a:srgbClr val="FFFFFF"/>
                          </a:highlight>
                        </a:rPr>
                        <a:t>time of the event occurred</a:t>
                      </a:r>
                      <a:endParaRPr>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676275">
                <a:tc>
                  <a:txBody>
                    <a:bodyPr/>
                    <a:lstStyle/>
                    <a:p>
                      <a:pPr indent="0" lvl="0" marL="101600" marR="101600" rtl="0" algn="l">
                        <a:lnSpc>
                          <a:spcPct val="164285"/>
                        </a:lnSpc>
                        <a:spcBef>
                          <a:spcPts val="0"/>
                        </a:spcBef>
                        <a:spcAft>
                          <a:spcPts val="0"/>
                        </a:spcAft>
                        <a:buNone/>
                      </a:pPr>
                      <a:r>
                        <a:rPr b="1" lang="zh-TW">
                          <a:solidFill>
                            <a:schemeClr val="dk1"/>
                          </a:solidFill>
                          <a:highlight>
                            <a:srgbClr val="FFFFFF"/>
                          </a:highlight>
                        </a:rPr>
                        <a:t>Host-UUID</a:t>
                      </a:r>
                      <a:endParaRPr b="1">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a:solidFill>
                            <a:schemeClr val="dk1"/>
                          </a:solidFill>
                          <a:highlight>
                            <a:srgbClr val="FFFFFF"/>
                          </a:highlight>
                        </a:rPr>
                        <a:t>the host ID that generated the event, distinguish the specific log source in the joint analysis of multi-host logs</a:t>
                      </a:r>
                      <a:endParaRPr>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457200">
                <a:tc>
                  <a:txBody>
                    <a:bodyPr/>
                    <a:lstStyle/>
                    <a:p>
                      <a:pPr indent="0" lvl="0" marL="101600" marR="101600" rtl="0" algn="l">
                        <a:lnSpc>
                          <a:spcPct val="164285"/>
                        </a:lnSpc>
                        <a:spcBef>
                          <a:spcPts val="0"/>
                        </a:spcBef>
                        <a:spcAft>
                          <a:spcPts val="0"/>
                        </a:spcAft>
                        <a:buNone/>
                      </a:pPr>
                      <a:r>
                        <a:rPr b="1" lang="zh-TW">
                          <a:solidFill>
                            <a:schemeClr val="dk1"/>
                          </a:solidFill>
                          <a:highlight>
                            <a:srgbClr val="FFFFFF"/>
                          </a:highlight>
                        </a:rPr>
                        <a:t>Args</a:t>
                      </a:r>
                      <a:endParaRPr b="1">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a:solidFill>
                            <a:schemeClr val="dk1"/>
                          </a:solidFill>
                          <a:highlight>
                            <a:srgbClr val="FFFFFF"/>
                          </a:highlight>
                        </a:rPr>
                        <a:t>private property pairs for specific event types</a:t>
                      </a:r>
                      <a:endParaRPr>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577" name="Google Shape;577;p70"/>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Collection content - </a:t>
            </a:r>
            <a:r>
              <a:rPr lang="zh-TW"/>
              <a:t>Private properties - file_create event</a:t>
            </a:r>
            <a:endParaRPr/>
          </a:p>
        </p:txBody>
      </p:sp>
      <p:sp>
        <p:nvSpPr>
          <p:cNvPr id="578" name="Google Shape;578;p70"/>
          <p:cNvSpPr txBox="1"/>
          <p:nvPr>
            <p:ph idx="1" type="body"/>
          </p:nvPr>
        </p:nvSpPr>
        <p:spPr>
          <a:xfrm>
            <a:off x="311700" y="335100"/>
            <a:ext cx="8520600" cy="1307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solidFill>
                  <a:schemeClr val="dk1"/>
                </a:solidFill>
              </a:rPr>
              <a:t>In this case, each event has two parts of attributes: public and </a:t>
            </a:r>
            <a:r>
              <a:rPr lang="zh-TW">
                <a:solidFill>
                  <a:schemeClr val="dk1"/>
                </a:solidFill>
                <a:highlight>
                  <a:schemeClr val="accent6"/>
                </a:highlight>
              </a:rPr>
              <a:t>private</a:t>
            </a:r>
            <a:r>
              <a:rPr lang="zh-TW">
                <a:solidFill>
                  <a:schemeClr val="dk1"/>
                </a:solidFill>
              </a:rPr>
              <a:t> attributes. Each public is described as follows:</a:t>
            </a:r>
            <a:br>
              <a:rPr lang="zh-TW">
                <a:solidFill>
                  <a:schemeClr val="dk1"/>
                </a:solidFill>
              </a:rPr>
            </a:br>
            <a:r>
              <a:rPr lang="zh-TW">
                <a:solidFill>
                  <a:schemeClr val="dk1"/>
                </a:solidFill>
              </a:rPr>
              <a:t>This type properties is various depends on the BaseEvent types.</a:t>
            </a:r>
            <a:endParaRPr>
              <a:solidFill>
                <a:schemeClr val="dk1"/>
              </a:solidFill>
            </a:endParaRPr>
          </a:p>
        </p:txBody>
      </p:sp>
      <p:graphicFrame>
        <p:nvGraphicFramePr>
          <p:cNvPr id="579" name="Google Shape;579;p70"/>
          <p:cNvGraphicFramePr/>
          <p:nvPr/>
        </p:nvGraphicFramePr>
        <p:xfrm>
          <a:off x="356500" y="1409700"/>
          <a:ext cx="3000000" cy="3000000"/>
        </p:xfrm>
        <a:graphic>
          <a:graphicData uri="http://schemas.openxmlformats.org/drawingml/2006/table">
            <a:tbl>
              <a:tblPr>
                <a:noFill/>
                <a:tableStyleId>{594DB756-C715-4B54-ADD8-DDC20CE4C5C1}</a:tableStyleId>
              </a:tblPr>
              <a:tblGrid>
                <a:gridCol w="1475225"/>
                <a:gridCol w="6955775"/>
              </a:tblGrid>
              <a:tr h="318775">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IrpPtr</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IO request packet</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277600">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TTID</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Thread identifier of the thread that is creating the file</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312950">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FileObject</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Identifier that can be used for correlating operations to the same opened file object instance between file create and close events</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390525">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CreateOptions</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Values passed in the CreateOptions and CreateDispositions parameters to the NtCreateFile function</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223150">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FileAttributes</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Value passed in the FileAttributes parameter to the NtCreateFile function</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182325">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ShareAccess</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Value passed in the ShareAccess parameter to the NtCreateFile function</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277975">
                <a:tc>
                  <a:txBody>
                    <a:bodyPr/>
                    <a:lstStyle/>
                    <a:p>
                      <a:pPr indent="0" lvl="0" marL="101600" marR="101600" rtl="0" algn="l">
                        <a:lnSpc>
                          <a:spcPct val="164285"/>
                        </a:lnSpc>
                        <a:spcBef>
                          <a:spcPts val="0"/>
                        </a:spcBef>
                        <a:spcAft>
                          <a:spcPts val="0"/>
                        </a:spcAft>
                        <a:buNone/>
                      </a:pPr>
                      <a:r>
                        <a:rPr b="1" lang="zh-TW" sz="1050">
                          <a:solidFill>
                            <a:schemeClr val="dk1"/>
                          </a:solidFill>
                          <a:highlight>
                            <a:srgbClr val="FFFFFF"/>
                          </a:highlight>
                        </a:rPr>
                        <a:t>OpenPath</a:t>
                      </a:r>
                      <a:endParaRPr b="1" sz="105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050">
                          <a:solidFill>
                            <a:schemeClr val="dk1"/>
                          </a:solidFill>
                          <a:highlight>
                            <a:srgbClr val="FFFFFF"/>
                          </a:highlight>
                        </a:rPr>
                        <a:t>Path to the file</a:t>
                      </a:r>
                      <a:endParaRPr sz="105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585" name="Google Shape;585;p71"/>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Collection content - Private properties - </a:t>
            </a:r>
            <a:r>
              <a:rPr lang="zh-TW"/>
              <a:t>FileIo_Name event</a:t>
            </a:r>
            <a:endParaRPr/>
          </a:p>
        </p:txBody>
      </p:sp>
      <p:sp>
        <p:nvSpPr>
          <p:cNvPr id="586" name="Google Shape;586;p71"/>
          <p:cNvSpPr txBox="1"/>
          <p:nvPr>
            <p:ph idx="1" type="body"/>
          </p:nvPr>
        </p:nvSpPr>
        <p:spPr>
          <a:xfrm>
            <a:off x="311700" y="634450"/>
            <a:ext cx="8520600" cy="1307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solidFill>
                  <a:schemeClr val="dk1"/>
                </a:solidFill>
              </a:rPr>
              <a:t>In this case, each event has two parts of attributes: public and </a:t>
            </a:r>
            <a:r>
              <a:rPr lang="zh-TW">
                <a:solidFill>
                  <a:schemeClr val="dk1"/>
                </a:solidFill>
                <a:highlight>
                  <a:schemeClr val="accent6"/>
                </a:highlight>
              </a:rPr>
              <a:t>private</a:t>
            </a:r>
            <a:r>
              <a:rPr lang="zh-TW">
                <a:solidFill>
                  <a:schemeClr val="dk1"/>
                </a:solidFill>
              </a:rPr>
              <a:t> attributes. Each public is described as follows:</a:t>
            </a:r>
            <a:br>
              <a:rPr lang="zh-TW">
                <a:solidFill>
                  <a:schemeClr val="dk1"/>
                </a:solidFill>
              </a:rPr>
            </a:br>
            <a:r>
              <a:rPr lang="zh-TW">
                <a:solidFill>
                  <a:schemeClr val="dk1"/>
                </a:solidFill>
              </a:rPr>
              <a:t>This type properties is various depends on the BaseEvent types.</a:t>
            </a:r>
            <a:endParaRPr>
              <a:solidFill>
                <a:schemeClr val="dk1"/>
              </a:solidFill>
            </a:endParaRPr>
          </a:p>
        </p:txBody>
      </p:sp>
      <p:graphicFrame>
        <p:nvGraphicFramePr>
          <p:cNvPr id="587" name="Google Shape;587;p71"/>
          <p:cNvGraphicFramePr/>
          <p:nvPr/>
        </p:nvGraphicFramePr>
        <p:xfrm>
          <a:off x="723900" y="2137375"/>
          <a:ext cx="3000000" cy="3000000"/>
        </p:xfrm>
        <a:graphic>
          <a:graphicData uri="http://schemas.openxmlformats.org/drawingml/2006/table">
            <a:tbl>
              <a:tblPr>
                <a:solidFill>
                  <a:srgbClr val="FFFFFF"/>
                </a:solidFill>
                <a:tableStyleId>{594DB756-C715-4B54-ADD8-DDC20CE4C5C1}</a:tableStyleId>
              </a:tblPr>
              <a:tblGrid>
                <a:gridCol w="1325550"/>
                <a:gridCol w="6370650"/>
              </a:tblGrid>
              <a:tr h="681200">
                <a:tc>
                  <a:txBody>
                    <a:bodyPr/>
                    <a:lstStyle/>
                    <a:p>
                      <a:pPr indent="0" lvl="0" marL="101600" marR="101600" rtl="0" algn="l">
                        <a:lnSpc>
                          <a:spcPct val="164285"/>
                        </a:lnSpc>
                        <a:spcBef>
                          <a:spcPts val="0"/>
                        </a:spcBef>
                        <a:spcAft>
                          <a:spcPts val="0"/>
                        </a:spcAft>
                        <a:buNone/>
                      </a:pPr>
                      <a:r>
                        <a:rPr b="1" lang="zh-TW" sz="1200">
                          <a:solidFill>
                            <a:schemeClr val="dk1"/>
                          </a:solidFill>
                          <a:highlight>
                            <a:srgbClr val="FFFFFF"/>
                          </a:highlight>
                        </a:rPr>
                        <a:t>FileObject</a:t>
                      </a:r>
                      <a:endParaRPr b="1" sz="120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200">
                          <a:solidFill>
                            <a:schemeClr val="dk1"/>
                          </a:solidFill>
                          <a:highlight>
                            <a:srgbClr val="FFFFFF"/>
                          </a:highlight>
                        </a:rPr>
                        <a:t>Match the value of this pointer to the FileObject pointer value in a DiskIo_TypeGroup1 event to determine the type of I/O operation</a:t>
                      </a:r>
                      <a:endParaRPr sz="120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r h="457200">
                <a:tc>
                  <a:txBody>
                    <a:bodyPr/>
                    <a:lstStyle/>
                    <a:p>
                      <a:pPr indent="0" lvl="0" marL="101600" marR="101600" rtl="0" algn="l">
                        <a:lnSpc>
                          <a:spcPct val="164285"/>
                        </a:lnSpc>
                        <a:spcBef>
                          <a:spcPts val="0"/>
                        </a:spcBef>
                        <a:spcAft>
                          <a:spcPts val="0"/>
                        </a:spcAft>
                        <a:buNone/>
                      </a:pPr>
                      <a:r>
                        <a:rPr b="1" lang="zh-TW" sz="1200">
                          <a:solidFill>
                            <a:schemeClr val="dk1"/>
                          </a:solidFill>
                          <a:highlight>
                            <a:srgbClr val="FFFFFF"/>
                          </a:highlight>
                        </a:rPr>
                        <a:t>FileName</a:t>
                      </a:r>
                      <a:endParaRPr b="1" sz="1200">
                        <a:solidFill>
                          <a:schemeClr val="dk1"/>
                        </a:solidFill>
                        <a:highlight>
                          <a:srgbClr val="FFFFFF"/>
                        </a:highlight>
                      </a:endParaRPr>
                    </a:p>
                  </a:txBody>
                  <a:tcPr marT="114300" marB="114300" marR="91425" marL="91425" anchor="ctr">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c>
                  <a:txBody>
                    <a:bodyPr/>
                    <a:lstStyle/>
                    <a:p>
                      <a:pPr indent="0" lvl="0" marL="101600" marR="101600" rtl="0" algn="l">
                        <a:lnSpc>
                          <a:spcPct val="164285"/>
                        </a:lnSpc>
                        <a:spcBef>
                          <a:spcPts val="0"/>
                        </a:spcBef>
                        <a:spcAft>
                          <a:spcPts val="0"/>
                        </a:spcAft>
                        <a:buNone/>
                      </a:pPr>
                      <a:r>
                        <a:rPr lang="zh-TW" sz="1200">
                          <a:solidFill>
                            <a:schemeClr val="dk1"/>
                          </a:solidFill>
                          <a:highlight>
                            <a:srgbClr val="FFFFFF"/>
                          </a:highlight>
                        </a:rPr>
                        <a:t>Full path to the file, not including the drive letter</a:t>
                      </a:r>
                      <a:endParaRPr sz="1200">
                        <a:solidFill>
                          <a:schemeClr val="dk1"/>
                        </a:solidFill>
                        <a:highlight>
                          <a:srgbClr val="FFFFFF"/>
                        </a:highlight>
                      </a:endParaRPr>
                    </a:p>
                  </a:txBody>
                  <a:tcPr marT="114300" marB="114300" marR="91425" marL="9142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6925">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