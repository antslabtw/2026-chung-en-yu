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20BDEB-C29B-43FF-BD04-3E8044B6D14E}">
  <a:tblStyle styleId="{5620BDEB-C29B-43FF-BD04-3E8044B6D1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ea02c30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ea02c30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粗糙event log抓 不一定要每個都有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ea02c3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ea02c3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e7aa4a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e7aa4a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be7aa4a6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be7aa4a6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be7aa4a6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be7aa4a6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e7aa4a6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e7aa4a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e7aa4a6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be7aa4a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e7aa4a6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e7aa4a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cea02c3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cea02c3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ea02c30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cea02c30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ea02c3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cea02c3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cea02c30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cea02c30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ttack.mitre.org/tactics/TA0008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Cadets的欄位</a:t>
            </a:r>
            <a:endParaRPr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719125" y="113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1890700"/>
                <a:gridCol w="1766900"/>
                <a:gridCol w="4048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1F1F"/>
                          </a:solidFill>
                        </a:rPr>
                        <a:t>意義說明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1F1F"/>
                          </a:solidFill>
                        </a:rPr>
                        <a:t>此範例中的值 / 作用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uuid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事件的唯一識別碼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追蹤單一事件用的 UUID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sequence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事件序列</a:t>
                      </a:r>
                      <a:r>
                        <a:rPr lang="zh-TW">
                          <a:solidFill>
                            <a:srgbClr val="1F1F1F"/>
                          </a:solidFill>
                        </a:rPr>
                        <a:t>碼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347729462</a:t>
                      </a:r>
                      <a:r>
                        <a:rPr lang="zh-TW">
                          <a:solidFill>
                            <a:srgbClr val="1F1F1F"/>
                          </a:solidFill>
                        </a:rPr>
                        <a:t>（用於還原事件發生的先後順序）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type</a:t>
                      </a:r>
                      <a:endParaRPr b="1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1F1F"/>
                          </a:solidFill>
                        </a:rPr>
                        <a:t>事件類型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EVENT_MMAP</a:t>
                      </a:r>
                      <a:r>
                        <a:rPr lang="zh-TW">
                          <a:solidFill>
                            <a:srgbClr val="1F1F1F"/>
                          </a:solidFill>
                        </a:rPr>
                        <a:t>,EVENT_EXECUTE,EVENT_OPEN,EVENT_CLOSE…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subject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行為者（主體）ID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執行此動作的程序識別碼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predicateObjectPath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目標物件路徑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用於定位目標的PATH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timestampNanos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奈秒級時間戳記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事件發生的精確時間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exec</a:t>
                      </a:r>
                      <a:endParaRPr b="1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1F1F"/>
                          </a:solidFill>
                        </a:rPr>
                        <a:t>執行程序名稱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wget</a:t>
                      </a:r>
                      <a:r>
                        <a:rPr lang="zh-TW">
                          <a:solidFill>
                            <a:srgbClr val="1F1F1F"/>
                          </a:solidFill>
                        </a:rPr>
                        <a:t>（發起動作的工具）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Cadets的欄位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8206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2200275"/>
                <a:gridCol w="1457325"/>
                <a:gridCol w="4048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6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600">
                          <a:solidFill>
                            <a:srgbClr val="1F1F1F"/>
                          </a:solidFill>
                        </a:rPr>
                        <a:t>意義說明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600">
                          <a:solidFill>
                            <a:srgbClr val="1F1F1F"/>
                          </a:solidFill>
                        </a:rPr>
                        <a:t>此範例中的值 / 作用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cmdLine</a:t>
                      </a:r>
                      <a:endParaRPr b="1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1F1F"/>
                          </a:solidFill>
                        </a:rPr>
                        <a:t>命令列指令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不是每條都有，目前觀察都是有往外連線的cmdline像是:ssh admin@128.55.12.124,wget -r -l 2 http://www.tourism.gov.pk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ppid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父程序 ID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2352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fd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檔案描述符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3</a:t>
                      </a:r>
                      <a:r>
                        <a:rPr lang="zh-TW">
                          <a:solidFill>
                            <a:srgbClr val="1F1F1F"/>
                          </a:solidFill>
                        </a:rPr>
                        <a:t>（代表此記憶體映射是針對編號 3 的檔案控制代碼）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arg_mem_flags</a:t>
                      </a:r>
                      <a:endParaRPr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1F1F"/>
                          </a:solidFill>
                        </a:rPr>
                        <a:t>記憶體保護權限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PROT_NONE</a:t>
                      </a:r>
                      <a:r>
                        <a:rPr lang="zh-TW">
                          <a:solidFill>
                            <a:srgbClr val="1F1F1F"/>
                          </a:solidFill>
                        </a:rPr>
                        <a:t>（初始映射通常不設權限，後續再更改）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294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Multihost TTPs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1081538" y="110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981075"/>
                <a:gridCol w="1971675"/>
                <a:gridCol w="4028150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技術/子技術名稱 (Name)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描述 (Description)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(遠端服務)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攻擊者利用合法的遠端服務登入其他主機。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T1021.001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RDP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(Remote Desktop Protocol)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使用遠端桌面協定 (Remote Desktop Protocol)。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T1021.002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SMB/Windows Admin Shares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SMB 或 Admin shares (如 ADMIN$, C$) 進行連線。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T1021.003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DCOM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Distributed Component Object Model 進行跨主機操作。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T1021.004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SSH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在 Linux/macOS 環境常見的遠端登入方式。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T1021.006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WinRM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(Windows Remote Management)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 PowerShell Remoting 或 WinRS 進行遠端管理。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>
            <p:ph type="title"/>
          </p:nvPr>
        </p:nvSpPr>
        <p:spPr>
          <a:xfrm>
            <a:off x="3797850" y="149750"/>
            <a:ext cx="48570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P1~P3是 </a:t>
            </a:r>
            <a:r>
              <a:rPr lang="zh-TW" sz="2000" u="sng">
                <a:solidFill>
                  <a:schemeClr val="hlink"/>
                </a:solidFill>
                <a:hlinkClick r:id="rId3"/>
              </a:rPr>
              <a:t>TA0008</a:t>
            </a:r>
            <a:r>
              <a:rPr lang="zh-TW" sz="2000"/>
              <a:t>(橫向移動)的所有TTP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Multihost TTPs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1000000" y="10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915600"/>
                <a:gridCol w="2888925"/>
                <a:gridCol w="3339450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技術/子技術名稱 (Name)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描述 (Description)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Lateral Tool Transfer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(橫向工具傳輸)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攻擊者將檔案、工具或惡意程式從一台受害主機複製到另一台主機（例如使用 copy, scp, rsync）。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Remote Service Session Hijacking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(遠端服務會話劫持)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接管現有的遠端連線（如 RDP Session 或 SSH Session），無需重新驗證即可控制另一台主機。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Exploitation of Remote Services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(利用遠端服務漏洞)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針對遠端主機上的服務（如 EternalBlue 針對 SMB）進行漏洞利用以獲取權限。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Taint Shared Content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(感染共享內容)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將惡意內容放入共享資料夾（Network Share），等待其他主機的使用者開啟。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Windows Management Instrumentation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(WMI)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WMI (wmic 或 PowerShell) 在遠端主機上執行指令（例如：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wmic /node:"IP" process call create ...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）。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Multihost TTPs</a:t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1000000" y="10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915600"/>
                <a:gridCol w="2888925"/>
                <a:gridCol w="3339450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技術/子技術名稱 (Name)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描述 (Description)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T1053.005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Scheduled Task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(排程任務)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schtasks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在遠端主機上建立並執行任務。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T1569.002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Service Execution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(系統服務執行)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透過建立或修改遠端服務來執行 Payload（著名的 PsExec 工具即是利用此原理，透過 SMB 上傳執行檔並建立服務來執行）。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T1018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Remote System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(遠端系統偵察)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列出網域中的其他 IP 或主機名稱（例如使用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net view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ping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掃描）。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Network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(網路服務偵察)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掃描遠端主機開啟的 Port 或服務（Port Scanning）。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T1069.002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Domain Groups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(網域群組偵察)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查詢網域控制站（AD）以了解哪些使用者在哪些主機擁有管理員權限（如 BloodHound 工具的行為）。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 ground truth裡的Multihost TTP - 1</a:t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738800" y="176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904875"/>
                <a:gridCol w="2778475"/>
                <a:gridCol w="1925175"/>
                <a:gridCol w="2225225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Log 時間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指令/行為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TTP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理由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9:32 / 9:36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http_post_ca75 | nc 128.55.12.75 80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T1210:Exploitation of Remote Services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Web 服務漏洞進行攻擊。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9:35 / 9:36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writing ... bytes of payload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T1570:Lateral Tool Transfer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受害主機下載惡意 Payload。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" name="Google Shape;87;p18"/>
          <p:cNvSpPr txBox="1"/>
          <p:nvPr>
            <p:ph type="title"/>
          </p:nvPr>
        </p:nvSpPr>
        <p:spPr>
          <a:xfrm>
            <a:off x="466175" y="4570800"/>
            <a:ext cx="356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Ground truth p89-91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9"/>
          <p:cNvGraphicFramePr/>
          <p:nvPr/>
        </p:nvGraphicFramePr>
        <p:xfrm>
          <a:off x="985825" y="150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752475"/>
                <a:gridCol w="2209800"/>
                <a:gridCol w="2214950"/>
                <a:gridCol w="1995100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Log 時間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關鍵指令 / 行為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TTP 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理由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10:16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http_post_ca51 | nc 128.55.12.51 80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: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Exploitation of Remote Services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攻擊者針對主機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.51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(ta1-cadets-1) 的 Web 服務進行漏洞攻擊。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10:17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writing ... bytes of payload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: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Lateral Tool Transfer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攻擊成功後，主機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.51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回連下載惡意程式 (Payload)。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10:19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http_post_ca51 | nc 128.55.12.51 80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: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Exploitation of Remote Services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攻擊者再次嘗試攻擊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.51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(可能是第一次沒成功或是為了建立第二個 Session)。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 ground truth裡的Multihost TTP - 2</a:t>
            </a:r>
            <a:endParaRPr/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466175" y="4570800"/>
            <a:ext cx="356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Ground truth p100-106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0"/>
          <p:cNvGraphicFramePr/>
          <p:nvPr/>
        </p:nvGraphicFramePr>
        <p:xfrm>
          <a:off x="985825" y="150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752475"/>
                <a:gridCol w="2209800"/>
                <a:gridCol w="2214950"/>
                <a:gridCol w="2149575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Log 時間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關鍵指令 / 行為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TTP 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理由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10:19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T1570:Lateral Tool Transfer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主機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.51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再次下載 Payload。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10:25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http_post_ca75 | nc 128.55.12.75 80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T1210:Exploitation of Remote Services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橫向移動目標改變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。攻擊者轉向攻擊主機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.75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(ta1-cadets-2)。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10:25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T1570:Lateral Tool Transfer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主機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.75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下載 Payload。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 ground truth裡的Multihost TTP - 2</a:t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466175" y="4570800"/>
            <a:ext cx="356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Ground truth p100-106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偵測方法</a:t>
            </a:r>
            <a:endParaRPr/>
          </a:p>
        </p:txBody>
      </p:sp>
      <p:graphicFrame>
        <p:nvGraphicFramePr>
          <p:cNvPr id="107" name="Google Shape;107;p21"/>
          <p:cNvGraphicFramePr/>
          <p:nvPr/>
        </p:nvGraphicFramePr>
        <p:xfrm>
          <a:off x="890575" y="13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1057275"/>
                <a:gridCol w="2038350"/>
                <a:gridCol w="42672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技術編號 (ID)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技術名稱 (Name)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偵測正規表達式 (Regex)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Network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nc\s+.*-z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nmap\s+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masscan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System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net view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nltest\s+/dclist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ping\s+\d{1,3}\.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Windows Management Instrumentation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wmic\s+/node: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Invoke-WmiMethod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T1053.005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Scheduled Task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schtasks.*/create.*/s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at\s+\\\\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T1569.002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Service Execution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sc\s+\\\\\d+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PsExec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PSEXESVC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Exploitation of 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|\s*nc\s+\d{1,3}\.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nc\s+\d{1,3}\.\d{1,3}\.\d{1,3}\.\d{1,3}\s+80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16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偵測方法</a:t>
            </a:r>
            <a:endParaRPr/>
          </a:p>
        </p:txBody>
      </p:sp>
      <p:graphicFrame>
        <p:nvGraphicFramePr>
          <p:cNvPr id="113" name="Google Shape;113;p22"/>
          <p:cNvGraphicFramePr/>
          <p:nvPr/>
        </p:nvGraphicFramePr>
        <p:xfrm>
          <a:off x="890575" y="13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1057275"/>
                <a:gridCol w="2038350"/>
                <a:gridCol w="42672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技術編號 (ID)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技術名稱 (Name)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偵測正規表達式 (Regex)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Lateral Tool Transfer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GET\s+\/.*index\.html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writing\s+.*bytes\s+of\s+payload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wge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t\s+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curl\s+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T1021.001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Services: RDP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mstsc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Logon Type:\s*10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T1021.002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Services: SMB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net use\s+\\\\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`\\.*\(C$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T1021.004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Services: SSH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ssh\s+.*@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^whoami$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^hostname$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T1003.008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OS Credential Dumping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cat\s+.*shadow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標記結果</a:t>
            </a:r>
            <a:endParaRPr/>
          </a:p>
        </p:txBody>
      </p:sp>
      <p:graphicFrame>
        <p:nvGraphicFramePr>
          <p:cNvPr id="119" name="Google Shape;119;p23"/>
          <p:cNvGraphicFramePr/>
          <p:nvPr/>
        </p:nvGraphicFramePr>
        <p:xfrm>
          <a:off x="1446350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{5620BDEB-C29B-43FF-BD04-3E8044B6D14E}</a:tableStyleId>
              </a:tblPr>
              <a:tblGrid>
                <a:gridCol w="1621100"/>
                <a:gridCol w="2381075"/>
                <a:gridCol w="1167250"/>
                <a:gridCol w="10818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技術編號 (TTP ID)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技術名稱 (Technique Name)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偵測次數 </a:t>
                      </a: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(</a:t>
                      </a: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Count)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佔比 (Ratio)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T1570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Lateral Tool Transfer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18,561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99.4%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T1046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Network Service Discovery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60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0.3%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T1021.004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Remote Services: SSH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50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1F1F1F"/>
                          </a:solidFill>
                        </a:rPr>
                        <a:t>0.3%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總計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-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18,671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1F1F1F"/>
                          </a:solidFill>
                        </a:rPr>
                        <a:t>100%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