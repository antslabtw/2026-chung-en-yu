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DDB0E9-DFCC-4D3C-8014-183B8EF9B600}">
  <a:tblStyle styleId="{D6DDB0E9-DFCC-4D3C-8014-183B8EF9B60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他的log是用</a:t>
            </a:r>
            <a:r>
              <a:rPr lang="zh-TW">
                <a:solidFill>
                  <a:schemeClr val="dk1"/>
                </a:solidFill>
              </a:rPr>
              <a:t>auditd 和 syslog兩個linux工具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設計我篩的每個type的表格給學姊看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289c913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289c913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a3=8 只是當時第四個參數暫存器 (R10) 裡殘留的數值。它不會被 execve 讀取或使用，對這次的 id 指令執行沒有任何影響。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289c9139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289c9139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289c9139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289c9139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289c9139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289c9139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289c9139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289c9139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289c9139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289c9139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執行類 Syscall (你現在遇到的):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rgbClr val="188038"/>
                </a:solidFill>
              </a:rPr>
              <a:t>execve</a:t>
            </a:r>
            <a:r>
              <a:rPr lang="zh-TW">
                <a:solidFill>
                  <a:schemeClr val="dk1"/>
                </a:solidFill>
              </a:rPr>
              <a:t> (59) $\rightarrow$ </a:t>
            </a:r>
            <a:r>
              <a:rPr b="1" lang="zh-TW">
                <a:solidFill>
                  <a:schemeClr val="dk1"/>
                </a:solidFill>
              </a:rPr>
              <a:t>本質上是 READ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zh-TW">
                <a:solidFill>
                  <a:schemeClr val="dk1"/>
                </a:solidFill>
              </a:rPr>
              <a:t>解釋：</a:t>
            </a:r>
            <a:r>
              <a:rPr lang="zh-TW">
                <a:solidFill>
                  <a:schemeClr val="dk1"/>
                </a:solidFill>
              </a:rPr>
              <a:t> 執行一個程式，OS 必須先把檔案內容「讀」進記憶體。它</a:t>
            </a:r>
            <a:r>
              <a:rPr b="1" lang="zh-TW">
                <a:solidFill>
                  <a:schemeClr val="dk1"/>
                </a:solidFill>
              </a:rPr>
              <a:t>絕對不會</a:t>
            </a:r>
            <a:r>
              <a:rPr lang="zh-TW">
                <a:solidFill>
                  <a:schemeClr val="dk1"/>
                </a:solidFill>
              </a:rPr>
              <a:t>去修改執行檔本身。所以標記為 </a:t>
            </a:r>
            <a:r>
              <a:rPr b="1" lang="zh-TW">
                <a:solidFill>
                  <a:schemeClr val="dk1"/>
                </a:solidFill>
              </a:rPr>
              <a:t>READ</a:t>
            </a:r>
            <a:r>
              <a:rPr lang="zh-TW">
                <a:solidFill>
                  <a:schemeClr val="dk1"/>
                </a:solidFill>
              </a:rPr>
              <a:t> 是完全正確的。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29b9668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29b9668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020000160A23B4140000000000000000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A. 前 2 Bytes: 協定家族 (Family)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Hex: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02 00</a:t>
            </a:r>
            <a:endParaRPr>
              <a:solidFill>
                <a:srgbClr val="18803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數值: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0x0002</a:t>
            </a:r>
            <a:r>
              <a:rPr lang="zh-TW">
                <a:solidFill>
                  <a:schemeClr val="dk1"/>
                </a:solidFill>
              </a:rPr>
              <a:t> (Little Endian read as 2)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意義: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b="1" lang="zh-TW">
                <a:solidFill>
                  <a:srgbClr val="188038"/>
                </a:solidFill>
              </a:rPr>
              <a:t>AF_INET</a:t>
            </a:r>
            <a:r>
              <a:rPr b="1" lang="zh-TW">
                <a:solidFill>
                  <a:schemeClr val="dk1"/>
                </a:solidFill>
              </a:rPr>
              <a:t> (IPv4)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01 00</a:t>
            </a:r>
            <a:r>
              <a:rPr lang="zh-TW">
                <a:solidFill>
                  <a:schemeClr val="dk1"/>
                </a:solidFill>
              </a:rPr>
              <a:t> = Unix Socket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02 00</a:t>
            </a:r>
            <a:r>
              <a:rPr lang="zh-TW">
                <a:solidFill>
                  <a:schemeClr val="dk1"/>
                </a:solidFill>
              </a:rPr>
              <a:t> = IPv4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0A 00</a:t>
            </a:r>
            <a:r>
              <a:rPr lang="zh-TW">
                <a:solidFill>
                  <a:schemeClr val="dk1"/>
                </a:solidFill>
              </a:rPr>
              <a:t> = IPv6 (0x0A = 10)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B. 第 3-4 Bytes: 連接埠 (Port)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Hex: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00 16</a:t>
            </a:r>
            <a:endParaRPr>
              <a:solidFill>
                <a:srgbClr val="18803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格式: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b="1" lang="zh-TW">
                <a:solidFill>
                  <a:schemeClr val="dk1"/>
                </a:solidFill>
              </a:rPr>
              <a:t>Big Endian</a:t>
            </a:r>
            <a:r>
              <a:rPr lang="zh-TW">
                <a:solidFill>
                  <a:schemeClr val="dk1"/>
                </a:solidFill>
              </a:rPr>
              <a:t> (網路傳輸標準，高位在前)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計算:</a:t>
            </a:r>
            <a:r>
              <a:rPr lang="zh-TW">
                <a:solidFill>
                  <a:schemeClr val="dk1"/>
                </a:solidFill>
              </a:rPr>
              <a:t> $0 \times 256 + 22 = 22$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意義: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b="1" lang="zh-TW">
                <a:solidFill>
                  <a:schemeClr val="dk1"/>
                </a:solidFill>
              </a:rPr>
              <a:t>Port 22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C. 第 5-8 Bytes: IP 位址 (IP Address)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Hex: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0A 23 B4 14</a:t>
            </a:r>
            <a:endParaRPr>
              <a:solidFill>
                <a:srgbClr val="18803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格式:</a:t>
            </a:r>
            <a:r>
              <a:rPr lang="zh-TW">
                <a:solidFill>
                  <a:schemeClr val="dk1"/>
                </a:solidFill>
              </a:rPr>
              <a:t> Big Endian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解碼: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0A</a:t>
            </a:r>
            <a:r>
              <a:rPr lang="zh-TW">
                <a:solidFill>
                  <a:schemeClr val="dk1"/>
                </a:solidFill>
              </a:rPr>
              <a:t> = </a:t>
            </a:r>
            <a:r>
              <a:rPr b="1" lang="zh-TW">
                <a:solidFill>
                  <a:schemeClr val="dk1"/>
                </a:solidFill>
              </a:rPr>
              <a:t>10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23</a:t>
            </a:r>
            <a:r>
              <a:rPr lang="zh-TW">
                <a:solidFill>
                  <a:schemeClr val="dk1"/>
                </a:solidFill>
              </a:rPr>
              <a:t> = </a:t>
            </a:r>
            <a:r>
              <a:rPr b="1" lang="zh-TW">
                <a:solidFill>
                  <a:schemeClr val="dk1"/>
                </a:solidFill>
              </a:rPr>
              <a:t>35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B4</a:t>
            </a:r>
            <a:r>
              <a:rPr lang="zh-TW">
                <a:solidFill>
                  <a:schemeClr val="dk1"/>
                </a:solidFill>
              </a:rPr>
              <a:t> = </a:t>
            </a:r>
            <a:r>
              <a:rPr b="1" lang="zh-TW">
                <a:solidFill>
                  <a:schemeClr val="dk1"/>
                </a:solidFill>
              </a:rPr>
              <a:t>180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14</a:t>
            </a:r>
            <a:r>
              <a:rPr lang="zh-TW">
                <a:solidFill>
                  <a:schemeClr val="dk1"/>
                </a:solidFill>
              </a:rPr>
              <a:t> = </a:t>
            </a:r>
            <a:r>
              <a:rPr b="1" lang="zh-TW">
                <a:solidFill>
                  <a:schemeClr val="dk1"/>
                </a:solidFill>
              </a:rPr>
              <a:t>20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意義: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b="1" lang="zh-TW">
                <a:solidFill>
                  <a:schemeClr val="dk1"/>
                </a:solidFill>
              </a:rPr>
              <a:t>10.35.180.20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D. 後面 8 Bytes: 填充 (Padding)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Hex: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00 00 00 00 00 00 00 00</a:t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29b9668f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29b9668f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020000160A23B4140000000000000000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A. 前 2 Bytes: 協定家族 (Family)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Hex: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02 00</a:t>
            </a:r>
            <a:endParaRPr>
              <a:solidFill>
                <a:srgbClr val="18803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數值: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0x0002</a:t>
            </a:r>
            <a:r>
              <a:rPr lang="zh-TW">
                <a:solidFill>
                  <a:schemeClr val="dk1"/>
                </a:solidFill>
              </a:rPr>
              <a:t> (Little Endian read as 2)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意義: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b="1" lang="zh-TW">
                <a:solidFill>
                  <a:srgbClr val="188038"/>
                </a:solidFill>
              </a:rPr>
              <a:t>AF_INET</a:t>
            </a:r>
            <a:r>
              <a:rPr b="1" lang="zh-TW">
                <a:solidFill>
                  <a:schemeClr val="dk1"/>
                </a:solidFill>
              </a:rPr>
              <a:t> (IPv4)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01 00</a:t>
            </a:r>
            <a:r>
              <a:rPr lang="zh-TW">
                <a:solidFill>
                  <a:schemeClr val="dk1"/>
                </a:solidFill>
              </a:rPr>
              <a:t> = Unix Socket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02 00</a:t>
            </a:r>
            <a:r>
              <a:rPr lang="zh-TW">
                <a:solidFill>
                  <a:schemeClr val="dk1"/>
                </a:solidFill>
              </a:rPr>
              <a:t> = IPv4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0A 00</a:t>
            </a:r>
            <a:r>
              <a:rPr lang="zh-TW">
                <a:solidFill>
                  <a:schemeClr val="dk1"/>
                </a:solidFill>
              </a:rPr>
              <a:t> = IPv6 (0x0A = 10)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B. 第 3-4 Bytes: 連接埠 (Port)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Hex: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00 16</a:t>
            </a:r>
            <a:endParaRPr>
              <a:solidFill>
                <a:srgbClr val="18803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格式: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b="1" lang="zh-TW">
                <a:solidFill>
                  <a:schemeClr val="dk1"/>
                </a:solidFill>
              </a:rPr>
              <a:t>Big Endian</a:t>
            </a:r>
            <a:r>
              <a:rPr lang="zh-TW">
                <a:solidFill>
                  <a:schemeClr val="dk1"/>
                </a:solidFill>
              </a:rPr>
              <a:t> (網路傳輸標準，高位在前)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計算:</a:t>
            </a:r>
            <a:r>
              <a:rPr lang="zh-TW">
                <a:solidFill>
                  <a:schemeClr val="dk1"/>
                </a:solidFill>
              </a:rPr>
              <a:t> $0 \times 256 + 22 = 22$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意義: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b="1" lang="zh-TW">
                <a:solidFill>
                  <a:schemeClr val="dk1"/>
                </a:solidFill>
              </a:rPr>
              <a:t>Port 22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C. 第 5-8 Bytes: IP 位址 (IP Address)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Hex: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0A 23 B4 14</a:t>
            </a:r>
            <a:endParaRPr>
              <a:solidFill>
                <a:srgbClr val="18803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格式:</a:t>
            </a:r>
            <a:r>
              <a:rPr lang="zh-TW">
                <a:solidFill>
                  <a:schemeClr val="dk1"/>
                </a:solidFill>
              </a:rPr>
              <a:t> Big Endian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解碼: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0A</a:t>
            </a:r>
            <a:r>
              <a:rPr lang="zh-TW">
                <a:solidFill>
                  <a:schemeClr val="dk1"/>
                </a:solidFill>
              </a:rPr>
              <a:t> = </a:t>
            </a:r>
            <a:r>
              <a:rPr b="1" lang="zh-TW">
                <a:solidFill>
                  <a:schemeClr val="dk1"/>
                </a:solidFill>
              </a:rPr>
              <a:t>10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23</a:t>
            </a:r>
            <a:r>
              <a:rPr lang="zh-TW">
                <a:solidFill>
                  <a:schemeClr val="dk1"/>
                </a:solidFill>
              </a:rPr>
              <a:t> = </a:t>
            </a:r>
            <a:r>
              <a:rPr b="1" lang="zh-TW">
                <a:solidFill>
                  <a:schemeClr val="dk1"/>
                </a:solidFill>
              </a:rPr>
              <a:t>35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B4</a:t>
            </a:r>
            <a:r>
              <a:rPr lang="zh-TW">
                <a:solidFill>
                  <a:schemeClr val="dk1"/>
                </a:solidFill>
              </a:rPr>
              <a:t> = </a:t>
            </a:r>
            <a:r>
              <a:rPr b="1" lang="zh-TW">
                <a:solidFill>
                  <a:schemeClr val="dk1"/>
                </a:solidFill>
              </a:rPr>
              <a:t>180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14</a:t>
            </a:r>
            <a:r>
              <a:rPr lang="zh-TW">
                <a:solidFill>
                  <a:schemeClr val="dk1"/>
                </a:solidFill>
              </a:rPr>
              <a:t> = </a:t>
            </a:r>
            <a:r>
              <a:rPr b="1" lang="zh-TW">
                <a:solidFill>
                  <a:schemeClr val="dk1"/>
                </a:solidFill>
              </a:rPr>
              <a:t>20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意義: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b="1" lang="zh-TW">
                <a:solidFill>
                  <a:schemeClr val="dk1"/>
                </a:solidFill>
              </a:rPr>
              <a:t>10.35.180.20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D. 後面 8 Bytes: 填充 (Padding)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Hex: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00 00 00 00 00 00 00 00</a:t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29b9668f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29b9668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020000160A23B4140000000000000000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A. 前 2 Bytes: 協定家族 (Family)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Hex: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02 00</a:t>
            </a:r>
            <a:endParaRPr>
              <a:solidFill>
                <a:srgbClr val="18803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數值: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0x0002</a:t>
            </a:r>
            <a:r>
              <a:rPr lang="zh-TW">
                <a:solidFill>
                  <a:schemeClr val="dk1"/>
                </a:solidFill>
              </a:rPr>
              <a:t> (Little Endian read as 2)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意義: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b="1" lang="zh-TW">
                <a:solidFill>
                  <a:srgbClr val="188038"/>
                </a:solidFill>
              </a:rPr>
              <a:t>AF_INET</a:t>
            </a:r>
            <a:r>
              <a:rPr b="1" lang="zh-TW">
                <a:solidFill>
                  <a:schemeClr val="dk1"/>
                </a:solidFill>
              </a:rPr>
              <a:t> (IPv4)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01 00</a:t>
            </a:r>
            <a:r>
              <a:rPr lang="zh-TW">
                <a:solidFill>
                  <a:schemeClr val="dk1"/>
                </a:solidFill>
              </a:rPr>
              <a:t> = Unix Socket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02 00</a:t>
            </a:r>
            <a:r>
              <a:rPr lang="zh-TW">
                <a:solidFill>
                  <a:schemeClr val="dk1"/>
                </a:solidFill>
              </a:rPr>
              <a:t> = IPv4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0A 00</a:t>
            </a:r>
            <a:r>
              <a:rPr lang="zh-TW">
                <a:solidFill>
                  <a:schemeClr val="dk1"/>
                </a:solidFill>
              </a:rPr>
              <a:t> = IPv6 (0x0A = 10)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B. 第 3-4 Bytes: 連接埠 (Port)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Hex: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00 16</a:t>
            </a:r>
            <a:endParaRPr>
              <a:solidFill>
                <a:srgbClr val="18803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格式: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b="1" lang="zh-TW">
                <a:solidFill>
                  <a:schemeClr val="dk1"/>
                </a:solidFill>
              </a:rPr>
              <a:t>Big Endian</a:t>
            </a:r>
            <a:r>
              <a:rPr lang="zh-TW">
                <a:solidFill>
                  <a:schemeClr val="dk1"/>
                </a:solidFill>
              </a:rPr>
              <a:t> (網路傳輸標準，高位在前)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計算:</a:t>
            </a:r>
            <a:r>
              <a:rPr lang="zh-TW">
                <a:solidFill>
                  <a:schemeClr val="dk1"/>
                </a:solidFill>
              </a:rPr>
              <a:t> $0 \times 256 + 22 = 22$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意義: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b="1" lang="zh-TW">
                <a:solidFill>
                  <a:schemeClr val="dk1"/>
                </a:solidFill>
              </a:rPr>
              <a:t>Port 22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C. 第 5-8 Bytes: IP 位址 (IP Address)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Hex: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0A 23 B4 14</a:t>
            </a:r>
            <a:endParaRPr>
              <a:solidFill>
                <a:srgbClr val="18803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格式:</a:t>
            </a:r>
            <a:r>
              <a:rPr lang="zh-TW">
                <a:solidFill>
                  <a:schemeClr val="dk1"/>
                </a:solidFill>
              </a:rPr>
              <a:t> Big Endian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解碼: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0A</a:t>
            </a:r>
            <a:r>
              <a:rPr lang="zh-TW">
                <a:solidFill>
                  <a:schemeClr val="dk1"/>
                </a:solidFill>
              </a:rPr>
              <a:t> = </a:t>
            </a:r>
            <a:r>
              <a:rPr b="1" lang="zh-TW">
                <a:solidFill>
                  <a:schemeClr val="dk1"/>
                </a:solidFill>
              </a:rPr>
              <a:t>10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23</a:t>
            </a:r>
            <a:r>
              <a:rPr lang="zh-TW">
                <a:solidFill>
                  <a:schemeClr val="dk1"/>
                </a:solidFill>
              </a:rPr>
              <a:t> = </a:t>
            </a:r>
            <a:r>
              <a:rPr b="1" lang="zh-TW">
                <a:solidFill>
                  <a:schemeClr val="dk1"/>
                </a:solidFill>
              </a:rPr>
              <a:t>35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B4</a:t>
            </a:r>
            <a:r>
              <a:rPr lang="zh-TW">
                <a:solidFill>
                  <a:schemeClr val="dk1"/>
                </a:solidFill>
              </a:rPr>
              <a:t> = </a:t>
            </a:r>
            <a:r>
              <a:rPr b="1" lang="zh-TW">
                <a:solidFill>
                  <a:schemeClr val="dk1"/>
                </a:solidFill>
              </a:rPr>
              <a:t>180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14</a:t>
            </a:r>
            <a:r>
              <a:rPr lang="zh-TW">
                <a:solidFill>
                  <a:schemeClr val="dk1"/>
                </a:solidFill>
              </a:rPr>
              <a:t> = </a:t>
            </a:r>
            <a:r>
              <a:rPr b="1" lang="zh-TW">
                <a:solidFill>
                  <a:schemeClr val="dk1"/>
                </a:solidFill>
              </a:rPr>
              <a:t>20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意義: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b="1" lang="zh-TW">
                <a:solidFill>
                  <a:schemeClr val="dk1"/>
                </a:solidFill>
              </a:rPr>
              <a:t>10.35.180.20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D. 後面 8 Bytes: 填充 (Padding)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Hex: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00 00 00 00 00 00 00 00</a:t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289c9139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289c9139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289c9139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289c9139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289c9139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289c9139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289c9139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289c9139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</a:t>
            </a:r>
            <a:r>
              <a:rPr lang="zh-TW"/>
              <a:t>inux Syscall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244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Event架構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041375"/>
            <a:ext cx="85206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               "type=SYSCALL msg=audit(1715974431.706:37679): arch=c000003e syscall=59 success=yes exit=0 a0=5608445845b0 a1=5608445850f0 a2=560844581e00 a3=8 items=3 ppid=11613 pid=11614 auid=1001 uid=1001 gid=1001 euid=1001 suid=1001 fsuid=1001 egid=1001 sgid=1001 fsgid=1001 tty=pts0 ses=58 comm=\"id\" exe=\"/usr/bin/id\" subj=unconfined key=\"recon\"\u001dARCH=x86_64 SYSCALL=execve AUID=\"tbenedict\" UID=\"tbenedict\" GID=\"tbenedict\" EUID=\"tbenedict\" SUID=\"tbenedict\" FSUID=\"tbenedict\" EGID=\"tbenedict\" SGID=\"tbenedict\" FSGID=\"tbenedict\"",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                "type=EXECVE msg=audit(1715974431.706:37679): argc=2 a0=\"id\" a1=\"-u\"",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                "type=PATH msg=audit(1715974431.706:37679): item=0 name=\"/usr/bin/id\" inode=720 dev=08:01 mode=0100755 ouid=0 ogid=0 rdev=00:00 nametype=NORMAL cap_fp=0 cap_fi=0 cap_fe=0 cap_fver=0 cap_frootid=0\u001dOUID=\"root\" OGID=\"root\"",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               "type=PATH msg=audit(1715974431.706:37679): item=1 name=\"/usr/bin/id\"...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                "type=PATH msg=audit(1715974431.706:37679): item=2 name=\"/lib64/ld-linux-x86-64.so.2\" …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                "type=PROCTITLE msg=audit(1715974431.706:37679): proctitle=6964002D75"  -&gt; </a:t>
            </a:r>
            <a:r>
              <a:rPr lang="zh-TW" sz="1200">
                <a:solidFill>
                  <a:schemeClr val="dk1"/>
                </a:solidFill>
                <a:highlight>
                  <a:schemeClr val="accent6"/>
                </a:highlight>
              </a:rPr>
              <a:t>id -u</a:t>
            </a:r>
            <a:endParaRPr sz="1200">
              <a:solidFill>
                <a:schemeClr val="dk1"/>
              </a:solidFill>
              <a:highlight>
                <a:schemeClr val="accent6"/>
              </a:highlight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7266850" y="445025"/>
            <a:ext cx="1308600" cy="461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event</a:t>
            </a:r>
            <a:r>
              <a:rPr lang="zh-TW" sz="1800"/>
              <a:t>片段</a:t>
            </a:r>
            <a:endParaRPr sz="1800"/>
          </a:p>
        </p:txBody>
      </p:sp>
      <p:cxnSp>
        <p:nvCxnSpPr>
          <p:cNvPr id="64" name="Google Shape;64;p14"/>
          <p:cNvCxnSpPr>
            <a:stCxn id="62" idx="0"/>
            <a:endCxn id="63" idx="1"/>
          </p:cNvCxnSpPr>
          <p:nvPr/>
        </p:nvCxnSpPr>
        <p:spPr>
          <a:xfrm rot="-5400000">
            <a:off x="5736600" y="-488925"/>
            <a:ext cx="365700" cy="2694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" name="Google Shape;65;p14"/>
          <p:cNvSpPr/>
          <p:nvPr/>
        </p:nvSpPr>
        <p:spPr>
          <a:xfrm>
            <a:off x="367100" y="1127625"/>
            <a:ext cx="8384400" cy="103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7052250" y="4560375"/>
            <a:ext cx="1749600" cy="461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Record</a:t>
            </a:r>
            <a:endParaRPr sz="1800"/>
          </a:p>
        </p:txBody>
      </p:sp>
      <p:cxnSp>
        <p:nvCxnSpPr>
          <p:cNvPr id="67" name="Google Shape;67;p14"/>
          <p:cNvCxnSpPr>
            <a:stCxn id="65" idx="3"/>
            <a:endCxn id="66" idx="3"/>
          </p:cNvCxnSpPr>
          <p:nvPr/>
        </p:nvCxnSpPr>
        <p:spPr>
          <a:xfrm>
            <a:off x="8751500" y="1645875"/>
            <a:ext cx="50400" cy="3145200"/>
          </a:xfrm>
          <a:prstGeom prst="bentConnector3">
            <a:avLst>
              <a:gd fmla="val 57237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" name="Google Shape;68;p14"/>
          <p:cNvSpPr txBox="1"/>
          <p:nvPr/>
        </p:nvSpPr>
        <p:spPr>
          <a:xfrm>
            <a:off x="422000" y="4567875"/>
            <a:ext cx="504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1"/>
                </a:solidFill>
              </a:rPr>
              <a:t>每個event都由多條record組成(來自於linux auditd)</a:t>
            </a:r>
            <a:endParaRPr sz="1300"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62825" y="9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type=</a:t>
            </a:r>
            <a:r>
              <a:rPr lang="zh-TW"/>
              <a:t>SYSCALL的record</a:t>
            </a:r>
            <a:endParaRPr/>
          </a:p>
        </p:txBody>
      </p:sp>
      <p:graphicFrame>
        <p:nvGraphicFramePr>
          <p:cNvPr id="75" name="Google Shape;75;p15"/>
          <p:cNvGraphicFramePr/>
          <p:nvPr/>
        </p:nvGraphicFramePr>
        <p:xfrm>
          <a:off x="2433988" y="7528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{D6DDB0E9-DFCC-4D3C-8014-183B8EF9B600}</a:tableStyleId>
              </a:tblPr>
              <a:tblGrid>
                <a:gridCol w="742775"/>
                <a:gridCol w="1573875"/>
                <a:gridCol w="4338275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備註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arch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CPU 架構 (十六進位)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決定如何翻譯 syscall 號碼 (如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c000003e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是 x86_64)。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syscall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系統呼叫編號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需查表。如 2=Open, 59=Exec, 42=Connect。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success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執行結果 (yes/no)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exit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回傳值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對於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fork/clone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，這是 Child PID；對於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open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，這是 File Descriptor。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~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a3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呼叫參數 (Hex)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依 syscall 而定。如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mprotect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的權限設定，或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socketcall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的子功能。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pid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Process 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發起動作的行程。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ppid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Parent PID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父行程 ID。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Audit User 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原始登入者 ID (即使 sudo 後也不變)，這是追溯真人的關鍵。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6" name="Google Shape;76;p15"/>
          <p:cNvSpPr txBox="1"/>
          <p:nvPr/>
        </p:nvSpPr>
        <p:spPr>
          <a:xfrm>
            <a:off x="55775" y="1815350"/>
            <a:ext cx="23151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"type=SYSCALL msg=audit(1715974431.706:37679): arch=c000003e syscall=59 success=yes exit=0 a0=5608445845b0 a1=5608445850f0 a2=560844581e00 a3=8 items=3 ppid=11613 pid=11614 auid=1001 </a:t>
            </a:r>
            <a:endParaRPr/>
          </a:p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type=SYSCALL的record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p16"/>
          <p:cNvGraphicFramePr/>
          <p:nvPr/>
        </p:nvGraphicFramePr>
        <p:xfrm>
          <a:off x="2788163" y="1385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{D6DDB0E9-DFCC-4D3C-8014-183B8EF9B600}</a:tableStyleId>
              </a:tblPr>
              <a:tblGrid>
                <a:gridCol w="1409700"/>
                <a:gridCol w="1180600"/>
                <a:gridCol w="34538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b="1" sz="1100">
                        <a:solidFill>
                          <a:srgbClr val="1F1F1F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備註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User 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當前執行者 ID。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euid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Effective UID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當前有效權限 (用於判斷是否提權)。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suid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fsuid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Saved/FS UID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檔案系統存取權限 ID (較少用)。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gid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egid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sgid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Group IDs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群組權限。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exe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執行檔路徑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發起者的執行檔路徑。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comm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指令名稱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執行檔的短名稱 (長度有限制，通常 16 chars)。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tty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終端機設備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使用者從哪個終端機操作 (如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pts/0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ses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Session 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同一次登入的會話編號。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key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規則標籤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如果你在 audit rules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-k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 有設定標籤，會顯示在這。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4" name="Google Shape;84;p16"/>
          <p:cNvSpPr txBox="1"/>
          <p:nvPr/>
        </p:nvSpPr>
        <p:spPr>
          <a:xfrm>
            <a:off x="61025" y="1216275"/>
            <a:ext cx="2568300" cy="3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"type=SYSCALL msg=audit(1715974431.706:37679): uid=1001 gid=1001 euid=1001 suid=1001 fsuid=1001 egid=1001 sgid=1001 fsgid=1001 tty=pts0 ses=58 comm=\"id\" exe=\"/usr/bin/id\" subj=unconfined key=\"recon\"\u001dARCH=x86_64 SYSCALL=execve AUID=\"tbenedict\" UID=\"tbenedict\" GID=\"tbenedict\" EUID=\"tbenedict\" SUID=\"tbenedict\" FSUID=\"tbenedict\" EGID=\"tbenedict\" SGID=\"tbenedict\" FSGID=\"tbenedict\"",</a:t>
            </a:r>
            <a:endParaRPr/>
          </a:p>
        </p:txBody>
      </p:sp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type=EXECVE的record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argc:參數數量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a0~an=參數內容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16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type=PATH</a:t>
            </a:r>
            <a:r>
              <a:rPr lang="zh-TW"/>
              <a:t>的record</a:t>
            </a:r>
            <a:endParaRPr/>
          </a:p>
        </p:txBody>
      </p:sp>
      <p:graphicFrame>
        <p:nvGraphicFramePr>
          <p:cNvPr id="98" name="Google Shape;98;p18"/>
          <p:cNvGraphicFramePr/>
          <p:nvPr/>
        </p:nvGraphicFramePr>
        <p:xfrm>
          <a:off x="3378950" y="20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{D6DDB0E9-DFCC-4D3C-8014-183B8EF9B600}</a:tableStyleId>
              </a:tblPr>
              <a:tblGrid>
                <a:gridCol w="803275"/>
                <a:gridCol w="1413200"/>
                <a:gridCol w="3213150"/>
              </a:tblGrid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備註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item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序號 (0, 1...)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對應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SYSCALL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的第幾個參數。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name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檔案路徑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可能是相對路徑，需結合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CWD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inode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Inode 編號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檔案在磁碟上的真實 ID (比檔名更可靠)。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dev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裝置編號 (Major:Minor)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區分不同硬碟分割區。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mode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檔案類型與權限 (Octal)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判斷是 File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010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), Directory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004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), Socket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014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 等。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ouid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檔案擁有者 UID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誰擁有這個檔案。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ogid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檔案擁有者 GID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哪個群組擁有這個檔案。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rdev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設備類型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若該檔案是設備檔 (device file)，這是設備號。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nametype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路徑操作類型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極重要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CREATE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建立新檔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NORMAL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讀寫現有檔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DELETE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刪除檔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cap_*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Linux Capabilities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檔案的權限標記 (如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cap_fp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)，高階資安分析用。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" name="Google Shape;99;p18"/>
          <p:cNvSpPr txBox="1"/>
          <p:nvPr/>
        </p:nvSpPr>
        <p:spPr>
          <a:xfrm>
            <a:off x="157075" y="1162825"/>
            <a:ext cx="3000000" cy="3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"type=PATH msg=audit(1715974431.706:37679): item=0 name=\"/usr/bin/id\" inode=720 dev=08:01 mode=0100755 ouid=0 ogid=0 rdev=00:00 nametype=NORMAL cap_fp=0 cap_fi=0 cap_fe=0 cap_fver=0 cap_frootid=0\u001dOUID=\"root\" OGID=\"root\"",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"type=PATH msg=audit(1715974431.706:37679): item=2 name=\"/lib64/ld-linux-x86-64.so.2\"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794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T1033: System Owner/User Discovery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041375"/>
            <a:ext cx="8520600" cy="272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               "type=SYSCALL msg=audit(1715974431.706:37679): syscall=59 success=yes exit=0 a0=5608445845b0 a1=5608445850f0 a2=560844581e00 a3=8 ppid=11613 pid=11614 exe=\"/usr/bin/id\" SYSCALL=execve ",</a:t>
            </a:r>
            <a:endParaRPr sz="1200">
              <a:solidFill>
                <a:schemeClr val="dk1"/>
              </a:solidFill>
              <a:highlight>
                <a:srgbClr val="999999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                "type=PATH msg=audit(1715974431.706:37679): name=\"/usr/bin/id\" mode=0100755 nametype=NORMAL OUID=\"root\" OGID=\"root\"",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               "type=PATH msg=audit(1715974431.706:37679): name=\"/usr/bin/id\" mode=0100755 nametype=NORMAL OUID=\"root\" OGID=\"root\"",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                "type=PATH msg=audit(1715974431.706:37679): name=\"/lib64/ld-linux-x86-64.so.2\" mode=0100755 nametype=NORMAL OUID=\"root\" OGID=\"root\"",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                "type=PROCTITLE msg=audit(1715974431.706:37679): proctitle=6964002D75"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5925" y="3910750"/>
            <a:ext cx="6012140" cy="1068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/>
        </p:nvSpPr>
        <p:spPr>
          <a:xfrm>
            <a:off x="379800" y="1329125"/>
            <a:ext cx="8092800" cy="1386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T1021: Remote Services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1248425"/>
            <a:ext cx="8520600" cy="3597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"840790": [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"type=SYSCALL msg=audit(1715983705.185:840790): syscall=59 success=yes exit=0 a0=55fb6ed164c0 a1=55fb6ece4030 a2=55fb6ed6dc00 a3=10 ppid=25366 pid=25423 exe=\"/usr/bin/ssh\" SYSCALL=execve",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"type=PATH msg=audit(1715983705.185:840790): name=\"/usr/bin/ssh\" mode=0100755 nametype=NORMAL OUID=\"root\" OGID=\"root\"",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"type=PATH msg=audit(1715983705.185:840790): name=\"/usr/bin/ssh\" mode=0100755 nametype=NORMAL OUID=\"root\" OGID=\"root\"",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"type=PATH msg=audit(1715983705.185:840790): name=\"/lib64/ld-linux-x86-64.so.2\" mode=0100755 nametype=NORMAL OUID=\"root\" OGID=\"root\"",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"type=PROCTITLE msg=audit(1715983705.185:840790): proctitle=737368007462656E65646963744031302E33352E3138302E3230"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            ],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"840791": [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"type=SYSCALL msg=audit(1715983705.189:840791): syscall=41 success=yes exit=3 a0=2 a1=1 a2=6 a3=0 ppid=25366 pid=25423 exe=\"/usr/bin/ssh\" SYSCALL=socket",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"type=PROCTITLE msg=audit(1715983705.189:840791): proctitle=737368007462656E65646963744031302E33352E3138302E3230"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            ],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"840792": [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"type=SYSCALL msg=audit(1715983705.189:840792): syscall=42 success=yes exit=0 a0=3 a1=563385841380 a2=10 a3=0 ppid=25366 pid=25423 exe=\"/usr/bin/ssh\" SYSCALL=connect",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"type=SOCKADDR msg=audit(1715983705.189:840792): saddr=020000160A23B4140000000000000000 SADDR={ saddr_fam=inet laddr=10.35.180.20 lport=22 }",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"type=PROCTITLE msg=audit(1715983705.189:840792): proctitle=737368007462656E65646963744031302E33352E3138302E3230"]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5025" y="294188"/>
            <a:ext cx="5028626" cy="874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379800" y="2757800"/>
            <a:ext cx="8092800" cy="82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/>
          <p:nvPr/>
        </p:nvSpPr>
        <p:spPr>
          <a:xfrm>
            <a:off x="379800" y="3621575"/>
            <a:ext cx="8352600" cy="91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type=SOCKADDR </a:t>
            </a:r>
            <a:r>
              <a:rPr lang="zh-TW"/>
              <a:t>的record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5" name="Google Shape;125;p21"/>
          <p:cNvGraphicFramePr/>
          <p:nvPr/>
        </p:nvGraphicFramePr>
        <p:xfrm>
          <a:off x="3175925" y="1500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{D6DDB0E9-DFCC-4D3C-8014-183B8EF9B600}</a:tableStyleId>
              </a:tblPr>
              <a:tblGrid>
                <a:gridCol w="812700"/>
                <a:gridCol w="1850275"/>
                <a:gridCol w="30624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全名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4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saddr_fam</a:t>
                      </a:r>
                      <a:endParaRPr b="1"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Socket Address Family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協定家族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。告訴你這是什麼類型的連線。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laddr</a:t>
                      </a:r>
                      <a:endParaRPr b="1"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Local Address*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IP 位址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lport</a:t>
                      </a:r>
                      <a:endParaRPr b="1"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Local Port*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連接埠號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同樣地，在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connect()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中，這代表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目標 Port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p21"/>
          <p:cNvSpPr txBox="1"/>
          <p:nvPr/>
        </p:nvSpPr>
        <p:spPr>
          <a:xfrm>
            <a:off x="97400" y="1506613"/>
            <a:ext cx="3000000" cy="2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"type=SOCKADDR msg=audit(1715983705.189:840792): saddr=020000160A23B4140000000000000000 SADDR={ saddr_fam=inet laddr=10.35.180.20 lport=22 }",</a:t>
            </a:r>
            <a:endParaRPr sz="1200"/>
          </a:p>
        </p:txBody>
      </p:sp>
      <p:sp>
        <p:nvSpPr>
          <p:cNvPr id="127" name="Google Shape;12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T1021: Remote Services</a:t>
            </a:r>
            <a:endParaRPr/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250" y="1889826"/>
            <a:ext cx="8259501" cy="1436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4" name="Google Shape;13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type=SYSCALL的record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0" name="Google Shape;140;p23"/>
          <p:cNvGraphicFramePr/>
          <p:nvPr/>
        </p:nvGraphicFramePr>
        <p:xfrm>
          <a:off x="33338" y="105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{D6DDB0E9-DFCC-4D3C-8014-183B8EF9B600}</a:tableStyleId>
              </a:tblPr>
              <a:tblGrid>
                <a:gridCol w="1409700"/>
                <a:gridCol w="1635500"/>
                <a:gridCol w="1669675"/>
                <a:gridCol w="436245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b="1" sz="1100">
                        <a:solidFill>
                          <a:srgbClr val="1F1F1F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Provenance Graph 用途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備註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User 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Source User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當前執行者 ID。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Effective UID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Source Context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當前有效權限 (用於判斷是否提權)。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suid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fsuid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Saved/FS UID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Source Context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檔案系統存取權限 ID (較少用)。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gid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egid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sgid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Group IDs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Source Context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群組權限。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exe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執行檔路徑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Source Node Image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發起者的執行檔路徑。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comm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指令名稱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Source Node Name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執行檔的短名稱 (長度有限制，通常 16 chars)。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tty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終端機設備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Source Context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使用者從哪個終端機操作 (如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pts/0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ses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Session 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Session Context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同一次登入的會話編號。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key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規則標籤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Tag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如果你在 audit rules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-k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 有設定標籤，會顯示在這。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" name="Google Shape;14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311700" y="16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type=PATH的record</a:t>
            </a:r>
            <a:endParaRPr/>
          </a:p>
        </p:txBody>
      </p:sp>
      <p:graphicFrame>
        <p:nvGraphicFramePr>
          <p:cNvPr id="147" name="Google Shape;147;p24"/>
          <p:cNvGraphicFramePr/>
          <p:nvPr/>
        </p:nvGraphicFramePr>
        <p:xfrm>
          <a:off x="123825" y="732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{D6DDB0E9-DFCC-4D3C-8014-183B8EF9B600}</a:tableStyleId>
              </a:tblPr>
              <a:tblGrid>
                <a:gridCol w="1028700"/>
                <a:gridCol w="1809750"/>
                <a:gridCol w="1943100"/>
                <a:gridCol w="41148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Provenance Graph 用途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備註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item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序號 (0, 1...)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Mapping Key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對應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SYSCALL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的第幾個參數。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name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檔案路徑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Destination Node 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可能是相對路徑，需結合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CWD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inode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Inode 編號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Destination Entity 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檔案在磁碟上的真實 ID (比檔名更可靠)。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dev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裝置編號 (Major:Minor)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Destination Context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區分不同硬碟分割區。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mode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檔案類型與權限 (Octal)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  <a:highlight>
                            <a:srgbClr val="FFFF00"/>
                          </a:highlight>
                        </a:rPr>
                        <a:t>Node Type</a:t>
                      </a:r>
                      <a:endParaRPr b="1" sz="1100">
                        <a:solidFill>
                          <a:srgbClr val="1F1F1F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判斷是 File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010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), Directory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004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), Socket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014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 等。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ouid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檔案擁有者 UID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Destination Property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誰擁有這個檔案。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ogid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檔案擁有者 GID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Destination Property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哪個群組擁有這個檔案。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rdev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設備類型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Metadata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若該檔案是設備檔 (device file)，這是設備號。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nametype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路徑操作類型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Edge Intent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極重要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CREATE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建立新檔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NORMAL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讀寫現有檔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DELETE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刪除檔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cap_*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Linux Capabilities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Security Context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檔案的權限標記 (如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cap_fp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)，高階資安分析用。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" name="Google Shape;14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{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  "EventID": "1715975219.626:107159",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  "Timestamp": "1715975219.626",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  "Header": {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    // 來自 SYSCALL 的資訊 (只會有一份)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    "syscall": "execve",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    "success": "yes",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    "pid": "123",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    "auid": "tbenedict",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    "exe": "/usr/bin/nc"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},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"Arguments": [],   // 來自 EXECVE 的參數列表 (a0, a1...)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"Files": [],       // 來自 PATH 的列表 (可能會有多個！)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"Sockets": []      // 來自 SOCKADDR 的列表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" name="Google Shape;15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type=SYSCALL的record</a:t>
            </a:r>
            <a:endParaRPr/>
          </a:p>
        </p:txBody>
      </p:sp>
      <p:graphicFrame>
        <p:nvGraphicFramePr>
          <p:cNvPr id="161" name="Google Shape;161;p26"/>
          <p:cNvGraphicFramePr/>
          <p:nvPr/>
        </p:nvGraphicFramePr>
        <p:xfrm>
          <a:off x="33338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{D6DDB0E9-DFCC-4D3C-8014-183B8EF9B600}</a:tableStyleId>
              </a:tblPr>
              <a:tblGrid>
                <a:gridCol w="1409700"/>
                <a:gridCol w="1635500"/>
                <a:gridCol w="1669675"/>
                <a:gridCol w="4362450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Provenance Graph 用途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備註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arch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CPU 架構 (十六進位)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Metadata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決定如何翻譯 syscall 號碼 (如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c000003e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是 x86_64)。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syscall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系統呼叫編號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Edge Label (Action)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需查表。如 2=Open, 59=Exec, 42=Connect。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success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執行結果 (yes/no)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Edge Property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通常只畫 success=yes 的邊，除非你要做失敗審計。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exit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回傳值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Destination ID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(有時)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對於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fork/clone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，這是 Child PID；對於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open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，這是 File Descriptor。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~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a3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呼叫參數 (Hex)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Edge / Context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依 syscall 而定。如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mprotect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的權限設定，或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socketcall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的子功能。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Process 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Source Node 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發起動作的行程。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ppid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Parent PID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Source Context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父行程 ID。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Audit User 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Source User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原始登入者 ID (即使 sudo 後也不變)，這是追溯真人的關鍵。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" name="Google Shape;16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