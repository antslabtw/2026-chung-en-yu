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408BC3-46C0-4A79-908E-16AD3117DF0A}">
  <a:tblStyle styleId="{BE408BC3-46C0-4A79-908E-16AD3117DF0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6609CAB-89FB-40AC-A3AE-F341C13748E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cc55b551d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cc55b551d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cf449818a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cf449818a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自己的完整欄位不是related work的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zh-TW" sz="1800">
                <a:solidFill>
                  <a:srgbClr val="595959"/>
                </a:solidFill>
              </a:rPr>
            </a:br>
            <a:r>
              <a:rPr lang="zh-TW">
                <a:solidFill>
                  <a:schemeClr val="dk1"/>
                </a:solidFill>
              </a:rPr>
              <a:t>如何標TTP要用正確的規範。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用這些去標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654c806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654c806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ppid-pid寫出來\</a:t>
            </a:r>
            <a:br>
              <a:rPr b="1" lang="zh-TW">
                <a:solidFill>
                  <a:schemeClr val="dk1"/>
                </a:solidFill>
              </a:rPr>
            </a:br>
            <a:r>
              <a:rPr b="1" lang="zh-TW">
                <a:solidFill>
                  <a:schemeClr val="dk1"/>
                </a:solidFill>
              </a:rPr>
              <a:t>執行類 Syscall (你現在遇到的)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>
                <a:solidFill>
                  <a:srgbClr val="188038"/>
                </a:solidFill>
              </a:rPr>
              <a:t>execve</a:t>
            </a:r>
            <a:r>
              <a:rPr lang="zh-TW">
                <a:solidFill>
                  <a:schemeClr val="dk1"/>
                </a:solidFill>
              </a:rPr>
              <a:t> (59) $\rightarrow$ </a:t>
            </a:r>
            <a:r>
              <a:rPr b="1" lang="zh-TW">
                <a:solidFill>
                  <a:schemeClr val="dk1"/>
                </a:solidFill>
              </a:rPr>
              <a:t>本質上是 READ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zh-TW">
                <a:solidFill>
                  <a:schemeClr val="dk1"/>
                </a:solidFill>
              </a:rPr>
              <a:t>解釋：</a:t>
            </a:r>
            <a:r>
              <a:rPr lang="zh-TW">
                <a:solidFill>
                  <a:schemeClr val="dk1"/>
                </a:solidFill>
              </a:rPr>
              <a:t> 執行一個程式，OS 必須先把檔案內容「讀」進記憶體。它</a:t>
            </a:r>
            <a:r>
              <a:rPr b="1" lang="zh-TW">
                <a:solidFill>
                  <a:schemeClr val="dk1"/>
                </a:solidFill>
              </a:rPr>
              <a:t>絕對不會</a:t>
            </a:r>
            <a:r>
              <a:rPr lang="zh-TW">
                <a:solidFill>
                  <a:schemeClr val="dk1"/>
                </a:solidFill>
              </a:rPr>
              <a:t>去修改執行檔本身。所以標記為 </a:t>
            </a:r>
            <a:r>
              <a:rPr b="1" lang="zh-TW">
                <a:solidFill>
                  <a:schemeClr val="dk1"/>
                </a:solidFill>
              </a:rPr>
              <a:t>READ</a:t>
            </a:r>
            <a:r>
              <a:rPr lang="zh-TW">
                <a:solidFill>
                  <a:schemeClr val="dk1"/>
                </a:solidFill>
              </a:rPr>
              <a:t> 是完全正確的。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lib64/linux-x86-64</a:t>
            </a:r>
            <a:r>
              <a:rPr lang="zh-TW">
                <a:solidFill>
                  <a:schemeClr val="dk1"/>
                </a:solidFill>
              </a:rPr>
              <a:t>那欄是 Linux 系統中的 </a:t>
            </a:r>
            <a:r>
              <a:rPr b="1" lang="zh-TW">
                <a:solidFill>
                  <a:schemeClr val="dk1"/>
                </a:solidFill>
              </a:rPr>
              <a:t>動態連結器 (Dynamic Linker/Loader)</a:t>
            </a:r>
            <a:r>
              <a:rPr lang="zh-TW">
                <a:solidFill>
                  <a:schemeClr val="dk1"/>
                </a:solidFill>
              </a:rPr>
              <a:t>。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所以我們沒有攻擊者使用id -u獲取的任何資訊 因為他顯示在cmd視窗裡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cc55b55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cc55b55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cc55b551d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cc55b551d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cc55b551d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cc55b551d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6a9cd743a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6a9cd743a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cc55b551d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cc55b551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cc55b551d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bcc55b551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cc55b551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cc55b551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cc55b551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cc55b551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cc55b551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bcc55b551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cc55b551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bcc55b551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6a9cd743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c6a9cd743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cmdcaliper 768 + Log2vec 128 = 896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6a9cd743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c6a9cd743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State：每個序列的平均 embedding (pooled = x.mean(dim=1)) → 表示這個事件序列的全局信息。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Action：從 policy network output 的概率分布中 sampling，選擇哪個 Expert 處理整個序列。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Reward：CRF 的負 NLL，代表選的 Expert 對序列的 label 預測正確程度。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Policy 更新：使用 REINFORCE 搭配 reward 計算 policy_loss，和 CRF 的 NLL 搭配訓練。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目標：讓 gating policy 學會「面對不同序列，選對 Expert 以提升 NLL 表現」。</a:t>
            </a:r>
            <a:br>
              <a:rPr lang="zh-TW"/>
            </a:br>
            <a:br>
              <a:rPr lang="zh-TW"/>
            </a:br>
            <a:r>
              <a:rPr lang="zh-TW"/>
              <a:t>CRF 負責接收 Expert 算出的 emissions，利用它內部學到的轉移規則，透過 decode 函數，幫你把可能不連貫的預測修正成一條合理的攻擊路徑。</a:t>
            </a:r>
            <a:br>
              <a:rPr lang="zh-TW"/>
            </a:br>
            <a:r>
              <a:rPr lang="zh-TW"/>
              <a:t>這裡它使用了 維特比演算法 (Viterbi Algorithm)。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它不會貪心地選每一個時間點最高的 Expert 分數，而是會考慮整條 Event Sequence，找出總分最高的那一條路徑。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這確保了你輸出的攻擊階段序列是連貫的。</a:t>
            </a:r>
            <a:br>
              <a:rPr lang="zh-TW"/>
            </a:br>
            <a:br>
              <a:rPr lang="zh-TW"/>
            </a:br>
            <a:r>
              <a:rPr lang="zh-TW"/>
              <a:t>Action (A)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選擇哪一位專家 (0, 1, 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程式碼： actions = m.sample()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定義： 從 Temporal, Semantic, Stealth 三個專家模型中，硬性選擇一個 (Discrete Choice) 來處理當前的 Event Sequence。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State (S)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三位專家的「預估失誤率」(NLL Loss)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程式碼： state = torch.stack(nll_per_expert, dim=1)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定義： 一個維度為 [Batch, 3] 的向量。例如 [2.5, 0.1, 5.0]，代表專家 1 做錯的 Loss 是 2.5，專家 2 是 0.1。Agent 根據這個「信賴度評估」來做決定。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Reward (R)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相對優勢 (Baseline - Selected)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程式碼： reward = (uniform_nll - nll_total).detach()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定義： 計算「平均專家的 Loss」減去「你選中專家的 Loss」。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正分： 你選的專家比平均水準好。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負分： 你選的專家比平均水準差。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c6a9cd743a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c6a9cd743a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bcc55b551d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bcc55b551d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Module</a:t>
            </a:r>
            <a:r>
              <a:rPr lang="zh-TW"/>
              <a:t>就是auditd裡面LOAD的node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cc55b551d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bcc55b551d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1F1F"/>
                </a:solidFill>
              </a:rPr>
              <a:t>Atlas用的Darpa好像不是E3和E5，是一個已失效的連結。並且他說:</a:t>
            </a:r>
            <a:br>
              <a:rPr lang="zh-TW">
                <a:solidFill>
                  <a:srgbClr val="1F1F1F"/>
                </a:solidFill>
              </a:rPr>
            </a:br>
            <a:r>
              <a:rPr lang="zh-TW">
                <a:solidFill>
                  <a:srgbClr val="1F1F1F"/>
                </a:solidFill>
              </a:rPr>
              <a:t>the data released by DARPA’s Transparent Computing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F1F1F"/>
                </a:solidFill>
              </a:rPr>
              <a:t>program do not include audit logs generated during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F1F1F"/>
                </a:solidFill>
              </a:rPr>
              <a:t>evaluation engagements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1F1F"/>
                </a:solidFill>
              </a:rPr>
              <a:t>TransR: 用h和t去用所有與r相關的M去看他們的距離近不近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1F1F"/>
                </a:solidFill>
              </a:rPr>
              <a:t>Unicorn是用WL演算法算hash</a:t>
            </a:r>
            <a:br>
              <a:rPr lang="zh-TW">
                <a:solidFill>
                  <a:srgbClr val="1F1F1F"/>
                </a:solidFill>
              </a:rPr>
            </a:br>
            <a:r>
              <a:rPr lang="zh-TW">
                <a:solidFill>
                  <a:srgbClr val="1F1F1F"/>
                </a:solidFill>
              </a:rPr>
              <a:t>THREATRACE:GraphSage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FLASH:Word2vec</a:t>
            </a:r>
            <a:br>
              <a:rPr lang="zh-TW"/>
            </a:br>
            <a:br>
              <a:rPr lang="zh-TW"/>
            </a:br>
            <a:r>
              <a:rPr lang="zh-TW" sz="1200">
                <a:solidFill>
                  <a:schemeClr val="dk1"/>
                </a:solidFill>
                <a:highlight>
                  <a:schemeClr val="accent4"/>
                </a:highlight>
              </a:rPr>
              <a:t>請你準備表格比較input有哪些資訊，包含input(OS)、embedding的格式、開源的網址。</a:t>
            </a:r>
            <a:endParaRPr sz="1200">
              <a:solidFill>
                <a:schemeClr val="dk1"/>
              </a:solidFill>
              <a:highlight>
                <a:schemeClr val="accent4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highlight>
                  <a:schemeClr val="accent4"/>
                </a:highlight>
              </a:rPr>
              <a:t>近期應該是考慮AirTag之後的相關研究</a:t>
            </a:r>
            <a:endParaRPr sz="1200">
              <a:solidFill>
                <a:schemeClr val="dk1"/>
              </a:solidFill>
              <a:highlight>
                <a:schemeClr val="accent4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accent4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  <a:highlight>
                  <a:schemeClr val="accent4"/>
                </a:highlight>
              </a:rPr>
              <a:t>自動標TTP:業界標TTP的工具</a:t>
            </a:r>
            <a:endParaRPr sz="1200">
              <a:solidFill>
                <a:schemeClr val="dk1"/>
              </a:solidFill>
              <a:highlight>
                <a:schemeClr val="accent4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bd98402f0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bd98402f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1F1F1F"/>
                </a:solidFill>
              </a:rPr>
              <a:t>Embedding 大小</a:t>
            </a:r>
            <a:endParaRPr b="1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1F1F"/>
                </a:solidFill>
              </a:rPr>
              <a:t>768-dim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1F1F"/>
                </a:solidFill>
              </a:rPr>
              <a:t>768-dim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1F1F"/>
                </a:solidFill>
              </a:rPr>
              <a:t>128-dim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1F1F"/>
                </a:solidFill>
              </a:rPr>
              <a:t>128~256 dim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1F1F"/>
                </a:solidFill>
              </a:rPr>
              <a:t>64~128 dim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1F1F"/>
                </a:solidFill>
              </a:rPr>
              <a:t>128-dim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1F1F"/>
                </a:solidFill>
              </a:rPr>
              <a:t>1-dim (Input)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1F1F"/>
                </a:solidFill>
              </a:rPr>
              <a:t>Atlas用的Darpa好像不是E3和E5，是一個已失效的連結。並且他說:</a:t>
            </a:r>
            <a:br>
              <a:rPr lang="zh-TW">
                <a:solidFill>
                  <a:srgbClr val="1F1F1F"/>
                </a:solidFill>
              </a:rPr>
            </a:br>
            <a:r>
              <a:rPr lang="zh-TW">
                <a:solidFill>
                  <a:srgbClr val="1F1F1F"/>
                </a:solidFill>
              </a:rPr>
              <a:t>the data released by DARPA’s Transparent Computing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F1F1F"/>
                </a:solidFill>
              </a:rPr>
              <a:t>program do not include audit logs generated during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F1F1F"/>
                </a:solidFill>
              </a:rPr>
              <a:t>evaluation engagements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1F1F"/>
                </a:solidFill>
              </a:rPr>
              <a:t>TransR: 用h和t去用所有與r相關的M去看他們的距離近不近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1F1F"/>
                </a:solidFill>
              </a:rPr>
              <a:t>Unicorn是用WL演算法算hash</a:t>
            </a:r>
            <a:br>
              <a:rPr lang="zh-TW">
                <a:solidFill>
                  <a:srgbClr val="1F1F1F"/>
                </a:solidFill>
              </a:rPr>
            </a:br>
            <a:r>
              <a:rPr lang="zh-TW">
                <a:solidFill>
                  <a:srgbClr val="1F1F1F"/>
                </a:solidFill>
              </a:rPr>
              <a:t>THREATRACE:GraphSage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FLASH:Word2vec</a:t>
            </a:r>
            <a:br>
              <a:rPr lang="zh-TW"/>
            </a:br>
            <a:br>
              <a:rPr lang="zh-TW"/>
            </a:br>
            <a:r>
              <a:rPr lang="zh-TW" sz="1200">
                <a:solidFill>
                  <a:schemeClr val="dk1"/>
                </a:solidFill>
                <a:highlight>
                  <a:schemeClr val="accent4"/>
                </a:highlight>
              </a:rPr>
              <a:t>請你準備表格比較input有哪些資訊，包含input(OS)、embedding的格式、開源的網址。</a:t>
            </a:r>
            <a:endParaRPr sz="1200">
              <a:solidFill>
                <a:schemeClr val="dk1"/>
              </a:solidFill>
              <a:highlight>
                <a:schemeClr val="accent4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highlight>
                  <a:schemeClr val="accent4"/>
                </a:highlight>
              </a:rPr>
              <a:t>近期應該是考慮AirTag之後的相關研究</a:t>
            </a:r>
            <a:endParaRPr sz="1200">
              <a:solidFill>
                <a:schemeClr val="dk1"/>
              </a:solidFill>
              <a:highlight>
                <a:schemeClr val="accent4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accent4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  <a:highlight>
                  <a:schemeClr val="accent4"/>
                </a:highlight>
              </a:rPr>
              <a:t>自動標TTP:業界標TTP的工具</a:t>
            </a:r>
            <a:endParaRPr sz="1200">
              <a:solidFill>
                <a:schemeClr val="dk1"/>
              </a:solidFill>
              <a:highlight>
                <a:schemeClr val="accent4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c6a9cd74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c6a9cd74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bcc55b551d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bcc55b551d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Elastic Common Schema (ECS)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zh-TW"/>
            </a:br>
            <a:r>
              <a:rPr b="1" lang="zh-TW">
                <a:solidFill>
                  <a:srgbClr val="1F1F1F"/>
                </a:solidFill>
              </a:rPr>
              <a:t>解析難度</a:t>
            </a:r>
            <a:endParaRPr b="1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1F1F"/>
                </a:solidFill>
              </a:rPr>
              <a:t>⭐ (易)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1F1F"/>
                </a:solidFill>
              </a:rPr>
              <a:t>欄位在最外層，直接讀取即可。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1F1F"/>
                </a:solidFill>
              </a:rPr>
              <a:t>⭐⭐ (中)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1F1F"/>
                </a:solidFill>
              </a:rPr>
              <a:t>需遍歷陣列 (Loop) 才能取出所有 TTP。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1F1F"/>
                </a:solidFill>
              </a:rPr>
              <a:t>⭐⭐⭐ (高)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1F1F"/>
                </a:solidFill>
              </a:rPr>
              <a:t>需處理多層巢狀結構 (</a:t>
            </a:r>
            <a:r>
              <a:rPr lang="zh-TW">
                <a:solidFill>
                  <a:srgbClr val="444746"/>
                </a:solidFill>
                <a:highlight>
                  <a:srgbClr val="E9EEF6"/>
                </a:highlight>
              </a:rPr>
              <a:t>dict</a:t>
            </a:r>
            <a:r>
              <a:rPr lang="zh-TW">
                <a:solidFill>
                  <a:srgbClr val="1F1F1F"/>
                </a:solidFill>
              </a:rPr>
              <a:t> inside </a:t>
            </a:r>
            <a:r>
              <a:rPr lang="zh-TW">
                <a:solidFill>
                  <a:srgbClr val="444746"/>
                </a:solidFill>
                <a:highlight>
                  <a:srgbClr val="E9EEF6"/>
                </a:highlight>
              </a:rPr>
              <a:t>dict</a:t>
            </a:r>
            <a:r>
              <a:rPr lang="zh-TW">
                <a:solidFill>
                  <a:srgbClr val="1F1F1F"/>
                </a:solidFill>
              </a:rPr>
              <a:t>)。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c6a9cd743a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c6a9cd743a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bcf449818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bcf449818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c6a9cd743a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c6a9cd743a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c6a9cd743a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c6a9cd743a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bcf449818a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bcf449818a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bcc55b551d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bcc55b551d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ba777056cb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ba777056cb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c52a4a3c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bc52a4a3c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ithub.com/HelenGuohx/logbert" TargetMode="External"/><Relationship Id="rId4" Type="http://schemas.openxmlformats.org/officeDocument/2006/relationships/hyperlink" Target="https://github.com/logpai/loghub/tree/master/HDFS" TargetMode="External"/><Relationship Id="rId11" Type="http://schemas.openxmlformats.org/officeDocument/2006/relationships/hyperlink" Target="https://github.com/Thijsvanede/DeepLog" TargetMode="External"/><Relationship Id="rId10" Type="http://schemas.openxmlformats.org/officeDocument/2006/relationships/hyperlink" Target="https://github.com/ubc-provenance/kairos" TargetMode="External"/><Relationship Id="rId9" Type="http://schemas.openxmlformats.org/officeDocument/2006/relationships/hyperlink" Target="https://github.com/jun-zeng/ShadeWatcher" TargetMode="External"/><Relationship Id="rId5" Type="http://schemas.openxmlformats.org/officeDocument/2006/relationships/hyperlink" Target="https://github.com/logpai/loghub/tree/master/BGL" TargetMode="External"/><Relationship Id="rId6" Type="http://schemas.openxmlformats.org/officeDocument/2006/relationships/hyperlink" Target="https://github.com/dhl123/Airtag-2023" TargetMode="External"/><Relationship Id="rId7" Type="http://schemas.openxmlformats.org/officeDocument/2006/relationships/hyperlink" Target="https://github.com/DART-Laboratory/Flash-IDS" TargetMode="External"/><Relationship Id="rId8" Type="http://schemas.openxmlformats.org/officeDocument/2006/relationships/hyperlink" Target="https://github.com/purseclab/ATLAS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ithub.com/HelenGuohx/logbert" TargetMode="External"/><Relationship Id="rId4" Type="http://schemas.openxmlformats.org/officeDocument/2006/relationships/hyperlink" Target="https://github.com/logpai/loghub/tree/master/HDFS" TargetMode="External"/><Relationship Id="rId11" Type="http://schemas.openxmlformats.org/officeDocument/2006/relationships/hyperlink" Target="https://github.com/DART-Laboratory/Flash-IDS" TargetMode="External"/><Relationship Id="rId10" Type="http://schemas.openxmlformats.org/officeDocument/2006/relationships/hyperlink" Target="https://github.com/Thijsvanede/DeepLog" TargetMode="External"/><Relationship Id="rId12" Type="http://schemas.openxmlformats.org/officeDocument/2006/relationships/image" Target="../media/image3.png"/><Relationship Id="rId9" Type="http://schemas.openxmlformats.org/officeDocument/2006/relationships/hyperlink" Target="https://github.com/ubc-provenance/kairos" TargetMode="External"/><Relationship Id="rId5" Type="http://schemas.openxmlformats.org/officeDocument/2006/relationships/hyperlink" Target="https://github.com/logpai/loghub/tree/master/BGL" TargetMode="External"/><Relationship Id="rId6" Type="http://schemas.openxmlformats.org/officeDocument/2006/relationships/hyperlink" Target="https://github.com/dhl123/Airtag-2023" TargetMode="External"/><Relationship Id="rId7" Type="http://schemas.openxmlformats.org/officeDocument/2006/relationships/hyperlink" Target="https://github.com/purseclab/ATLAS" TargetMode="External"/><Relationship Id="rId8" Type="http://schemas.openxmlformats.org/officeDocument/2006/relationships/hyperlink" Target="https://github.com/jun-zeng/ShadeWatcher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Preporcess </a:t>
            </a:r>
            <a:r>
              <a:rPr lang="zh-TW">
                <a:solidFill>
                  <a:schemeClr val="dk1"/>
                </a:solidFill>
              </a:rPr>
              <a:t>方法(Raw logs to model input)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Reduction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Embedding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Source node 說明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Relation 說明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Dstnode 說明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161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TODO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方法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zh-TW"/>
              <a:t>模型設計與輸入定義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標TTP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zh-TW"/>
              <a:t>業界標法 - elastic (sigma rule)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zh-TW"/>
              <a:t>LogGPT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node完整欄位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zh-TW"/>
              <a:t>前處理，把event log轉換成provenance graph，定義清楚edge哪個欄位來的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embedding比較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業界的TTP標法</a:t>
            </a:r>
            <a:endParaRPr/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9774" y="45875"/>
            <a:ext cx="2581700" cy="281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1467" y="1304617"/>
            <a:ext cx="1918149" cy="15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/>
        </p:nvSpPr>
        <p:spPr>
          <a:xfrm>
            <a:off x="3414520" y="4046746"/>
            <a:ext cx="316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</a:rPr>
              <a:t>➂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1180800" y="4313750"/>
            <a:ext cx="4263600" cy="511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1165275" y="3635725"/>
            <a:ext cx="4263600" cy="511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2585838" y="4439450"/>
            <a:ext cx="246300" cy="2601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4" name="Google Shape;74;p15"/>
          <p:cNvSpPr/>
          <p:nvPr/>
        </p:nvSpPr>
        <p:spPr>
          <a:xfrm>
            <a:off x="4135634" y="4436600"/>
            <a:ext cx="246300" cy="2601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445025"/>
            <a:ext cx="545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420"/>
              <a:t>T1033: System Owner/User Discovery</a:t>
            </a:r>
            <a:endParaRPr sz="2420"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041375"/>
            <a:ext cx="7370100" cy="18363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               "type=SYSCALL msg=audit(1715974431.706:37679): syscall=59 success=yes exit=0 a0=5608445845b0 a1=5608445850f0 a2=560844581e00 a3=8 ppid=11613 pid=11614 exe=\"/usr/bin/id\" SYSCALL=execve ",</a:t>
            </a:r>
            <a:endParaRPr sz="1200">
              <a:solidFill>
                <a:schemeClr val="dk1"/>
              </a:solidFill>
              <a:highlight>
                <a:srgbClr val="999999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                "type=PATH msg=audit(1715974431.706:37679): name=\"/usr/bin/id\" mode=0100755 nametype=NORMAL OUID=\"root\" OGID=\"root\"",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               "type=PATH msg=audit(1715974431.706:37679): name=\"/usr/bin/id\" mode=0100755 nametype=NORMAL OUID=\"root\" OGID=\"root\"",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                "type=PATH msg=audit(1715974431.706:37679): name=\"/lib64/ld-linux-x86-64.so.2\" mode=0100755 nametype=NORMAL OUID=\"root\" OGID=\"root\"",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                "type=PROCTITLE msg=audit(1715974431.706:37679): proctitle=6964002D75"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0437" y="71325"/>
            <a:ext cx="2698225" cy="479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3297745" y="4384862"/>
            <a:ext cx="7470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Relati</a:t>
            </a:r>
            <a:r>
              <a:rPr lang="zh-TW" sz="1200">
                <a:solidFill>
                  <a:schemeClr val="dk1"/>
                </a:solidFill>
              </a:rPr>
              <a:t>on</a:t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503875" y="3067862"/>
            <a:ext cx="4557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</a:rPr>
              <a:t>Info</a:t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1296000" y="3697112"/>
            <a:ext cx="7794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Log2Vec</a:t>
            </a:r>
            <a:endParaRPr/>
          </a:p>
        </p:txBody>
      </p:sp>
      <p:cxnSp>
        <p:nvCxnSpPr>
          <p:cNvPr id="82" name="Google Shape;82;p15"/>
          <p:cNvCxnSpPr>
            <a:stCxn id="80" idx="3"/>
            <a:endCxn id="83" idx="1"/>
          </p:cNvCxnSpPr>
          <p:nvPr/>
        </p:nvCxnSpPr>
        <p:spPr>
          <a:xfrm>
            <a:off x="959575" y="3252512"/>
            <a:ext cx="22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" name="Google Shape;84;p15"/>
          <p:cNvSpPr txBox="1"/>
          <p:nvPr/>
        </p:nvSpPr>
        <p:spPr>
          <a:xfrm>
            <a:off x="2203849" y="3697099"/>
            <a:ext cx="9717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Cmdcaliper</a:t>
            </a:r>
            <a:endParaRPr/>
          </a:p>
        </p:txBody>
      </p:sp>
      <p:cxnSp>
        <p:nvCxnSpPr>
          <p:cNvPr id="85" name="Google Shape;85;p15"/>
          <p:cNvCxnSpPr>
            <a:stCxn id="84" idx="2"/>
            <a:endCxn id="86" idx="0"/>
          </p:cNvCxnSpPr>
          <p:nvPr/>
        </p:nvCxnSpPr>
        <p:spPr>
          <a:xfrm flipH="1">
            <a:off x="1685599" y="4066399"/>
            <a:ext cx="1004100" cy="31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p15"/>
          <p:cNvSpPr txBox="1"/>
          <p:nvPr/>
        </p:nvSpPr>
        <p:spPr>
          <a:xfrm>
            <a:off x="2550738" y="4387299"/>
            <a:ext cx="31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+</a:t>
            </a:r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2315615" y="3067850"/>
            <a:ext cx="7470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Cmdline</a:t>
            </a:r>
            <a:endParaRPr/>
          </a:p>
        </p:txBody>
      </p:sp>
      <p:cxnSp>
        <p:nvCxnSpPr>
          <p:cNvPr id="89" name="Google Shape;89;p15"/>
          <p:cNvCxnSpPr>
            <a:stCxn id="88" idx="2"/>
            <a:endCxn id="84" idx="0"/>
          </p:cNvCxnSpPr>
          <p:nvPr/>
        </p:nvCxnSpPr>
        <p:spPr>
          <a:xfrm>
            <a:off x="2689115" y="3437150"/>
            <a:ext cx="600" cy="25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" name="Google Shape;83;p15"/>
          <p:cNvSpPr txBox="1"/>
          <p:nvPr/>
        </p:nvSpPr>
        <p:spPr>
          <a:xfrm>
            <a:off x="1180800" y="3067850"/>
            <a:ext cx="10098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</a:rPr>
              <a:t>Reduction</a:t>
            </a:r>
            <a:endParaRPr/>
          </a:p>
        </p:txBody>
      </p:sp>
      <p:cxnSp>
        <p:nvCxnSpPr>
          <p:cNvPr id="90" name="Google Shape;90;p15"/>
          <p:cNvCxnSpPr>
            <a:stCxn id="83" idx="2"/>
            <a:endCxn id="81" idx="0"/>
          </p:cNvCxnSpPr>
          <p:nvPr/>
        </p:nvCxnSpPr>
        <p:spPr>
          <a:xfrm>
            <a:off x="1685700" y="3437150"/>
            <a:ext cx="0" cy="26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" name="Google Shape;86;p15"/>
          <p:cNvSpPr txBox="1"/>
          <p:nvPr/>
        </p:nvSpPr>
        <p:spPr>
          <a:xfrm>
            <a:off x="1251150" y="4382000"/>
            <a:ext cx="8691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SrcNode</a:t>
            </a:r>
            <a:endParaRPr/>
          </a:p>
        </p:txBody>
      </p:sp>
      <p:cxnSp>
        <p:nvCxnSpPr>
          <p:cNvPr id="91" name="Google Shape;91;p15"/>
          <p:cNvCxnSpPr>
            <a:stCxn id="81" idx="2"/>
            <a:endCxn id="86" idx="0"/>
          </p:cNvCxnSpPr>
          <p:nvPr/>
        </p:nvCxnSpPr>
        <p:spPr>
          <a:xfrm>
            <a:off x="1685700" y="4066412"/>
            <a:ext cx="0" cy="31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" name="Google Shape;92;p15"/>
          <p:cNvSpPr txBox="1"/>
          <p:nvPr/>
        </p:nvSpPr>
        <p:spPr>
          <a:xfrm>
            <a:off x="5538025" y="3044200"/>
            <a:ext cx="3063600" cy="1160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Reduction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>
                <a:solidFill>
                  <a:schemeClr val="dk1"/>
                </a:solidFill>
              </a:rPr>
              <a:t>把完全一樣資訊的record整合成一條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>
                <a:solidFill>
                  <a:schemeClr val="dk1"/>
                </a:solidFill>
              </a:rPr>
              <a:t>把LOAD記憶體的指令record刪掉(如果內容跟SYSCALL那欄重疊的話)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4378513" y="3072050"/>
            <a:ext cx="9327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End info</a:t>
            </a:r>
            <a:endParaRPr/>
          </a:p>
        </p:txBody>
      </p:sp>
      <p:cxnSp>
        <p:nvCxnSpPr>
          <p:cNvPr id="94" name="Google Shape;94;p15"/>
          <p:cNvCxnSpPr>
            <a:stCxn id="77" idx="1"/>
            <a:endCxn id="95" idx="1"/>
          </p:cNvCxnSpPr>
          <p:nvPr/>
        </p:nvCxnSpPr>
        <p:spPr>
          <a:xfrm>
            <a:off x="6320437" y="311175"/>
            <a:ext cx="600" cy="485100"/>
          </a:xfrm>
          <a:prstGeom prst="bentConnector3">
            <a:avLst>
              <a:gd fmla="val -3968952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95" name="Google Shape;95;p15" title="provenance_graph_fin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0425" y="603009"/>
            <a:ext cx="2698251" cy="38639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96" name="Google Shape;96;p15"/>
          <p:cNvCxnSpPr>
            <a:stCxn id="92" idx="3"/>
          </p:cNvCxnSpPr>
          <p:nvPr/>
        </p:nvCxnSpPr>
        <p:spPr>
          <a:xfrm flipH="1" rot="10800000">
            <a:off x="8601625" y="1014250"/>
            <a:ext cx="272700" cy="2610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" name="Google Shape;97;p15"/>
          <p:cNvCxnSpPr>
            <a:stCxn id="93" idx="2"/>
            <a:endCxn id="98" idx="0"/>
          </p:cNvCxnSpPr>
          <p:nvPr/>
        </p:nvCxnSpPr>
        <p:spPr>
          <a:xfrm>
            <a:off x="4844863" y="3441350"/>
            <a:ext cx="5100" cy="25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" name="Google Shape;99;p15"/>
          <p:cNvSpPr txBox="1"/>
          <p:nvPr/>
        </p:nvSpPr>
        <p:spPr>
          <a:xfrm>
            <a:off x="3283299" y="3704262"/>
            <a:ext cx="7794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Log2Vec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4427545" y="4384850"/>
            <a:ext cx="8691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Dst</a:t>
            </a:r>
            <a:r>
              <a:rPr lang="zh-TW" sz="1200">
                <a:solidFill>
                  <a:schemeClr val="dk1"/>
                </a:solidFill>
              </a:rPr>
              <a:t>Node</a:t>
            </a:r>
            <a:endParaRPr/>
          </a:p>
        </p:txBody>
      </p:sp>
      <p:cxnSp>
        <p:nvCxnSpPr>
          <p:cNvPr id="101" name="Google Shape;101;p15"/>
          <p:cNvCxnSpPr>
            <a:stCxn id="99" idx="2"/>
            <a:endCxn id="79" idx="0"/>
          </p:cNvCxnSpPr>
          <p:nvPr/>
        </p:nvCxnSpPr>
        <p:spPr>
          <a:xfrm flipH="1">
            <a:off x="3671199" y="4073562"/>
            <a:ext cx="180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" name="Google Shape;102;p15"/>
          <p:cNvSpPr txBox="1"/>
          <p:nvPr/>
        </p:nvSpPr>
        <p:spPr>
          <a:xfrm>
            <a:off x="5538025" y="4371425"/>
            <a:ext cx="3063600" cy="73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End info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>
                <a:solidFill>
                  <a:schemeClr val="dk1"/>
                </a:solidFill>
              </a:rPr>
              <a:t>挑最後幾條event或是record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4091471" y="4387312"/>
            <a:ext cx="31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+</a:t>
            </a:r>
            <a:endParaRPr/>
          </a:p>
        </p:txBody>
      </p:sp>
      <p:cxnSp>
        <p:nvCxnSpPr>
          <p:cNvPr id="104" name="Google Shape;104;p15"/>
          <p:cNvCxnSpPr>
            <a:stCxn id="83" idx="0"/>
            <a:endCxn id="93" idx="0"/>
          </p:cNvCxnSpPr>
          <p:nvPr/>
        </p:nvCxnSpPr>
        <p:spPr>
          <a:xfrm flipH="1" rot="-5400000">
            <a:off x="3263250" y="1490300"/>
            <a:ext cx="4200" cy="3159300"/>
          </a:xfrm>
          <a:prstGeom prst="bentConnector3">
            <a:avLst>
              <a:gd fmla="val -31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Google Shape;105;p15"/>
          <p:cNvSpPr txBox="1"/>
          <p:nvPr/>
        </p:nvSpPr>
        <p:spPr>
          <a:xfrm>
            <a:off x="375259" y="4411700"/>
            <a:ext cx="894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</a:rPr>
              <a:t>模型的輸入: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375325" y="3364450"/>
            <a:ext cx="712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</a:rPr>
              <a:t>原始資料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911875" y="2907288"/>
            <a:ext cx="316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</a:rPr>
              <a:t>➀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116125" y="3873225"/>
            <a:ext cx="1231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</a:rPr>
              <a:t>Embedding 處理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1369200" y="3364461"/>
            <a:ext cx="316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</a:rPr>
              <a:t>➁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2437125" y="3364461"/>
            <a:ext cx="316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</a:rPr>
              <a:t>➁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401347" y="3364449"/>
            <a:ext cx="316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</a:rPr>
              <a:t>➁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1346151" y="4046759"/>
            <a:ext cx="316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</a:rPr>
              <a:t>➂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2196745" y="4046759"/>
            <a:ext cx="316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</a:rPr>
              <a:t>➂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2416953" y="4761900"/>
            <a:ext cx="584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</a:rPr>
              <a:t>concat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3292733" y="3072038"/>
            <a:ext cx="7470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Syscall</a:t>
            </a:r>
            <a:endParaRPr/>
          </a:p>
        </p:txBody>
      </p:sp>
      <p:cxnSp>
        <p:nvCxnSpPr>
          <p:cNvPr id="116" name="Google Shape;116;p15"/>
          <p:cNvCxnSpPr>
            <a:stCxn id="115" idx="2"/>
            <a:endCxn id="99" idx="0"/>
          </p:cNvCxnSpPr>
          <p:nvPr/>
        </p:nvCxnSpPr>
        <p:spPr>
          <a:xfrm>
            <a:off x="3666233" y="3441338"/>
            <a:ext cx="6900" cy="2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" name="Google Shape;117;p15"/>
          <p:cNvSpPr txBox="1"/>
          <p:nvPr/>
        </p:nvSpPr>
        <p:spPr>
          <a:xfrm>
            <a:off x="4583037" y="3354916"/>
            <a:ext cx="316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</a:rPr>
              <a:t>➁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4460250" y="3692912"/>
            <a:ext cx="7794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Log2Vec</a:t>
            </a:r>
            <a:endParaRPr/>
          </a:p>
        </p:txBody>
      </p:sp>
      <p:cxnSp>
        <p:nvCxnSpPr>
          <p:cNvPr id="118" name="Google Shape;118;p15"/>
          <p:cNvCxnSpPr>
            <a:stCxn id="98" idx="2"/>
            <a:endCxn id="100" idx="0"/>
          </p:cNvCxnSpPr>
          <p:nvPr/>
        </p:nvCxnSpPr>
        <p:spPr>
          <a:xfrm>
            <a:off x="4849950" y="4062212"/>
            <a:ext cx="12000" cy="32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" name="Google Shape;119;p15"/>
          <p:cNvSpPr txBox="1"/>
          <p:nvPr/>
        </p:nvSpPr>
        <p:spPr>
          <a:xfrm>
            <a:off x="3957678" y="4743751"/>
            <a:ext cx="584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</a:rPr>
              <a:t>concat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588329" y="4021332"/>
            <a:ext cx="316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</a:rPr>
              <a:t>➂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怎麼分dstnode</a:t>
            </a:r>
            <a:endParaRPr/>
          </a:p>
        </p:txBody>
      </p:sp>
      <p:sp>
        <p:nvSpPr>
          <p:cNvPr id="126" name="Google Shape;12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>
                <a:solidFill>
                  <a:schemeClr val="dk1"/>
                </a:solidFill>
              </a:rPr>
              <a:t>其他的log</a:t>
            </a:r>
            <a:r>
              <a:rPr lang="zh-TW" sz="1600">
                <a:solidFill>
                  <a:schemeClr val="dk1"/>
                </a:solidFill>
              </a:rPr>
              <a:t>(Darpa,StreamSpot</a:t>
            </a:r>
            <a:r>
              <a:rPr lang="zh-TW" sz="1600">
                <a:solidFill>
                  <a:schemeClr val="dk1"/>
                </a:solidFill>
              </a:rPr>
              <a:t>都不是用auditd錄的 所以用casino的話作法會不一樣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>
                <a:solidFill>
                  <a:schemeClr val="dk1"/>
                </a:solidFill>
              </a:rPr>
              <a:t>重新定義event:</a:t>
            </a:r>
            <a:br>
              <a:rPr lang="zh-TW" sz="1600">
                <a:solidFill>
                  <a:schemeClr val="dk1"/>
                </a:solidFill>
              </a:rPr>
            </a:br>
            <a:br>
              <a:rPr lang="zh-TW" sz="1600">
                <a:solidFill>
                  <a:schemeClr val="dk1"/>
                </a:solidFill>
              </a:rPr>
            </a:br>
            <a:r>
              <a:rPr lang="zh-TW" sz="1600">
                <a:solidFill>
                  <a:schemeClr val="dk1"/>
                </a:solidFill>
              </a:rPr>
              <a:t>同一組record中 拆出來的Syscall proctitle 共用 然後每個path都可以變成dst node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>
                <a:solidFill>
                  <a:schemeClr val="dk1"/>
                </a:solidFill>
              </a:rPr>
              <a:t>如果是網路相關的record會多一條SOCKADAR 就直接加進dst node的資訊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27" name="Google Shape;12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Syscall - relation</a:t>
            </a:r>
            <a:endParaRPr/>
          </a:p>
        </p:txBody>
      </p:sp>
      <p:sp>
        <p:nvSpPr>
          <p:cNvPr id="133" name="Google Shape;13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34" name="Google Shape;134;p17"/>
          <p:cNvGraphicFramePr/>
          <p:nvPr/>
        </p:nvGraphicFramePr>
        <p:xfrm>
          <a:off x="333375" y="129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{BE408BC3-46C0-4A79-908E-16AD3117DF0A}</a:tableStyleId>
              </a:tblPr>
              <a:tblGrid>
                <a:gridCol w="752475"/>
                <a:gridCol w="1714500"/>
                <a:gridCol w="1533525"/>
                <a:gridCol w="4476750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Syscall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您的 Relation 定義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邏輯解釋 (Mapping Logic)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2, 257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open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openat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Open File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開啟檔案內容。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59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execve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Open File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注意：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執行程式本質上是「開啟執行檔並載入」，故歸類於此。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0, 1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read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write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Open File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讀寫內容視為開啟互動。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82, 264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rename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renameat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Create File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更名視為「建立新路徑」(並刪除舊路徑)。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83, 259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mkdir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mknodat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Create File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建立新物件 (目錄/裝置)。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87, 263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unlink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unlinkat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Delete File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刪除檔案。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84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rmdir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Delete File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刪除目錄。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191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getxattr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  <a:highlight>
                            <a:schemeClr val="accent6"/>
                          </a:highlight>
                        </a:rPr>
                        <a:t>Open Reg</a:t>
                      </a:r>
                      <a:endParaRPr b="1" sz="1100">
                        <a:solidFill>
                          <a:srgbClr val="1F1F1F"/>
                        </a:solidFill>
                        <a:highlight>
                          <a:schemeClr val="accent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讀取隱藏屬性 (類似讀取 Registry Key)。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TW"/>
              <a:t>Syscall - relation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41" name="Google Shape;141;p18"/>
          <p:cNvGraphicFramePr/>
          <p:nvPr/>
        </p:nvGraphicFramePr>
        <p:xfrm>
          <a:off x="333375" y="129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{BE408BC3-46C0-4A79-908E-16AD3117DF0A}</a:tableStyleId>
              </a:tblPr>
              <a:tblGrid>
                <a:gridCol w="752475"/>
                <a:gridCol w="1714500"/>
                <a:gridCol w="1533525"/>
                <a:gridCol w="4476750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Syscall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您的 Relation 定義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邏輯解釋 (Mapping Logic)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90-94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chmod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chown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  <a:highlight>
                            <a:schemeClr val="accent6"/>
                          </a:highlight>
                        </a:rPr>
                        <a:t>Create Reg</a:t>
                      </a:r>
                      <a:endParaRPr b="1" sz="1100">
                        <a:solidFill>
                          <a:srgbClr val="1F1F1F"/>
                        </a:solidFill>
                        <a:highlight>
                          <a:schemeClr val="accent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修改屬性/權限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(類似修改 Registry Value)。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188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setxattr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  <a:highlight>
                            <a:schemeClr val="accent6"/>
                          </a:highlight>
                        </a:rPr>
                        <a:t>Create Reg</a:t>
                      </a:r>
                      <a:endParaRPr b="1" sz="1100">
                        <a:solidFill>
                          <a:srgbClr val="1F1F1F"/>
                        </a:solidFill>
                        <a:highlight>
                          <a:schemeClr val="accent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設定隱藏屬性 (類似建立 Registry Value)。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197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removexattr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  <a:highlight>
                            <a:schemeClr val="accent6"/>
                          </a:highlight>
                        </a:rPr>
                        <a:t>Delete Reg</a:t>
                      </a:r>
                      <a:endParaRPr b="1" sz="1100">
                        <a:solidFill>
                          <a:srgbClr val="1F1F1F"/>
                        </a:solidFill>
                        <a:highlight>
                          <a:schemeClr val="accent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移除隱藏屬性 (類似刪除 Registry Key)。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41, 42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socket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connect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Connect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建立連線通道。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49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bind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Connect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綁定連線資源。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44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sendto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Send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發送資料。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45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recvfrom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Receive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接收資料 (若 Log 有紀錄)。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90-94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chmod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chown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  <a:highlight>
                            <a:schemeClr val="accent6"/>
                          </a:highlight>
                        </a:rPr>
                        <a:t>Create Reg</a:t>
                      </a:r>
                      <a:endParaRPr b="1" sz="1100">
                        <a:solidFill>
                          <a:srgbClr val="1F1F1F"/>
                        </a:solidFill>
                        <a:highlight>
                          <a:schemeClr val="accent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修改屬性/權限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(類似修改 Registry Value)。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Casino</a:t>
            </a:r>
            <a:endParaRPr/>
          </a:p>
        </p:txBody>
      </p:sp>
      <p:sp>
        <p:nvSpPr>
          <p:cNvPr id="147" name="Google Shape;14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48" name="Google Shape;148;p19"/>
          <p:cNvGraphicFramePr/>
          <p:nvPr/>
        </p:nvGraphicFramePr>
        <p:xfrm>
          <a:off x="2209388" y="163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{BE408BC3-46C0-4A79-908E-16AD3117DF0A}</a:tableStyleId>
              </a:tblPr>
              <a:tblGrid>
                <a:gridCol w="1104100"/>
                <a:gridCol w="2517025"/>
                <a:gridCol w="1104100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Src Node 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Relation 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Dst Node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Process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Open File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Create File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Delete File</a:t>
                      </a:r>
                      <a:endParaRPr i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File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Process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Connect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Send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Receive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Network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Process</a:t>
                      </a:r>
                      <a:endParaRPr/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clone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fork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execute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kill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Process</a:t>
                      </a:r>
                      <a:endParaRPr/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>
            <p:ph type="title"/>
          </p:nvPr>
        </p:nvSpPr>
        <p:spPr>
          <a:xfrm>
            <a:off x="362825" y="9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type=SYSCALL的record</a:t>
            </a:r>
            <a:endParaRPr/>
          </a:p>
        </p:txBody>
      </p:sp>
      <p:graphicFrame>
        <p:nvGraphicFramePr>
          <p:cNvPr id="154" name="Google Shape;154;p20"/>
          <p:cNvGraphicFramePr/>
          <p:nvPr/>
        </p:nvGraphicFramePr>
        <p:xfrm>
          <a:off x="1244525" y="7588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{BE408BC3-46C0-4A79-908E-16AD3117DF0A}</a:tableStyleId>
              </a:tblPr>
              <a:tblGrid>
                <a:gridCol w="742775"/>
                <a:gridCol w="1573875"/>
                <a:gridCol w="4338275"/>
              </a:tblGrid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欄位名稱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意義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備註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arch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CPU 架構 (十六進位)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決定如何翻譯 syscall 號碼 (如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c000003e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是 x86_64)。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syscall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系統呼叫編號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需查表。如 2=Open, 59=Exec, 42=Connect。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success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執行結果 (yes/no)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exit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回傳值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對於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fork/clone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，這是 Child PID；對於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open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，這是 File Descriptor。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a0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~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a3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呼叫參數 (Hex)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依 syscall 而定。如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mprotect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的權限設定，或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socketcall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的子功能。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pid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Process 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發起動作的行程。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ppid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Parent PID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父行程 ID。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auid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Audit User 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原始登入者 ID (即使 sudo 後也不變)，這是追溯真人的關鍵。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5" name="Google Shape;15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TW"/>
              <a:t>type=SYSCALL的record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1" name="Google Shape;161;p21"/>
          <p:cNvGraphicFramePr/>
          <p:nvPr/>
        </p:nvGraphicFramePr>
        <p:xfrm>
          <a:off x="1549925" y="139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{BE408BC3-46C0-4A79-908E-16AD3117DF0A}</a:tableStyleId>
              </a:tblPr>
              <a:tblGrid>
                <a:gridCol w="1409700"/>
                <a:gridCol w="1180600"/>
                <a:gridCol w="345382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欄位名稱</a:t>
                      </a:r>
                      <a:endParaRPr b="1" sz="1100">
                        <a:solidFill>
                          <a:srgbClr val="1F1F1F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意義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備註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uid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User 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當前執行者 ID。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euid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Effective UID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當前有效權限 (用於判斷是否提權)。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suid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fsuid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Saved/FS UID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檔案系統存取權限 ID (較少用)。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gid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egid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sgid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Group IDs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群組權限。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exe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執行檔路徑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發起者的執行檔路徑。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comm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指令名稱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執行檔的短名稱 (長度有限制，通常 16 chars)。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tty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終端機設備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使用者從哪個終端機操作 (如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pts/0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ses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Session 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同一次登入的會話編號。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key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規則標籤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如果你在 audit rules (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-k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 有設定標籤，會顯示在這。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2" name="Google Shape;16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type=SYSCALL的record</a:t>
            </a:r>
            <a:endParaRPr/>
          </a:p>
        </p:txBody>
      </p:sp>
      <p:sp>
        <p:nvSpPr>
          <p:cNvPr id="168" name="Google Shape;16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70" name="Google Shape;170;p22"/>
          <p:cNvGraphicFramePr/>
          <p:nvPr/>
        </p:nvGraphicFramePr>
        <p:xfrm>
          <a:off x="1244525" y="17367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{BE408BC3-46C0-4A79-908E-16AD3117DF0A}</a:tableStyleId>
              </a:tblPr>
              <a:tblGrid>
                <a:gridCol w="742775"/>
                <a:gridCol w="1573875"/>
                <a:gridCol w="4338275"/>
              </a:tblGrid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欄位名稱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意義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備註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syscall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系統呼叫編號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需查表。如 2=Open, 59=Exec, 42=Connect。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pid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Process 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發起動作的行程。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ppid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Parent PID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父行程 ID。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euid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Effective UID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當前有效權限 (用於判斷是否提權)。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exe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執行檔路徑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發起者的執行檔路徑。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"/>
          <p:cNvSpPr txBox="1"/>
          <p:nvPr>
            <p:ph type="title"/>
          </p:nvPr>
        </p:nvSpPr>
        <p:spPr>
          <a:xfrm>
            <a:off x="311700" y="160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type=PATH的record</a:t>
            </a:r>
            <a:endParaRPr/>
          </a:p>
        </p:txBody>
      </p:sp>
      <p:graphicFrame>
        <p:nvGraphicFramePr>
          <p:cNvPr id="176" name="Google Shape;176;p23"/>
          <p:cNvGraphicFramePr/>
          <p:nvPr/>
        </p:nvGraphicFramePr>
        <p:xfrm>
          <a:off x="3378950" y="20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{BE408BC3-46C0-4A79-908E-16AD3117DF0A}</a:tableStyleId>
              </a:tblPr>
              <a:tblGrid>
                <a:gridCol w="803275"/>
                <a:gridCol w="1413200"/>
                <a:gridCol w="3213150"/>
              </a:tblGrid>
              <a:tr h="3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欄位名稱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意義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備註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item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序號 (0, 1...)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對應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SYSCALL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的第幾個參數。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name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檔案路徑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可能是相對路徑，需結合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CWD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inode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Inode 編號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檔案在磁碟上的真實 ID (比檔名更可靠)。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dev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裝置編號 (Major:Minor)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區分不同硬碟分割區。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mode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檔案類型與權限 (Octal)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判斷是 File (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010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), Directory (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004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), Socket (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014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 等。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chemeClr val="accent6"/>
                          </a:highlight>
                        </a:rPr>
                        <a:t>ouid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chemeClr val="accent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檔案擁有者 UID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誰擁有這個檔案。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chemeClr val="accent6"/>
                          </a:highlight>
                        </a:rPr>
                        <a:t>ogid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chemeClr val="accent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檔案擁有者 GID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哪個群組擁有這個檔案。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rdev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設備類型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若該檔案是設備檔 (device file)，這是設備號。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7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nametype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路徑操作類型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極重要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CREATE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建立新檔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NORMAL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讀寫現有檔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DELETE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刪除檔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cap_*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Linux Capabilities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檔案的權限標記 (如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cap_fp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)，高階資安分析用。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7" name="Google Shape;17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TW"/>
              <a:t>type=PATH的record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84" name="Google Shape;184;p24"/>
          <p:cNvGraphicFramePr/>
          <p:nvPr/>
        </p:nvGraphicFramePr>
        <p:xfrm>
          <a:off x="1857188" y="1290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{BE408BC3-46C0-4A79-908E-16AD3117DF0A}</a:tableStyleId>
              </a:tblPr>
              <a:tblGrid>
                <a:gridCol w="803275"/>
                <a:gridCol w="1413200"/>
                <a:gridCol w="3213150"/>
              </a:tblGrid>
              <a:tr h="3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欄位名稱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意義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備註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mode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檔案類型與權限 (Octal)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判斷是 File (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010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), Directory (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004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), Socket (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014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 等。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7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nametype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路徑操作類型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極重要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CREATE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建立新檔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NORMAL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讀寫現有檔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DELETE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刪除檔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7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chemeClr val="accent6"/>
                          </a:highlight>
                        </a:rPr>
                        <a:t>ouid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chemeClr val="accent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檔案擁有者 UID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誰擁有這個檔案。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7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chemeClr val="accent6"/>
                          </a:highlight>
                        </a:rPr>
                        <a:t>ogid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chemeClr val="accent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檔案擁有者 GID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哪個群組擁有這個檔案。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type=SOCKADDR 的record</a:t>
            </a:r>
            <a:endParaRPr/>
          </a:p>
        </p:txBody>
      </p:sp>
      <p:sp>
        <p:nvSpPr>
          <p:cNvPr id="190" name="Google Shape;19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92" name="Google Shape;192;p25"/>
          <p:cNvGraphicFramePr/>
          <p:nvPr/>
        </p:nvGraphicFramePr>
        <p:xfrm>
          <a:off x="1709313" y="178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{BE408BC3-46C0-4A79-908E-16AD3117DF0A}</a:tableStyleId>
              </a:tblPr>
              <a:tblGrid>
                <a:gridCol w="812700"/>
                <a:gridCol w="1850275"/>
                <a:gridCol w="3062400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欄位名稱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全名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意義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4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444746"/>
                          </a:solidFill>
                          <a:highlight>
                            <a:schemeClr val="accent6"/>
                          </a:highlight>
                        </a:rPr>
                        <a:t>saddr_fam</a:t>
                      </a:r>
                      <a:endParaRPr b="1" sz="1100">
                        <a:solidFill>
                          <a:srgbClr val="444746"/>
                        </a:solidFill>
                        <a:highlight>
                          <a:schemeClr val="accent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Socket Address Family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協定家族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。告訴你這是什麼類型的連線。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444746"/>
                          </a:solidFill>
                          <a:highlight>
                            <a:schemeClr val="accent6"/>
                          </a:highlight>
                        </a:rPr>
                        <a:t>laddr</a:t>
                      </a:r>
                      <a:endParaRPr b="1" sz="1100">
                        <a:solidFill>
                          <a:srgbClr val="444746"/>
                        </a:solidFill>
                        <a:highlight>
                          <a:schemeClr val="accent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Local Address*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IP 位址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444746"/>
                          </a:solidFill>
                          <a:highlight>
                            <a:schemeClr val="accent6"/>
                          </a:highlight>
                        </a:rPr>
                        <a:t>lport</a:t>
                      </a:r>
                      <a:endParaRPr b="1" sz="1100">
                        <a:solidFill>
                          <a:srgbClr val="444746"/>
                        </a:solidFill>
                        <a:highlight>
                          <a:schemeClr val="accent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Local Port*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連接埠號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同樣地，在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connect()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中，這代表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目標 Port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方法</a:t>
            </a:r>
            <a:endParaRPr/>
          </a:p>
        </p:txBody>
      </p:sp>
      <p:sp>
        <p:nvSpPr>
          <p:cNvPr id="198" name="Google Shape;19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系統流程圖</a:t>
            </a:r>
            <a:endParaRPr/>
          </a:p>
        </p:txBody>
      </p:sp>
      <p:sp>
        <p:nvSpPr>
          <p:cNvPr id="205" name="Google Shape;20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06" name="Google Shape;206;p27"/>
          <p:cNvSpPr/>
          <p:nvPr/>
        </p:nvSpPr>
        <p:spPr>
          <a:xfrm>
            <a:off x="505825" y="1744525"/>
            <a:ext cx="16692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Audit log</a:t>
            </a:r>
            <a:endParaRPr/>
          </a:p>
        </p:txBody>
      </p:sp>
      <p:sp>
        <p:nvSpPr>
          <p:cNvPr id="207" name="Google Shape;207;p27"/>
          <p:cNvSpPr/>
          <p:nvPr/>
        </p:nvSpPr>
        <p:spPr>
          <a:xfrm>
            <a:off x="3702125" y="1743800"/>
            <a:ext cx="16692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</a:t>
            </a:r>
            <a:endParaRPr/>
          </a:p>
        </p:txBody>
      </p:sp>
      <p:cxnSp>
        <p:nvCxnSpPr>
          <p:cNvPr id="208" name="Google Shape;208;p27"/>
          <p:cNvCxnSpPr>
            <a:stCxn id="207" idx="3"/>
          </p:cNvCxnSpPr>
          <p:nvPr/>
        </p:nvCxnSpPr>
        <p:spPr>
          <a:xfrm>
            <a:off x="5371325" y="1940600"/>
            <a:ext cx="13050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" name="Google Shape;209;p27"/>
          <p:cNvCxnSpPr>
            <a:stCxn id="206" idx="3"/>
            <a:endCxn id="207" idx="1"/>
          </p:cNvCxnSpPr>
          <p:nvPr/>
        </p:nvCxnSpPr>
        <p:spPr>
          <a:xfrm flipH="1" rot="10800000">
            <a:off x="2175025" y="1940725"/>
            <a:ext cx="15270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" name="Google Shape;210;p27"/>
          <p:cNvCxnSpPr>
            <a:stCxn id="211" idx="2"/>
            <a:endCxn id="212" idx="3"/>
          </p:cNvCxnSpPr>
          <p:nvPr/>
        </p:nvCxnSpPr>
        <p:spPr>
          <a:xfrm rot="5400000">
            <a:off x="6648950" y="3274525"/>
            <a:ext cx="496200" cy="1440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2" name="Google Shape;212;p27"/>
          <p:cNvSpPr/>
          <p:nvPr/>
        </p:nvSpPr>
        <p:spPr>
          <a:xfrm>
            <a:off x="4507900" y="4045900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weighted Expert</a:t>
            </a:r>
            <a:endParaRPr/>
          </a:p>
        </p:txBody>
      </p:sp>
      <p:sp>
        <p:nvSpPr>
          <p:cNvPr id="213" name="Google Shape;213;p27"/>
          <p:cNvSpPr/>
          <p:nvPr/>
        </p:nvSpPr>
        <p:spPr>
          <a:xfrm>
            <a:off x="2520325" y="4045025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CRF Sequence Decoder</a:t>
            </a:r>
            <a:endParaRPr/>
          </a:p>
        </p:txBody>
      </p:sp>
      <p:cxnSp>
        <p:nvCxnSpPr>
          <p:cNvPr id="214" name="Google Shape;214;p27"/>
          <p:cNvCxnSpPr>
            <a:stCxn id="212" idx="1"/>
            <a:endCxn id="213" idx="3"/>
          </p:cNvCxnSpPr>
          <p:nvPr/>
        </p:nvCxnSpPr>
        <p:spPr>
          <a:xfrm rot="10800000">
            <a:off x="4189600" y="4241800"/>
            <a:ext cx="3183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" name="Google Shape;215;p27"/>
          <p:cNvCxnSpPr>
            <a:stCxn id="213" idx="1"/>
            <a:endCxn id="216" idx="3"/>
          </p:cNvCxnSpPr>
          <p:nvPr/>
        </p:nvCxnSpPr>
        <p:spPr>
          <a:xfrm rot="10800000">
            <a:off x="2175025" y="4241825"/>
            <a:ext cx="34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1" name="Google Shape;211;p27"/>
          <p:cNvSpPr/>
          <p:nvPr/>
        </p:nvSpPr>
        <p:spPr>
          <a:xfrm>
            <a:off x="6653600" y="1744525"/>
            <a:ext cx="1926900" cy="200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Gating Network</a:t>
            </a:r>
            <a:endParaRPr/>
          </a:p>
        </p:txBody>
      </p:sp>
      <p:sp>
        <p:nvSpPr>
          <p:cNvPr id="217" name="Google Shape;217;p27"/>
          <p:cNvSpPr/>
          <p:nvPr/>
        </p:nvSpPr>
        <p:spPr>
          <a:xfrm>
            <a:off x="6782450" y="2138125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Expert 1</a:t>
            </a:r>
            <a:endParaRPr/>
          </a:p>
        </p:txBody>
      </p:sp>
      <p:sp>
        <p:nvSpPr>
          <p:cNvPr id="218" name="Google Shape;218;p27"/>
          <p:cNvSpPr/>
          <p:nvPr/>
        </p:nvSpPr>
        <p:spPr>
          <a:xfrm>
            <a:off x="6782450" y="2653825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Expert 2</a:t>
            </a:r>
            <a:endParaRPr/>
          </a:p>
        </p:txBody>
      </p:sp>
      <p:sp>
        <p:nvSpPr>
          <p:cNvPr id="219" name="Google Shape;219;p27"/>
          <p:cNvSpPr/>
          <p:nvPr/>
        </p:nvSpPr>
        <p:spPr>
          <a:xfrm>
            <a:off x="6782450" y="3169525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Expert 3</a:t>
            </a:r>
            <a:endParaRPr/>
          </a:p>
        </p:txBody>
      </p:sp>
      <p:sp>
        <p:nvSpPr>
          <p:cNvPr id="216" name="Google Shape;216;p27"/>
          <p:cNvSpPr/>
          <p:nvPr/>
        </p:nvSpPr>
        <p:spPr>
          <a:xfrm>
            <a:off x="505825" y="4045025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Predicted TTP Sequence</a:t>
            </a:r>
            <a:endParaRPr/>
          </a:p>
        </p:txBody>
      </p:sp>
      <p:cxnSp>
        <p:nvCxnSpPr>
          <p:cNvPr id="220" name="Google Shape;220;p27"/>
          <p:cNvCxnSpPr>
            <a:stCxn id="212" idx="0"/>
          </p:cNvCxnSpPr>
          <p:nvPr/>
        </p:nvCxnSpPr>
        <p:spPr>
          <a:xfrm rot="10800000">
            <a:off x="5337100" y="3631000"/>
            <a:ext cx="5400" cy="41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221" name="Google Shape;221;p27"/>
          <p:cNvSpPr/>
          <p:nvPr/>
        </p:nvSpPr>
        <p:spPr>
          <a:xfrm>
            <a:off x="4412500" y="2632800"/>
            <a:ext cx="1842000" cy="111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7"/>
          <p:cNvSpPr/>
          <p:nvPr/>
        </p:nvSpPr>
        <p:spPr>
          <a:xfrm>
            <a:off x="4507900" y="2728476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Top-1</a:t>
            </a:r>
            <a:endParaRPr/>
          </a:p>
        </p:txBody>
      </p:sp>
      <p:sp>
        <p:nvSpPr>
          <p:cNvPr id="223" name="Google Shape;223;p27"/>
          <p:cNvSpPr/>
          <p:nvPr/>
        </p:nvSpPr>
        <p:spPr>
          <a:xfrm>
            <a:off x="4498900" y="3237400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Soft</a:t>
            </a:r>
            <a:endParaRPr/>
          </a:p>
        </p:txBody>
      </p:sp>
      <p:sp>
        <p:nvSpPr>
          <p:cNvPr id="224" name="Google Shape;224;p27"/>
          <p:cNvSpPr txBox="1"/>
          <p:nvPr/>
        </p:nvSpPr>
        <p:spPr>
          <a:xfrm>
            <a:off x="1538125" y="1302225"/>
            <a:ext cx="28008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把Audit log送進語意模型產生embedding</a:t>
            </a:r>
            <a:endParaRPr/>
          </a:p>
        </p:txBody>
      </p:sp>
      <p:sp>
        <p:nvSpPr>
          <p:cNvPr id="225" name="Google Shape;225;p27"/>
          <p:cNvSpPr txBox="1"/>
          <p:nvPr/>
        </p:nvSpPr>
        <p:spPr>
          <a:xfrm>
            <a:off x="5060375" y="1277325"/>
            <a:ext cx="19269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把embedding送進MoE系統</a:t>
            </a:r>
            <a:endParaRPr/>
          </a:p>
        </p:txBody>
      </p:sp>
      <p:sp>
        <p:nvSpPr>
          <p:cNvPr id="226" name="Google Shape;226;p27"/>
          <p:cNvSpPr txBox="1"/>
          <p:nvPr/>
        </p:nvSpPr>
        <p:spPr>
          <a:xfrm>
            <a:off x="1384225" y="3361550"/>
            <a:ext cx="1926900" cy="61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用CRF修正預測出的攻擊路徑</a:t>
            </a:r>
            <a:endParaRPr/>
          </a:p>
        </p:txBody>
      </p:sp>
      <p:sp>
        <p:nvSpPr>
          <p:cNvPr id="227" name="Google Shape;227;p27"/>
          <p:cNvSpPr txBox="1"/>
          <p:nvPr/>
        </p:nvSpPr>
        <p:spPr>
          <a:xfrm>
            <a:off x="3544450" y="4546700"/>
            <a:ext cx="16086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採用最終expert</a:t>
            </a:r>
            <a:endParaRPr/>
          </a:p>
        </p:txBody>
      </p:sp>
      <p:sp>
        <p:nvSpPr>
          <p:cNvPr id="228" name="Google Shape;228;p27"/>
          <p:cNvSpPr txBox="1"/>
          <p:nvPr/>
        </p:nvSpPr>
        <p:spPr>
          <a:xfrm>
            <a:off x="6812750" y="4439500"/>
            <a:ext cx="1608600" cy="52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用NLL loss決定哪個expert最好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Casino TTP 類型</a:t>
            </a:r>
            <a:endParaRPr/>
          </a:p>
        </p:txBody>
      </p:sp>
      <p:sp>
        <p:nvSpPr>
          <p:cNvPr id="234" name="Google Shape;234;p28"/>
          <p:cNvSpPr txBox="1"/>
          <p:nvPr>
            <p:ph idx="1" type="body"/>
          </p:nvPr>
        </p:nvSpPr>
        <p:spPr>
          <a:xfrm>
            <a:off x="3661500" y="92100"/>
            <a:ext cx="51708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zh-TW" sz="1600">
                <a:solidFill>
                  <a:schemeClr val="dk1"/>
                </a:solidFill>
              </a:rPr>
              <a:t>x軸代表此TTP的sample 中 single event的含量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zh-TW" sz="1600">
                <a:solidFill>
                  <a:schemeClr val="dk1"/>
                </a:solidFill>
              </a:rPr>
              <a:t>y軸代表此TTP的sample 中 event的時間跨度大小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35" name="Google Shape;23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236" name="Google Shape;236;p28"/>
          <p:cNvGrpSpPr/>
          <p:nvPr/>
        </p:nvGrpSpPr>
        <p:grpSpPr>
          <a:xfrm>
            <a:off x="2124225" y="959700"/>
            <a:ext cx="6065301" cy="3899151"/>
            <a:chOff x="1539350" y="1068550"/>
            <a:chExt cx="6065301" cy="3899151"/>
          </a:xfrm>
        </p:grpSpPr>
        <p:pic>
          <p:nvPicPr>
            <p:cNvPr id="237" name="Google Shape;237;p28" title="TTP_type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39350" y="1068550"/>
              <a:ext cx="6065301" cy="3899151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38" name="Google Shape;238;p28"/>
            <p:cNvSpPr/>
            <p:nvPr/>
          </p:nvSpPr>
          <p:spPr>
            <a:xfrm>
              <a:off x="1861150" y="1238525"/>
              <a:ext cx="3875700" cy="1844100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8"/>
            <p:cNvSpPr/>
            <p:nvPr/>
          </p:nvSpPr>
          <p:spPr>
            <a:xfrm>
              <a:off x="1861150" y="3082625"/>
              <a:ext cx="3875700" cy="1580700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8"/>
            <p:cNvSpPr/>
            <p:nvPr/>
          </p:nvSpPr>
          <p:spPr>
            <a:xfrm>
              <a:off x="5736850" y="3082625"/>
              <a:ext cx="1814100" cy="1580700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1" name="Google Shape;241;p28"/>
          <p:cNvSpPr txBox="1"/>
          <p:nvPr/>
        </p:nvSpPr>
        <p:spPr>
          <a:xfrm>
            <a:off x="81636" y="1855375"/>
            <a:ext cx="18141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Bi-LSTM + Attention</a:t>
            </a:r>
            <a:endParaRPr/>
          </a:p>
        </p:txBody>
      </p:sp>
      <p:cxnSp>
        <p:nvCxnSpPr>
          <p:cNvPr id="242" name="Google Shape;242;p28"/>
          <p:cNvCxnSpPr>
            <a:stCxn id="238" idx="1"/>
            <a:endCxn id="241" idx="3"/>
          </p:cNvCxnSpPr>
          <p:nvPr/>
        </p:nvCxnSpPr>
        <p:spPr>
          <a:xfrm flipH="1">
            <a:off x="1895825" y="2051725"/>
            <a:ext cx="5502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" name="Google Shape;243;p28"/>
          <p:cNvCxnSpPr>
            <a:stCxn id="239" idx="1"/>
            <a:endCxn id="244" idx="3"/>
          </p:cNvCxnSpPr>
          <p:nvPr/>
        </p:nvCxnSpPr>
        <p:spPr>
          <a:xfrm rot="10800000">
            <a:off x="1913825" y="3762625"/>
            <a:ext cx="5322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4" name="Google Shape;244;p28"/>
          <p:cNvSpPr txBox="1"/>
          <p:nvPr/>
        </p:nvSpPr>
        <p:spPr>
          <a:xfrm>
            <a:off x="99775" y="3454925"/>
            <a:ext cx="1814100" cy="61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Self-Attention + SumPool</a:t>
            </a:r>
            <a:endParaRPr/>
          </a:p>
        </p:txBody>
      </p:sp>
      <p:sp>
        <p:nvSpPr>
          <p:cNvPr id="245" name="Google Shape;245;p28"/>
          <p:cNvSpPr txBox="1"/>
          <p:nvPr/>
        </p:nvSpPr>
        <p:spPr>
          <a:xfrm>
            <a:off x="6638154" y="2371650"/>
            <a:ext cx="11829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CNN +</a:t>
            </a:r>
            <a:r>
              <a:rPr lang="zh-TW"/>
              <a:t> RAG</a:t>
            </a:r>
            <a:endParaRPr/>
          </a:p>
        </p:txBody>
      </p:sp>
      <p:cxnSp>
        <p:nvCxnSpPr>
          <p:cNvPr id="246" name="Google Shape;246;p28"/>
          <p:cNvCxnSpPr>
            <a:stCxn id="240" idx="0"/>
            <a:endCxn id="245" idx="2"/>
          </p:cNvCxnSpPr>
          <p:nvPr/>
        </p:nvCxnSpPr>
        <p:spPr>
          <a:xfrm flipH="1" rot="10800000">
            <a:off x="7228775" y="2771875"/>
            <a:ext cx="900" cy="20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其他作品處理log的方式</a:t>
            </a:r>
            <a:endParaRPr/>
          </a:p>
        </p:txBody>
      </p:sp>
      <p:sp>
        <p:nvSpPr>
          <p:cNvPr id="252" name="Google Shape;252;p29"/>
          <p:cNvSpPr txBox="1"/>
          <p:nvPr>
            <p:ph idx="1" type="body"/>
          </p:nvPr>
        </p:nvSpPr>
        <p:spPr>
          <a:xfrm>
            <a:off x="311700" y="1152475"/>
            <a:ext cx="5395500" cy="37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Slot:沒有刪減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NoDoze:  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	Process只留PATH、Cmdline和gid(判斷是否提權)。 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	File移除了 inode 和 timestamp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	Socket根據連線方向刪除內部地址的資訊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		對外連接移除Source IP和port 。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		對內連線移除Destination IP和port 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Kairos: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Process 只留 Image pathname。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	File 只留 File pathname。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	Socket 只留 SrcIP,Dst IP,port 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FLASH: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	Process：只提取 Process Name和 Command Line Arguments 。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	File ：只提取Path 。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	Socket ：只提取 IP Address和 Port。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	Module ：只提取 Module Name 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3" name="Google Shape;25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54" name="Google Shape;254;p29"/>
          <p:cNvSpPr txBox="1"/>
          <p:nvPr/>
        </p:nvSpPr>
        <p:spPr>
          <a:xfrm>
            <a:off x="5267250" y="1243125"/>
            <a:ext cx="3205200" cy="15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50">
                <a:solidFill>
                  <a:schemeClr val="dk1"/>
                </a:solidFill>
              </a:rPr>
              <a:t>Shade watcher:</a:t>
            </a:r>
            <a:endParaRPr sz="125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50">
                <a:solidFill>
                  <a:schemeClr val="dk1"/>
                </a:solidFill>
              </a:rPr>
              <a:t>Process：pid, ppid , exe(path), args</a:t>
            </a:r>
            <a:endParaRPr sz="125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50">
                <a:solidFill>
                  <a:schemeClr val="dk1"/>
                </a:solidFill>
              </a:rPr>
              <a:t>File：name, path, version </a:t>
            </a:r>
            <a:endParaRPr sz="125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250">
                <a:solidFill>
                  <a:schemeClr val="dk1"/>
                </a:solidFill>
              </a:rPr>
              <a:t>Socket：ip,port</a:t>
            </a:r>
            <a:endParaRPr sz="12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/>
          <p:cNvSpPr txBox="1"/>
          <p:nvPr>
            <p:ph type="title"/>
          </p:nvPr>
        </p:nvSpPr>
        <p:spPr>
          <a:xfrm>
            <a:off x="311713" y="92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其他文獻的比較</a:t>
            </a:r>
            <a:endParaRPr/>
          </a:p>
        </p:txBody>
      </p:sp>
      <p:sp>
        <p:nvSpPr>
          <p:cNvPr id="260" name="Google Shape;26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261" name="Google Shape;261;p30"/>
          <p:cNvGraphicFramePr/>
          <p:nvPr/>
        </p:nvGraphicFramePr>
        <p:xfrm>
          <a:off x="661988" y="66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{BE408BC3-46C0-4A79-908E-16AD3117DF0A}</a:tableStyleId>
              </a:tblPr>
              <a:tblGrid>
                <a:gridCol w="1295400"/>
                <a:gridCol w="3028950"/>
                <a:gridCol w="2002525"/>
                <a:gridCol w="1729000"/>
              </a:tblGrid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文獻名稱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Input Log 處理簡述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Dataset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Embedding 格式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27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3"/>
                        </a:rPr>
                        <a:t>LogBERT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(2021)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有刪減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。移除動態參數（如 IP、數值）。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sng">
                          <a:solidFill>
                            <a:schemeClr val="hlink"/>
                          </a:solidFill>
                          <a:hlinkClick r:id="rId4"/>
                        </a:rPr>
                        <a:t>HDFS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 u="sng">
                          <a:solidFill>
                            <a:schemeClr val="hlink"/>
                          </a:solidFill>
                          <a:hlinkClick r:id="rId5"/>
                        </a:rPr>
                        <a:t>BGL 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(Linux)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Bert - 768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6"/>
                        </a:rPr>
                        <a:t>AirTag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(2023)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有刪減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。移除日誌雜訊，保留並強化 Textual Semantic，轉為自然語言描述。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ATLAS ,DEPIMPACT ,自己的dataset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(Linux)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Bert - 768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Slot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(2023)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有篩選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。基於 Provenance Graph，過濾與攻擊無關的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Edges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DARPA TC E3 (Linux/FreeBSD)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Word2Vec - 128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7"/>
                        </a:rPr>
                        <a:t>FLASH</a:t>
                      </a:r>
                      <a:r>
                        <a:rPr b="1" lang="zh-TW" sz="1100"/>
                        <a:t>(2024)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有篩選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。只留特定欄位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DARPA OpTC, E3, StreamSpot, Unicorn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Word2Vec - 128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8"/>
                        </a:rPr>
                        <a:t>ATLAS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(2021)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有篩選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。僅保留與Kill Chain相關的Syscalls。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DARPA TC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word-representations embedding - 128-256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9"/>
                        </a:rPr>
                        <a:t>ShadeWatcher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(2022)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有刪減。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只留特定欄位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chemeClr val="accent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DARPA TC E3 &amp; E5 (Linux)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TransR 64-128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10"/>
                        </a:rPr>
                        <a:t>Kairos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(2024)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有篩選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只留特定欄位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DARPA TC, THEIA (Linux)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Hierarchical Feature Hashing - 128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2" name="Google Shape;262;p30"/>
          <p:cNvGraphicFramePr/>
          <p:nvPr/>
        </p:nvGraphicFramePr>
        <p:xfrm>
          <a:off x="661988" y="5383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{BE408BC3-46C0-4A79-908E-16AD3117DF0A}</a:tableStyleId>
              </a:tblPr>
              <a:tblGrid>
                <a:gridCol w="1295400"/>
                <a:gridCol w="3028950"/>
                <a:gridCol w="2002525"/>
                <a:gridCol w="1729000"/>
              </a:tblGrid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11"/>
                        </a:rPr>
                        <a:t>DeepLog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(2017)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有刪減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。僅提取 Event ID（模板索引），忽略所有參數內容。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HDFS (Linux) OpenStack 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One-Hot Encoding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/>
          <p:nvPr>
            <p:ph type="title"/>
          </p:nvPr>
        </p:nvSpPr>
        <p:spPr>
          <a:xfrm>
            <a:off x="311713" y="92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其他文獻的比較</a:t>
            </a:r>
            <a:endParaRPr/>
          </a:p>
        </p:txBody>
      </p:sp>
      <p:sp>
        <p:nvSpPr>
          <p:cNvPr id="268" name="Google Shape;26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269" name="Google Shape;269;p31"/>
          <p:cNvGraphicFramePr/>
          <p:nvPr/>
        </p:nvGraphicFramePr>
        <p:xfrm>
          <a:off x="661988" y="66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{BE408BC3-46C0-4A79-908E-16AD3117DF0A}</a:tableStyleId>
              </a:tblPr>
              <a:tblGrid>
                <a:gridCol w="1295400"/>
                <a:gridCol w="3028950"/>
                <a:gridCol w="2002525"/>
                <a:gridCol w="1729000"/>
              </a:tblGrid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文獻名稱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Input Log 處理簡述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Dataset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Embedding 格式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27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3"/>
                        </a:rPr>
                        <a:t>LogBERT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有刪減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。移除動態參數（如 IP、數值）。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sng">
                          <a:solidFill>
                            <a:schemeClr val="hlink"/>
                          </a:solidFill>
                          <a:hlinkClick r:id="rId4"/>
                        </a:rPr>
                        <a:t>HDFS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 u="sng">
                          <a:solidFill>
                            <a:schemeClr val="hlink"/>
                          </a:solidFill>
                          <a:hlinkClick r:id="rId5"/>
                        </a:rPr>
                        <a:t>BGL 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(Linux)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Bert - 768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6"/>
                        </a:rPr>
                        <a:t>AirTag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有刪減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。移除日誌雜訊，保留並強化 Textual Semantic，轉為自然語言描述。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ATLAS ,DEPIMPACT ,自己的dataset(Linux)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Bert - 768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Slot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有篩選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。基於 Provenance Graph，過濾與攻擊無關的Edges。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DARPA TC E3 (Linux/FreeBSD)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Word2Vec - 128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7"/>
                        </a:rPr>
                        <a:t>ATLAS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 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有篩選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。僅保留與Kill Chain相關的Syscalls。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DARPA TC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word-representations embedding - 128-256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8"/>
                        </a:rPr>
                        <a:t>ShadeWatcher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無刪減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DARPA TC E3 &amp; E5 (Linux)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TransR 64-128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9"/>
                        </a:rPr>
                        <a:t>Kairos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有篩選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。只留特定欄位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DARPA TC, THEIA (Linux)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Hierarchical Feature Hashing - 128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10"/>
                        </a:rPr>
                        <a:t>DeepLog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有刪減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。僅提取 Event ID（模板索引），忽略所有參數內容。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HDFS (Linux) OpenStack 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One-Hot Encoding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11"/>
                        </a:rPr>
                        <a:t>FLASH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有篩選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。只留特定欄位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DARPA OpTC, E3, StreamSpot, Unicorn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Word2Vec - 128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70" name="Google Shape;270;p3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184049" y="-54350"/>
            <a:ext cx="959950" cy="1045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311700" y="254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業界常用的資安軟體</a:t>
            </a:r>
            <a:endParaRPr/>
          </a:p>
        </p:txBody>
      </p:sp>
      <p:sp>
        <p:nvSpPr>
          <p:cNvPr id="276" name="Google Shape;27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277" name="Google Shape;277;p32"/>
          <p:cNvGraphicFramePr/>
          <p:nvPr/>
        </p:nvGraphicFramePr>
        <p:xfrm>
          <a:off x="719138" y="93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{BE408BC3-46C0-4A79-908E-16AD3117DF0A}</a:tableStyleId>
              </a:tblPr>
              <a:tblGrid>
                <a:gridCol w="1390650"/>
                <a:gridCol w="1724025"/>
                <a:gridCol w="1866900"/>
                <a:gridCol w="2724150"/>
              </a:tblGrid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圖論節點 (Graph Node)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Elastic Security (ECS)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Splunk (CIM)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Wazuh (Raw/Decoder)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038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Source Node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process.parent.*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source.*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user.*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parent_process_name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src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/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src_ip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user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/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src_user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data.win.eventdata.ParentImage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srcip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data.win.eventdata.User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8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Relation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event.action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event.category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event.type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action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signature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event_id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rule.description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data.win.system.eventID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rule.level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Destination Node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process.*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(child)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destination.*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file.*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process_name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dest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/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dest_ip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file_name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data.win.eventdata.Image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dstip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data.win.eventdata.TargetFilename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>
            <p:ph type="title"/>
          </p:nvPr>
        </p:nvSpPr>
        <p:spPr>
          <a:xfrm>
            <a:off x="311700" y="180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業界標TTP的作法</a:t>
            </a:r>
            <a:endParaRPr/>
          </a:p>
        </p:txBody>
      </p:sp>
      <p:sp>
        <p:nvSpPr>
          <p:cNvPr id="283" name="Google Shape;28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284" name="Google Shape;284;p33"/>
          <p:cNvGraphicFramePr/>
          <p:nvPr/>
        </p:nvGraphicFramePr>
        <p:xfrm>
          <a:off x="771513" y="75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{BE408BC3-46C0-4A79-908E-16AD3117DF0A}</a:tableStyleId>
              </a:tblPr>
              <a:tblGrid>
                <a:gridCol w="1152525"/>
                <a:gridCol w="2028825"/>
                <a:gridCol w="2552700"/>
                <a:gridCol w="1866900"/>
              </a:tblGrid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平台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標註機制 (Mechanism)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關鍵欄位路徑 (Key JSON Path)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資料結構 (Data Structure)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077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Splunk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(Enterprise Security)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規則註釋 (Annotation)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在 Correlation Search 設定頁面填寫 ID，觸發時複製到告警中。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mitre_attack_id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mitre_attack_tactic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rule_name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Flat (扁平)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通常是單一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欄位單一值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，偶爾是多值欄位。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8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Wazuh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靜態規則 (Hard-coded)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XML 規則檔中預定義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&lt;mitre&gt;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標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籤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rule.mitre.id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rule.mitre.tactic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rule.mitre.technique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Array (陣列)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Elastic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(Security)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威脅映射 (Threat Mapping)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在規則中定義 ECS 物件，觸發時寫入 Signal Index。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threat.technique.id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threat.tactic.name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threat.technique.subtechnique.id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Nested Object (巢狀)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結構最深，嚴格區分 Technique 與 Sub-technique。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5" name="Google Shape;285;p33"/>
          <p:cNvSpPr txBox="1"/>
          <p:nvPr/>
        </p:nvSpPr>
        <p:spPr>
          <a:xfrm>
            <a:off x="1924050" y="4683025"/>
            <a:ext cx="2380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Elastic Common Schema (ECS)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軟體的標註格式</a:t>
            </a:r>
            <a:endParaRPr/>
          </a:p>
        </p:txBody>
      </p:sp>
      <p:sp>
        <p:nvSpPr>
          <p:cNvPr id="291" name="Google Shape;29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92" name="Google Shape;292;p34"/>
          <p:cNvSpPr txBox="1"/>
          <p:nvPr/>
        </p:nvSpPr>
        <p:spPr>
          <a:xfrm>
            <a:off x="172400" y="2211475"/>
            <a:ext cx="3804600" cy="1477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"timestamp": "2023-10-27T10:00:00Z",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"rule_name": "Detect PowerShell Download",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"src": "192.168.1.100", "user": "admin",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"mitre_attack_id": "T1059.001",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"mitre_attack_tactic": "Execution",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…</a:t>
            </a:r>
            <a:endParaRPr/>
          </a:p>
        </p:txBody>
      </p:sp>
      <p:sp>
        <p:nvSpPr>
          <p:cNvPr id="293" name="Google Shape;293;p34"/>
          <p:cNvSpPr txBox="1"/>
          <p:nvPr/>
        </p:nvSpPr>
        <p:spPr>
          <a:xfrm>
            <a:off x="1383500" y="1571411"/>
            <a:ext cx="1382400" cy="43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Splunk</a:t>
            </a:r>
            <a:endParaRPr sz="1600"/>
          </a:p>
        </p:txBody>
      </p:sp>
      <p:sp>
        <p:nvSpPr>
          <p:cNvPr id="294" name="Google Shape;294;p34"/>
          <p:cNvSpPr txBox="1"/>
          <p:nvPr/>
        </p:nvSpPr>
        <p:spPr>
          <a:xfrm>
            <a:off x="4282350" y="700225"/>
            <a:ext cx="4738800" cy="5141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{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"@timestamp": "2023-10-27T10:00:00Z",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"event": {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"kind": "signal",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"action": "process_started"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},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"threat": {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"framework": "MITRE ATT&amp;CK",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"tactic": {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  "name": "Execution",             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  "id": "TA0002"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},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"technique": {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  "id": "T1059",                   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  "name": "Command and Scripting Interpreter",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  "subtechnique": {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    "id": "T1059.001",             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    "name": "PowerShell"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  }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}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}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}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4"/>
          <p:cNvSpPr txBox="1"/>
          <p:nvPr/>
        </p:nvSpPr>
        <p:spPr>
          <a:xfrm>
            <a:off x="5960550" y="85861"/>
            <a:ext cx="1382400" cy="43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Elastic</a:t>
            </a:r>
            <a:endParaRPr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哪個文獻 or my way</a:t>
            </a:r>
            <a:endParaRPr/>
          </a:p>
        </p:txBody>
      </p:sp>
      <p:sp>
        <p:nvSpPr>
          <p:cNvPr id="302" name="Google Shape;302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03" name="Google Shape;30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6206" y="-54350"/>
            <a:ext cx="2157799" cy="23496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4" name="Google Shape;304;p35"/>
          <p:cNvGraphicFramePr/>
          <p:nvPr/>
        </p:nvGraphicFramePr>
        <p:xfrm>
          <a:off x="912925" y="164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{46609CAB-89FB-40AC-A3AE-F341C13748E9}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Source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Relation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Dst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File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Process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create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Process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File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Reg key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Process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delete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Process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File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Reg key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SLOT</a:t>
            </a:r>
            <a:endParaRPr/>
          </a:p>
        </p:txBody>
      </p:sp>
      <p:sp>
        <p:nvSpPr>
          <p:cNvPr id="310" name="Google Shape;31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11" name="Google Shape;31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3452" y="2078274"/>
            <a:ext cx="6357099" cy="201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ATLAS的欄位</a:t>
            </a:r>
            <a:endParaRPr/>
          </a:p>
        </p:txBody>
      </p:sp>
      <p:sp>
        <p:nvSpPr>
          <p:cNvPr id="317" name="Google Shape;317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18" name="Google Shape;31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1650" y="1868625"/>
            <a:ext cx="5600700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哪個文獻 or my way</a:t>
            </a:r>
            <a:endParaRPr/>
          </a:p>
        </p:txBody>
      </p:sp>
      <p:sp>
        <p:nvSpPr>
          <p:cNvPr id="325" name="Google Shape;325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26" name="Google Shape;32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5842" y="-8"/>
            <a:ext cx="1918149" cy="15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334" name="Google Shape;334;p39"/>
          <p:cNvGraphicFramePr/>
          <p:nvPr/>
        </p:nvGraphicFramePr>
        <p:xfrm>
          <a:off x="0" y="5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{BE408BC3-46C0-4A79-908E-16AD3117DF0A}</a:tableStyleId>
              </a:tblPr>
              <a:tblGrid>
                <a:gridCol w="1752600"/>
                <a:gridCol w="838200"/>
                <a:gridCol w="3267075"/>
                <a:gridCol w="1419225"/>
                <a:gridCol w="1762125"/>
              </a:tblGrid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方法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典型維度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核心特點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語意表示能力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適用場景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BERT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768 / 1024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基於 Transformer 的上下文相關 Embedding。同一個字在不同句子有不同向量。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極強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(捕捉深層上下文語意)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自然語言處理 (NLP)、問句回答、文本分類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Word2Vec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128 / 300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基於滑動視窗預測，產生的向量是靜態的（同一個字向量固定）。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強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(能捕捉詞彙間的相似性與類比關係)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基礎 NLP 任務、推薦系統特徵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Log2vec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(低維度)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針對系統日誌設計，通常結合異質圖 (Heterogeneous Graph) 或專門的詞嵌入。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專精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(捕捉日誌事件間的行為與因果關係)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網路安全監控、異常日誌檢測、APT 攻擊識別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TransR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64 - 128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知識圖譜嵌入。將實體映射到特定關係的空間中，解決 1-N 或 N-N 關係。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強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(專注於實體與複雜關係建模)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知識圖譜推理、推薦系統、關係預測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Word-representations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128 - 256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通用的詞表示技術，通常指較輕量或特定任務微調的詞嵌入。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中等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資源受限的 NLP 任務、特定領域的小型模型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Hierarchical Feature Hashing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128 (壓縮後)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透過雜湊函數 (Hashing Trick) 大幅減少維度，並利用層次結構 (Taxonomy) 保持分類關係。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一般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(側重於降維與效率)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大規模分類任務、特徵維度極高的線上學習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One-Hot Encoding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詞彙表大小 (V)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稀疏向量，每個類別獨立且互斥，維度隨類別數量線性增加。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無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(無法表達詞與詞之間的關係)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簡單分類、類別數量較少的標籤編碼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Problem of </a:t>
            </a:r>
            <a:r>
              <a:rPr lang="zh-TW"/>
              <a:t>Aggregation </a:t>
            </a:r>
            <a:endParaRPr/>
          </a:p>
        </p:txBody>
      </p:sp>
      <p:sp>
        <p:nvSpPr>
          <p:cNvPr id="340" name="Google Shape;340;p40"/>
          <p:cNvSpPr txBox="1"/>
          <p:nvPr>
            <p:ph idx="1" type="body"/>
          </p:nvPr>
        </p:nvSpPr>
        <p:spPr>
          <a:xfrm>
            <a:off x="311700" y="1152475"/>
            <a:ext cx="3667200" cy="3299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chemeClr val="dk1"/>
                </a:solidFill>
              </a:rPr>
              <a:t>這</a:t>
            </a:r>
            <a:r>
              <a:rPr lang="zh-TW" sz="1400">
                <a:solidFill>
                  <a:schemeClr val="dk1"/>
                </a:solidFill>
              </a:rPr>
              <a:t>欄是 Linux 系統中的 </a:t>
            </a:r>
            <a:r>
              <a:rPr b="1" lang="zh-TW" sz="1400">
                <a:solidFill>
                  <a:schemeClr val="dk1"/>
                </a:solidFill>
              </a:rPr>
              <a:t>動態連結器 (Dynamic Linker/Loader)</a:t>
            </a:r>
            <a:r>
              <a:rPr lang="zh-TW" sz="1400">
                <a:solidFill>
                  <a:schemeClr val="dk1"/>
                </a:solidFill>
              </a:rPr>
              <a:t>。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chemeClr val="dk1"/>
                </a:solidFill>
              </a:rPr>
              <a:t>任何程式或指令啟動時都會去呼叫 </a:t>
            </a:r>
            <a:r>
              <a:rPr lang="zh-TW" sz="1400">
                <a:solidFill>
                  <a:schemeClr val="dk1"/>
                </a:solidFill>
                <a:highlight>
                  <a:schemeClr val="lt2"/>
                </a:highlight>
              </a:rPr>
              <a:t>/lib64/ld-linux-x86-64.so.2</a:t>
            </a:r>
            <a:r>
              <a:rPr lang="zh-TW" sz="1400">
                <a:solidFill>
                  <a:schemeClr val="dk1"/>
                </a:solidFill>
              </a:rPr>
              <a:t> 來協助載入函式庫，又因為type=SYSCALL的record裡面已有紀錄本次指令是否成功執行，所以我想把這欄也拿掉。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zh-TW" sz="1400">
                <a:solidFill>
                  <a:schemeClr val="dk1"/>
                </a:solidFill>
              </a:rPr>
            </a:br>
            <a:r>
              <a:rPr lang="zh-TW" sz="1400">
                <a:solidFill>
                  <a:schemeClr val="dk1"/>
                </a:solidFill>
              </a:rPr>
              <a:t>這樣的話這個例子裡面就會完全缺失dst node，因為我們沒有攻擊者使用id -u獲取的任何資訊，因為id -u的輸出顯示在cmd視窗裡而且沒有存取任何檔案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341" name="Google Shape;34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42" name="Google Shape;34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4775" y="2044900"/>
            <a:ext cx="4676353" cy="831378"/>
          </a:xfrm>
          <a:prstGeom prst="rect">
            <a:avLst/>
          </a:prstGeom>
          <a:noFill/>
          <a:ln cap="flat" cmpd="sng" w="16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343" name="Google Shape;343;p40"/>
          <p:cNvCxnSpPr>
            <a:stCxn id="342" idx="1"/>
            <a:endCxn id="344" idx="1"/>
          </p:cNvCxnSpPr>
          <p:nvPr/>
        </p:nvCxnSpPr>
        <p:spPr>
          <a:xfrm>
            <a:off x="4344775" y="2460589"/>
            <a:ext cx="600" cy="840600"/>
          </a:xfrm>
          <a:prstGeom prst="bentConnector3">
            <a:avLst>
              <a:gd fmla="val -39689522" name="adj1"/>
            </a:avLst>
          </a:prstGeom>
          <a:noFill/>
          <a:ln cap="flat" cmpd="sng" w="165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44" name="Google Shape;344;p40" title="provenance_graph_fin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4754" y="2966383"/>
            <a:ext cx="4676396" cy="669662"/>
          </a:xfrm>
          <a:prstGeom prst="rect">
            <a:avLst/>
          </a:prstGeom>
          <a:noFill/>
          <a:ln cap="flat" cmpd="sng" w="16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5" name="Google Shape;345;p40"/>
          <p:cNvSpPr/>
          <p:nvPr/>
        </p:nvSpPr>
        <p:spPr>
          <a:xfrm>
            <a:off x="7533354" y="3099550"/>
            <a:ext cx="1464900" cy="393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6" name="Google Shape;346;p40"/>
          <p:cNvCxnSpPr>
            <a:stCxn id="345" idx="2"/>
          </p:cNvCxnSpPr>
          <p:nvPr/>
        </p:nvCxnSpPr>
        <p:spPr>
          <a:xfrm rot="5400000">
            <a:off x="5711154" y="1748500"/>
            <a:ext cx="810000" cy="4299300"/>
          </a:xfrm>
          <a:prstGeom prst="bentConnector2">
            <a:avLst/>
          </a:prstGeom>
          <a:noFill/>
          <a:ln cap="flat" cmpd="sng" w="165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Problem of Aggregation </a:t>
            </a:r>
            <a:endParaRPr/>
          </a:p>
        </p:txBody>
      </p:sp>
      <p:sp>
        <p:nvSpPr>
          <p:cNvPr id="352" name="Google Shape;352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53" name="Google Shape;35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525" y="1361453"/>
            <a:ext cx="8520601" cy="1514822"/>
          </a:xfrm>
          <a:prstGeom prst="rect">
            <a:avLst/>
          </a:prstGeom>
          <a:noFill/>
          <a:ln cap="flat" cmpd="sng" w="16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54" name="Google Shape;354;p41" title="provenance_graph_fin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2629" y="3362858"/>
            <a:ext cx="4676396" cy="669662"/>
          </a:xfrm>
          <a:prstGeom prst="rect">
            <a:avLst/>
          </a:prstGeom>
          <a:noFill/>
          <a:ln cap="flat" cmpd="sng" w="16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