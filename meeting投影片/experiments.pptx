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95F16F-FCBD-42E5-A64A-E56A90107102}">
  <a:tblStyle styleId="{C395F16F-FCBD-42E5-A64A-E56A9010710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9aca9343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9aca9343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baa78d229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baa78d229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baa78d229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baa78d229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baa78d229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baa78d229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72eed992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72eed992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zoomer也放進來 直接拿它表格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baa78d22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baa78d22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baa78d229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baa78d229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baa78d229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baa78d229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baa78d229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baa78d229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limit</a:t>
            </a:r>
            <a:r>
              <a:rPr lang="zh-TW"/>
              <a:t>是機器為單位(Multi-host + network)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label是人標的，跟一般的APT可能不太一樣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bec537b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bec537b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AirTag用的是自己錄的和Atlas和DEPIMPACT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baa78d229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baa78d229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AirTag用的是自己錄的和Atlas和DEPIMPACT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baa78d229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baa78d229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AirTag用的是自己錄的和Atlas和DEPIMPACT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9aca9343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9aca9343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9aca9343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9aca9343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zoomer</a:t>
            </a:r>
            <a:r>
              <a:rPr lang="zh-TW"/>
              <a:t>也放進來 直接拿它表格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b26ba0f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b26ba0f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9aca9343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9aca9343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aeee83d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aeee83d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17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Anomaly Detection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588" y="744150"/>
            <a:ext cx="4790824" cy="42406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3988" y="0"/>
            <a:ext cx="6029325" cy="1219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7" name="Google Shape;57;p13"/>
          <p:cNvSpPr txBox="1"/>
          <p:nvPr>
            <p:ph type="title"/>
          </p:nvPr>
        </p:nvSpPr>
        <p:spPr>
          <a:xfrm>
            <a:off x="10811525" y="1219200"/>
            <a:ext cx="26943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Unicorn</a:t>
            </a:r>
            <a:endParaRPr sz="1600"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53500" y="1839187"/>
            <a:ext cx="5410325" cy="2050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" name="Google Shape;59;p13"/>
          <p:cNvSpPr txBox="1"/>
          <p:nvPr>
            <p:ph type="title"/>
          </p:nvPr>
        </p:nvSpPr>
        <p:spPr>
          <a:xfrm>
            <a:off x="10811512" y="3957025"/>
            <a:ext cx="26943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KAIROS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17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Anomaly Detection - ThreaTrace</a:t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4500" y="744150"/>
            <a:ext cx="4135000" cy="45115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17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Anomaly Detection - ThreaTrace &amp; Flash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63" y="1376363"/>
            <a:ext cx="8829675" cy="23907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17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Anomaly Detection - MAGIC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1363" y="744150"/>
            <a:ext cx="6261274" cy="40945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118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Detection 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2588" y="691150"/>
            <a:ext cx="5598836" cy="41475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6088" y="152400"/>
            <a:ext cx="6531830" cy="4838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688" y="140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SAGA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 b="19535" l="0" r="0" t="61992"/>
          <a:stretch/>
        </p:blipFill>
        <p:spPr>
          <a:xfrm>
            <a:off x="120862" y="3406503"/>
            <a:ext cx="8902274" cy="1311296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212400" y="713050"/>
            <a:ext cx="4359600" cy="22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Train: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16900 abilities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Total Events: 7,949,998 events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Benign : 4,146,957 events (52.16%)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Malicious : 3,803,041 events (47.84%)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4572000" y="713050"/>
            <a:ext cx="4451100" cy="19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Test: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Known APT Campaigns C1~C8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SFM (C1,3,5,7,8)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688" y="140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Kellect4APT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212400" y="713050"/>
            <a:ext cx="4359600" cy="22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Train: (SAGA)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16900 abilities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Total Events: 7,949,998 events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Benign : 4,146,957 events (52.16%)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Malicious : 3,803,041 events (47.84%)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4572000" y="713050"/>
            <a:ext cx="4451100" cy="22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Test: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1 sample per TTP and cross-validation.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65 TTPs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414 samples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3">
            <a:alphaModFix/>
          </a:blip>
          <a:srcRect b="38291" l="0" r="0" t="42952"/>
          <a:stretch/>
        </p:blipFill>
        <p:spPr>
          <a:xfrm>
            <a:off x="423163" y="3685504"/>
            <a:ext cx="8297674" cy="1241021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/>
          <p:cNvPicPr preferRelativeResize="0"/>
          <p:nvPr/>
        </p:nvPicPr>
        <p:blipFill rotWithShape="1">
          <a:blip r:embed="rId3">
            <a:alphaModFix/>
          </a:blip>
          <a:srcRect b="0" l="0" r="0" t="80465"/>
          <a:stretch/>
        </p:blipFill>
        <p:spPr>
          <a:xfrm>
            <a:off x="357826" y="3473501"/>
            <a:ext cx="8428350" cy="1312926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212400" y="713050"/>
            <a:ext cx="4359600" cy="22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Train: (SAGA)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16900 abilities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Total Events: 7,949,998 events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Benign : 4,146,957 events (52.16%)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Malicious : 3,803,041 events (47.84%)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4572000" y="713050"/>
            <a:ext cx="4451100" cy="22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Test: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all campaigns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2" name="Google Shape;112;p21"/>
          <p:cNvSpPr txBox="1"/>
          <p:nvPr>
            <p:ph type="title"/>
          </p:nvPr>
        </p:nvSpPr>
        <p:spPr>
          <a:xfrm>
            <a:off x="311688" y="140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Casinolimit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/>
          <p:cNvPicPr preferRelativeResize="0"/>
          <p:nvPr/>
        </p:nvPicPr>
        <p:blipFill rotWithShape="1">
          <a:blip r:embed="rId3">
            <a:alphaModFix/>
          </a:blip>
          <a:srcRect b="73069" l="0" r="0" t="0"/>
          <a:stretch/>
        </p:blipFill>
        <p:spPr>
          <a:xfrm>
            <a:off x="-8228" y="3091578"/>
            <a:ext cx="9160453" cy="1833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140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Darpa E3 Datasets</a:t>
            </a:r>
            <a:endParaRPr/>
          </a:p>
        </p:txBody>
      </p:sp>
      <p:sp>
        <p:nvSpPr>
          <p:cNvPr id="119" name="Google Shape;119;p22"/>
          <p:cNvSpPr/>
          <p:nvPr/>
        </p:nvSpPr>
        <p:spPr>
          <a:xfrm>
            <a:off x="2976886" y="3914207"/>
            <a:ext cx="2024400" cy="328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" name="Google Shape;120;p22"/>
          <p:cNvCxnSpPr>
            <a:stCxn id="119" idx="1"/>
            <a:endCxn id="121" idx="2"/>
          </p:cNvCxnSpPr>
          <p:nvPr/>
        </p:nvCxnSpPr>
        <p:spPr>
          <a:xfrm rot="10800000">
            <a:off x="2291386" y="2948207"/>
            <a:ext cx="685500" cy="11301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248600" y="2620097"/>
            <a:ext cx="4085700" cy="328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Using generated data from Darpa E3</a:t>
            </a:r>
            <a:endParaRPr sz="1200">
              <a:solidFill>
                <a:schemeClr val="dk1"/>
              </a:solidFill>
            </a:endParaRPr>
          </a:p>
        </p:txBody>
      </p:sp>
      <p:graphicFrame>
        <p:nvGraphicFramePr>
          <p:cNvPr id="122" name="Google Shape;122;p22"/>
          <p:cNvGraphicFramePr/>
          <p:nvPr/>
        </p:nvGraphicFramePr>
        <p:xfrm>
          <a:off x="-12" y="67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{C395F16F-FCBD-42E5-A64A-E56A90107102}</a:tableStyleId>
              </a:tblPr>
              <a:tblGrid>
                <a:gridCol w="1630600"/>
                <a:gridCol w="2336050"/>
                <a:gridCol w="1676875"/>
                <a:gridCol w="3457800"/>
              </a:tblGrid>
              <a:tr h="631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Dataset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Training Dates</a:t>
                      </a:r>
                      <a:r>
                        <a:rPr b="1" lang="zh-TW" sz="1100"/>
                        <a:t>(僅選擇 APT 攻擊發起前的良性活動日期)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Validation Date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Test Dates </a:t>
                      </a:r>
                      <a:r>
                        <a:rPr b="1" i="1" lang="zh-TW" sz="1100"/>
                        <a:t>(mostly attack days)</a:t>
                      </a:r>
                      <a:br>
                        <a:rPr b="1" i="1" lang="zh-TW" sz="1100"/>
                      </a:br>
                      <a:r>
                        <a:rPr b="1" i="1" lang="zh-TW" sz="1100"/>
                        <a:t>(APT 攻擊活動發生的日期)</a:t>
                      </a:r>
                      <a:endParaRPr b="1" i="1" sz="1100"/>
                    </a:p>
                  </a:txBody>
                  <a:tcPr marT="91425" marB="91425" marR="91425" marL="91425"/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E3-THEIA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2018-04-03 / 04 / 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2018-04-09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2018-04-10 / 12</a:t>
                      </a:r>
                      <a:r>
                        <a:rPr lang="zh-TW" sz="1100"/>
                        <a:t>, 2018-04-11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E3-CADETS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2018-04-02 / 03 / 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2018-04-06</a:t>
                      </a:r>
                      <a:r>
                        <a:rPr lang="zh-TW" sz="1100"/>
                        <a:t>, 2018-04-07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E3-ClearScope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2018-04-04 / 05 / 06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2018-04-07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2018-04-10</a:t>
                      </a:r>
                      <a:r>
                        <a:rPr lang="zh-TW" sz="1100"/>
                        <a:t>, 2018-04-11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140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Darpa E3 Datasets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212400" y="713050"/>
            <a:ext cx="4359600" cy="22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Train: (SAGA)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16900 abilities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Total Events: 7,949,998 events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Benign : 4,146,957 events (52.16%)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Malicious : 3,803,041 events (47.84%)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4572000" y="713050"/>
            <a:ext cx="4451100" cy="22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Test: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0" name="Google Shape;130;p23"/>
          <p:cNvPicPr preferRelativeResize="0"/>
          <p:nvPr/>
        </p:nvPicPr>
        <p:blipFill rotWithShape="1">
          <a:blip r:embed="rId3">
            <a:alphaModFix/>
          </a:blip>
          <a:srcRect b="73069" l="0" r="0" t="0"/>
          <a:stretch/>
        </p:blipFill>
        <p:spPr>
          <a:xfrm>
            <a:off x="-8228" y="3310450"/>
            <a:ext cx="9160453" cy="1833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4"/>
          <p:cNvPicPr preferRelativeResize="0"/>
          <p:nvPr/>
        </p:nvPicPr>
        <p:blipFill rotWithShape="1">
          <a:blip r:embed="rId3">
            <a:alphaModFix/>
          </a:blip>
          <a:srcRect b="73069" l="0" r="0" t="0"/>
          <a:stretch/>
        </p:blipFill>
        <p:spPr>
          <a:xfrm>
            <a:off x="-8228" y="3091578"/>
            <a:ext cx="9160453" cy="1833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140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Darpa E3 Datasets</a:t>
            </a:r>
            <a:endParaRPr/>
          </a:p>
        </p:txBody>
      </p:sp>
      <p:sp>
        <p:nvSpPr>
          <p:cNvPr id="137" name="Google Shape;137;p24"/>
          <p:cNvSpPr/>
          <p:nvPr/>
        </p:nvSpPr>
        <p:spPr>
          <a:xfrm>
            <a:off x="2976886" y="3914207"/>
            <a:ext cx="2024400" cy="328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8" name="Google Shape;138;p24"/>
          <p:cNvCxnSpPr>
            <a:stCxn id="137" idx="1"/>
            <a:endCxn id="139" idx="2"/>
          </p:cNvCxnSpPr>
          <p:nvPr/>
        </p:nvCxnSpPr>
        <p:spPr>
          <a:xfrm rot="10800000">
            <a:off x="2272486" y="2762207"/>
            <a:ext cx="704400" cy="13161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229625" y="2189578"/>
            <a:ext cx="4085700" cy="57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Using generated data from Darpa E3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212400" y="713050"/>
            <a:ext cx="4359600" cy="22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Train: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僅選擇 APT 攻擊發起前的良性活動日期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400">
                <a:solidFill>
                  <a:schemeClr val="dk1"/>
                </a:solidFill>
              </a:rPr>
              <a:t>E3-THEIA 使用 2018-04-03 至 05 日的數據；E5-THEIA 使用 2019-05-08 與 09 日的數據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4572000" y="713050"/>
            <a:ext cx="4451100" cy="22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Test: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APT 攻擊活動發生的日期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E3-THEIA 使用 2018-04-10 至 12 日；E5-THEIA 使用 2019-05-14 與 15 日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15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Detection</a:t>
            </a:r>
            <a:endParaRPr/>
          </a:p>
        </p:txBody>
      </p:sp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199" y="880450"/>
            <a:ext cx="7285601" cy="3382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188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Detection with TREC &amp; Zoomer</a:t>
            </a:r>
            <a:endParaRPr/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1913" y="960175"/>
            <a:ext cx="4260168" cy="38209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293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Experiment using Kellect4APT</a:t>
            </a:r>
            <a:endParaRPr/>
          </a:p>
        </p:txBody>
      </p:sp>
      <p:pic>
        <p:nvPicPr>
          <p:cNvPr id="159" name="Google Shape;1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1323688"/>
            <a:ext cx="6705600" cy="1609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686" y="195987"/>
            <a:ext cx="3498625" cy="4751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limit</a:t>
            </a:r>
            <a:endParaRPr/>
          </a:p>
        </p:txBody>
      </p:sp>
      <p:pic>
        <p:nvPicPr>
          <p:cNvPr id="171" name="Google Shape;171;p29" title="sample_typ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525" y="1152476"/>
            <a:ext cx="7856099" cy="3871775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