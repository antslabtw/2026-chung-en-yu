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892D5A-4F3E-4443-A53A-FED035C8E480}">
  <a:tblStyle styleId="{A2892D5A-4F3E-4443-A53A-FED035C8E4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5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Mon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e6e15147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e6e15147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完整流程圖(得弄得很細) 456整合 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protorype encoder分層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Transformer和GT差在哪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Graph的來源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設計好幾個model，去比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16f31c16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16f31c16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13b606561_3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13b606561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可以試試看停用或啟用R3</a:t>
            </a:r>
            <a:br>
              <a:rPr b="1" lang="zh-TW">
                <a:solidFill>
                  <a:schemeClr val="dk1"/>
                </a:solidFill>
              </a:rPr>
            </a:br>
            <a:br>
              <a:rPr b="1" lang="zh-TW">
                <a:solidFill>
                  <a:schemeClr val="dk1"/>
                </a:solidFill>
              </a:rPr>
            </a:br>
            <a:r>
              <a:rPr b="1" lang="zh-TW">
                <a:solidFill>
                  <a:schemeClr val="dk1"/>
                </a:solidFill>
              </a:rPr>
              <a:t>系統角色</a:t>
            </a:r>
            <a:r>
              <a:rPr lang="zh-TW">
                <a:solidFill>
                  <a:schemeClr val="dk1"/>
                </a:solidFill>
              </a:rPr>
              <a:t>：Windows 行程知識庫 (Windows process knowledge base)。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核心任務</a:t>
            </a:r>
            <a:r>
              <a:rPr lang="zh-TW">
                <a:solidFill>
                  <a:schemeClr val="dk1"/>
                </a:solidFill>
              </a:rPr>
              <a:t>：接收 Windows 執行檔路徑（如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C:\Windows\System32\cmd.exe</a:t>
            </a:r>
            <a:r>
              <a:rPr lang="zh-TW">
                <a:solidFill>
                  <a:schemeClr val="dk1"/>
                </a:solidFill>
              </a:rPr>
              <a:t>），結合公開文獻知識與檔案路徑的系統含義，輸出描述該程式標準行為的 JSON。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四項強制規則 (Hard Rules)</a:t>
            </a:r>
            <a:r>
              <a:rPr lang="zh-TW">
                <a:solidFill>
                  <a:schemeClr val="dk1"/>
                </a:solidFill>
              </a:rPr>
              <a:t>：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TW">
                <a:solidFill>
                  <a:schemeClr val="dk1"/>
                </a:solidFill>
              </a:rPr>
              <a:t>事實陳述</a:t>
            </a:r>
            <a:r>
              <a:rPr lang="zh-TW">
                <a:solidFill>
                  <a:schemeClr val="dk1"/>
                </a:solidFill>
              </a:rPr>
              <a:t>：僅描述廣泛記錄的知識與實際功能，遇未知程式則描述為通用使用者模式應用程式，嚴禁捏造。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TW">
                <a:solidFill>
                  <a:schemeClr val="dk1"/>
                </a:solidFill>
              </a:rPr>
              <a:t>技術術語</a:t>
            </a:r>
            <a:r>
              <a:rPr lang="zh-TW">
                <a:solidFill>
                  <a:schemeClr val="dk1"/>
                </a:solidFill>
              </a:rPr>
              <a:t>：強制使用具體的技術詞彙（如「載入服務 DLL」、「直譯 .ps1 腳本」）。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TW">
                <a:solidFill>
                  <a:schemeClr val="dk1"/>
                </a:solidFill>
              </a:rPr>
              <a:t>絕對中立</a:t>
            </a:r>
            <a:r>
              <a:rPr lang="zh-TW">
                <a:solidFill>
                  <a:schemeClr val="dk1"/>
                </a:solidFill>
              </a:rPr>
              <a:t>：禁用任何主觀、猜測或資安屬性強烈的詞彙（嚴禁使用：suspicious, malicious, benign, attack, legitimate, might 等）。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TW">
                <a:solidFill>
                  <a:schemeClr val="dk1"/>
                </a:solidFill>
              </a:rPr>
              <a:t>純淨輸出</a:t>
            </a:r>
            <a:r>
              <a:rPr lang="zh-TW">
                <a:solidFill>
                  <a:schemeClr val="dk1"/>
                </a:solidFill>
              </a:rPr>
              <a:t>：必須輸出單一、有效的純 JSON 物件，嚴禁包含任何 Markdown 標記或說明文字。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274ca17f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274ca17f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bd342b923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bd342b92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完整流程圖(得弄得很細) 456整合 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protorype encoder分層 V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Transformer和GT插在哪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Graph的來源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設計好幾個model，去比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Graph-Self attention</a:t>
            </a:r>
            <a:r>
              <a:rPr lang="zh-TW">
                <a:solidFill>
                  <a:schemeClr val="dk1"/>
                </a:solidFill>
              </a:rPr>
              <a:t>讓每個節點只與其前後 K 個時間步的節點進行注意力運算，大幅降低了計算複雜度 $O(N^2) \rightarrow O(N \times K)$，並保留了時序距離的特徵 (</a:t>
            </a:r>
            <a:r>
              <a:rPr lang="zh-TW">
                <a:solidFill>
                  <a:srgbClr val="188038"/>
                </a:solidFill>
              </a:rPr>
              <a:t>edge_attr</a:t>
            </a:r>
            <a:r>
              <a:rPr lang="zh-TW">
                <a:solidFill>
                  <a:schemeClr val="dk1"/>
                </a:solidFill>
              </a:rPr>
              <a:t>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為每一個 TTP 類別宣告了一個專屬的可學習向量（長度為 256 維）。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座標會看資料：代表「執行 (Execution)」或「防禦規避 (Evasion)」的類別座標，會先去掃描這段日誌。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座標會微調位置：如果它發現這段日誌的上下文跟自己很搭，這個類別座標就會在 256 維空間中，微微向這段特徵「靠攏」，並吸收這段特徵的上下文資訊。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資料再找座標：最後，日誌特徵再去對照這些「已經針對當下情境微調過」的類別座標，決定自己的歸屬。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程式碼邏輯</a:t>
            </a:r>
            <a:r>
              <a:rPr lang="zh-TW">
                <a:solidFill>
                  <a:schemeClr val="dk1"/>
                </a:solidFill>
              </a:rPr>
              <a:t>：拿「日誌 (h1)」當 Query 去算跟所有「類別 (h3)」的相似度，然後把最像的那個「類別特徵 (h3)」當作 Value 抽出來，附加到日誌身上，變成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h1_enriched</a:t>
            </a:r>
            <a:r>
              <a:rPr lang="zh-TW">
                <a:solidFill>
                  <a:schemeClr val="dk1"/>
                </a:solidFill>
              </a:rPr>
              <a:t>，最後送進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self.classifier</a:t>
            </a:r>
            <a:r>
              <a:rPr lang="zh-TW">
                <a:solidFill>
                  <a:schemeClr val="dk1"/>
                </a:solidFill>
              </a:rPr>
              <a:t> 輸出 Logits。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crf_loss(為了順序) + w(為了讓CRF和Focal平衡) * focal_loss(為了長尾)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e39f54e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e39f54e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2350f55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2350f55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24aaf9d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24aaf9d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左右backborn要一樣 inference要用到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LLM加進去 multichunk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Graph-Self attention讓每個節點只與其前後 K 個時間步的節點進行注意力運算，大幅降低了計算複雜度 $O(N^2) \rightarrow O(N \times K)$，並保留了時序距離的特徵 (</a:t>
            </a:r>
            <a:r>
              <a:rPr lang="zh-TW">
                <a:solidFill>
                  <a:srgbClr val="188038"/>
                </a:solidFill>
              </a:rPr>
              <a:t>edge_attr</a:t>
            </a:r>
            <a:r>
              <a:rPr lang="zh-TW">
                <a:solidFill>
                  <a:schemeClr val="dk1"/>
                </a:solidFill>
              </a:rPr>
              <a:t>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為每一個 TTP 類別宣告了一個專屬的可學習向量（長度為 256 維）。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座標會看資料：代表「執行 (Execution)」或「防禦規避 (Evasion)」的類別座標，會先去掃描這段日誌。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座標會微調位置：如果它發現這段日誌的上下文跟自己很搭，這個類別座標就會在 256 維空間中，微微向這段特徵「靠攏」，並吸收這段特徵的上下文資訊。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資料再找座標：最後，日誌特徵再去對照這些「已經針對當下情境微調過」的類別座標，決定自己的歸屬。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程式碼邏輯</a:t>
            </a:r>
            <a:r>
              <a:rPr lang="zh-TW">
                <a:solidFill>
                  <a:schemeClr val="dk1"/>
                </a:solidFill>
              </a:rPr>
              <a:t>：拿「日誌 (h1)」當 Query 去算跟所有「類別 (h3)」的相似度，然後把最像的那個「類別特徵 (h3)」當作 Value 抽出來，附加到日誌身上，變成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h1_enriched</a:t>
            </a:r>
            <a:r>
              <a:rPr lang="zh-TW">
                <a:solidFill>
                  <a:schemeClr val="dk1"/>
                </a:solidFill>
              </a:rPr>
              <a:t>，最後送進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self.classifier</a:t>
            </a:r>
            <a:r>
              <a:rPr lang="zh-TW">
                <a:solidFill>
                  <a:schemeClr val="dk1"/>
                </a:solidFill>
              </a:rPr>
              <a:t> 輸出 Logits。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crf_loss(為了順序) + w(為了讓CRF和Focal平衡) * focal_loss(為了長尾)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bfd4e603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ebfd4e603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都是sub-technique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bfd4e603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ebfd4e603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bfd4e603a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ebfd4e603a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Split from Kairos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AirTag用的是自己錄的和Atlas和DEPIMPACT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24aaf9d8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f24aaf9d8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新增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調查PCA的eigen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LLM Description如何產生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Prototypes跟h1的差別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Multichunk改正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dataset的資訊更正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62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PCA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45550" y="922200"/>
            <a:ext cx="865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PCA選擇維度的依據是完全依賴變異數（Variance）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透過Eigen value的大小評估哪些維度的重要性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透過Eigen vector去分析每個維度的意義 (Securebert2.0的維度太抽象無法用此方法)</a:t>
            </a:r>
            <a:br>
              <a:rPr lang="zh-TW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可以透過 Elbow Method 在 Scree Plot 找出最適合的PCA維度，在考量效率與資訊豐富度的情下找到最適合的維度。(每次跑新的dataset都要重新評估，後續架構也要重新fine-tune)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025" y="2852196"/>
            <a:ext cx="3055400" cy="2204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85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LLM settings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165750" y="505050"/>
            <a:ext cx="8978400" cy="4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b="1" lang="zh-TW" sz="1360">
                <a:solidFill>
                  <a:schemeClr val="dk1"/>
                </a:solidFill>
              </a:rPr>
              <a:t>LMs</a:t>
            </a:r>
            <a:endParaRPr b="1" sz="136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Mistral-7B-Instruct-v0.3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Llama-3.1-8B-Instruct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Qwen2.5-7B-Instruct</a:t>
            </a:r>
            <a:endParaRPr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b="1" lang="zh-TW" sz="1360">
                <a:solidFill>
                  <a:schemeClr val="dk1"/>
                </a:solidFill>
              </a:rPr>
              <a:t>Prompt:</a:t>
            </a:r>
            <a:endParaRPr b="1" sz="136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TW" sz="1200">
                <a:solidFill>
                  <a:schemeClr val="dk1"/>
                </a:solidFill>
              </a:rPr>
              <a:t>You are a Windows process knowledge base. Given an image path of an executable (e.g. \"C:\\\\Windows\\\\System32\\\\cmd.exe", "C:\\\\Program Files\\\\Google\\\\Chrome\\\\Application\\\\chrome.exe",), output a JSON description of what that executable generally is in Windows.</a:t>
            </a:r>
            <a:endParaRPr sz="1200">
              <a:solidFill>
                <a:schemeClr val="dk1"/>
              </a:solidFill>
            </a:endParaRPr>
          </a:p>
          <a:p>
            <a:pPr indent="-30353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"/>
              <a:buChar char="○"/>
            </a:pPr>
            <a:r>
              <a:rPr lang="zh-TW" sz="1200">
                <a:solidFill>
                  <a:schemeClr val="dk1"/>
                </a:solidFill>
              </a:rPr>
              <a:t>Use only widely documented knowledge of the executable, plus what the filesystem location implies (e.g. "System32" = OS binary, "Program Files" = installed application, "AppData" = user-installed component). Use neutral, factual language describing what the program is and what it standardly does. For unknown \executables, describe them as generic user-mode applications without inventing details.</a:t>
            </a:r>
            <a:br>
              <a:rPr lang="zh-TW" sz="1180">
                <a:solidFill>
                  <a:schemeClr val="dk1"/>
                </a:solidFill>
              </a:rPr>
            </a:br>
            <a:endParaRPr sz="118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TW" sz="1200">
                <a:solidFill>
                  <a:schemeClr val="dk1"/>
                </a:solidFill>
              </a:rPr>
              <a:t>Hard rules: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TW" sz="1200">
                <a:solidFill>
                  <a:schemeClr val="dk1"/>
                </a:solidFill>
              </a:rPr>
              <a:t>R1  Use only documented background knowledge. State what the program   is and what it standardly does.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TW" sz="1200">
                <a:solidFill>
                  <a:schemeClr val="dk1"/>
                </a:solidFill>
              </a:rPr>
              <a:t>R2  Use concrete technical vocabulary (e.g. "loads service DLLs",    "renders web content", "interprets .ps1 scripts").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TW" sz="1200">
                <a:solidFill>
                  <a:schemeClr val="dk1"/>
                </a:solidFill>
              </a:rPr>
              <a:t>R3  Stay neutral and present-tense factual. Avoid the words   "suspicious", "malicious", "benign", "anomalous", "attack",    "legitimate", "might", "could", "may", "possibly".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TW" sz="1200">
                <a:solidFill>
                  <a:schemeClr val="dk1"/>
                </a:solidFill>
              </a:rPr>
              <a:t>R4  Output exactly ONE valid JSON object matching the schema. No markdown, no commentary, no text outside the JSON.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Transformer 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245125" y="1128375"/>
            <a:ext cx="8315100" cy="26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Graph Transformer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Attention: 只計算與自身有edge相連的鄰居節點(k-hop)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Positional Encoding:用edge的特徵和時間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Graph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每條Audit log都可以表示成 (Source Node,Relation,Destination Node)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Relation就是node之間的edge。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e.g. ( powershell.exe(</a:t>
            </a:r>
            <a:r>
              <a:rPr lang="zh-TW" sz="1600">
                <a:solidFill>
                  <a:schemeClr val="dk1"/>
                </a:solidFill>
              </a:rPr>
              <a:t>Process</a:t>
            </a:r>
            <a:r>
              <a:rPr lang="zh-TW" sz="1600">
                <a:solidFill>
                  <a:schemeClr val="dk1"/>
                </a:solidFill>
              </a:rPr>
              <a:t>), CreateFile, script.ps1(</a:t>
            </a:r>
            <a:r>
              <a:rPr lang="zh-TW" sz="1600">
                <a:solidFill>
                  <a:schemeClr val="dk1"/>
                </a:solidFill>
              </a:rPr>
              <a:t>File</a:t>
            </a:r>
            <a:r>
              <a:rPr lang="zh-TW" sz="1600">
                <a:solidFill>
                  <a:schemeClr val="dk1"/>
                </a:solidFill>
              </a:rPr>
              <a:t>) )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CreateFile就是這條event的edge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3365881" y="402669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h3</a:t>
            </a:r>
            <a:endParaRPr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33081" y="19019"/>
            <a:ext cx="424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Structure - TTP detection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253904" y="6512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974725" y="1274825"/>
            <a:ext cx="2626200" cy="2206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cxnSp>
        <p:nvCxnSpPr>
          <p:cNvPr id="88" name="Google Shape;88;p17"/>
          <p:cNvCxnSpPr>
            <a:stCxn id="89" idx="1"/>
            <a:endCxn id="90" idx="1"/>
          </p:cNvCxnSpPr>
          <p:nvPr/>
        </p:nvCxnSpPr>
        <p:spPr>
          <a:xfrm flipH="1">
            <a:off x="931675" y="2893825"/>
            <a:ext cx="177900" cy="1175100"/>
          </a:xfrm>
          <a:prstGeom prst="curvedConnector3">
            <a:avLst>
              <a:gd fmla="val 2339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1" name="Google Shape;91;p17"/>
          <p:cNvGrpSpPr/>
          <p:nvPr/>
        </p:nvGrpSpPr>
        <p:grpSpPr>
          <a:xfrm>
            <a:off x="5773125" y="1394875"/>
            <a:ext cx="3159300" cy="1778400"/>
            <a:chOff x="513899" y="3066238"/>
            <a:chExt cx="3159300" cy="1778400"/>
          </a:xfrm>
        </p:grpSpPr>
        <p:sp>
          <p:nvSpPr>
            <p:cNvPr id="92" name="Google Shape;92;p17"/>
            <p:cNvSpPr/>
            <p:nvPr/>
          </p:nvSpPr>
          <p:spPr>
            <a:xfrm>
              <a:off x="513899" y="3066238"/>
              <a:ext cx="3159300" cy="17784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Graph Transformer</a:t>
              </a:r>
              <a:endParaRPr/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732645" y="3382738"/>
              <a:ext cx="12984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Multi-head attention</a:t>
              </a: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770299" y="4147813"/>
              <a:ext cx="122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Residual + LayerNorm</a:t>
              </a: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2483723" y="3382738"/>
              <a:ext cx="791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FFN</a:t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2289624" y="4147813"/>
              <a:ext cx="11355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Residual + LayerNorm</a:t>
              </a:r>
              <a:endParaRPr/>
            </a:p>
          </p:txBody>
        </p:sp>
        <p:cxnSp>
          <p:nvCxnSpPr>
            <p:cNvPr id="97" name="Google Shape;97;p17"/>
            <p:cNvCxnSpPr>
              <a:stCxn id="93" idx="2"/>
              <a:endCxn id="94" idx="0"/>
            </p:cNvCxnSpPr>
            <p:nvPr/>
          </p:nvCxnSpPr>
          <p:spPr>
            <a:xfrm>
              <a:off x="1381845" y="3955438"/>
              <a:ext cx="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8" name="Google Shape;98;p17"/>
            <p:cNvCxnSpPr>
              <a:stCxn id="94" idx="3"/>
              <a:endCxn id="95" idx="1"/>
            </p:cNvCxnSpPr>
            <p:nvPr/>
          </p:nvCxnSpPr>
          <p:spPr>
            <a:xfrm flipH="1" rot="10800000">
              <a:off x="1993399" y="3669163"/>
              <a:ext cx="490200" cy="76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9" name="Google Shape;99;p17"/>
            <p:cNvCxnSpPr>
              <a:stCxn id="95" idx="2"/>
              <a:endCxn id="96" idx="0"/>
            </p:cNvCxnSpPr>
            <p:nvPr/>
          </p:nvCxnSpPr>
          <p:spPr>
            <a:xfrm flipH="1">
              <a:off x="2857373" y="3955438"/>
              <a:ext cx="2190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0" name="Google Shape;100;p17"/>
          <p:cNvSpPr/>
          <p:nvPr/>
        </p:nvSpPr>
        <p:spPr>
          <a:xfrm>
            <a:off x="1349425" y="17006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931575" y="38399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4064325" y="3839963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102" name="Google Shape;102;p17"/>
          <p:cNvCxnSpPr>
            <a:stCxn id="90" idx="3"/>
            <a:endCxn id="103" idx="1"/>
          </p:cNvCxnSpPr>
          <p:nvPr/>
        </p:nvCxnSpPr>
        <p:spPr>
          <a:xfrm>
            <a:off x="1722675" y="4069025"/>
            <a:ext cx="70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7"/>
          <p:cNvCxnSpPr>
            <a:stCxn id="101" idx="3"/>
            <a:endCxn id="105" idx="1"/>
          </p:cNvCxnSpPr>
          <p:nvPr/>
        </p:nvCxnSpPr>
        <p:spPr>
          <a:xfrm>
            <a:off x="4855425" y="4069013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7"/>
          <p:cNvSpPr/>
          <p:nvPr/>
        </p:nvSpPr>
        <p:spPr>
          <a:xfrm>
            <a:off x="5166900" y="3839975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cxnSp>
        <p:nvCxnSpPr>
          <p:cNvPr id="106" name="Google Shape;106;p17"/>
          <p:cNvCxnSpPr>
            <a:stCxn id="105" idx="3"/>
            <a:endCxn id="107" idx="1"/>
          </p:cNvCxnSpPr>
          <p:nvPr/>
        </p:nvCxnSpPr>
        <p:spPr>
          <a:xfrm>
            <a:off x="5958000" y="4069025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17"/>
          <p:cNvSpPr/>
          <p:nvPr/>
        </p:nvSpPr>
        <p:spPr>
          <a:xfrm>
            <a:off x="6269413" y="3839975"/>
            <a:ext cx="9276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Sigmoid</a:t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7508450" y="3839981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109" name="Google Shape;109;p17"/>
          <p:cNvCxnSpPr>
            <a:stCxn id="107" idx="3"/>
            <a:endCxn id="108" idx="1"/>
          </p:cNvCxnSpPr>
          <p:nvPr/>
        </p:nvCxnSpPr>
        <p:spPr>
          <a:xfrm>
            <a:off x="7197013" y="4069025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7"/>
          <p:cNvSpPr txBox="1"/>
          <p:nvPr/>
        </p:nvSpPr>
        <p:spPr>
          <a:xfrm>
            <a:off x="-167725" y="430572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</a:t>
            </a:r>
            <a:r>
              <a:rPr lang="zh-TW" sz="1600">
                <a:solidFill>
                  <a:schemeClr val="dk1"/>
                </a:solidFill>
              </a:rPr>
              <a:t>:</a:t>
            </a:r>
            <a:r>
              <a:rPr lang="zh-TW" sz="1600">
                <a:solidFill>
                  <a:schemeClr val="dk1"/>
                </a:solidFill>
              </a:rPr>
              <a:t>proto,</a:t>
            </a:r>
            <a:r>
              <a:rPr lang="zh-TW" sz="1600">
                <a:solidFill>
                  <a:schemeClr val="dk1"/>
                </a:solidFill>
              </a:rPr>
              <a:t> </a:t>
            </a:r>
            <a:r>
              <a:rPr lang="zh-TW" sz="1600">
                <a:solidFill>
                  <a:schemeClr val="dk1"/>
                </a:solidFill>
              </a:rPr>
              <a:t>K</a:t>
            </a:r>
            <a:r>
              <a:rPr lang="zh-TW" sz="1600">
                <a:solidFill>
                  <a:schemeClr val="dk1"/>
                </a:solidFill>
              </a:rPr>
              <a:t>:</a:t>
            </a:r>
            <a:r>
              <a:rPr lang="zh-TW" sz="1600">
                <a:solidFill>
                  <a:schemeClr val="dk1"/>
                </a:solidFill>
              </a:rPr>
              <a:t>h1,</a:t>
            </a:r>
            <a:r>
              <a:rPr lang="zh-TW" sz="1600">
                <a:solidFill>
                  <a:schemeClr val="dk1"/>
                </a:solidFill>
              </a:rPr>
              <a:t> </a:t>
            </a:r>
            <a:r>
              <a:rPr lang="zh-TW" sz="1600">
                <a:solidFill>
                  <a:schemeClr val="dk1"/>
                </a:solidFill>
              </a:rPr>
              <a:t>V</a:t>
            </a:r>
            <a:r>
              <a:rPr lang="zh-TW" sz="1600">
                <a:solidFill>
                  <a:schemeClr val="dk1"/>
                </a:solidFill>
              </a:rPr>
              <a:t>:</a:t>
            </a:r>
            <a:r>
              <a:rPr lang="zh-TW" sz="1600">
                <a:solidFill>
                  <a:schemeClr val="dk1"/>
                </a:solidFill>
              </a:rPr>
              <a:t>h1)</a:t>
            </a:r>
            <a:endParaRPr sz="1600"/>
          </a:p>
        </p:txBody>
      </p:sp>
      <p:sp>
        <p:nvSpPr>
          <p:cNvPr id="111" name="Google Shape;111;p17"/>
          <p:cNvSpPr txBox="1"/>
          <p:nvPr/>
        </p:nvSpPr>
        <p:spPr>
          <a:xfrm>
            <a:off x="4225900" y="2816250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112" name="Google Shape;11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3299800" y="2068537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2425050" y="3839973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114" name="Google Shape;114;p17"/>
          <p:cNvCxnSpPr>
            <a:stCxn id="103" idx="3"/>
            <a:endCxn id="101" idx="1"/>
          </p:cNvCxnSpPr>
          <p:nvPr/>
        </p:nvCxnSpPr>
        <p:spPr>
          <a:xfrm>
            <a:off x="3216150" y="4069023"/>
            <a:ext cx="84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7"/>
          <p:cNvSpPr txBox="1"/>
          <p:nvPr/>
        </p:nvSpPr>
        <p:spPr>
          <a:xfrm>
            <a:off x="1393050" y="464447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(Q:h2, K:h2, V:h2)</a:t>
            </a:r>
            <a:endParaRPr sz="1600"/>
          </a:p>
        </p:txBody>
      </p:sp>
      <p:sp>
        <p:nvSpPr>
          <p:cNvPr id="116" name="Google Shape;116;p17"/>
          <p:cNvSpPr txBox="1"/>
          <p:nvPr/>
        </p:nvSpPr>
        <p:spPr>
          <a:xfrm>
            <a:off x="1799505" y="402669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cxnSp>
        <p:nvCxnSpPr>
          <p:cNvPr id="117" name="Google Shape;117;p17"/>
          <p:cNvCxnSpPr>
            <a:stCxn id="90" idx="2"/>
            <a:endCxn id="110" idx="0"/>
          </p:cNvCxnSpPr>
          <p:nvPr/>
        </p:nvCxnSpPr>
        <p:spPr>
          <a:xfrm flipH="1">
            <a:off x="1259925" y="4298075"/>
            <a:ext cx="672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7"/>
          <p:cNvCxnSpPr>
            <a:stCxn id="103" idx="2"/>
            <a:endCxn id="115" idx="0"/>
          </p:cNvCxnSpPr>
          <p:nvPr/>
        </p:nvCxnSpPr>
        <p:spPr>
          <a:xfrm>
            <a:off x="2820600" y="4298073"/>
            <a:ext cx="0" cy="3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7"/>
          <p:cNvSpPr txBox="1"/>
          <p:nvPr/>
        </p:nvSpPr>
        <p:spPr>
          <a:xfrm>
            <a:off x="3578075" y="4644475"/>
            <a:ext cx="23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(Q:h1, K:h3, V:h3)</a:t>
            </a:r>
            <a:endParaRPr sz="1600"/>
          </a:p>
        </p:txBody>
      </p:sp>
      <p:cxnSp>
        <p:nvCxnSpPr>
          <p:cNvPr id="120" name="Google Shape;120;p17"/>
          <p:cNvCxnSpPr>
            <a:stCxn id="101" idx="2"/>
            <a:endCxn id="119" idx="0"/>
          </p:cNvCxnSpPr>
          <p:nvPr/>
        </p:nvCxnSpPr>
        <p:spPr>
          <a:xfrm>
            <a:off x="4459875" y="4298063"/>
            <a:ext cx="309300" cy="3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7"/>
          <p:cNvCxnSpPr>
            <a:stCxn id="113" idx="3"/>
            <a:endCxn id="101" idx="0"/>
          </p:cNvCxnSpPr>
          <p:nvPr/>
        </p:nvCxnSpPr>
        <p:spPr>
          <a:xfrm>
            <a:off x="3848500" y="2284087"/>
            <a:ext cx="611400" cy="1555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7"/>
          <p:cNvSpPr txBox="1"/>
          <p:nvPr/>
        </p:nvSpPr>
        <p:spPr>
          <a:xfrm>
            <a:off x="33075" y="3662562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</a:t>
            </a:r>
            <a:endParaRPr/>
          </a:p>
        </p:txBody>
      </p:sp>
      <p:cxnSp>
        <p:nvCxnSpPr>
          <p:cNvPr id="123" name="Google Shape;123;p17"/>
          <p:cNvCxnSpPr>
            <a:stCxn id="113" idx="3"/>
            <a:endCxn id="90" idx="0"/>
          </p:cNvCxnSpPr>
          <p:nvPr/>
        </p:nvCxnSpPr>
        <p:spPr>
          <a:xfrm flipH="1">
            <a:off x="1327000" y="2284087"/>
            <a:ext cx="2521500" cy="1555800"/>
          </a:xfrm>
          <a:prstGeom prst="curvedConnector4">
            <a:avLst>
              <a:gd fmla="val -11084" name="adj1"/>
              <a:gd fmla="val 8587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7"/>
          <p:cNvSpPr txBox="1"/>
          <p:nvPr/>
        </p:nvSpPr>
        <p:spPr>
          <a:xfrm>
            <a:off x="5960375" y="4603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/>
          </a:p>
        </p:txBody>
      </p:sp>
      <p:cxnSp>
        <p:nvCxnSpPr>
          <p:cNvPr id="125" name="Google Shape;125;p17"/>
          <p:cNvCxnSpPr/>
          <p:nvPr/>
        </p:nvCxnSpPr>
        <p:spPr>
          <a:xfrm>
            <a:off x="2287829" y="2158775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7"/>
          <p:cNvSpPr txBox="1"/>
          <p:nvPr/>
        </p:nvSpPr>
        <p:spPr>
          <a:xfrm>
            <a:off x="1229063" y="3553775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grpSp>
        <p:nvGrpSpPr>
          <p:cNvPr id="127" name="Google Shape;127;p17"/>
          <p:cNvGrpSpPr/>
          <p:nvPr/>
        </p:nvGrpSpPr>
        <p:grpSpPr>
          <a:xfrm>
            <a:off x="9729625" y="3662550"/>
            <a:ext cx="1761900" cy="615600"/>
            <a:chOff x="6591025" y="4184550"/>
            <a:chExt cx="1761900" cy="615600"/>
          </a:xfrm>
        </p:grpSpPr>
        <p:sp>
          <p:nvSpPr>
            <p:cNvPr id="128" name="Google Shape;128;p17"/>
            <p:cNvSpPr txBox="1"/>
            <p:nvPr/>
          </p:nvSpPr>
          <p:spPr>
            <a:xfrm>
              <a:off x="6591025" y="4184550"/>
              <a:ext cx="17619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Train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Inference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129" name="Google Shape;129;p17"/>
            <p:cNvCxnSpPr/>
            <p:nvPr/>
          </p:nvCxnSpPr>
          <p:spPr>
            <a:xfrm>
              <a:off x="7602450" y="438466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0" name="Google Shape;130;p17"/>
            <p:cNvCxnSpPr/>
            <p:nvPr/>
          </p:nvCxnSpPr>
          <p:spPr>
            <a:xfrm>
              <a:off x="7602450" y="460021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9" name="Google Shape;89;p17"/>
          <p:cNvSpPr/>
          <p:nvPr/>
        </p:nvSpPr>
        <p:spPr>
          <a:xfrm>
            <a:off x="1109575" y="2382925"/>
            <a:ext cx="2382300" cy="1021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PrototypeEncoder </a:t>
            </a:r>
            <a:endParaRPr/>
          </a:p>
        </p:txBody>
      </p:sp>
      <p:cxnSp>
        <p:nvCxnSpPr>
          <p:cNvPr id="131" name="Google Shape;131;p17"/>
          <p:cNvCxnSpPr>
            <a:stCxn id="86" idx="3"/>
            <a:endCxn id="132" idx="1"/>
          </p:cNvCxnSpPr>
          <p:nvPr/>
        </p:nvCxnSpPr>
        <p:spPr>
          <a:xfrm>
            <a:off x="1792004" y="880300"/>
            <a:ext cx="29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33" name="Google Shape;133;p17"/>
          <p:cNvGrpSpPr/>
          <p:nvPr/>
        </p:nvGrpSpPr>
        <p:grpSpPr>
          <a:xfrm>
            <a:off x="5672456" y="116150"/>
            <a:ext cx="3360646" cy="1151100"/>
            <a:chOff x="4666256" y="19025"/>
            <a:chExt cx="3360646" cy="1151100"/>
          </a:xfrm>
        </p:grpSpPr>
        <p:sp>
          <p:nvSpPr>
            <p:cNvPr id="134" name="Google Shape;134;p17"/>
            <p:cNvSpPr txBox="1"/>
            <p:nvPr/>
          </p:nvSpPr>
          <p:spPr>
            <a:xfrm>
              <a:off x="5877750" y="141951"/>
              <a:ext cx="171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Chunk1</a:t>
              </a:r>
              <a:br>
                <a:rPr lang="zh-TW">
                  <a:solidFill>
                    <a:schemeClr val="dk1"/>
                  </a:solidFill>
                </a:rPr>
              </a:br>
              <a:r>
                <a:rPr lang="zh-TW">
                  <a:solidFill>
                    <a:schemeClr val="dk1"/>
                  </a:solidFill>
                </a:rPr>
                <a:t>window:256</a:t>
              </a:r>
              <a:endParaRPr/>
            </a:p>
          </p:txBody>
        </p:sp>
        <p:grpSp>
          <p:nvGrpSpPr>
            <p:cNvPr id="135" name="Google Shape;135;p17"/>
            <p:cNvGrpSpPr/>
            <p:nvPr/>
          </p:nvGrpSpPr>
          <p:grpSpPr>
            <a:xfrm>
              <a:off x="4666256" y="19025"/>
              <a:ext cx="3360646" cy="1151100"/>
              <a:chOff x="6117013" y="141950"/>
              <a:chExt cx="3281881" cy="1151100"/>
            </a:xfrm>
          </p:grpSpPr>
          <p:grpSp>
            <p:nvGrpSpPr>
              <p:cNvPr id="136" name="Google Shape;136;p17"/>
              <p:cNvGrpSpPr/>
              <p:nvPr/>
            </p:nvGrpSpPr>
            <p:grpSpPr>
              <a:xfrm>
                <a:off x="6117013" y="141950"/>
                <a:ext cx="3281881" cy="1151100"/>
                <a:chOff x="513899" y="3066238"/>
                <a:chExt cx="3159300" cy="1151100"/>
              </a:xfrm>
            </p:grpSpPr>
            <p:sp>
              <p:nvSpPr>
                <p:cNvPr id="137" name="Google Shape;137;p17"/>
                <p:cNvSpPr/>
                <p:nvPr/>
              </p:nvSpPr>
              <p:spPr>
                <a:xfrm>
                  <a:off x="513899" y="3066238"/>
                  <a:ext cx="3159300" cy="1151100"/>
                </a:xfrm>
                <a:prstGeom prst="rect">
                  <a:avLst/>
                </a:prstGeom>
                <a:solidFill>
                  <a:srgbClr val="B6D7A8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Multi-Chunk Module</a:t>
                  </a:r>
                  <a:endParaRPr/>
                </a:p>
              </p:txBody>
            </p:sp>
            <p:sp>
              <p:nvSpPr>
                <p:cNvPr id="138" name="Google Shape;138;p17"/>
                <p:cNvSpPr/>
                <p:nvPr/>
              </p:nvSpPr>
              <p:spPr>
                <a:xfrm>
                  <a:off x="610652" y="3460938"/>
                  <a:ext cx="889200" cy="5727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Chunk1</a:t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scale:256</a:t>
                  </a:r>
                  <a:endParaRPr/>
                </a:p>
              </p:txBody>
            </p:sp>
          </p:grpSp>
          <p:sp>
            <p:nvSpPr>
              <p:cNvPr id="139" name="Google Shape;139;p17"/>
              <p:cNvSpPr/>
              <p:nvPr/>
            </p:nvSpPr>
            <p:spPr>
              <a:xfrm>
                <a:off x="73395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Chunk2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scale:64</a:t>
                </a:r>
                <a:endParaRPr/>
              </a:p>
            </p:txBody>
          </p:sp>
          <p:sp>
            <p:nvSpPr>
              <p:cNvPr id="140" name="Google Shape;140;p17"/>
              <p:cNvSpPr/>
              <p:nvPr/>
            </p:nvSpPr>
            <p:spPr>
              <a:xfrm>
                <a:off x="83661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</a:t>
                </a:r>
                <a:r>
                  <a:rPr lang="zh-TW"/>
                  <a:t>3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</a:t>
                </a:r>
                <a:r>
                  <a:rPr lang="zh-TW"/>
                  <a:t>16</a:t>
                </a:r>
                <a:endParaRPr/>
              </a:p>
            </p:txBody>
          </p:sp>
        </p:grpSp>
        <p:sp>
          <p:nvSpPr>
            <p:cNvPr id="141" name="Google Shape;141;p17"/>
            <p:cNvSpPr txBox="1"/>
            <p:nvPr/>
          </p:nvSpPr>
          <p:spPr>
            <a:xfrm>
              <a:off x="5536419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6589063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5729281" y="623875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6774650" y="621494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7"/>
          <p:cNvSpPr/>
          <p:nvPr/>
        </p:nvSpPr>
        <p:spPr>
          <a:xfrm>
            <a:off x="2087575" y="651250"/>
            <a:ext cx="1043400" cy="458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MCM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3400438" y="651250"/>
            <a:ext cx="10434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</a:t>
            </a:r>
            <a:endParaRPr/>
          </a:p>
        </p:txBody>
      </p:sp>
      <p:cxnSp>
        <p:nvCxnSpPr>
          <p:cNvPr id="146" name="Google Shape;146;p17"/>
          <p:cNvCxnSpPr>
            <a:stCxn id="132" idx="3"/>
            <a:endCxn id="145" idx="1"/>
          </p:cNvCxnSpPr>
          <p:nvPr/>
        </p:nvCxnSpPr>
        <p:spPr>
          <a:xfrm>
            <a:off x="3130975" y="880300"/>
            <a:ext cx="26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7"/>
          <p:cNvCxnSpPr>
            <a:stCxn id="145" idx="2"/>
            <a:endCxn id="100" idx="3"/>
          </p:cNvCxnSpPr>
          <p:nvPr/>
        </p:nvCxnSpPr>
        <p:spPr>
          <a:xfrm rot="5400000">
            <a:off x="3163888" y="1171600"/>
            <a:ext cx="820500" cy="696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7"/>
          <p:cNvSpPr txBox="1"/>
          <p:nvPr/>
        </p:nvSpPr>
        <p:spPr>
          <a:xfrm>
            <a:off x="1276850" y="2703844"/>
            <a:ext cx="1043400" cy="554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Transformer Encoder</a:t>
            </a:r>
            <a:endParaRPr sz="1200"/>
          </a:p>
        </p:txBody>
      </p:sp>
      <p:sp>
        <p:nvSpPr>
          <p:cNvPr id="149" name="Google Shape;149;p17"/>
          <p:cNvSpPr txBox="1"/>
          <p:nvPr/>
        </p:nvSpPr>
        <p:spPr>
          <a:xfrm>
            <a:off x="2493163" y="2795919"/>
            <a:ext cx="791100" cy="369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GELU </a:t>
            </a:r>
            <a:endParaRPr/>
          </a:p>
        </p:txBody>
      </p:sp>
      <p:cxnSp>
        <p:nvCxnSpPr>
          <p:cNvPr id="150" name="Google Shape;150;p17"/>
          <p:cNvCxnSpPr>
            <a:stCxn id="148" idx="3"/>
            <a:endCxn id="149" idx="1"/>
          </p:cNvCxnSpPr>
          <p:nvPr/>
        </p:nvCxnSpPr>
        <p:spPr>
          <a:xfrm flipH="1" rot="10800000">
            <a:off x="2320250" y="2980594"/>
            <a:ext cx="1728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17"/>
          <p:cNvSpPr txBox="1"/>
          <p:nvPr/>
        </p:nvSpPr>
        <p:spPr>
          <a:xfrm>
            <a:off x="1730169" y="3118469"/>
            <a:ext cx="22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(num_classes, d_model) 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/>
        </p:nvSpPr>
        <p:spPr>
          <a:xfrm>
            <a:off x="7796631" y="4770361"/>
            <a:ext cx="1213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Loss = crf_loss + w * focal_loss</a:t>
            </a:r>
            <a:endParaRPr sz="566"/>
          </a:p>
        </p:txBody>
      </p:sp>
      <p:sp>
        <p:nvSpPr>
          <p:cNvPr id="157" name="Google Shape;157;p18"/>
          <p:cNvSpPr/>
          <p:nvPr/>
        </p:nvSpPr>
        <p:spPr>
          <a:xfrm>
            <a:off x="5437275" y="2992875"/>
            <a:ext cx="3706800" cy="215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992925" y="1258998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159" name="Google Shape;159;p18"/>
          <p:cNvSpPr txBox="1"/>
          <p:nvPr>
            <p:ph type="title"/>
          </p:nvPr>
        </p:nvSpPr>
        <p:spPr>
          <a:xfrm>
            <a:off x="311700" y="7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1539779" y="8129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995725" y="1772750"/>
            <a:ext cx="2626200" cy="171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cxnSp>
        <p:nvCxnSpPr>
          <p:cNvPr id="162" name="Google Shape;162;p18"/>
          <p:cNvCxnSpPr>
            <a:stCxn id="160" idx="2"/>
          </p:cNvCxnSpPr>
          <p:nvPr/>
        </p:nvCxnSpPr>
        <p:spPr>
          <a:xfrm>
            <a:off x="2308829" y="1271050"/>
            <a:ext cx="2400" cy="18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18"/>
          <p:cNvCxnSpPr>
            <a:stCxn id="164" idx="2"/>
            <a:endCxn id="165" idx="1"/>
          </p:cNvCxnSpPr>
          <p:nvPr/>
        </p:nvCxnSpPr>
        <p:spPr>
          <a:xfrm rot="-5400000">
            <a:off x="3010600" y="1714525"/>
            <a:ext cx="838500" cy="2284200"/>
          </a:xfrm>
          <a:prstGeom prst="curvedConnector4">
            <a:avLst>
              <a:gd fmla="val -28399" name="adj1"/>
              <a:gd fmla="val 7054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18"/>
          <p:cNvSpPr/>
          <p:nvPr/>
        </p:nvSpPr>
        <p:spPr>
          <a:xfrm>
            <a:off x="1349425" y="211302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4572000" y="22082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167" name="Google Shape;167;p18"/>
          <p:cNvCxnSpPr>
            <a:stCxn id="165" idx="3"/>
            <a:endCxn id="168" idx="1"/>
          </p:cNvCxnSpPr>
          <p:nvPr/>
        </p:nvCxnSpPr>
        <p:spPr>
          <a:xfrm>
            <a:off x="5363100" y="2437325"/>
            <a:ext cx="6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18"/>
          <p:cNvSpPr txBox="1"/>
          <p:nvPr/>
        </p:nvSpPr>
        <p:spPr>
          <a:xfrm>
            <a:off x="2927550" y="248087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414555" y="1844858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211600" y="4175250"/>
            <a:ext cx="425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proto:</a:t>
            </a:r>
            <a:r>
              <a:rPr lang="zh-TW" sz="1600">
                <a:solidFill>
                  <a:schemeClr val="dk1"/>
                </a:solidFill>
              </a:rPr>
              <a:t>使用h1學習並映射在256維的標籤座標</a:t>
            </a:r>
            <a:endParaRPr sz="1600"/>
          </a:p>
        </p:txBody>
      </p:sp>
      <p:cxnSp>
        <p:nvCxnSpPr>
          <p:cNvPr id="172" name="Google Shape;172;p18"/>
          <p:cNvCxnSpPr>
            <a:stCxn id="169" idx="3"/>
            <a:endCxn id="165" idx="0"/>
          </p:cNvCxnSpPr>
          <p:nvPr/>
        </p:nvCxnSpPr>
        <p:spPr>
          <a:xfrm flipH="1" rot="10800000">
            <a:off x="3476250" y="2208325"/>
            <a:ext cx="1491300" cy="488100"/>
          </a:xfrm>
          <a:prstGeom prst="curvedConnector4">
            <a:avLst>
              <a:gd fmla="val 36738" name="adj1"/>
              <a:gd fmla="val 14879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2287829" y="2571125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p18"/>
          <p:cNvSpPr/>
          <p:nvPr/>
        </p:nvSpPr>
        <p:spPr>
          <a:xfrm>
            <a:off x="1349350" y="28177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PrototypeEncoder 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6014700" y="2208286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6805800" y="2437325"/>
            <a:ext cx="6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18"/>
          <p:cNvSpPr txBox="1"/>
          <p:nvPr/>
        </p:nvSpPr>
        <p:spPr>
          <a:xfrm>
            <a:off x="7457400" y="2237225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211600" y="3744150"/>
            <a:ext cx="425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h1:</a:t>
            </a:r>
            <a:r>
              <a:rPr lang="zh-TW" sz="1600">
                <a:solidFill>
                  <a:schemeClr val="dk1"/>
                </a:solidFill>
              </a:rPr>
              <a:t>用audit log 做self-attention產出的特徵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3345075" y="3313044"/>
            <a:ext cx="6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proto</a:t>
            </a:r>
            <a:endParaRPr sz="1600"/>
          </a:p>
        </p:txBody>
      </p:sp>
      <p:sp>
        <p:nvSpPr>
          <p:cNvPr id="179" name="Google Shape;179;p18"/>
          <p:cNvSpPr txBox="1"/>
          <p:nvPr/>
        </p:nvSpPr>
        <p:spPr>
          <a:xfrm>
            <a:off x="3345075" y="561675"/>
            <a:ext cx="206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(Q:proto, K:h1, V:h1)</a:t>
            </a:r>
            <a:endParaRPr sz="1600"/>
          </a:p>
        </p:txBody>
      </p:sp>
      <p:sp>
        <p:nvSpPr>
          <p:cNvPr id="180" name="Google Shape;180;p18"/>
          <p:cNvSpPr txBox="1"/>
          <p:nvPr/>
        </p:nvSpPr>
        <p:spPr>
          <a:xfrm>
            <a:off x="2617825" y="1346713"/>
            <a:ext cx="17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dim:528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-359025" y="2356188"/>
            <a:ext cx="17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dim:528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-359025" y="3227963"/>
            <a:ext cx="17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dim:256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4797750" y="1413738"/>
            <a:ext cx="17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dim:528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631600" y="438675"/>
            <a:ext cx="310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把proto當作Q的用意是為了分辨不同TTP但h1相似的embedding</a:t>
            </a:r>
            <a:endParaRPr/>
          </a:p>
        </p:txBody>
      </p:sp>
      <p:cxnSp>
        <p:nvCxnSpPr>
          <p:cNvPr id="185" name="Google Shape;185;p18"/>
          <p:cNvCxnSpPr>
            <a:stCxn id="179" idx="3"/>
            <a:endCxn id="184" idx="1"/>
          </p:cNvCxnSpPr>
          <p:nvPr/>
        </p:nvCxnSpPr>
        <p:spPr>
          <a:xfrm>
            <a:off x="5414475" y="777225"/>
            <a:ext cx="21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18"/>
          <p:cNvCxnSpPr/>
          <p:nvPr/>
        </p:nvCxnSpPr>
        <p:spPr>
          <a:xfrm>
            <a:off x="2308829" y="1591850"/>
            <a:ext cx="2400" cy="18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18"/>
          <p:cNvSpPr txBox="1"/>
          <p:nvPr/>
        </p:nvSpPr>
        <p:spPr>
          <a:xfrm>
            <a:off x="6723917" y="4666564"/>
            <a:ext cx="22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h3</a:t>
            </a:r>
            <a:endParaRPr sz="566"/>
          </a:p>
        </p:txBody>
      </p:sp>
      <p:sp>
        <p:nvSpPr>
          <p:cNvPr id="188" name="Google Shape;188;p18"/>
          <p:cNvSpPr txBox="1"/>
          <p:nvPr>
            <p:ph type="title"/>
          </p:nvPr>
        </p:nvSpPr>
        <p:spPr>
          <a:xfrm>
            <a:off x="5442105" y="3029800"/>
            <a:ext cx="1718400" cy="231600"/>
          </a:xfrm>
          <a:prstGeom prst="rect">
            <a:avLst/>
          </a:prstGeom>
        </p:spPr>
        <p:txBody>
          <a:bodyPr anchorCtr="0" anchor="t" bIns="37000" lIns="37000" spcFirstLastPara="1" rIns="37000" wrap="square" tIns="37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33"/>
              <a:t>Structure - TTP detection</a:t>
            </a:r>
            <a:endParaRPr sz="1133"/>
          </a:p>
        </p:txBody>
      </p:sp>
      <p:sp>
        <p:nvSpPr>
          <p:cNvPr id="189" name="Google Shape;189;p18"/>
          <p:cNvSpPr/>
          <p:nvPr/>
        </p:nvSpPr>
        <p:spPr>
          <a:xfrm>
            <a:off x="5531445" y="3285587"/>
            <a:ext cx="622200" cy="185400"/>
          </a:xfrm>
          <a:prstGeom prst="rect">
            <a:avLst/>
          </a:prstGeom>
          <a:solidFill>
            <a:srgbClr val="FFE599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TTP embedding</a:t>
            </a:r>
            <a:endParaRPr sz="566"/>
          </a:p>
        </p:txBody>
      </p:sp>
      <p:sp>
        <p:nvSpPr>
          <p:cNvPr id="190" name="Google Shape;190;p18"/>
          <p:cNvSpPr/>
          <p:nvPr/>
        </p:nvSpPr>
        <p:spPr>
          <a:xfrm>
            <a:off x="5831570" y="3572494"/>
            <a:ext cx="1062600" cy="692100"/>
          </a:xfrm>
          <a:prstGeom prst="rect">
            <a:avLst/>
          </a:prstGeom>
          <a:solidFill>
            <a:srgbClr val="C9DAF8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Prototype Encoder</a:t>
            </a:r>
            <a:endParaRPr sz="566"/>
          </a:p>
        </p:txBody>
      </p:sp>
      <p:cxnSp>
        <p:nvCxnSpPr>
          <p:cNvPr id="191" name="Google Shape;191;p18"/>
          <p:cNvCxnSpPr>
            <a:stCxn id="192" idx="2"/>
            <a:endCxn id="193" idx="1"/>
          </p:cNvCxnSpPr>
          <p:nvPr/>
        </p:nvCxnSpPr>
        <p:spPr>
          <a:xfrm rot="5400000">
            <a:off x="5874589" y="4103289"/>
            <a:ext cx="402300" cy="557100"/>
          </a:xfrm>
          <a:prstGeom prst="curvedConnector4">
            <a:avLst>
              <a:gd fmla="val 38477" name="adj1"/>
              <a:gd fmla="val 117304" name="adj2"/>
            </a:avLst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94" name="Google Shape;194;p18"/>
          <p:cNvGrpSpPr/>
          <p:nvPr/>
        </p:nvGrpSpPr>
        <p:grpSpPr>
          <a:xfrm>
            <a:off x="7798645" y="3586472"/>
            <a:ext cx="1278253" cy="719541"/>
            <a:chOff x="5857450" y="1394875"/>
            <a:chExt cx="3159300" cy="1778400"/>
          </a:xfrm>
        </p:grpSpPr>
        <p:sp>
          <p:nvSpPr>
            <p:cNvPr id="195" name="Google Shape;195;p18"/>
            <p:cNvSpPr/>
            <p:nvPr/>
          </p:nvSpPr>
          <p:spPr>
            <a:xfrm>
              <a:off x="5857450" y="1394875"/>
              <a:ext cx="3159300" cy="1778400"/>
            </a:xfrm>
            <a:prstGeom prst="rect">
              <a:avLst/>
            </a:prstGeom>
            <a:solidFill>
              <a:srgbClr val="FCE5CD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Graph Transformer</a:t>
              </a:r>
              <a:endParaRPr sz="566"/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6076196" y="1711375"/>
              <a:ext cx="12984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Multi-head attention</a:t>
              </a:r>
              <a:endParaRPr sz="566"/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6113850" y="2476450"/>
              <a:ext cx="12231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Residual + LayerNorm</a:t>
              </a:r>
              <a:endParaRPr sz="566"/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7827274" y="1711375"/>
              <a:ext cx="7911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FFN</a:t>
              </a:r>
              <a:endParaRPr sz="566"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7633175" y="2476450"/>
              <a:ext cx="11355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Residual + LayerNorm</a:t>
              </a:r>
              <a:endParaRPr sz="566"/>
            </a:p>
          </p:txBody>
        </p:sp>
        <p:cxnSp>
          <p:nvCxnSpPr>
            <p:cNvPr id="200" name="Google Shape;200;p18"/>
            <p:cNvCxnSpPr>
              <a:stCxn id="196" idx="2"/>
              <a:endCxn id="197" idx="0"/>
            </p:cNvCxnSpPr>
            <p:nvPr/>
          </p:nvCxnSpPr>
          <p:spPr>
            <a:xfrm>
              <a:off x="6725396" y="2284075"/>
              <a:ext cx="0" cy="192300"/>
            </a:xfrm>
            <a:prstGeom prst="straightConnector1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1" name="Google Shape;201;p18"/>
            <p:cNvCxnSpPr>
              <a:stCxn id="197" idx="3"/>
              <a:endCxn id="198" idx="1"/>
            </p:cNvCxnSpPr>
            <p:nvPr/>
          </p:nvCxnSpPr>
          <p:spPr>
            <a:xfrm flipH="1" rot="10800000">
              <a:off x="7336950" y="1997800"/>
              <a:ext cx="490200" cy="765000"/>
            </a:xfrm>
            <a:prstGeom prst="straightConnector1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2" name="Google Shape;202;p18"/>
            <p:cNvCxnSpPr>
              <a:stCxn id="198" idx="2"/>
              <a:endCxn id="199" idx="0"/>
            </p:cNvCxnSpPr>
            <p:nvPr/>
          </p:nvCxnSpPr>
          <p:spPr>
            <a:xfrm flipH="1">
              <a:off x="8200924" y="2284075"/>
              <a:ext cx="21900" cy="192300"/>
            </a:xfrm>
            <a:prstGeom prst="straightConnector1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3" name="Google Shape;203;p18"/>
          <p:cNvSpPr/>
          <p:nvPr/>
        </p:nvSpPr>
        <p:spPr>
          <a:xfrm>
            <a:off x="5974670" y="3710162"/>
            <a:ext cx="759300" cy="185400"/>
          </a:xfrm>
          <a:prstGeom prst="rect">
            <a:avLst/>
          </a:prstGeom>
          <a:solidFill>
            <a:srgbClr val="EFEFEF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Graph Self-Attention</a:t>
            </a:r>
            <a:endParaRPr sz="566"/>
          </a:p>
        </p:txBody>
      </p:sp>
      <p:sp>
        <p:nvSpPr>
          <p:cNvPr id="193" name="Google Shape;193;p18"/>
          <p:cNvSpPr/>
          <p:nvPr/>
        </p:nvSpPr>
        <p:spPr>
          <a:xfrm>
            <a:off x="5797272" y="4490251"/>
            <a:ext cx="320100" cy="185400"/>
          </a:xfrm>
          <a:prstGeom prst="rect">
            <a:avLst/>
          </a:prstGeom>
          <a:solidFill>
            <a:srgbClr val="FCE5CD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GT</a:t>
            </a:r>
            <a:endParaRPr sz="566"/>
          </a:p>
        </p:txBody>
      </p:sp>
      <p:sp>
        <p:nvSpPr>
          <p:cNvPr id="204" name="Google Shape;204;p18"/>
          <p:cNvSpPr/>
          <p:nvPr/>
        </p:nvSpPr>
        <p:spPr>
          <a:xfrm>
            <a:off x="7073062" y="4490913"/>
            <a:ext cx="320100" cy="185400"/>
          </a:xfrm>
          <a:prstGeom prst="rect">
            <a:avLst/>
          </a:prstGeom>
          <a:solidFill>
            <a:srgbClr val="FCE5CD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GT</a:t>
            </a:r>
            <a:endParaRPr sz="566"/>
          </a:p>
        </p:txBody>
      </p:sp>
      <p:cxnSp>
        <p:nvCxnSpPr>
          <p:cNvPr id="205" name="Google Shape;205;p18"/>
          <p:cNvCxnSpPr>
            <a:stCxn id="193" idx="3"/>
            <a:endCxn id="206" idx="1"/>
          </p:cNvCxnSpPr>
          <p:nvPr/>
        </p:nvCxnSpPr>
        <p:spPr>
          <a:xfrm>
            <a:off x="6117372" y="4582951"/>
            <a:ext cx="2925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18"/>
          <p:cNvCxnSpPr>
            <a:stCxn id="204" idx="3"/>
            <a:endCxn id="208" idx="1"/>
          </p:cNvCxnSpPr>
          <p:nvPr/>
        </p:nvCxnSpPr>
        <p:spPr>
          <a:xfrm>
            <a:off x="7393162" y="4583613"/>
            <a:ext cx="1260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18"/>
          <p:cNvSpPr/>
          <p:nvPr/>
        </p:nvSpPr>
        <p:spPr>
          <a:xfrm>
            <a:off x="7519181" y="4490918"/>
            <a:ext cx="3201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Linear</a:t>
            </a:r>
            <a:endParaRPr sz="566"/>
          </a:p>
        </p:txBody>
      </p:sp>
      <p:cxnSp>
        <p:nvCxnSpPr>
          <p:cNvPr id="209" name="Google Shape;209;p18"/>
          <p:cNvCxnSpPr>
            <a:stCxn id="208" idx="3"/>
            <a:endCxn id="210" idx="1"/>
          </p:cNvCxnSpPr>
          <p:nvPr/>
        </p:nvCxnSpPr>
        <p:spPr>
          <a:xfrm>
            <a:off x="7839281" y="4583618"/>
            <a:ext cx="1260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18"/>
          <p:cNvSpPr/>
          <p:nvPr/>
        </p:nvSpPr>
        <p:spPr>
          <a:xfrm>
            <a:off x="7965214" y="4490918"/>
            <a:ext cx="3753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Sigmoid</a:t>
            </a:r>
            <a:endParaRPr sz="566"/>
          </a:p>
        </p:txBody>
      </p:sp>
      <p:sp>
        <p:nvSpPr>
          <p:cNvPr id="211" name="Google Shape;211;p18"/>
          <p:cNvSpPr/>
          <p:nvPr/>
        </p:nvSpPr>
        <p:spPr>
          <a:xfrm>
            <a:off x="8466483" y="4490941"/>
            <a:ext cx="5952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Predicted label</a:t>
            </a:r>
            <a:endParaRPr sz="566"/>
          </a:p>
        </p:txBody>
      </p:sp>
      <p:cxnSp>
        <p:nvCxnSpPr>
          <p:cNvPr id="212" name="Google Shape;212;p18"/>
          <p:cNvCxnSpPr>
            <a:stCxn id="210" idx="3"/>
            <a:endCxn id="211" idx="1"/>
          </p:cNvCxnSpPr>
          <p:nvPr/>
        </p:nvCxnSpPr>
        <p:spPr>
          <a:xfrm>
            <a:off x="8340514" y="4583618"/>
            <a:ext cx="1260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18"/>
          <p:cNvSpPr txBox="1"/>
          <p:nvPr/>
        </p:nvSpPr>
        <p:spPr>
          <a:xfrm>
            <a:off x="5360863" y="4764110"/>
            <a:ext cx="1155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(Q:proto, K:h1, V:h1)</a:t>
            </a:r>
            <a:endParaRPr sz="647"/>
          </a:p>
        </p:txBody>
      </p:sp>
      <p:sp>
        <p:nvSpPr>
          <p:cNvPr id="214" name="Google Shape;214;p18"/>
          <p:cNvSpPr txBox="1"/>
          <p:nvPr/>
        </p:nvSpPr>
        <p:spPr>
          <a:xfrm>
            <a:off x="7138432" y="4161500"/>
            <a:ext cx="255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h1</a:t>
            </a:r>
            <a:endParaRPr sz="566"/>
          </a:p>
        </p:txBody>
      </p:sp>
      <p:sp>
        <p:nvSpPr>
          <p:cNvPr id="215" name="Google Shape;215;p18"/>
          <p:cNvSpPr txBox="1"/>
          <p:nvPr/>
        </p:nvSpPr>
        <p:spPr>
          <a:xfrm>
            <a:off x="6613146" y="3858987"/>
            <a:ext cx="22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h1</a:t>
            </a:r>
            <a:endParaRPr sz="566"/>
          </a:p>
        </p:txBody>
      </p:sp>
      <p:sp>
        <p:nvSpPr>
          <p:cNvPr id="206" name="Google Shape;206;p18"/>
          <p:cNvSpPr/>
          <p:nvPr/>
        </p:nvSpPr>
        <p:spPr>
          <a:xfrm>
            <a:off x="6409845" y="4490260"/>
            <a:ext cx="320100" cy="185400"/>
          </a:xfrm>
          <a:prstGeom prst="rect">
            <a:avLst/>
          </a:prstGeom>
          <a:solidFill>
            <a:srgbClr val="FCE5CD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GT</a:t>
            </a:r>
            <a:endParaRPr sz="566"/>
          </a:p>
        </p:txBody>
      </p:sp>
      <p:cxnSp>
        <p:nvCxnSpPr>
          <p:cNvPr id="216" name="Google Shape;216;p18"/>
          <p:cNvCxnSpPr>
            <a:stCxn id="206" idx="3"/>
            <a:endCxn id="204" idx="1"/>
          </p:cNvCxnSpPr>
          <p:nvPr/>
        </p:nvCxnSpPr>
        <p:spPr>
          <a:xfrm>
            <a:off x="6729945" y="4582960"/>
            <a:ext cx="343200" cy="6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18"/>
          <p:cNvSpPr txBox="1"/>
          <p:nvPr/>
        </p:nvSpPr>
        <p:spPr>
          <a:xfrm>
            <a:off x="5992320" y="4901161"/>
            <a:ext cx="1155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(Q:h2, K:h2, V:h2)</a:t>
            </a:r>
            <a:endParaRPr sz="647"/>
          </a:p>
        </p:txBody>
      </p:sp>
      <p:sp>
        <p:nvSpPr>
          <p:cNvPr id="218" name="Google Shape;218;p18"/>
          <p:cNvSpPr txBox="1"/>
          <p:nvPr/>
        </p:nvSpPr>
        <p:spPr>
          <a:xfrm>
            <a:off x="6165740" y="4385165"/>
            <a:ext cx="22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h2</a:t>
            </a:r>
            <a:endParaRPr sz="566"/>
          </a:p>
        </p:txBody>
      </p:sp>
      <p:cxnSp>
        <p:nvCxnSpPr>
          <p:cNvPr id="219" name="Google Shape;219;p18"/>
          <p:cNvCxnSpPr>
            <a:stCxn id="193" idx="2"/>
            <a:endCxn id="213" idx="0"/>
          </p:cNvCxnSpPr>
          <p:nvPr/>
        </p:nvCxnSpPr>
        <p:spPr>
          <a:xfrm flipH="1">
            <a:off x="5938422" y="4675651"/>
            <a:ext cx="18900" cy="885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8"/>
          <p:cNvCxnSpPr>
            <a:stCxn id="206" idx="2"/>
            <a:endCxn id="217" idx="0"/>
          </p:cNvCxnSpPr>
          <p:nvPr/>
        </p:nvCxnSpPr>
        <p:spPr>
          <a:xfrm>
            <a:off x="6569895" y="4675660"/>
            <a:ext cx="0" cy="2256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18"/>
          <p:cNvSpPr txBox="1"/>
          <p:nvPr/>
        </p:nvSpPr>
        <p:spPr>
          <a:xfrm>
            <a:off x="6876335" y="4901161"/>
            <a:ext cx="9639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(Q:h1, K:h3, V:h3)</a:t>
            </a:r>
            <a:endParaRPr sz="647"/>
          </a:p>
        </p:txBody>
      </p:sp>
      <p:cxnSp>
        <p:nvCxnSpPr>
          <p:cNvPr id="222" name="Google Shape;222;p18"/>
          <p:cNvCxnSpPr>
            <a:stCxn id="204" idx="2"/>
            <a:endCxn id="221" idx="0"/>
          </p:cNvCxnSpPr>
          <p:nvPr/>
        </p:nvCxnSpPr>
        <p:spPr>
          <a:xfrm>
            <a:off x="7233112" y="4676313"/>
            <a:ext cx="125100" cy="2247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18"/>
          <p:cNvCxnSpPr>
            <a:stCxn id="215" idx="3"/>
            <a:endCxn id="204" idx="0"/>
          </p:cNvCxnSpPr>
          <p:nvPr/>
        </p:nvCxnSpPr>
        <p:spPr>
          <a:xfrm>
            <a:off x="6835146" y="3946137"/>
            <a:ext cx="398100" cy="544800"/>
          </a:xfrm>
          <a:prstGeom prst="curvedConnector2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18"/>
          <p:cNvSpPr txBox="1"/>
          <p:nvPr/>
        </p:nvSpPr>
        <p:spPr>
          <a:xfrm>
            <a:off x="5462726" y="4264693"/>
            <a:ext cx="255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proto</a:t>
            </a:r>
            <a:endParaRPr sz="566"/>
          </a:p>
        </p:txBody>
      </p:sp>
      <p:cxnSp>
        <p:nvCxnSpPr>
          <p:cNvPr id="225" name="Google Shape;225;p18"/>
          <p:cNvCxnSpPr>
            <a:stCxn id="215" idx="3"/>
            <a:endCxn id="193" idx="0"/>
          </p:cNvCxnSpPr>
          <p:nvPr/>
        </p:nvCxnSpPr>
        <p:spPr>
          <a:xfrm flipH="1">
            <a:off x="5957346" y="3946137"/>
            <a:ext cx="877800" cy="544200"/>
          </a:xfrm>
          <a:prstGeom prst="curvedConnector4">
            <a:avLst>
              <a:gd fmla="val -10974" name="adj1"/>
              <a:gd fmla="val 58008" name="adj2"/>
            </a:avLst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18"/>
          <p:cNvCxnSpPr/>
          <p:nvPr/>
        </p:nvCxnSpPr>
        <p:spPr>
          <a:xfrm>
            <a:off x="6354328" y="3895500"/>
            <a:ext cx="0" cy="1017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18"/>
          <p:cNvSpPr txBox="1"/>
          <p:nvPr/>
        </p:nvSpPr>
        <p:spPr>
          <a:xfrm>
            <a:off x="6827421" y="4120405"/>
            <a:ext cx="255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h1</a:t>
            </a:r>
            <a:endParaRPr sz="566"/>
          </a:p>
        </p:txBody>
      </p:sp>
      <p:sp>
        <p:nvSpPr>
          <p:cNvPr id="192" name="Google Shape;192;p18"/>
          <p:cNvSpPr/>
          <p:nvPr/>
        </p:nvSpPr>
        <p:spPr>
          <a:xfrm>
            <a:off x="5974639" y="3995289"/>
            <a:ext cx="759300" cy="185400"/>
          </a:xfrm>
          <a:prstGeom prst="rect">
            <a:avLst/>
          </a:prstGeom>
          <a:solidFill>
            <a:srgbClr val="EFEFEF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"/>
              <a:buFont typeface="Arial"/>
              <a:buNone/>
            </a:pPr>
            <a:r>
              <a:rPr lang="zh-TW" sz="566">
                <a:solidFill>
                  <a:schemeClr val="dk1"/>
                </a:solidFill>
              </a:rPr>
              <a:t>PrototypeEncoder </a:t>
            </a:r>
            <a:endParaRPr sz="566"/>
          </a:p>
        </p:txBody>
      </p:sp>
      <p:cxnSp>
        <p:nvCxnSpPr>
          <p:cNvPr id="228" name="Google Shape;228;p18"/>
          <p:cNvCxnSpPr>
            <a:stCxn id="189" idx="3"/>
            <a:endCxn id="229" idx="1"/>
          </p:cNvCxnSpPr>
          <p:nvPr/>
        </p:nvCxnSpPr>
        <p:spPr>
          <a:xfrm>
            <a:off x="6153645" y="3378287"/>
            <a:ext cx="1197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30" name="Google Shape;230;p18"/>
          <p:cNvGrpSpPr/>
          <p:nvPr/>
        </p:nvGrpSpPr>
        <p:grpSpPr>
          <a:xfrm>
            <a:off x="7757925" y="3050579"/>
            <a:ext cx="1359717" cy="465735"/>
            <a:chOff x="5756806" y="70375"/>
            <a:chExt cx="3360646" cy="1151100"/>
          </a:xfrm>
        </p:grpSpPr>
        <p:sp>
          <p:nvSpPr>
            <p:cNvPr id="231" name="Google Shape;231;p18"/>
            <p:cNvSpPr txBox="1"/>
            <p:nvPr/>
          </p:nvSpPr>
          <p:spPr>
            <a:xfrm>
              <a:off x="6968300" y="193301"/>
              <a:ext cx="171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00" lIns="37000" spcFirstLastPara="1" rIns="37000" wrap="square" tIns="37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Chunk1</a:t>
              </a:r>
              <a:br>
                <a:rPr lang="zh-TW" sz="566">
                  <a:solidFill>
                    <a:schemeClr val="dk1"/>
                  </a:solidFill>
                </a:rPr>
              </a:br>
              <a:r>
                <a:rPr lang="zh-TW" sz="566">
                  <a:solidFill>
                    <a:schemeClr val="dk1"/>
                  </a:solidFill>
                </a:rPr>
                <a:t>window:256</a:t>
              </a:r>
              <a:endParaRPr sz="566"/>
            </a:p>
          </p:txBody>
        </p:sp>
        <p:grpSp>
          <p:nvGrpSpPr>
            <p:cNvPr id="232" name="Google Shape;232;p18"/>
            <p:cNvGrpSpPr/>
            <p:nvPr/>
          </p:nvGrpSpPr>
          <p:grpSpPr>
            <a:xfrm>
              <a:off x="5756806" y="70375"/>
              <a:ext cx="3360646" cy="1151100"/>
              <a:chOff x="6117013" y="141950"/>
              <a:chExt cx="3281881" cy="1151100"/>
            </a:xfrm>
          </p:grpSpPr>
          <p:grpSp>
            <p:nvGrpSpPr>
              <p:cNvPr id="233" name="Google Shape;233;p18"/>
              <p:cNvGrpSpPr/>
              <p:nvPr/>
            </p:nvGrpSpPr>
            <p:grpSpPr>
              <a:xfrm>
                <a:off x="6117013" y="141950"/>
                <a:ext cx="3281881" cy="1151100"/>
                <a:chOff x="513899" y="3066238"/>
                <a:chExt cx="3159300" cy="1151100"/>
              </a:xfrm>
            </p:grpSpPr>
            <p:sp>
              <p:nvSpPr>
                <p:cNvPr id="234" name="Google Shape;234;p18"/>
                <p:cNvSpPr/>
                <p:nvPr/>
              </p:nvSpPr>
              <p:spPr>
                <a:xfrm>
                  <a:off x="513899" y="3066238"/>
                  <a:ext cx="3159300" cy="1151100"/>
                </a:xfrm>
                <a:prstGeom prst="rect">
                  <a:avLst/>
                </a:prstGeom>
                <a:solidFill>
                  <a:srgbClr val="B6D7A8"/>
                </a:solidFill>
                <a:ln cap="flat" cmpd="sng" w="38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37000" lIns="37000" spcFirstLastPara="1" rIns="37000" wrap="square" tIns="370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566"/>
                    <a:t>Multi-Chunk Module</a:t>
                  </a:r>
                  <a:endParaRPr sz="566"/>
                </a:p>
              </p:txBody>
            </p:sp>
            <p:sp>
              <p:nvSpPr>
                <p:cNvPr id="235" name="Google Shape;235;p18"/>
                <p:cNvSpPr/>
                <p:nvPr/>
              </p:nvSpPr>
              <p:spPr>
                <a:xfrm>
                  <a:off x="610652" y="3460938"/>
                  <a:ext cx="889200" cy="5727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38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7000" lIns="37000" spcFirstLastPara="1" rIns="37000" wrap="square" tIns="370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566"/>
                    <a:t>Chunk1</a:t>
                  </a:r>
                  <a:endParaRPr sz="566"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566"/>
                    <a:t>scale:256</a:t>
                  </a:r>
                  <a:endParaRPr sz="566"/>
                </a:p>
              </p:txBody>
            </p:sp>
          </p:grpSp>
          <p:sp>
            <p:nvSpPr>
              <p:cNvPr id="236" name="Google Shape;236;p18"/>
              <p:cNvSpPr/>
              <p:nvPr/>
            </p:nvSpPr>
            <p:spPr>
              <a:xfrm>
                <a:off x="73395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38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7000" lIns="37000" spcFirstLastPara="1" rIns="37000" wrap="square" tIns="37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Chunk2</a:t>
                </a:r>
                <a:endParaRPr sz="566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scale:64</a:t>
                </a:r>
                <a:endParaRPr sz="566"/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83661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38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7000" lIns="37000" spcFirstLastPara="1" rIns="37000" wrap="square" tIns="37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Chunk3</a:t>
                </a:r>
                <a:endParaRPr sz="566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scale:16</a:t>
                </a:r>
                <a:endParaRPr sz="566"/>
              </a:p>
            </p:txBody>
          </p:sp>
        </p:grpSp>
        <p:sp>
          <p:nvSpPr>
            <p:cNvPr id="238" name="Google Shape;238;p18"/>
            <p:cNvSpPr txBox="1"/>
            <p:nvPr/>
          </p:nvSpPr>
          <p:spPr>
            <a:xfrm>
              <a:off x="6626969" y="54335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00" lIns="37000" spcFirstLastPara="1" rIns="37000" wrap="square" tIns="37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+</a:t>
              </a:r>
              <a:endParaRPr sz="566"/>
            </a:p>
          </p:txBody>
        </p:sp>
        <p:sp>
          <p:nvSpPr>
            <p:cNvPr id="239" name="Google Shape;239;p18"/>
            <p:cNvSpPr txBox="1"/>
            <p:nvPr/>
          </p:nvSpPr>
          <p:spPr>
            <a:xfrm>
              <a:off x="7679613" y="54335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00" lIns="37000" spcFirstLastPara="1" rIns="37000" wrap="square" tIns="37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+</a:t>
              </a:r>
              <a:endParaRPr sz="566"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6819831" y="675225"/>
              <a:ext cx="178500" cy="154800"/>
            </a:xfrm>
            <a:prstGeom prst="ellipse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66"/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7865200" y="672844"/>
              <a:ext cx="178500" cy="154800"/>
            </a:xfrm>
            <a:prstGeom prst="ellipse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66"/>
            </a:p>
          </p:txBody>
        </p:sp>
      </p:grpSp>
      <p:sp>
        <p:nvSpPr>
          <p:cNvPr id="229" name="Google Shape;229;p18"/>
          <p:cNvSpPr/>
          <p:nvPr/>
        </p:nvSpPr>
        <p:spPr>
          <a:xfrm>
            <a:off x="6273310" y="3285587"/>
            <a:ext cx="422100" cy="185400"/>
          </a:xfrm>
          <a:prstGeom prst="rect">
            <a:avLst/>
          </a:prstGeom>
          <a:solidFill>
            <a:srgbClr val="B6D7A8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MCM</a:t>
            </a:r>
            <a:endParaRPr sz="566"/>
          </a:p>
        </p:txBody>
      </p:sp>
      <p:sp>
        <p:nvSpPr>
          <p:cNvPr id="242" name="Google Shape;242;p18"/>
          <p:cNvSpPr/>
          <p:nvPr/>
        </p:nvSpPr>
        <p:spPr>
          <a:xfrm>
            <a:off x="6804467" y="3285587"/>
            <a:ext cx="4221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MLP</a:t>
            </a:r>
            <a:endParaRPr sz="566"/>
          </a:p>
        </p:txBody>
      </p:sp>
      <p:cxnSp>
        <p:nvCxnSpPr>
          <p:cNvPr id="243" name="Google Shape;243;p18"/>
          <p:cNvCxnSpPr>
            <a:stCxn id="229" idx="3"/>
            <a:endCxn id="242" idx="1"/>
          </p:cNvCxnSpPr>
          <p:nvPr/>
        </p:nvCxnSpPr>
        <p:spPr>
          <a:xfrm>
            <a:off x="6695410" y="3378287"/>
            <a:ext cx="1092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18"/>
          <p:cNvCxnSpPr>
            <a:stCxn id="242" idx="2"/>
            <a:endCxn id="203" idx="3"/>
          </p:cNvCxnSpPr>
          <p:nvPr/>
        </p:nvCxnSpPr>
        <p:spPr>
          <a:xfrm rot="5400000">
            <a:off x="6708917" y="3496187"/>
            <a:ext cx="331800" cy="281400"/>
          </a:xfrm>
          <a:prstGeom prst="curvedConnector2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Multi-Chunk Module</a:t>
            </a:r>
            <a:endParaRPr/>
          </a:p>
        </p:txBody>
      </p:sp>
      <p:sp>
        <p:nvSpPr>
          <p:cNvPr id="250" name="Google Shape;25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51" name="Google Shape;251;p19"/>
          <p:cNvGrpSpPr/>
          <p:nvPr/>
        </p:nvGrpSpPr>
        <p:grpSpPr>
          <a:xfrm>
            <a:off x="5523806" y="155825"/>
            <a:ext cx="3360646" cy="1151100"/>
            <a:chOff x="4666256" y="19025"/>
            <a:chExt cx="3360646" cy="1151100"/>
          </a:xfrm>
        </p:grpSpPr>
        <p:sp>
          <p:nvSpPr>
            <p:cNvPr id="252" name="Google Shape;252;p19"/>
            <p:cNvSpPr txBox="1"/>
            <p:nvPr/>
          </p:nvSpPr>
          <p:spPr>
            <a:xfrm>
              <a:off x="5877750" y="141951"/>
              <a:ext cx="171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Chunk1</a:t>
              </a:r>
              <a:br>
                <a:rPr lang="zh-TW">
                  <a:solidFill>
                    <a:schemeClr val="dk1"/>
                  </a:solidFill>
                </a:rPr>
              </a:br>
              <a:r>
                <a:rPr lang="zh-TW">
                  <a:solidFill>
                    <a:schemeClr val="dk1"/>
                  </a:solidFill>
                </a:rPr>
                <a:t>window:256</a:t>
              </a:r>
              <a:endParaRPr/>
            </a:p>
          </p:txBody>
        </p:sp>
        <p:grpSp>
          <p:nvGrpSpPr>
            <p:cNvPr id="253" name="Google Shape;253;p19"/>
            <p:cNvGrpSpPr/>
            <p:nvPr/>
          </p:nvGrpSpPr>
          <p:grpSpPr>
            <a:xfrm>
              <a:off x="4666256" y="19025"/>
              <a:ext cx="3360646" cy="1151100"/>
              <a:chOff x="6117013" y="141950"/>
              <a:chExt cx="3281881" cy="1151100"/>
            </a:xfrm>
          </p:grpSpPr>
          <p:grpSp>
            <p:nvGrpSpPr>
              <p:cNvPr id="254" name="Google Shape;254;p19"/>
              <p:cNvGrpSpPr/>
              <p:nvPr/>
            </p:nvGrpSpPr>
            <p:grpSpPr>
              <a:xfrm>
                <a:off x="6117013" y="141950"/>
                <a:ext cx="3281881" cy="1151100"/>
                <a:chOff x="513899" y="3066238"/>
                <a:chExt cx="3159300" cy="1151100"/>
              </a:xfrm>
            </p:grpSpPr>
            <p:sp>
              <p:nvSpPr>
                <p:cNvPr id="255" name="Google Shape;255;p19"/>
                <p:cNvSpPr/>
                <p:nvPr/>
              </p:nvSpPr>
              <p:spPr>
                <a:xfrm>
                  <a:off x="513899" y="3066238"/>
                  <a:ext cx="3159300" cy="1151100"/>
                </a:xfrm>
                <a:prstGeom prst="rect">
                  <a:avLst/>
                </a:prstGeom>
                <a:solidFill>
                  <a:srgbClr val="B6D7A8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Multi-Chunk Module</a:t>
                  </a:r>
                  <a:endParaRPr/>
                </a:p>
              </p:txBody>
            </p:sp>
            <p:sp>
              <p:nvSpPr>
                <p:cNvPr id="256" name="Google Shape;256;p19"/>
                <p:cNvSpPr/>
                <p:nvPr/>
              </p:nvSpPr>
              <p:spPr>
                <a:xfrm>
                  <a:off x="610652" y="3460938"/>
                  <a:ext cx="889200" cy="5727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Chunk1</a:t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scale:256</a:t>
                  </a:r>
                  <a:endParaRPr/>
                </a:p>
              </p:txBody>
            </p:sp>
          </p:grpSp>
          <p:sp>
            <p:nvSpPr>
              <p:cNvPr id="257" name="Google Shape;257;p19"/>
              <p:cNvSpPr/>
              <p:nvPr/>
            </p:nvSpPr>
            <p:spPr>
              <a:xfrm>
                <a:off x="73395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Chunk2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scale:64</a:t>
                </a: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83661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Chunk3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scale:16</a:t>
                </a:r>
                <a:endParaRPr/>
              </a:p>
            </p:txBody>
          </p:sp>
        </p:grpSp>
        <p:sp>
          <p:nvSpPr>
            <p:cNvPr id="259" name="Google Shape;259;p19"/>
            <p:cNvSpPr txBox="1"/>
            <p:nvPr/>
          </p:nvSpPr>
          <p:spPr>
            <a:xfrm>
              <a:off x="5536419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6589063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5729281" y="623875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6774650" y="621494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19"/>
          <p:cNvSpPr txBox="1"/>
          <p:nvPr>
            <p:ph idx="1" type="body"/>
          </p:nvPr>
        </p:nvSpPr>
        <p:spPr>
          <a:xfrm>
            <a:off x="78300" y="929400"/>
            <a:ext cx="9065700" cy="17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Chunk1:目標embedding的前後128條log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Chunk2:目標embedding的前後64條log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Chunk3:目標embedding的前後16條log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越靠近目標embedding的log會被收錄越多次，代表該log對目標embedding比較重要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311700" y="3020875"/>
            <a:ext cx="2165400" cy="188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Embeddings</a:t>
            </a: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311700" y="3956125"/>
            <a:ext cx="2165400" cy="1077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576900" y="4227118"/>
            <a:ext cx="163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Target </a:t>
            </a:r>
            <a:r>
              <a:rPr lang="zh-TW">
                <a:solidFill>
                  <a:schemeClr val="dk1"/>
                </a:solidFill>
              </a:rPr>
              <a:t>embedding</a:t>
            </a:r>
            <a:endParaRPr/>
          </a:p>
        </p:txBody>
      </p:sp>
      <p:cxnSp>
        <p:nvCxnSpPr>
          <p:cNvPr id="267" name="Google Shape;267;p19"/>
          <p:cNvCxnSpPr>
            <a:endCxn id="265" idx="2"/>
          </p:cNvCxnSpPr>
          <p:nvPr/>
        </p:nvCxnSpPr>
        <p:spPr>
          <a:xfrm flipH="1" rot="10800000">
            <a:off x="1394100" y="4063825"/>
            <a:ext cx="30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p19"/>
          <p:cNvSpPr/>
          <p:nvPr/>
        </p:nvSpPr>
        <p:spPr>
          <a:xfrm>
            <a:off x="2603025" y="3241525"/>
            <a:ext cx="339300" cy="1536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4075375" y="3598825"/>
            <a:ext cx="339300" cy="822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5581375" y="3777475"/>
            <a:ext cx="339300" cy="465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3035901" y="3723625"/>
            <a:ext cx="945900" cy="572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Chunk1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scale:256</a:t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4572012" y="3723625"/>
            <a:ext cx="848100" cy="572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Chunk2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scale:64</a:t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6010300" y="3723625"/>
            <a:ext cx="848100" cy="572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Chunk3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scale:16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19"/>
          <p:cNvGrpSpPr/>
          <p:nvPr/>
        </p:nvGrpSpPr>
        <p:grpSpPr>
          <a:xfrm>
            <a:off x="4018064" y="3118825"/>
            <a:ext cx="848100" cy="400200"/>
            <a:chOff x="4018064" y="3118825"/>
            <a:chExt cx="848100" cy="400200"/>
          </a:xfrm>
        </p:grpSpPr>
        <p:sp>
          <p:nvSpPr>
            <p:cNvPr id="276" name="Google Shape;276;p19"/>
            <p:cNvSpPr/>
            <p:nvPr/>
          </p:nvSpPr>
          <p:spPr>
            <a:xfrm>
              <a:off x="4075381" y="3241525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 txBox="1"/>
            <p:nvPr/>
          </p:nvSpPr>
          <p:spPr>
            <a:xfrm>
              <a:off x="4018064" y="3118825"/>
              <a:ext cx="848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78" name="Google Shape;278;p19"/>
          <p:cNvGrpSpPr/>
          <p:nvPr/>
        </p:nvGrpSpPr>
        <p:grpSpPr>
          <a:xfrm>
            <a:off x="5581364" y="3118825"/>
            <a:ext cx="848100" cy="400200"/>
            <a:chOff x="4018064" y="3118825"/>
            <a:chExt cx="848100" cy="400200"/>
          </a:xfrm>
        </p:grpSpPr>
        <p:sp>
          <p:nvSpPr>
            <p:cNvPr id="279" name="Google Shape;279;p19"/>
            <p:cNvSpPr/>
            <p:nvPr/>
          </p:nvSpPr>
          <p:spPr>
            <a:xfrm>
              <a:off x="4075381" y="3241525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 txBox="1"/>
            <p:nvPr/>
          </p:nvSpPr>
          <p:spPr>
            <a:xfrm>
              <a:off x="4018064" y="3118825"/>
              <a:ext cx="848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 txBox="1"/>
          <p:nvPr/>
        </p:nvSpPr>
        <p:spPr>
          <a:xfrm>
            <a:off x="3299793" y="335649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h3</a:t>
            </a:r>
            <a:endParaRPr/>
          </a:p>
        </p:txBody>
      </p:sp>
      <p:sp>
        <p:nvSpPr>
          <p:cNvPr id="286" name="Google Shape;286;p20"/>
          <p:cNvSpPr txBox="1"/>
          <p:nvPr>
            <p:ph type="title"/>
          </p:nvPr>
        </p:nvSpPr>
        <p:spPr>
          <a:xfrm>
            <a:off x="33081" y="19019"/>
            <a:ext cx="424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Structure - TTP detection</a:t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253904" y="6512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embedding</a:t>
            </a: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995725" y="1360400"/>
            <a:ext cx="2626200" cy="171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cxnSp>
        <p:nvCxnSpPr>
          <p:cNvPr id="289" name="Google Shape;289;p20"/>
          <p:cNvCxnSpPr>
            <a:stCxn id="290" idx="2"/>
            <a:endCxn id="291" idx="1"/>
          </p:cNvCxnSpPr>
          <p:nvPr/>
        </p:nvCxnSpPr>
        <p:spPr>
          <a:xfrm rot="5400000">
            <a:off x="1102150" y="2672425"/>
            <a:ext cx="994500" cy="1376700"/>
          </a:xfrm>
          <a:prstGeom prst="curvedConnector4">
            <a:avLst>
              <a:gd fmla="val 38477" name="adj1"/>
              <a:gd fmla="val 11730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92" name="Google Shape;292;p20"/>
          <p:cNvGrpSpPr/>
          <p:nvPr/>
        </p:nvGrpSpPr>
        <p:grpSpPr>
          <a:xfrm>
            <a:off x="7185951" y="880306"/>
            <a:ext cx="1761942" cy="991814"/>
            <a:chOff x="513899" y="3066238"/>
            <a:chExt cx="3159300" cy="1778400"/>
          </a:xfrm>
        </p:grpSpPr>
        <p:sp>
          <p:nvSpPr>
            <p:cNvPr id="293" name="Google Shape;293;p20"/>
            <p:cNvSpPr/>
            <p:nvPr/>
          </p:nvSpPr>
          <p:spPr>
            <a:xfrm>
              <a:off x="513899" y="3066238"/>
              <a:ext cx="3159300" cy="1778400"/>
            </a:xfrm>
            <a:prstGeom prst="rect">
              <a:avLst/>
            </a:prstGeom>
            <a:solidFill>
              <a:srgbClr val="FCE5CD"/>
            </a:solidFill>
            <a:ln cap="flat" cmpd="sng" w="5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0975" lIns="50975" spcFirstLastPara="1" rIns="50975" wrap="square" tIns="50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81"/>
                <a:t>Graph Transformer</a:t>
              </a:r>
              <a:endParaRPr sz="781"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732645" y="3382738"/>
              <a:ext cx="1298400" cy="572700"/>
            </a:xfrm>
            <a:prstGeom prst="rect">
              <a:avLst/>
            </a:prstGeom>
            <a:solidFill>
              <a:srgbClr val="EFEFEF"/>
            </a:solidFill>
            <a:ln cap="flat" cmpd="sng" w="5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81"/>
                <a:t>Multi-head attention</a:t>
              </a:r>
              <a:endParaRPr sz="781"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770299" y="4147813"/>
              <a:ext cx="1223100" cy="572700"/>
            </a:xfrm>
            <a:prstGeom prst="rect">
              <a:avLst/>
            </a:prstGeom>
            <a:solidFill>
              <a:srgbClr val="EFEFEF"/>
            </a:solidFill>
            <a:ln cap="flat" cmpd="sng" w="5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81"/>
                <a:t>Residual + LayerNorm</a:t>
              </a:r>
              <a:endParaRPr sz="781"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2483723" y="3382738"/>
              <a:ext cx="791100" cy="572700"/>
            </a:xfrm>
            <a:prstGeom prst="rect">
              <a:avLst/>
            </a:prstGeom>
            <a:solidFill>
              <a:srgbClr val="EFEFEF"/>
            </a:solidFill>
            <a:ln cap="flat" cmpd="sng" w="5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81"/>
                <a:t>FFN</a:t>
              </a:r>
              <a:endParaRPr sz="781"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2289624" y="4147813"/>
              <a:ext cx="1135500" cy="572700"/>
            </a:xfrm>
            <a:prstGeom prst="rect">
              <a:avLst/>
            </a:prstGeom>
            <a:solidFill>
              <a:srgbClr val="EFEFEF"/>
            </a:solidFill>
            <a:ln cap="flat" cmpd="sng" w="5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975" lIns="50975" spcFirstLastPara="1" rIns="50975" wrap="square" tIns="50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81">
                  <a:solidFill>
                    <a:schemeClr val="dk1"/>
                  </a:solidFill>
                </a:rPr>
                <a:t>Residual + LayerNorm</a:t>
              </a:r>
              <a:endParaRPr sz="781"/>
            </a:p>
          </p:txBody>
        </p:sp>
        <p:cxnSp>
          <p:nvCxnSpPr>
            <p:cNvPr id="298" name="Google Shape;298;p20"/>
            <p:cNvCxnSpPr>
              <a:stCxn id="294" idx="2"/>
              <a:endCxn id="295" idx="0"/>
            </p:cNvCxnSpPr>
            <p:nvPr/>
          </p:nvCxnSpPr>
          <p:spPr>
            <a:xfrm>
              <a:off x="1381845" y="3955438"/>
              <a:ext cx="0" cy="192300"/>
            </a:xfrm>
            <a:prstGeom prst="straightConnector1">
              <a:avLst/>
            </a:prstGeom>
            <a:noFill/>
            <a:ln cap="flat" cmpd="sng" w="53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9" name="Google Shape;299;p20"/>
            <p:cNvCxnSpPr>
              <a:stCxn id="295" idx="3"/>
              <a:endCxn id="296" idx="1"/>
            </p:cNvCxnSpPr>
            <p:nvPr/>
          </p:nvCxnSpPr>
          <p:spPr>
            <a:xfrm flipH="1" rot="10800000">
              <a:off x="1993399" y="3669163"/>
              <a:ext cx="490200" cy="765000"/>
            </a:xfrm>
            <a:prstGeom prst="straightConnector1">
              <a:avLst/>
            </a:prstGeom>
            <a:noFill/>
            <a:ln cap="flat" cmpd="sng" w="53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0" name="Google Shape;300;p20"/>
            <p:cNvCxnSpPr>
              <a:stCxn id="296" idx="2"/>
              <a:endCxn id="297" idx="0"/>
            </p:cNvCxnSpPr>
            <p:nvPr/>
          </p:nvCxnSpPr>
          <p:spPr>
            <a:xfrm flipH="1">
              <a:off x="2857373" y="3955438"/>
              <a:ext cx="21900" cy="192300"/>
            </a:xfrm>
            <a:prstGeom prst="straightConnector1">
              <a:avLst/>
            </a:prstGeom>
            <a:noFill/>
            <a:ln cap="flat" cmpd="sng" w="53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01" name="Google Shape;301;p20"/>
          <p:cNvSpPr/>
          <p:nvPr/>
        </p:nvSpPr>
        <p:spPr>
          <a:xfrm>
            <a:off x="1349425" y="17006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910950" y="362882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sp>
        <p:nvSpPr>
          <p:cNvPr id="302" name="Google Shape;302;p20"/>
          <p:cNvSpPr/>
          <p:nvPr/>
        </p:nvSpPr>
        <p:spPr>
          <a:xfrm>
            <a:off x="4064325" y="3630463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303" name="Google Shape;303;p20"/>
          <p:cNvCxnSpPr>
            <a:stCxn id="291" idx="3"/>
            <a:endCxn id="304" idx="1"/>
          </p:cNvCxnSpPr>
          <p:nvPr/>
        </p:nvCxnSpPr>
        <p:spPr>
          <a:xfrm>
            <a:off x="1702050" y="3857875"/>
            <a:ext cx="72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20"/>
          <p:cNvCxnSpPr>
            <a:stCxn id="302" idx="3"/>
            <a:endCxn id="306" idx="1"/>
          </p:cNvCxnSpPr>
          <p:nvPr/>
        </p:nvCxnSpPr>
        <p:spPr>
          <a:xfrm>
            <a:off x="4855425" y="3859513"/>
            <a:ext cx="31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" name="Google Shape;306;p20"/>
          <p:cNvSpPr/>
          <p:nvPr/>
        </p:nvSpPr>
        <p:spPr>
          <a:xfrm>
            <a:off x="5167000" y="3630475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cxnSp>
        <p:nvCxnSpPr>
          <p:cNvPr id="307" name="Google Shape;307;p20"/>
          <p:cNvCxnSpPr>
            <a:stCxn id="306" idx="3"/>
            <a:endCxn id="308" idx="1"/>
          </p:cNvCxnSpPr>
          <p:nvPr/>
        </p:nvCxnSpPr>
        <p:spPr>
          <a:xfrm>
            <a:off x="5958100" y="3859525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20"/>
          <p:cNvSpPr/>
          <p:nvPr/>
        </p:nvSpPr>
        <p:spPr>
          <a:xfrm>
            <a:off x="6269463" y="3630475"/>
            <a:ext cx="9276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Sigmoid</a:t>
            </a: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7508450" y="3630531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310" name="Google Shape;310;p20"/>
          <p:cNvCxnSpPr>
            <a:stCxn id="308" idx="3"/>
            <a:endCxn id="309" idx="1"/>
          </p:cNvCxnSpPr>
          <p:nvPr/>
        </p:nvCxnSpPr>
        <p:spPr>
          <a:xfrm>
            <a:off x="7197063" y="3859525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1" name="Google Shape;311;p20"/>
          <p:cNvSpPr txBox="1"/>
          <p:nvPr/>
        </p:nvSpPr>
        <p:spPr>
          <a:xfrm>
            <a:off x="-121050" y="4278150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(Q:proto, K:h1, V:h1)</a:t>
            </a:r>
            <a:endParaRPr sz="1600"/>
          </a:p>
        </p:txBody>
      </p:sp>
      <p:sp>
        <p:nvSpPr>
          <p:cNvPr id="312" name="Google Shape;312;p20"/>
          <p:cNvSpPr txBox="1"/>
          <p:nvPr/>
        </p:nvSpPr>
        <p:spPr>
          <a:xfrm>
            <a:off x="4225900" y="2816250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313" name="Google Shape;3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14" name="Google Shape;314;p20"/>
          <p:cNvSpPr txBox="1"/>
          <p:nvPr/>
        </p:nvSpPr>
        <p:spPr>
          <a:xfrm>
            <a:off x="2927550" y="206852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304" name="Google Shape;304;p20"/>
          <p:cNvSpPr/>
          <p:nvPr/>
        </p:nvSpPr>
        <p:spPr>
          <a:xfrm>
            <a:off x="2425050" y="3628848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315" name="Google Shape;315;p20"/>
          <p:cNvCxnSpPr>
            <a:stCxn id="304" idx="3"/>
            <a:endCxn id="302" idx="1"/>
          </p:cNvCxnSpPr>
          <p:nvPr/>
        </p:nvCxnSpPr>
        <p:spPr>
          <a:xfrm>
            <a:off x="3216150" y="3857898"/>
            <a:ext cx="848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p20"/>
          <p:cNvSpPr txBox="1"/>
          <p:nvPr/>
        </p:nvSpPr>
        <p:spPr>
          <a:xfrm>
            <a:off x="1393050" y="464447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(Q:h2, K:h2, V:h2)</a:t>
            </a:r>
            <a:endParaRPr sz="1600"/>
          </a:p>
        </p:txBody>
      </p:sp>
      <p:sp>
        <p:nvSpPr>
          <p:cNvPr id="317" name="Google Shape;317;p20"/>
          <p:cNvSpPr txBox="1"/>
          <p:nvPr/>
        </p:nvSpPr>
        <p:spPr>
          <a:xfrm>
            <a:off x="1821693" y="3369083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cxnSp>
        <p:nvCxnSpPr>
          <p:cNvPr id="318" name="Google Shape;318;p20"/>
          <p:cNvCxnSpPr>
            <a:stCxn id="291" idx="2"/>
            <a:endCxn id="311" idx="0"/>
          </p:cNvCxnSpPr>
          <p:nvPr/>
        </p:nvCxnSpPr>
        <p:spPr>
          <a:xfrm>
            <a:off x="1306500" y="4086925"/>
            <a:ext cx="0" cy="1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0"/>
          <p:cNvCxnSpPr>
            <a:stCxn id="304" idx="2"/>
            <a:endCxn id="316" idx="0"/>
          </p:cNvCxnSpPr>
          <p:nvPr/>
        </p:nvCxnSpPr>
        <p:spPr>
          <a:xfrm>
            <a:off x="2820600" y="4086948"/>
            <a:ext cx="0" cy="55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20"/>
          <p:cNvSpPr txBox="1"/>
          <p:nvPr/>
        </p:nvSpPr>
        <p:spPr>
          <a:xfrm>
            <a:off x="3578075" y="4644475"/>
            <a:ext cx="23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(Q:h1, K:h3, V:h3)</a:t>
            </a:r>
            <a:endParaRPr sz="1600"/>
          </a:p>
        </p:txBody>
      </p:sp>
      <p:cxnSp>
        <p:nvCxnSpPr>
          <p:cNvPr id="321" name="Google Shape;321;p20"/>
          <p:cNvCxnSpPr>
            <a:stCxn id="302" idx="2"/>
            <a:endCxn id="320" idx="0"/>
          </p:cNvCxnSpPr>
          <p:nvPr/>
        </p:nvCxnSpPr>
        <p:spPr>
          <a:xfrm>
            <a:off x="4459875" y="4088563"/>
            <a:ext cx="309300" cy="5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20"/>
          <p:cNvCxnSpPr>
            <a:stCxn id="314" idx="3"/>
            <a:endCxn id="302" idx="0"/>
          </p:cNvCxnSpPr>
          <p:nvPr/>
        </p:nvCxnSpPr>
        <p:spPr>
          <a:xfrm>
            <a:off x="3476250" y="2284075"/>
            <a:ext cx="983700" cy="1346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20"/>
          <p:cNvSpPr txBox="1"/>
          <p:nvPr/>
        </p:nvSpPr>
        <p:spPr>
          <a:xfrm>
            <a:off x="156500" y="3071312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</a:t>
            </a:r>
            <a:endParaRPr/>
          </a:p>
        </p:txBody>
      </p:sp>
      <p:cxnSp>
        <p:nvCxnSpPr>
          <p:cNvPr id="324" name="Google Shape;324;p20"/>
          <p:cNvCxnSpPr>
            <a:stCxn id="314" idx="3"/>
            <a:endCxn id="291" idx="0"/>
          </p:cNvCxnSpPr>
          <p:nvPr/>
        </p:nvCxnSpPr>
        <p:spPr>
          <a:xfrm flipH="1">
            <a:off x="1306350" y="2284075"/>
            <a:ext cx="2169900" cy="1344900"/>
          </a:xfrm>
          <a:prstGeom prst="curvedConnector4">
            <a:avLst>
              <a:gd fmla="val -10974" name="adj1"/>
              <a:gd fmla="val 5800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p20"/>
          <p:cNvSpPr txBox="1"/>
          <p:nvPr/>
        </p:nvSpPr>
        <p:spPr>
          <a:xfrm>
            <a:off x="5852775" y="4321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/>
          </a:p>
        </p:txBody>
      </p:sp>
      <p:cxnSp>
        <p:nvCxnSpPr>
          <p:cNvPr id="326" name="Google Shape;326;p20"/>
          <p:cNvCxnSpPr/>
          <p:nvPr/>
        </p:nvCxnSpPr>
        <p:spPr>
          <a:xfrm>
            <a:off x="2287829" y="2158775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20"/>
          <p:cNvSpPr txBox="1"/>
          <p:nvPr/>
        </p:nvSpPr>
        <p:spPr>
          <a:xfrm>
            <a:off x="3457175" y="2714675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grpSp>
        <p:nvGrpSpPr>
          <p:cNvPr id="328" name="Google Shape;328;p20"/>
          <p:cNvGrpSpPr/>
          <p:nvPr/>
        </p:nvGrpSpPr>
        <p:grpSpPr>
          <a:xfrm>
            <a:off x="9729625" y="3662550"/>
            <a:ext cx="1761900" cy="615600"/>
            <a:chOff x="6591025" y="4184550"/>
            <a:chExt cx="1761900" cy="615600"/>
          </a:xfrm>
        </p:grpSpPr>
        <p:sp>
          <p:nvSpPr>
            <p:cNvPr id="329" name="Google Shape;329;p20"/>
            <p:cNvSpPr txBox="1"/>
            <p:nvPr/>
          </p:nvSpPr>
          <p:spPr>
            <a:xfrm>
              <a:off x="6591025" y="4184550"/>
              <a:ext cx="17619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Train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Inference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330" name="Google Shape;330;p20"/>
            <p:cNvCxnSpPr/>
            <p:nvPr/>
          </p:nvCxnSpPr>
          <p:spPr>
            <a:xfrm>
              <a:off x="7602450" y="438466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1" name="Google Shape;331;p20"/>
            <p:cNvCxnSpPr/>
            <p:nvPr/>
          </p:nvCxnSpPr>
          <p:spPr>
            <a:xfrm>
              <a:off x="7602450" y="460021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90" name="Google Shape;290;p20"/>
          <p:cNvSpPr/>
          <p:nvPr/>
        </p:nvSpPr>
        <p:spPr>
          <a:xfrm>
            <a:off x="1349350" y="240542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PrototypeEncoder </a:t>
            </a:r>
            <a:endParaRPr/>
          </a:p>
        </p:txBody>
      </p:sp>
      <p:cxnSp>
        <p:nvCxnSpPr>
          <p:cNvPr id="332" name="Google Shape;332;p20"/>
          <p:cNvCxnSpPr>
            <a:stCxn id="287" idx="3"/>
            <a:endCxn id="333" idx="1"/>
          </p:cNvCxnSpPr>
          <p:nvPr/>
        </p:nvCxnSpPr>
        <p:spPr>
          <a:xfrm>
            <a:off x="1792004" y="880300"/>
            <a:ext cx="29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34" name="Google Shape;334;p20"/>
          <p:cNvGrpSpPr/>
          <p:nvPr/>
        </p:nvGrpSpPr>
        <p:grpSpPr>
          <a:xfrm>
            <a:off x="7046811" y="70872"/>
            <a:ext cx="2040248" cy="698833"/>
            <a:chOff x="4666256" y="19025"/>
            <a:chExt cx="3360646" cy="1151100"/>
          </a:xfrm>
        </p:grpSpPr>
        <p:sp>
          <p:nvSpPr>
            <p:cNvPr id="335" name="Google Shape;335;p20"/>
            <p:cNvSpPr txBox="1"/>
            <p:nvPr/>
          </p:nvSpPr>
          <p:spPr>
            <a:xfrm>
              <a:off x="5877750" y="141951"/>
              <a:ext cx="171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525" lIns="55525" spcFirstLastPara="1" rIns="55525" wrap="square" tIns="555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50">
                  <a:solidFill>
                    <a:schemeClr val="dk1"/>
                  </a:solidFill>
                </a:rPr>
                <a:t>Chunk1</a:t>
              </a:r>
              <a:br>
                <a:rPr lang="zh-TW" sz="850">
                  <a:solidFill>
                    <a:schemeClr val="dk1"/>
                  </a:solidFill>
                </a:rPr>
              </a:br>
              <a:r>
                <a:rPr lang="zh-TW" sz="850">
                  <a:solidFill>
                    <a:schemeClr val="dk1"/>
                  </a:solidFill>
                </a:rPr>
                <a:t>window:256</a:t>
              </a:r>
              <a:endParaRPr sz="850"/>
            </a:p>
          </p:txBody>
        </p:sp>
        <p:grpSp>
          <p:nvGrpSpPr>
            <p:cNvPr id="336" name="Google Shape;336;p20"/>
            <p:cNvGrpSpPr/>
            <p:nvPr/>
          </p:nvGrpSpPr>
          <p:grpSpPr>
            <a:xfrm>
              <a:off x="4666256" y="19025"/>
              <a:ext cx="3360646" cy="1151100"/>
              <a:chOff x="6117013" y="141950"/>
              <a:chExt cx="3281881" cy="1151100"/>
            </a:xfrm>
          </p:grpSpPr>
          <p:grpSp>
            <p:nvGrpSpPr>
              <p:cNvPr id="337" name="Google Shape;337;p20"/>
              <p:cNvGrpSpPr/>
              <p:nvPr/>
            </p:nvGrpSpPr>
            <p:grpSpPr>
              <a:xfrm>
                <a:off x="6117013" y="141950"/>
                <a:ext cx="3281881" cy="1151100"/>
                <a:chOff x="513899" y="3066238"/>
                <a:chExt cx="3159300" cy="1151100"/>
              </a:xfrm>
            </p:grpSpPr>
            <p:sp>
              <p:nvSpPr>
                <p:cNvPr id="338" name="Google Shape;338;p20"/>
                <p:cNvSpPr/>
                <p:nvPr/>
              </p:nvSpPr>
              <p:spPr>
                <a:xfrm>
                  <a:off x="513899" y="3066238"/>
                  <a:ext cx="3159300" cy="1151100"/>
                </a:xfrm>
                <a:prstGeom prst="rect">
                  <a:avLst/>
                </a:prstGeom>
                <a:solidFill>
                  <a:srgbClr val="B6D7A8"/>
                </a:solidFill>
                <a:ln cap="flat" cmpd="sng" w="57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55525" lIns="55525" spcFirstLastPara="1" rIns="55525" wrap="square" tIns="555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850"/>
                    <a:t>Multi-Chunk Module</a:t>
                  </a:r>
                  <a:endParaRPr sz="850"/>
                </a:p>
              </p:txBody>
            </p:sp>
            <p:sp>
              <p:nvSpPr>
                <p:cNvPr id="339" name="Google Shape;339;p20"/>
                <p:cNvSpPr/>
                <p:nvPr/>
              </p:nvSpPr>
              <p:spPr>
                <a:xfrm>
                  <a:off x="610652" y="3460938"/>
                  <a:ext cx="889200" cy="5727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57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5525" lIns="55525" spcFirstLastPara="1" rIns="55525" wrap="square" tIns="555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850"/>
                    <a:t>Chunk1</a:t>
                  </a:r>
                  <a:endParaRPr sz="850"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850"/>
                    <a:t>scale:256</a:t>
                  </a:r>
                  <a:endParaRPr sz="850"/>
                </a:p>
              </p:txBody>
            </p:sp>
          </p:grpSp>
          <p:sp>
            <p:nvSpPr>
              <p:cNvPr id="340" name="Google Shape;340;p20"/>
              <p:cNvSpPr/>
              <p:nvPr/>
            </p:nvSpPr>
            <p:spPr>
              <a:xfrm>
                <a:off x="73395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57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5525" lIns="55525" spcFirstLastPara="1" rIns="55525" wrap="square" tIns="555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850"/>
                  <a:t>Chunk2</a:t>
                </a:r>
                <a:endParaRPr sz="85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850"/>
                  <a:t>scale:64</a:t>
                </a:r>
                <a:endParaRPr sz="850"/>
              </a:p>
            </p:txBody>
          </p:sp>
          <p:sp>
            <p:nvSpPr>
              <p:cNvPr id="341" name="Google Shape;341;p20"/>
              <p:cNvSpPr/>
              <p:nvPr/>
            </p:nvSpPr>
            <p:spPr>
              <a:xfrm>
                <a:off x="83661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57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5525" lIns="55525" spcFirstLastPara="1" rIns="55525" wrap="square" tIns="555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850"/>
                  <a:t>Chunk3</a:t>
                </a:r>
                <a:endParaRPr sz="85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850"/>
                  <a:t>scale:16</a:t>
                </a:r>
                <a:endParaRPr sz="850"/>
              </a:p>
            </p:txBody>
          </p:sp>
        </p:grpSp>
        <p:sp>
          <p:nvSpPr>
            <p:cNvPr id="342" name="Google Shape;342;p20"/>
            <p:cNvSpPr txBox="1"/>
            <p:nvPr/>
          </p:nvSpPr>
          <p:spPr>
            <a:xfrm>
              <a:off x="5536419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525" lIns="55525" spcFirstLastPara="1" rIns="55525" wrap="square" tIns="555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50">
                  <a:solidFill>
                    <a:schemeClr val="dk1"/>
                  </a:solidFill>
                </a:rPr>
                <a:t>+</a:t>
              </a:r>
              <a:endParaRPr sz="850"/>
            </a:p>
          </p:txBody>
        </p:sp>
        <p:sp>
          <p:nvSpPr>
            <p:cNvPr id="343" name="Google Shape;343;p20"/>
            <p:cNvSpPr txBox="1"/>
            <p:nvPr/>
          </p:nvSpPr>
          <p:spPr>
            <a:xfrm>
              <a:off x="6589063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525" lIns="55525" spcFirstLastPara="1" rIns="55525" wrap="square" tIns="555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50">
                  <a:solidFill>
                    <a:schemeClr val="dk1"/>
                  </a:solidFill>
                </a:rPr>
                <a:t>+</a:t>
              </a:r>
              <a:endParaRPr sz="850"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5729281" y="623875"/>
              <a:ext cx="178500" cy="154800"/>
            </a:xfrm>
            <a:prstGeom prst="ellipse">
              <a:avLst/>
            </a:prstGeom>
            <a:noFill/>
            <a:ln cap="flat" cmpd="sng" w="57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525" lIns="55525" spcFirstLastPara="1" rIns="55525" wrap="square" tIns="55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50"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6774650" y="621494"/>
              <a:ext cx="178500" cy="154800"/>
            </a:xfrm>
            <a:prstGeom prst="ellipse">
              <a:avLst/>
            </a:prstGeom>
            <a:noFill/>
            <a:ln cap="flat" cmpd="sng" w="57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525" lIns="55525" spcFirstLastPara="1" rIns="55525" wrap="square" tIns="55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50"/>
            </a:p>
          </p:txBody>
        </p:sp>
      </p:grpSp>
      <p:sp>
        <p:nvSpPr>
          <p:cNvPr id="333" name="Google Shape;333;p20"/>
          <p:cNvSpPr/>
          <p:nvPr/>
        </p:nvSpPr>
        <p:spPr>
          <a:xfrm>
            <a:off x="2087575" y="651250"/>
            <a:ext cx="1043400" cy="458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MCM</a:t>
            </a:r>
            <a:endParaRPr/>
          </a:p>
        </p:txBody>
      </p:sp>
      <p:sp>
        <p:nvSpPr>
          <p:cNvPr id="346" name="Google Shape;346;p20"/>
          <p:cNvSpPr/>
          <p:nvPr/>
        </p:nvSpPr>
        <p:spPr>
          <a:xfrm>
            <a:off x="3400438" y="651250"/>
            <a:ext cx="10434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</a:t>
            </a:r>
            <a:endParaRPr/>
          </a:p>
        </p:txBody>
      </p:sp>
      <p:cxnSp>
        <p:nvCxnSpPr>
          <p:cNvPr id="347" name="Google Shape;347;p20"/>
          <p:cNvCxnSpPr>
            <a:stCxn id="333" idx="3"/>
            <a:endCxn id="346" idx="1"/>
          </p:cNvCxnSpPr>
          <p:nvPr/>
        </p:nvCxnSpPr>
        <p:spPr>
          <a:xfrm>
            <a:off x="3130975" y="880300"/>
            <a:ext cx="26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20"/>
          <p:cNvCxnSpPr>
            <a:stCxn id="346" idx="2"/>
            <a:endCxn id="301" idx="3"/>
          </p:cNvCxnSpPr>
          <p:nvPr/>
        </p:nvCxnSpPr>
        <p:spPr>
          <a:xfrm rot="5400000">
            <a:off x="3163888" y="1171600"/>
            <a:ext cx="820500" cy="696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20"/>
          <p:cNvSpPr txBox="1"/>
          <p:nvPr/>
        </p:nvSpPr>
        <p:spPr>
          <a:xfrm>
            <a:off x="5405449" y="2413825"/>
            <a:ext cx="368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proto:使用h1學習並映射在256維的標籤座標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5405449" y="1982725"/>
            <a:ext cx="368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h1:用audit log 做self-attention產出的特徵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5461675" y="2813425"/>
            <a:ext cx="355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把proto當作Q的用意是為了分辨不同TTP但h1相似的embedding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 txBox="1"/>
          <p:nvPr>
            <p:ph type="title"/>
          </p:nvPr>
        </p:nvSpPr>
        <p:spPr>
          <a:xfrm>
            <a:off x="311688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Kellect4APT</a:t>
            </a:r>
            <a:endParaRPr/>
          </a:p>
        </p:txBody>
      </p:sp>
      <p:sp>
        <p:nvSpPr>
          <p:cNvPr id="357" name="Google Shape;357;p21"/>
          <p:cNvSpPr txBox="1"/>
          <p:nvPr>
            <p:ph idx="1" type="body"/>
          </p:nvPr>
        </p:nvSpPr>
        <p:spPr>
          <a:xfrm>
            <a:off x="212400" y="713050"/>
            <a:ext cx="43596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Train: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Leave one sample out &amp;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One-shot or Few-shot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average 6 sample per TTPs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8" name="Google Shape;358;p21"/>
          <p:cNvSpPr txBox="1"/>
          <p:nvPr>
            <p:ph idx="1" type="body"/>
          </p:nvPr>
        </p:nvSpPr>
        <p:spPr>
          <a:xfrm>
            <a:off x="4572000" y="713050"/>
            <a:ext cx="44511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Test: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1 sample per TTP and cross-validation.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65 TTPs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414 samples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59" name="Google Shape;359;p21"/>
          <p:cNvPicPr preferRelativeResize="0"/>
          <p:nvPr/>
        </p:nvPicPr>
        <p:blipFill rotWithShape="1">
          <a:blip r:embed="rId3">
            <a:alphaModFix/>
          </a:blip>
          <a:srcRect b="38291" l="0" r="0" t="42952"/>
          <a:stretch/>
        </p:blipFill>
        <p:spPr>
          <a:xfrm>
            <a:off x="423163" y="3685504"/>
            <a:ext cx="8297674" cy="1241021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0" name="Google Shape;36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61" name="Google Shape;361;p21"/>
          <p:cNvSpPr txBox="1"/>
          <p:nvPr/>
        </p:nvSpPr>
        <p:spPr>
          <a:xfrm>
            <a:off x="5677550" y="3223800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P</a:t>
            </a:r>
            <a:endParaRPr/>
          </a:p>
        </p:txBody>
      </p:sp>
      <p:sp>
        <p:nvSpPr>
          <p:cNvPr id="362" name="Google Shape;362;p21"/>
          <p:cNvSpPr txBox="1"/>
          <p:nvPr/>
        </p:nvSpPr>
        <p:spPr>
          <a:xfrm>
            <a:off x="6760800" y="3223800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R</a:t>
            </a: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7733025" y="3223800"/>
            <a:ext cx="54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F1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2"/>
          <p:cNvSpPr txBox="1"/>
          <p:nvPr>
            <p:ph type="title"/>
          </p:nvPr>
        </p:nvSpPr>
        <p:spPr>
          <a:xfrm>
            <a:off x="311688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SAGA</a:t>
            </a:r>
            <a:endParaRPr/>
          </a:p>
        </p:txBody>
      </p:sp>
      <p:pic>
        <p:nvPicPr>
          <p:cNvPr id="369" name="Google Shape;369;p22"/>
          <p:cNvPicPr preferRelativeResize="0"/>
          <p:nvPr/>
        </p:nvPicPr>
        <p:blipFill rotWithShape="1">
          <a:blip r:embed="rId3">
            <a:alphaModFix/>
          </a:blip>
          <a:srcRect b="19535" l="0" r="0" t="61992"/>
          <a:stretch/>
        </p:blipFill>
        <p:spPr>
          <a:xfrm>
            <a:off x="120862" y="3406503"/>
            <a:ext cx="8902274" cy="1311296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0" name="Google Shape;370;p22"/>
          <p:cNvSpPr txBox="1"/>
          <p:nvPr>
            <p:ph idx="1" type="body"/>
          </p:nvPr>
        </p:nvSpPr>
        <p:spPr>
          <a:xfrm>
            <a:off x="212400" y="713050"/>
            <a:ext cx="43596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Train: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16900 abilities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Total Events: 7,949,998 events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Benign : 4,146,957 events (52.16%)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Malicious : 3,803,041 events (47.84%)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1" name="Google Shape;371;p22"/>
          <p:cNvSpPr txBox="1"/>
          <p:nvPr>
            <p:ph idx="1" type="body"/>
          </p:nvPr>
        </p:nvSpPr>
        <p:spPr>
          <a:xfrm>
            <a:off x="4572000" y="713050"/>
            <a:ext cx="4451100" cy="19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Test: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Known APT Campaigns C1~C8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SFM (C1,3,5,7,8)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2" name="Google Shape;37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3" name="Google Shape;373;p22"/>
          <p:cNvSpPr txBox="1"/>
          <p:nvPr/>
        </p:nvSpPr>
        <p:spPr>
          <a:xfrm>
            <a:off x="5868275" y="2817875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P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6951525" y="2817875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R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7923750" y="2817875"/>
            <a:ext cx="54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F1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23"/>
          <p:cNvPicPr preferRelativeResize="0"/>
          <p:nvPr/>
        </p:nvPicPr>
        <p:blipFill rotWithShape="1">
          <a:blip r:embed="rId3">
            <a:alphaModFix/>
          </a:blip>
          <a:srcRect b="19542" l="0" r="0" t="45661"/>
          <a:stretch/>
        </p:blipFill>
        <p:spPr>
          <a:xfrm>
            <a:off x="953288" y="3144000"/>
            <a:ext cx="7194751" cy="17099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1" name="Google Shape;381;p23"/>
          <p:cNvSpPr txBox="1"/>
          <p:nvPr>
            <p:ph type="title"/>
          </p:nvPr>
        </p:nvSpPr>
        <p:spPr>
          <a:xfrm>
            <a:off x="311700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Darpa E3 Datasets</a:t>
            </a:r>
            <a:endParaRPr/>
          </a:p>
        </p:txBody>
      </p:sp>
      <p:graphicFrame>
        <p:nvGraphicFramePr>
          <p:cNvPr id="382" name="Google Shape;382;p23"/>
          <p:cNvGraphicFramePr/>
          <p:nvPr/>
        </p:nvGraphicFramePr>
        <p:xfrm>
          <a:off x="-12" y="67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{A2892D5A-4F3E-4443-A53A-FED035C8E480}</a:tableStyleId>
              </a:tblPr>
              <a:tblGrid>
                <a:gridCol w="1630600"/>
                <a:gridCol w="2336050"/>
                <a:gridCol w="1676875"/>
                <a:gridCol w="3457800"/>
              </a:tblGrid>
              <a:tr h="631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Dataset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Training Dates(僅選擇 APT 攻擊發起前的良性活動日期)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Validation Date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Test Dates </a:t>
                      </a:r>
                      <a:r>
                        <a:rPr b="1" i="1" lang="zh-TW" sz="1100"/>
                        <a:t>(mostly attack days)</a:t>
                      </a:r>
                      <a:br>
                        <a:rPr b="1" i="1" lang="zh-TW" sz="1100"/>
                      </a:br>
                      <a:r>
                        <a:rPr b="1" i="1" lang="zh-TW" sz="1100"/>
                        <a:t>(APT 攻擊活動發生的日期)</a:t>
                      </a:r>
                      <a:endParaRPr b="1" i="1" sz="1100"/>
                    </a:p>
                  </a:txBody>
                  <a:tcPr marT="91425" marB="91425" marR="91425" marL="91425"/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E3-THEIA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2018-04-03 / 04 / 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2018-04-10 / 12</a:t>
                      </a:r>
                      <a:r>
                        <a:rPr lang="zh-TW"/>
                        <a:t>, 2018-04-11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E3-CADETS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2018-04-02 / 03 / 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2018-04-06</a:t>
                      </a:r>
                      <a:r>
                        <a:rPr lang="zh-TW"/>
                        <a:t>, 2018-04-07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E3-ClearScope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2018-04-04 / 05 / 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2018-04-10</a:t>
                      </a:r>
                      <a:r>
                        <a:rPr lang="zh-TW"/>
                        <a:t>, 2018-04-11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3" name="Google Shape;38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5440808" y="2624656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P</a:t>
            </a:r>
            <a:endParaRPr/>
          </a:p>
        </p:txBody>
      </p:sp>
      <p:sp>
        <p:nvSpPr>
          <p:cNvPr id="385" name="Google Shape;385;p23"/>
          <p:cNvSpPr txBox="1"/>
          <p:nvPr/>
        </p:nvSpPr>
        <p:spPr>
          <a:xfrm>
            <a:off x="6386162" y="2624656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R</a:t>
            </a:r>
            <a:endParaRPr/>
          </a:p>
        </p:txBody>
      </p:sp>
      <p:sp>
        <p:nvSpPr>
          <p:cNvPr id="386" name="Google Shape;386;p23"/>
          <p:cNvSpPr txBox="1"/>
          <p:nvPr/>
        </p:nvSpPr>
        <p:spPr>
          <a:xfrm>
            <a:off x="7289440" y="2610867"/>
            <a:ext cx="54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F1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4"/>
          <p:cNvSpPr txBox="1"/>
          <p:nvPr>
            <p:ph type="title"/>
          </p:nvPr>
        </p:nvSpPr>
        <p:spPr>
          <a:xfrm>
            <a:off x="311700" y="227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CHT</a:t>
            </a:r>
            <a:endParaRPr/>
          </a:p>
        </p:txBody>
      </p:sp>
      <p:sp>
        <p:nvSpPr>
          <p:cNvPr id="392" name="Google Shape;3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93" name="Google Shape;39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038" y="677475"/>
            <a:ext cx="7201927" cy="4038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