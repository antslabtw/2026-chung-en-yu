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4ad9fb43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24ad9fb43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雖然不同 Campaign 之間的 TTP 標籤存在重疊，但由於每個 Campaign 來自不同的威脅行為者（Threat Actor）或是在不同的主機環境中執行，其</a:t>
            </a:r>
            <a:r>
              <a:rPr b="1" lang="zh-TW">
                <a:solidFill>
                  <a:schemeClr val="dk1"/>
                </a:solidFill>
              </a:rPr>
              <a:t>底層的實作細節（Implementation artifacts）如檔案路徑、指令參數及執行順序皆有顯著差異</a:t>
            </a:r>
            <a:r>
              <a:rPr lang="zh-TW">
                <a:solidFill>
                  <a:schemeClr val="dk1"/>
                </a:solidFill>
              </a:rPr>
              <a:t>。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24ad9fb4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24ad9fb4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集中趨勢與範圍 (Central Tendency &amp; Range)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rgbClr val="188038"/>
                </a:solidFill>
              </a:rPr>
              <a:t>mean</a:t>
            </a:r>
            <a:r>
              <a:rPr b="1" lang="zh-TW">
                <a:solidFill>
                  <a:schemeClr val="dk1"/>
                </a:solidFill>
              </a:rPr>
              <a:t> (平均值)</a:t>
            </a:r>
            <a:r>
              <a:rPr lang="zh-TW">
                <a:solidFill>
                  <a:schemeClr val="dk1"/>
                </a:solidFill>
              </a:rPr>
              <a:t>：視窗內事件向量的整體分佈基準點。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rgbClr val="188038"/>
                </a:solidFill>
              </a:rPr>
              <a:t>max</a:t>
            </a:r>
            <a:r>
              <a:rPr b="1" lang="zh-TW">
                <a:solidFill>
                  <a:schemeClr val="dk1"/>
                </a:solidFill>
              </a:rPr>
              <a:t> (最大值)</a:t>
            </a:r>
            <a:r>
              <a:rPr lang="zh-TW">
                <a:solidFill>
                  <a:schemeClr val="dk1"/>
                </a:solidFill>
              </a:rPr>
              <a:t>：捕捉該時間段內最極端的正向特徵（例如瞬間的高權限調用或大量資源消耗）。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rgbClr val="188038"/>
                </a:solidFill>
              </a:rPr>
              <a:t>min</a:t>
            </a:r>
            <a:r>
              <a:rPr b="1" lang="zh-TW">
                <a:solidFill>
                  <a:schemeClr val="dk1"/>
                </a:solidFill>
              </a:rPr>
              <a:t> (最小值)</a:t>
            </a:r>
            <a:r>
              <a:rPr lang="zh-TW">
                <a:solidFill>
                  <a:schemeClr val="dk1"/>
                </a:solidFill>
              </a:rPr>
              <a:t>：捕捉最極端的負向特徵。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2. 離散程度 (Dispersion)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rgbClr val="188038"/>
                </a:solidFill>
              </a:rPr>
              <a:t>std</a:t>
            </a:r>
            <a:r>
              <a:rPr b="1" lang="zh-TW">
                <a:solidFill>
                  <a:schemeClr val="dk1"/>
                </a:solidFill>
              </a:rPr>
              <a:t> (標準差)</a:t>
            </a:r>
            <a:r>
              <a:rPr lang="zh-TW">
                <a:solidFill>
                  <a:schemeClr val="dk1"/>
                </a:solidFill>
              </a:rPr>
              <a:t>：衡量行為語義的波動劇烈程度。攻擊發生時，日誌的語義通常會出現不尋常的跳動。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rgbClr val="188038"/>
                </a:solidFill>
              </a:rPr>
              <a:t>IQR</a:t>
            </a:r>
            <a:r>
              <a:rPr b="1" lang="zh-TW">
                <a:solidFill>
                  <a:schemeClr val="dk1"/>
                </a:solidFill>
              </a:rPr>
              <a:t> (四分位距, Q3 - Q1)</a:t>
            </a:r>
            <a:r>
              <a:rPr lang="zh-TW">
                <a:solidFill>
                  <a:schemeClr val="dk1"/>
                </a:solidFill>
              </a:rPr>
              <a:t>：相比標準差，IQR 對單一雜訊或偶發的合法極端事件更具魯棒性（Robustness），能精準衡量「核心行為」的離散度。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3. 分佈偏態 (Shape)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rgbClr val="188038"/>
                </a:solidFill>
              </a:rPr>
              <a:t>skewness</a:t>
            </a:r>
            <a:r>
              <a:rPr b="1" lang="zh-TW">
                <a:solidFill>
                  <a:schemeClr val="dk1"/>
                </a:solidFill>
              </a:rPr>
              <a:t> (偏度)</a:t>
            </a:r>
            <a:r>
              <a:rPr lang="zh-TW">
                <a:solidFill>
                  <a:schemeClr val="dk1"/>
                </a:solidFill>
              </a:rPr>
              <a:t>：計算三階動差。若攻擊者在大量正常日誌中安插極少數的惡意指令，平均值可能不會明顯改變，但分佈會產生「長尾效應」。偏度能敏銳地捕捉這種不對稱性。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4. 時序動態特徵 (Temporal Dynamics)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zh-TW">
                <a:solidFill>
                  <a:schemeClr val="dk1"/>
                </a:solidFill>
              </a:rPr>
              <a:t>(基於相鄰事件向量的一階差分 $\Delta x_t = x_{t} - x_{t-1}$)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rgbClr val="188038"/>
                </a:solidFill>
              </a:rPr>
              <a:t>diff_mean</a:t>
            </a:r>
            <a:r>
              <a:rPr b="1" lang="zh-TW">
                <a:solidFill>
                  <a:schemeClr val="dk1"/>
                </a:solidFill>
              </a:rPr>
              <a:t> (差分平均)</a:t>
            </a:r>
            <a:r>
              <a:rPr lang="zh-TW">
                <a:solidFill>
                  <a:schemeClr val="dk1"/>
                </a:solidFill>
              </a:rPr>
              <a:t>：代表系統行為「轉換速度」的平均值。能反映出程序執行狀態切換的節奏是否異常。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rgbClr val="188038"/>
                </a:solidFill>
              </a:rPr>
              <a:t>diff_std</a:t>
            </a:r>
            <a:r>
              <a:rPr b="1" lang="zh-TW">
                <a:solidFill>
                  <a:schemeClr val="dk1"/>
                </a:solidFill>
              </a:rPr>
              <a:t> (差分標準差)</a:t>
            </a:r>
            <a:r>
              <a:rPr lang="zh-TW">
                <a:solidFill>
                  <a:schemeClr val="dk1"/>
                </a:solidFill>
              </a:rPr>
              <a:t>：代表系統行為轉換的「加速度」或不穩定性。例如原本平穩運行的服務，突然轉為密集的網路探測或檔案加密嘗試。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4ad9fb43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24ad9fb4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左右backborn要一樣 inference要用到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LLM加進去 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24ad9fb43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24ad9fb43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24ad9fb43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24ad9fb43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24ad9fb4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24ad9fb4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24ad9fb4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24ad9fb4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384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Training setting - Original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8" y="1093025"/>
            <a:ext cx="6557100" cy="18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用Caldera所有的ability做training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每個ability都有100個sample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用LLM對ability的srcnode,dstnode,relation等資訊產生敘述-&gt;用securebert2.0做成embedding-&gt;PCA降維-&gt;Training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2471" y="3452450"/>
            <a:ext cx="5268749" cy="1612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/>
        </p:nvSpPr>
        <p:spPr>
          <a:xfrm>
            <a:off x="5079606" y="0"/>
            <a:ext cx="4057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Total abilities : 16900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Total Events: 7,949,998 events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Benign : 4,146,957 events (52.16%)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Malicious : 3,803,041 events(47.84%)</a:t>
            </a:r>
            <a:endParaRPr sz="1800"/>
          </a:p>
        </p:txBody>
      </p:sp>
      <p:sp>
        <p:nvSpPr>
          <p:cNvPr id="58" name="Google Shape;58;p13"/>
          <p:cNvSpPr txBox="1"/>
          <p:nvPr/>
        </p:nvSpPr>
        <p:spPr>
          <a:xfrm>
            <a:off x="455650" y="3109247"/>
            <a:ext cx="1151700" cy="4617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src node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455650" y="4259772"/>
            <a:ext cx="1151700" cy="4617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dst node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55650" y="3684509"/>
            <a:ext cx="1151700" cy="4617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relation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2097609" y="3109250"/>
            <a:ext cx="1368300" cy="4617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Description</a:t>
            </a:r>
            <a:endParaRPr/>
          </a:p>
        </p:txBody>
      </p:sp>
      <p:cxnSp>
        <p:nvCxnSpPr>
          <p:cNvPr id="62" name="Google Shape;62;p13"/>
          <p:cNvCxnSpPr>
            <a:stCxn id="58" idx="3"/>
            <a:endCxn id="61" idx="1"/>
          </p:cNvCxnSpPr>
          <p:nvPr/>
        </p:nvCxnSpPr>
        <p:spPr>
          <a:xfrm>
            <a:off x="1607350" y="3340097"/>
            <a:ext cx="49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>
            <a:stCxn id="60" idx="3"/>
            <a:endCxn id="64" idx="1"/>
          </p:cNvCxnSpPr>
          <p:nvPr/>
        </p:nvCxnSpPr>
        <p:spPr>
          <a:xfrm flipH="1" rot="10800000">
            <a:off x="1607350" y="3913859"/>
            <a:ext cx="21609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3"/>
          <p:cNvSpPr txBox="1"/>
          <p:nvPr/>
        </p:nvSpPr>
        <p:spPr>
          <a:xfrm>
            <a:off x="2097609" y="4259775"/>
            <a:ext cx="1368300" cy="4617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Description</a:t>
            </a:r>
            <a:endParaRPr/>
          </a:p>
        </p:txBody>
      </p:sp>
      <p:cxnSp>
        <p:nvCxnSpPr>
          <p:cNvPr id="66" name="Google Shape;66;p13"/>
          <p:cNvCxnSpPr>
            <a:stCxn id="59" idx="3"/>
            <a:endCxn id="65" idx="1"/>
          </p:cNvCxnSpPr>
          <p:nvPr/>
        </p:nvCxnSpPr>
        <p:spPr>
          <a:xfrm>
            <a:off x="1607350" y="4490622"/>
            <a:ext cx="49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3"/>
          <p:cNvSpPr txBox="1"/>
          <p:nvPr/>
        </p:nvSpPr>
        <p:spPr>
          <a:xfrm>
            <a:off x="1351458" y="2725488"/>
            <a:ext cx="10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LLM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3768209" y="3109250"/>
            <a:ext cx="1368300" cy="4617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Embedding</a:t>
            </a:r>
            <a:endParaRPr/>
          </a:p>
        </p:txBody>
      </p:sp>
      <p:cxnSp>
        <p:nvCxnSpPr>
          <p:cNvPr id="69" name="Google Shape;69;p13"/>
          <p:cNvCxnSpPr>
            <a:stCxn id="61" idx="3"/>
            <a:endCxn id="68" idx="1"/>
          </p:cNvCxnSpPr>
          <p:nvPr/>
        </p:nvCxnSpPr>
        <p:spPr>
          <a:xfrm>
            <a:off x="3465909" y="3340100"/>
            <a:ext cx="3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3"/>
          <p:cNvSpPr txBox="1"/>
          <p:nvPr/>
        </p:nvSpPr>
        <p:spPr>
          <a:xfrm>
            <a:off x="2616758" y="2725488"/>
            <a:ext cx="20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SecureBert 2.0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3768209" y="3683069"/>
            <a:ext cx="1368300" cy="4617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Embedding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3768209" y="4259775"/>
            <a:ext cx="1368300" cy="4617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Embedding</a:t>
            </a:r>
            <a:endParaRPr/>
          </a:p>
        </p:txBody>
      </p:sp>
      <p:cxnSp>
        <p:nvCxnSpPr>
          <p:cNvPr id="72" name="Google Shape;72;p13"/>
          <p:cNvCxnSpPr>
            <a:stCxn id="65" idx="3"/>
            <a:endCxn id="71" idx="1"/>
          </p:cNvCxnSpPr>
          <p:nvPr/>
        </p:nvCxnSpPr>
        <p:spPr>
          <a:xfrm>
            <a:off x="3465909" y="4490625"/>
            <a:ext cx="3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3"/>
          <p:cNvCxnSpPr>
            <a:stCxn id="68" idx="3"/>
            <a:endCxn id="74" idx="1"/>
          </p:cNvCxnSpPr>
          <p:nvPr/>
        </p:nvCxnSpPr>
        <p:spPr>
          <a:xfrm>
            <a:off x="5136509" y="3340100"/>
            <a:ext cx="525600" cy="5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3"/>
          <p:cNvSpPr txBox="1"/>
          <p:nvPr/>
        </p:nvSpPr>
        <p:spPr>
          <a:xfrm>
            <a:off x="5001283" y="2725500"/>
            <a:ext cx="81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PCA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5662021" y="3684500"/>
            <a:ext cx="1368300" cy="46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Concat</a:t>
            </a:r>
            <a:endParaRPr/>
          </a:p>
        </p:txBody>
      </p:sp>
      <p:cxnSp>
        <p:nvCxnSpPr>
          <p:cNvPr id="76" name="Google Shape;76;p13"/>
          <p:cNvCxnSpPr>
            <a:stCxn id="64" idx="3"/>
            <a:endCxn id="74" idx="1"/>
          </p:cNvCxnSpPr>
          <p:nvPr/>
        </p:nvCxnSpPr>
        <p:spPr>
          <a:xfrm>
            <a:off x="5136509" y="3913919"/>
            <a:ext cx="525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>
            <a:stCxn id="71" idx="3"/>
            <a:endCxn id="74" idx="1"/>
          </p:cNvCxnSpPr>
          <p:nvPr/>
        </p:nvCxnSpPr>
        <p:spPr>
          <a:xfrm flipH="1" rot="10800000">
            <a:off x="5136509" y="3915225"/>
            <a:ext cx="525600" cy="5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3"/>
          <p:cNvSpPr txBox="1"/>
          <p:nvPr/>
        </p:nvSpPr>
        <p:spPr>
          <a:xfrm>
            <a:off x="7424596" y="3525211"/>
            <a:ext cx="1368300" cy="780300"/>
          </a:xfrm>
          <a:prstGeom prst="rect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Event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Embedding</a:t>
            </a:r>
            <a:endParaRPr/>
          </a:p>
        </p:txBody>
      </p:sp>
      <p:cxnSp>
        <p:nvCxnSpPr>
          <p:cNvPr id="79" name="Google Shape;79;p13"/>
          <p:cNvCxnSpPr>
            <a:stCxn id="74" idx="3"/>
            <a:endCxn id="78" idx="1"/>
          </p:cNvCxnSpPr>
          <p:nvPr/>
        </p:nvCxnSpPr>
        <p:spPr>
          <a:xfrm>
            <a:off x="7030321" y="3915350"/>
            <a:ext cx="39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4592934" y="3895012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16</a:t>
            </a:r>
            <a:endParaRPr sz="1200"/>
          </a:p>
        </p:txBody>
      </p:sp>
      <p:sp>
        <p:nvSpPr>
          <p:cNvPr id="82" name="Google Shape;82;p13"/>
          <p:cNvSpPr txBox="1"/>
          <p:nvPr/>
        </p:nvSpPr>
        <p:spPr>
          <a:xfrm>
            <a:off x="4561533" y="4477792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256</a:t>
            </a:r>
            <a:endParaRPr sz="1200"/>
          </a:p>
        </p:txBody>
      </p:sp>
      <p:sp>
        <p:nvSpPr>
          <p:cNvPr id="83" name="Google Shape;83;p13"/>
          <p:cNvSpPr txBox="1"/>
          <p:nvPr/>
        </p:nvSpPr>
        <p:spPr>
          <a:xfrm>
            <a:off x="4561533" y="3334838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256</a:t>
            </a:r>
            <a:endParaRPr sz="1200"/>
          </a:p>
        </p:txBody>
      </p:sp>
      <p:sp>
        <p:nvSpPr>
          <p:cNvPr id="84" name="Google Shape;84;p13"/>
          <p:cNvSpPr txBox="1"/>
          <p:nvPr/>
        </p:nvSpPr>
        <p:spPr>
          <a:xfrm>
            <a:off x="6434294" y="3885836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528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164050" y="78550"/>
            <a:ext cx="680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Structure - </a:t>
            </a:r>
            <a:r>
              <a:rPr lang="zh-TW"/>
              <a:t>A</a:t>
            </a:r>
            <a:r>
              <a:rPr lang="zh-TW"/>
              <a:t>nomaly detection - OneclassSVM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64050" y="1065900"/>
            <a:ext cx="1277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6080075" y="987150"/>
            <a:ext cx="1146000" cy="61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OneClass</a:t>
            </a:r>
            <a:br>
              <a:rPr lang="zh-TW"/>
            </a:br>
            <a:r>
              <a:rPr lang="zh-TW"/>
              <a:t>SVM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549662" y="1065897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93" name="Google Shape;93;p14"/>
          <p:cNvCxnSpPr>
            <a:stCxn id="91" idx="3"/>
            <a:endCxn id="92" idx="1"/>
          </p:cNvCxnSpPr>
          <p:nvPr/>
        </p:nvCxnSpPr>
        <p:spPr>
          <a:xfrm>
            <a:off x="7226075" y="1294950"/>
            <a:ext cx="3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487125" y="3722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grpSp>
        <p:nvGrpSpPr>
          <p:cNvPr id="96" name="Google Shape;96;p14"/>
          <p:cNvGrpSpPr/>
          <p:nvPr/>
        </p:nvGrpSpPr>
        <p:grpSpPr>
          <a:xfrm>
            <a:off x="10106175" y="4185525"/>
            <a:ext cx="1761900" cy="615600"/>
            <a:chOff x="6591025" y="4184550"/>
            <a:chExt cx="1761900" cy="615600"/>
          </a:xfrm>
        </p:grpSpPr>
        <p:sp>
          <p:nvSpPr>
            <p:cNvPr id="97" name="Google Shape;97;p14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98" name="Google Shape;98;p14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9" name="Google Shape;99;p14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00" name="Google Shape;100;p14"/>
          <p:cNvCxnSpPr>
            <a:stCxn id="90" idx="3"/>
            <a:endCxn id="101" idx="1"/>
          </p:cNvCxnSpPr>
          <p:nvPr/>
        </p:nvCxnSpPr>
        <p:spPr>
          <a:xfrm>
            <a:off x="1441150" y="1294950"/>
            <a:ext cx="34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4"/>
          <p:cNvSpPr/>
          <p:nvPr/>
        </p:nvSpPr>
        <p:spPr>
          <a:xfrm>
            <a:off x="3427377" y="1065900"/>
            <a:ext cx="11460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Feature Extraction </a:t>
            </a:r>
            <a:endParaRPr/>
          </a:p>
        </p:txBody>
      </p:sp>
      <p:cxnSp>
        <p:nvCxnSpPr>
          <p:cNvPr id="103" name="Google Shape;103;p14"/>
          <p:cNvCxnSpPr>
            <a:stCxn id="102" idx="3"/>
            <a:endCxn id="104" idx="1"/>
          </p:cNvCxnSpPr>
          <p:nvPr/>
        </p:nvCxnSpPr>
        <p:spPr>
          <a:xfrm>
            <a:off x="4573377" y="1294950"/>
            <a:ext cx="39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4"/>
          <p:cNvSpPr/>
          <p:nvPr/>
        </p:nvSpPr>
        <p:spPr>
          <a:xfrm>
            <a:off x="4965412" y="1065897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PCA</a:t>
            </a:r>
            <a:endParaRPr/>
          </a:p>
        </p:txBody>
      </p:sp>
      <p:cxnSp>
        <p:nvCxnSpPr>
          <p:cNvPr id="105" name="Google Shape;105;p14"/>
          <p:cNvCxnSpPr>
            <a:stCxn id="104" idx="3"/>
            <a:endCxn id="91" idx="1"/>
          </p:cNvCxnSpPr>
          <p:nvPr/>
        </p:nvCxnSpPr>
        <p:spPr>
          <a:xfrm>
            <a:off x="5756512" y="1294947"/>
            <a:ext cx="3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4"/>
          <p:cNvSpPr txBox="1"/>
          <p:nvPr/>
        </p:nvSpPr>
        <p:spPr>
          <a:xfrm>
            <a:off x="765350" y="1857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1790913" y="901200"/>
            <a:ext cx="1286700" cy="787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Sliding Window Mechanism </a:t>
            </a:r>
            <a:endParaRPr/>
          </a:p>
        </p:txBody>
      </p:sp>
      <p:cxnSp>
        <p:nvCxnSpPr>
          <p:cNvPr id="107" name="Google Shape;107;p14"/>
          <p:cNvCxnSpPr>
            <a:stCxn id="101" idx="3"/>
            <a:endCxn id="102" idx="1"/>
          </p:cNvCxnSpPr>
          <p:nvPr/>
        </p:nvCxnSpPr>
        <p:spPr>
          <a:xfrm>
            <a:off x="3077613" y="1294950"/>
            <a:ext cx="34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4"/>
          <p:cNvSpPr txBox="1"/>
          <p:nvPr/>
        </p:nvSpPr>
        <p:spPr>
          <a:xfrm>
            <a:off x="1631125" y="1749350"/>
            <a:ext cx="201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WINDOW_SIZE=256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STRIDE=64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4575" y="2653200"/>
            <a:ext cx="7731600" cy="238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mean (平均值)：視窗內事件向量的整體分佈</a:t>
            </a:r>
            <a:r>
              <a:rPr lang="zh-TW"/>
              <a:t>的平均值</a:t>
            </a:r>
            <a:r>
              <a:rPr lang="zh-TW"/>
              <a:t>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max (最大值)：時間段內最極端的正向特徵。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min (最小值)：</a:t>
            </a:r>
            <a:r>
              <a:rPr lang="zh-TW">
                <a:solidFill>
                  <a:schemeClr val="dk1"/>
                </a:solidFill>
              </a:rPr>
              <a:t>時間段</a:t>
            </a:r>
            <a:r>
              <a:rPr lang="zh-TW"/>
              <a:t>內</a:t>
            </a:r>
            <a:r>
              <a:rPr lang="zh-TW"/>
              <a:t>最極端的負向特徵。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std (標準差)：衡量行為語義的波動劇烈程度。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IQR (四分位距, Q3 - Q1)：資料中間 50% 數據的分布範圍。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skewness (偏度)：若攻擊者在大量正常日誌中安插極少數的惡意指令，平均值可能不會明顯改變，但分佈會產生「長尾效應」。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diff_mean (差分平均)：代表系統行為「轉換速度」的平均值。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diff_std (差分標準差)：代表系統行為轉換的「加速度」或不穩定性。</a:t>
            </a:r>
            <a:endParaRPr/>
          </a:p>
        </p:txBody>
      </p:sp>
      <p:cxnSp>
        <p:nvCxnSpPr>
          <p:cNvPr id="110" name="Google Shape;110;p14"/>
          <p:cNvCxnSpPr>
            <a:stCxn id="102" idx="2"/>
            <a:endCxn id="109" idx="0"/>
          </p:cNvCxnSpPr>
          <p:nvPr/>
        </p:nvCxnSpPr>
        <p:spPr>
          <a:xfrm>
            <a:off x="4000377" y="1524000"/>
            <a:ext cx="0" cy="11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4"/>
          <p:cNvSpPr txBox="1"/>
          <p:nvPr/>
        </p:nvSpPr>
        <p:spPr>
          <a:xfrm>
            <a:off x="4507150" y="1688700"/>
            <a:ext cx="17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Dim: </a:t>
            </a:r>
            <a:r>
              <a:rPr lang="zh-TW">
                <a:solidFill>
                  <a:schemeClr val="dk1"/>
                </a:solidFill>
              </a:rPr>
              <a:t>256</a:t>
            </a:r>
            <a:r>
              <a:rPr lang="zh-TW">
                <a:solidFill>
                  <a:schemeClr val="dk1"/>
                </a:solidFill>
              </a:rPr>
              <a:t>*8 -&gt; 256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/>
        </p:nvSpPr>
        <p:spPr>
          <a:xfrm>
            <a:off x="3299793" y="33564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33081" y="19019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Structure - TTP detection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253904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995725" y="1360400"/>
            <a:ext cx="2626200" cy="171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120" name="Google Shape;120;p15"/>
          <p:cNvCxnSpPr>
            <a:stCxn id="121" idx="2"/>
            <a:endCxn id="122" idx="1"/>
          </p:cNvCxnSpPr>
          <p:nvPr/>
        </p:nvCxnSpPr>
        <p:spPr>
          <a:xfrm rot="5400000">
            <a:off x="1102150" y="2672425"/>
            <a:ext cx="994500" cy="1376700"/>
          </a:xfrm>
          <a:prstGeom prst="curvedConnector4">
            <a:avLst>
              <a:gd fmla="val 38477" name="adj1"/>
              <a:gd fmla="val 11730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3" name="Google Shape;123;p15"/>
          <p:cNvGrpSpPr/>
          <p:nvPr/>
        </p:nvGrpSpPr>
        <p:grpSpPr>
          <a:xfrm>
            <a:off x="5773125" y="1394875"/>
            <a:ext cx="3159300" cy="1778400"/>
            <a:chOff x="513899" y="3066238"/>
            <a:chExt cx="3159300" cy="1778400"/>
          </a:xfrm>
        </p:grpSpPr>
        <p:sp>
          <p:nvSpPr>
            <p:cNvPr id="124" name="Google Shape;124;p15"/>
            <p:cNvSpPr/>
            <p:nvPr/>
          </p:nvSpPr>
          <p:spPr>
            <a:xfrm>
              <a:off x="513899" y="3066238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Transformer</a:t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732645" y="3382738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770299" y="4147813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2483723" y="3382738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289624" y="4147813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129" name="Google Shape;129;p15"/>
            <p:cNvCxnSpPr>
              <a:stCxn id="125" idx="2"/>
              <a:endCxn id="126" idx="0"/>
            </p:cNvCxnSpPr>
            <p:nvPr/>
          </p:nvCxnSpPr>
          <p:spPr>
            <a:xfrm>
              <a:off x="1381845" y="3955438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" name="Google Shape;130;p15"/>
            <p:cNvCxnSpPr>
              <a:stCxn id="126" idx="3"/>
              <a:endCxn id="127" idx="1"/>
            </p:cNvCxnSpPr>
            <p:nvPr/>
          </p:nvCxnSpPr>
          <p:spPr>
            <a:xfrm flipH="1" rot="10800000">
              <a:off x="1993399" y="3669163"/>
              <a:ext cx="4902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1" name="Google Shape;131;p15"/>
            <p:cNvCxnSpPr>
              <a:stCxn id="127" idx="2"/>
              <a:endCxn id="128" idx="0"/>
            </p:cNvCxnSpPr>
            <p:nvPr/>
          </p:nvCxnSpPr>
          <p:spPr>
            <a:xfrm flipH="1">
              <a:off x="2857373" y="3955438"/>
              <a:ext cx="2190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2" name="Google Shape;132;p15"/>
          <p:cNvSpPr/>
          <p:nvPr/>
        </p:nvSpPr>
        <p:spPr>
          <a:xfrm>
            <a:off x="134942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910950" y="362882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4064325" y="363046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34" name="Google Shape;134;p15"/>
          <p:cNvCxnSpPr>
            <a:stCxn id="122" idx="3"/>
            <a:endCxn id="135" idx="1"/>
          </p:cNvCxnSpPr>
          <p:nvPr/>
        </p:nvCxnSpPr>
        <p:spPr>
          <a:xfrm>
            <a:off x="1702050" y="3857875"/>
            <a:ext cx="72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5"/>
          <p:cNvCxnSpPr>
            <a:stCxn id="133" idx="3"/>
            <a:endCxn id="137" idx="1"/>
          </p:cNvCxnSpPr>
          <p:nvPr/>
        </p:nvCxnSpPr>
        <p:spPr>
          <a:xfrm>
            <a:off x="4855425" y="3859513"/>
            <a:ext cx="31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5"/>
          <p:cNvSpPr/>
          <p:nvPr/>
        </p:nvSpPr>
        <p:spPr>
          <a:xfrm>
            <a:off x="5167000" y="36304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138" name="Google Shape;138;p15"/>
          <p:cNvCxnSpPr>
            <a:stCxn id="137" idx="3"/>
            <a:endCxn id="139" idx="1"/>
          </p:cNvCxnSpPr>
          <p:nvPr/>
        </p:nvCxnSpPr>
        <p:spPr>
          <a:xfrm>
            <a:off x="5958100" y="38595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5"/>
          <p:cNvSpPr/>
          <p:nvPr/>
        </p:nvSpPr>
        <p:spPr>
          <a:xfrm>
            <a:off x="6269463" y="36304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7508450" y="3630531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141" name="Google Shape;141;p15"/>
          <p:cNvCxnSpPr>
            <a:stCxn id="139" idx="3"/>
            <a:endCxn id="140" idx="1"/>
          </p:cNvCxnSpPr>
          <p:nvPr/>
        </p:nvCxnSpPr>
        <p:spPr>
          <a:xfrm>
            <a:off x="7197063" y="38595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5"/>
          <p:cNvSpPr txBox="1"/>
          <p:nvPr/>
        </p:nvSpPr>
        <p:spPr>
          <a:xfrm>
            <a:off x="-167725" y="430572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143" name="Google Shape;143;p15"/>
          <p:cNvSpPr txBox="1"/>
          <p:nvPr/>
        </p:nvSpPr>
        <p:spPr>
          <a:xfrm>
            <a:off x="4225900" y="2816250"/>
            <a:ext cx="63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 sz="1600"/>
          </a:p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2927550" y="206852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2425050" y="3628848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46" name="Google Shape;146;p15"/>
          <p:cNvCxnSpPr>
            <a:stCxn id="135" idx="3"/>
            <a:endCxn id="133" idx="1"/>
          </p:cNvCxnSpPr>
          <p:nvPr/>
        </p:nvCxnSpPr>
        <p:spPr>
          <a:xfrm>
            <a:off x="3216150" y="3857898"/>
            <a:ext cx="848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15"/>
          <p:cNvSpPr txBox="1"/>
          <p:nvPr/>
        </p:nvSpPr>
        <p:spPr>
          <a:xfrm>
            <a:off x="13930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148" name="Google Shape;148;p15"/>
          <p:cNvSpPr txBox="1"/>
          <p:nvPr/>
        </p:nvSpPr>
        <p:spPr>
          <a:xfrm>
            <a:off x="1821693" y="3369083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149" name="Google Shape;149;p15"/>
          <p:cNvCxnSpPr>
            <a:stCxn id="122" idx="2"/>
            <a:endCxn id="142" idx="0"/>
          </p:cNvCxnSpPr>
          <p:nvPr/>
        </p:nvCxnSpPr>
        <p:spPr>
          <a:xfrm flipH="1">
            <a:off x="1259700" y="4086925"/>
            <a:ext cx="4680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5"/>
          <p:cNvCxnSpPr>
            <a:stCxn id="135" idx="2"/>
            <a:endCxn id="147" idx="0"/>
          </p:cNvCxnSpPr>
          <p:nvPr/>
        </p:nvCxnSpPr>
        <p:spPr>
          <a:xfrm>
            <a:off x="2820600" y="4086948"/>
            <a:ext cx="0" cy="5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15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152" name="Google Shape;152;p15"/>
          <p:cNvCxnSpPr>
            <a:stCxn id="133" idx="2"/>
            <a:endCxn id="151" idx="0"/>
          </p:cNvCxnSpPr>
          <p:nvPr/>
        </p:nvCxnSpPr>
        <p:spPr>
          <a:xfrm>
            <a:off x="4459875" y="4088563"/>
            <a:ext cx="309300" cy="5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5"/>
          <p:cNvCxnSpPr>
            <a:stCxn id="145" idx="3"/>
            <a:endCxn id="133" idx="0"/>
          </p:cNvCxnSpPr>
          <p:nvPr/>
        </p:nvCxnSpPr>
        <p:spPr>
          <a:xfrm>
            <a:off x="3476250" y="2284075"/>
            <a:ext cx="983700" cy="1346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15"/>
          <p:cNvSpPr txBox="1"/>
          <p:nvPr/>
        </p:nvSpPr>
        <p:spPr>
          <a:xfrm>
            <a:off x="84050" y="3071312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155" name="Google Shape;155;p15"/>
          <p:cNvCxnSpPr>
            <a:stCxn id="145" idx="3"/>
            <a:endCxn id="122" idx="0"/>
          </p:cNvCxnSpPr>
          <p:nvPr/>
        </p:nvCxnSpPr>
        <p:spPr>
          <a:xfrm flipH="1">
            <a:off x="1306350" y="2284075"/>
            <a:ext cx="2169900" cy="1344900"/>
          </a:xfrm>
          <a:prstGeom prst="curvedConnector4">
            <a:avLst>
              <a:gd fmla="val -10974" name="adj1"/>
              <a:gd fmla="val 5800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15"/>
          <p:cNvSpPr txBox="1"/>
          <p:nvPr/>
        </p:nvSpPr>
        <p:spPr>
          <a:xfrm>
            <a:off x="5852775" y="4321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cxnSp>
        <p:nvCxnSpPr>
          <p:cNvPr id="157" name="Google Shape;157;p15"/>
          <p:cNvCxnSpPr/>
          <p:nvPr/>
        </p:nvCxnSpPr>
        <p:spPr>
          <a:xfrm>
            <a:off x="2287829" y="215877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15"/>
          <p:cNvSpPr txBox="1"/>
          <p:nvPr/>
        </p:nvSpPr>
        <p:spPr>
          <a:xfrm>
            <a:off x="3457175" y="2714675"/>
            <a:ext cx="63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 sz="1600"/>
          </a:p>
        </p:txBody>
      </p:sp>
      <p:grpSp>
        <p:nvGrpSpPr>
          <p:cNvPr id="159" name="Google Shape;159;p15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160" name="Google Shape;160;p15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61" name="Google Shape;161;p15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" name="Google Shape;162;p15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21" name="Google Shape;121;p15"/>
          <p:cNvSpPr/>
          <p:nvPr/>
        </p:nvSpPr>
        <p:spPr>
          <a:xfrm>
            <a:off x="1349350" y="240542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cxnSp>
        <p:nvCxnSpPr>
          <p:cNvPr id="163" name="Google Shape;163;p15"/>
          <p:cNvCxnSpPr>
            <a:stCxn id="118" idx="3"/>
            <a:endCxn id="164" idx="1"/>
          </p:cNvCxnSpPr>
          <p:nvPr/>
        </p:nvCxnSpPr>
        <p:spPr>
          <a:xfrm>
            <a:off x="1792004" y="880300"/>
            <a:ext cx="2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5" name="Google Shape;165;p15"/>
          <p:cNvGrpSpPr/>
          <p:nvPr/>
        </p:nvGrpSpPr>
        <p:grpSpPr>
          <a:xfrm>
            <a:off x="5672456" y="116150"/>
            <a:ext cx="3360646" cy="1151100"/>
            <a:chOff x="4666256" y="19025"/>
            <a:chExt cx="3360646" cy="1151100"/>
          </a:xfrm>
        </p:grpSpPr>
        <p:sp>
          <p:nvSpPr>
            <p:cNvPr id="166" name="Google Shape;166;p15"/>
            <p:cNvSpPr txBox="1"/>
            <p:nvPr/>
          </p:nvSpPr>
          <p:spPr>
            <a:xfrm>
              <a:off x="5877750" y="14195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Chunk1</a:t>
              </a:r>
              <a:br>
                <a:rPr lang="zh-TW">
                  <a:solidFill>
                    <a:schemeClr val="dk1"/>
                  </a:solidFill>
                </a:rPr>
              </a:br>
              <a:r>
                <a:rPr lang="zh-TW">
                  <a:solidFill>
                    <a:schemeClr val="dk1"/>
                  </a:solidFill>
                </a:rPr>
                <a:t>window:256</a:t>
              </a:r>
              <a:endParaRPr/>
            </a:p>
          </p:txBody>
        </p:sp>
        <p:grpSp>
          <p:nvGrpSpPr>
            <p:cNvPr id="167" name="Google Shape;167;p15"/>
            <p:cNvGrpSpPr/>
            <p:nvPr/>
          </p:nvGrpSpPr>
          <p:grpSpPr>
            <a:xfrm>
              <a:off x="4666256" y="19025"/>
              <a:ext cx="3360646" cy="1151100"/>
              <a:chOff x="6117013" y="141950"/>
              <a:chExt cx="3281881" cy="1151100"/>
            </a:xfrm>
          </p:grpSpPr>
          <p:grpSp>
            <p:nvGrpSpPr>
              <p:cNvPr id="168" name="Google Shape;168;p15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169" name="Google Shape;169;p15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Multi-Chunk Module</a:t>
                  </a:r>
                  <a:endParaRPr/>
                </a:p>
              </p:txBody>
            </p:sp>
            <p:sp>
              <p:nvSpPr>
                <p:cNvPr id="170" name="Google Shape;170;p15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Chunk1</a:t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scale:256</a:t>
                  </a:r>
                  <a:endParaRPr/>
                </a:p>
              </p:txBody>
            </p:sp>
          </p:grpSp>
          <p:sp>
            <p:nvSpPr>
              <p:cNvPr id="171" name="Google Shape;171;p15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Chunk2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scale:64</a:t>
                </a: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Chunk3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scale:16</a:t>
                </a:r>
                <a:endParaRPr/>
              </a:p>
            </p:txBody>
          </p:sp>
        </p:grpSp>
        <p:sp>
          <p:nvSpPr>
            <p:cNvPr id="173" name="Google Shape;173;p15"/>
            <p:cNvSpPr txBox="1"/>
            <p:nvPr/>
          </p:nvSpPr>
          <p:spPr>
            <a:xfrm>
              <a:off x="5536419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174" name="Google Shape;174;p15"/>
            <p:cNvSpPr txBox="1"/>
            <p:nvPr/>
          </p:nvSpPr>
          <p:spPr>
            <a:xfrm>
              <a:off x="6589063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5729281" y="62387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6774650" y="621494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5"/>
          <p:cNvSpPr/>
          <p:nvPr/>
        </p:nvSpPr>
        <p:spPr>
          <a:xfrm>
            <a:off x="2087575" y="651250"/>
            <a:ext cx="1043400" cy="458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MCM</a:t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3400438" y="651250"/>
            <a:ext cx="10434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cxnSp>
        <p:nvCxnSpPr>
          <p:cNvPr id="178" name="Google Shape;178;p15"/>
          <p:cNvCxnSpPr>
            <a:stCxn id="164" idx="3"/>
            <a:endCxn id="177" idx="1"/>
          </p:cNvCxnSpPr>
          <p:nvPr/>
        </p:nvCxnSpPr>
        <p:spPr>
          <a:xfrm>
            <a:off x="3130975" y="880300"/>
            <a:ext cx="26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5"/>
          <p:cNvCxnSpPr>
            <a:stCxn id="177" idx="2"/>
            <a:endCxn id="132" idx="3"/>
          </p:cNvCxnSpPr>
          <p:nvPr/>
        </p:nvCxnSpPr>
        <p:spPr>
          <a:xfrm rot="5400000">
            <a:off x="3163888" y="1171600"/>
            <a:ext cx="820500" cy="696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/>
        </p:nvSpPr>
        <p:spPr>
          <a:xfrm>
            <a:off x="7796631" y="4770361"/>
            <a:ext cx="1213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Loss = crf_loss + w * focal_loss</a:t>
            </a:r>
            <a:endParaRPr sz="566"/>
          </a:p>
        </p:txBody>
      </p:sp>
      <p:sp>
        <p:nvSpPr>
          <p:cNvPr id="185" name="Google Shape;185;p16"/>
          <p:cNvSpPr/>
          <p:nvPr/>
        </p:nvSpPr>
        <p:spPr>
          <a:xfrm>
            <a:off x="5437275" y="2992875"/>
            <a:ext cx="3706800" cy="215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1992925" y="1258998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187" name="Google Shape;187;p16"/>
          <p:cNvSpPr txBox="1"/>
          <p:nvPr>
            <p:ph type="title"/>
          </p:nvPr>
        </p:nvSpPr>
        <p:spPr>
          <a:xfrm>
            <a:off x="311700" y="7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1539779" y="8129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995725" y="1772750"/>
            <a:ext cx="2626200" cy="171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190" name="Google Shape;190;p16"/>
          <p:cNvCxnSpPr>
            <a:stCxn id="188" idx="2"/>
          </p:cNvCxnSpPr>
          <p:nvPr/>
        </p:nvCxnSpPr>
        <p:spPr>
          <a:xfrm>
            <a:off x="2308829" y="1271050"/>
            <a:ext cx="2400" cy="1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6"/>
          <p:cNvCxnSpPr>
            <a:stCxn id="192" idx="2"/>
            <a:endCxn id="193" idx="1"/>
          </p:cNvCxnSpPr>
          <p:nvPr/>
        </p:nvCxnSpPr>
        <p:spPr>
          <a:xfrm rot="-5400000">
            <a:off x="3010600" y="1714525"/>
            <a:ext cx="838500" cy="2284200"/>
          </a:xfrm>
          <a:prstGeom prst="curvedConnector4">
            <a:avLst>
              <a:gd fmla="val -28399" name="adj1"/>
              <a:gd fmla="val 705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16"/>
          <p:cNvSpPr/>
          <p:nvPr/>
        </p:nvSpPr>
        <p:spPr>
          <a:xfrm>
            <a:off x="1349425" y="211302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4572000" y="22082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95" name="Google Shape;195;p16"/>
          <p:cNvCxnSpPr>
            <a:stCxn id="193" idx="3"/>
            <a:endCxn id="196" idx="1"/>
          </p:cNvCxnSpPr>
          <p:nvPr/>
        </p:nvCxnSpPr>
        <p:spPr>
          <a:xfrm>
            <a:off x="5363100" y="24373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16"/>
          <p:cNvSpPr txBox="1"/>
          <p:nvPr/>
        </p:nvSpPr>
        <p:spPr>
          <a:xfrm>
            <a:off x="2927550" y="248087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5414555" y="1844858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211600" y="4175250"/>
            <a:ext cx="425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proto:使用h1學習並映射在256維的標籤座標</a:t>
            </a:r>
            <a:endParaRPr sz="1600"/>
          </a:p>
        </p:txBody>
      </p:sp>
      <p:cxnSp>
        <p:nvCxnSpPr>
          <p:cNvPr id="200" name="Google Shape;200;p16"/>
          <p:cNvCxnSpPr>
            <a:stCxn id="197" idx="3"/>
            <a:endCxn id="193" idx="0"/>
          </p:cNvCxnSpPr>
          <p:nvPr/>
        </p:nvCxnSpPr>
        <p:spPr>
          <a:xfrm flipH="1" rot="10800000">
            <a:off x="3476250" y="2208325"/>
            <a:ext cx="1491300" cy="488100"/>
          </a:xfrm>
          <a:prstGeom prst="curvedConnector4">
            <a:avLst>
              <a:gd fmla="val 36738" name="adj1"/>
              <a:gd fmla="val 1487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16"/>
          <p:cNvCxnSpPr/>
          <p:nvPr/>
        </p:nvCxnSpPr>
        <p:spPr>
          <a:xfrm>
            <a:off x="2287829" y="257112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16"/>
          <p:cNvSpPr/>
          <p:nvPr/>
        </p:nvSpPr>
        <p:spPr>
          <a:xfrm>
            <a:off x="1349350" y="28177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6014700" y="2208286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203" name="Google Shape;203;p16"/>
          <p:cNvCxnSpPr/>
          <p:nvPr/>
        </p:nvCxnSpPr>
        <p:spPr>
          <a:xfrm>
            <a:off x="6805800" y="24373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16"/>
          <p:cNvSpPr txBox="1"/>
          <p:nvPr/>
        </p:nvSpPr>
        <p:spPr>
          <a:xfrm>
            <a:off x="7457400" y="223722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211600" y="3744150"/>
            <a:ext cx="425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h1:用audit log 做self-attention產出的特徵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3345075" y="3313044"/>
            <a:ext cx="6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proto</a:t>
            </a:r>
            <a:endParaRPr sz="1600"/>
          </a:p>
        </p:txBody>
      </p:sp>
      <p:sp>
        <p:nvSpPr>
          <p:cNvPr id="207" name="Google Shape;207;p16"/>
          <p:cNvSpPr txBox="1"/>
          <p:nvPr/>
        </p:nvSpPr>
        <p:spPr>
          <a:xfrm>
            <a:off x="3345075" y="561675"/>
            <a:ext cx="206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208" name="Google Shape;208;p16"/>
          <p:cNvSpPr txBox="1"/>
          <p:nvPr/>
        </p:nvSpPr>
        <p:spPr>
          <a:xfrm>
            <a:off x="2617825" y="1346713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dim:528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-359025" y="2356188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dim:528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-359025" y="3227963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dim:256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4797750" y="1413738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dim:528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5631600" y="438675"/>
            <a:ext cx="310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把proto當作Q的用意是為了分辨不同TTP但h1相似的embedding</a:t>
            </a:r>
            <a:endParaRPr/>
          </a:p>
        </p:txBody>
      </p:sp>
      <p:cxnSp>
        <p:nvCxnSpPr>
          <p:cNvPr id="213" name="Google Shape;213;p16"/>
          <p:cNvCxnSpPr>
            <a:stCxn id="207" idx="3"/>
            <a:endCxn id="212" idx="1"/>
          </p:cNvCxnSpPr>
          <p:nvPr/>
        </p:nvCxnSpPr>
        <p:spPr>
          <a:xfrm>
            <a:off x="5414475" y="777225"/>
            <a:ext cx="21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16"/>
          <p:cNvCxnSpPr/>
          <p:nvPr/>
        </p:nvCxnSpPr>
        <p:spPr>
          <a:xfrm>
            <a:off x="2308829" y="1591850"/>
            <a:ext cx="2400" cy="1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16"/>
          <p:cNvSpPr txBox="1"/>
          <p:nvPr/>
        </p:nvSpPr>
        <p:spPr>
          <a:xfrm>
            <a:off x="6723917" y="4666564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h3</a:t>
            </a:r>
            <a:endParaRPr sz="566"/>
          </a:p>
        </p:txBody>
      </p:sp>
      <p:sp>
        <p:nvSpPr>
          <p:cNvPr id="216" name="Google Shape;216;p16"/>
          <p:cNvSpPr txBox="1"/>
          <p:nvPr>
            <p:ph type="title"/>
          </p:nvPr>
        </p:nvSpPr>
        <p:spPr>
          <a:xfrm>
            <a:off x="5442105" y="3029800"/>
            <a:ext cx="1718400" cy="231600"/>
          </a:xfrm>
          <a:prstGeom prst="rect">
            <a:avLst/>
          </a:prstGeom>
        </p:spPr>
        <p:txBody>
          <a:bodyPr anchorCtr="0" anchor="t" bIns="37000" lIns="37000" spcFirstLastPara="1" rIns="37000" wrap="square" tIns="37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33"/>
              <a:t>Structure - TTP detection</a:t>
            </a:r>
            <a:endParaRPr sz="1133"/>
          </a:p>
        </p:txBody>
      </p:sp>
      <p:sp>
        <p:nvSpPr>
          <p:cNvPr id="217" name="Google Shape;217;p16"/>
          <p:cNvSpPr/>
          <p:nvPr/>
        </p:nvSpPr>
        <p:spPr>
          <a:xfrm>
            <a:off x="5531445" y="3285587"/>
            <a:ext cx="622200" cy="185400"/>
          </a:xfrm>
          <a:prstGeom prst="rect">
            <a:avLst/>
          </a:prstGeom>
          <a:solidFill>
            <a:srgbClr val="FFE599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TTP embedding</a:t>
            </a:r>
            <a:endParaRPr sz="566"/>
          </a:p>
        </p:txBody>
      </p:sp>
      <p:sp>
        <p:nvSpPr>
          <p:cNvPr id="218" name="Google Shape;218;p16"/>
          <p:cNvSpPr/>
          <p:nvPr/>
        </p:nvSpPr>
        <p:spPr>
          <a:xfrm>
            <a:off x="5831570" y="3572494"/>
            <a:ext cx="1062600" cy="692100"/>
          </a:xfrm>
          <a:prstGeom prst="rect">
            <a:avLst/>
          </a:prstGeom>
          <a:solidFill>
            <a:srgbClr val="C9DAF8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Prototype Encoder</a:t>
            </a:r>
            <a:endParaRPr sz="566"/>
          </a:p>
        </p:txBody>
      </p:sp>
      <p:cxnSp>
        <p:nvCxnSpPr>
          <p:cNvPr id="219" name="Google Shape;219;p16"/>
          <p:cNvCxnSpPr>
            <a:stCxn id="220" idx="2"/>
            <a:endCxn id="221" idx="1"/>
          </p:cNvCxnSpPr>
          <p:nvPr/>
        </p:nvCxnSpPr>
        <p:spPr>
          <a:xfrm rot="5400000">
            <a:off x="5874589" y="4103289"/>
            <a:ext cx="402300" cy="557100"/>
          </a:xfrm>
          <a:prstGeom prst="curvedConnector4">
            <a:avLst>
              <a:gd fmla="val 38477" name="adj1"/>
              <a:gd fmla="val 117304" name="adj2"/>
            </a:avLst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2" name="Google Shape;222;p16"/>
          <p:cNvGrpSpPr/>
          <p:nvPr/>
        </p:nvGrpSpPr>
        <p:grpSpPr>
          <a:xfrm>
            <a:off x="7798645" y="3586472"/>
            <a:ext cx="1278253" cy="719541"/>
            <a:chOff x="5857450" y="1394875"/>
            <a:chExt cx="3159300" cy="1778400"/>
          </a:xfrm>
        </p:grpSpPr>
        <p:sp>
          <p:nvSpPr>
            <p:cNvPr id="223" name="Google Shape;223;p16"/>
            <p:cNvSpPr/>
            <p:nvPr/>
          </p:nvSpPr>
          <p:spPr>
            <a:xfrm>
              <a:off x="5857450" y="1394875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Graph Transformer</a:t>
              </a:r>
              <a:endParaRPr sz="566"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6076196" y="1711375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Multi-head attention</a:t>
              </a:r>
              <a:endParaRPr sz="566"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6113850" y="2476450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Residual + LayerNorm</a:t>
              </a:r>
              <a:endParaRPr sz="566"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7827274" y="1711375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FFN</a:t>
              </a:r>
              <a:endParaRPr sz="566"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7633175" y="2476450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Residual + LayerNorm</a:t>
              </a:r>
              <a:endParaRPr sz="566"/>
            </a:p>
          </p:txBody>
        </p:sp>
        <p:cxnSp>
          <p:nvCxnSpPr>
            <p:cNvPr id="228" name="Google Shape;228;p16"/>
            <p:cNvCxnSpPr>
              <a:stCxn id="224" idx="2"/>
              <a:endCxn id="225" idx="0"/>
            </p:cNvCxnSpPr>
            <p:nvPr/>
          </p:nvCxnSpPr>
          <p:spPr>
            <a:xfrm>
              <a:off x="6725396" y="2284075"/>
              <a:ext cx="0" cy="1923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9" name="Google Shape;229;p16"/>
            <p:cNvCxnSpPr>
              <a:stCxn id="225" idx="3"/>
              <a:endCxn id="226" idx="1"/>
            </p:cNvCxnSpPr>
            <p:nvPr/>
          </p:nvCxnSpPr>
          <p:spPr>
            <a:xfrm flipH="1" rot="10800000">
              <a:off x="7336950" y="1997800"/>
              <a:ext cx="490200" cy="7650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0" name="Google Shape;230;p16"/>
            <p:cNvCxnSpPr>
              <a:stCxn id="226" idx="2"/>
              <a:endCxn id="227" idx="0"/>
            </p:cNvCxnSpPr>
            <p:nvPr/>
          </p:nvCxnSpPr>
          <p:spPr>
            <a:xfrm flipH="1">
              <a:off x="8200924" y="2284075"/>
              <a:ext cx="21900" cy="1923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31" name="Google Shape;231;p16"/>
          <p:cNvSpPr/>
          <p:nvPr/>
        </p:nvSpPr>
        <p:spPr>
          <a:xfrm>
            <a:off x="5974670" y="3710162"/>
            <a:ext cx="759300" cy="185400"/>
          </a:xfrm>
          <a:prstGeom prst="rect">
            <a:avLst/>
          </a:prstGeom>
          <a:solidFill>
            <a:srgbClr val="EFEFEF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Graph Self-Attention</a:t>
            </a:r>
            <a:endParaRPr sz="566"/>
          </a:p>
        </p:txBody>
      </p:sp>
      <p:sp>
        <p:nvSpPr>
          <p:cNvPr id="221" name="Google Shape;221;p16"/>
          <p:cNvSpPr/>
          <p:nvPr/>
        </p:nvSpPr>
        <p:spPr>
          <a:xfrm>
            <a:off x="5797272" y="4490251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sp>
        <p:nvSpPr>
          <p:cNvPr id="232" name="Google Shape;232;p16"/>
          <p:cNvSpPr/>
          <p:nvPr/>
        </p:nvSpPr>
        <p:spPr>
          <a:xfrm>
            <a:off x="7073062" y="4490913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cxnSp>
        <p:nvCxnSpPr>
          <p:cNvPr id="233" name="Google Shape;233;p16"/>
          <p:cNvCxnSpPr>
            <a:stCxn id="221" idx="3"/>
            <a:endCxn id="234" idx="1"/>
          </p:cNvCxnSpPr>
          <p:nvPr/>
        </p:nvCxnSpPr>
        <p:spPr>
          <a:xfrm>
            <a:off x="6117372" y="4582951"/>
            <a:ext cx="2925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16"/>
          <p:cNvCxnSpPr>
            <a:stCxn id="232" idx="3"/>
            <a:endCxn id="236" idx="1"/>
          </p:cNvCxnSpPr>
          <p:nvPr/>
        </p:nvCxnSpPr>
        <p:spPr>
          <a:xfrm>
            <a:off x="7393162" y="4583613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16"/>
          <p:cNvSpPr/>
          <p:nvPr/>
        </p:nvSpPr>
        <p:spPr>
          <a:xfrm>
            <a:off x="7519181" y="4490918"/>
            <a:ext cx="3201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Linear</a:t>
            </a:r>
            <a:endParaRPr sz="566"/>
          </a:p>
        </p:txBody>
      </p:sp>
      <p:cxnSp>
        <p:nvCxnSpPr>
          <p:cNvPr id="237" name="Google Shape;237;p16"/>
          <p:cNvCxnSpPr>
            <a:stCxn id="236" idx="3"/>
            <a:endCxn id="238" idx="1"/>
          </p:cNvCxnSpPr>
          <p:nvPr/>
        </p:nvCxnSpPr>
        <p:spPr>
          <a:xfrm>
            <a:off x="7839281" y="4583618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16"/>
          <p:cNvSpPr/>
          <p:nvPr/>
        </p:nvSpPr>
        <p:spPr>
          <a:xfrm>
            <a:off x="7965214" y="4490918"/>
            <a:ext cx="3753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Sigmoid</a:t>
            </a:r>
            <a:endParaRPr sz="566"/>
          </a:p>
        </p:txBody>
      </p:sp>
      <p:sp>
        <p:nvSpPr>
          <p:cNvPr id="239" name="Google Shape;239;p16"/>
          <p:cNvSpPr/>
          <p:nvPr/>
        </p:nvSpPr>
        <p:spPr>
          <a:xfrm>
            <a:off x="8466483" y="4490941"/>
            <a:ext cx="5952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Predicted label</a:t>
            </a:r>
            <a:endParaRPr sz="566"/>
          </a:p>
        </p:txBody>
      </p:sp>
      <p:cxnSp>
        <p:nvCxnSpPr>
          <p:cNvPr id="240" name="Google Shape;240;p16"/>
          <p:cNvCxnSpPr>
            <a:stCxn id="238" idx="3"/>
            <a:endCxn id="239" idx="1"/>
          </p:cNvCxnSpPr>
          <p:nvPr/>
        </p:nvCxnSpPr>
        <p:spPr>
          <a:xfrm>
            <a:off x="8340514" y="4583618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16"/>
          <p:cNvSpPr txBox="1"/>
          <p:nvPr/>
        </p:nvSpPr>
        <p:spPr>
          <a:xfrm>
            <a:off x="5360863" y="4764110"/>
            <a:ext cx="1155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(Q:proto, K:h1, V:h1)</a:t>
            </a:r>
            <a:endParaRPr sz="647"/>
          </a:p>
        </p:txBody>
      </p:sp>
      <p:sp>
        <p:nvSpPr>
          <p:cNvPr id="242" name="Google Shape;242;p16"/>
          <p:cNvSpPr txBox="1"/>
          <p:nvPr/>
        </p:nvSpPr>
        <p:spPr>
          <a:xfrm>
            <a:off x="7138432" y="4161500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243" name="Google Shape;243;p16"/>
          <p:cNvSpPr txBox="1"/>
          <p:nvPr/>
        </p:nvSpPr>
        <p:spPr>
          <a:xfrm>
            <a:off x="6613146" y="3858987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234" name="Google Shape;234;p16"/>
          <p:cNvSpPr/>
          <p:nvPr/>
        </p:nvSpPr>
        <p:spPr>
          <a:xfrm>
            <a:off x="6409845" y="4490260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cxnSp>
        <p:nvCxnSpPr>
          <p:cNvPr id="244" name="Google Shape;244;p16"/>
          <p:cNvCxnSpPr>
            <a:stCxn id="234" idx="3"/>
            <a:endCxn id="232" idx="1"/>
          </p:cNvCxnSpPr>
          <p:nvPr/>
        </p:nvCxnSpPr>
        <p:spPr>
          <a:xfrm>
            <a:off x="6729945" y="4582960"/>
            <a:ext cx="343200" cy="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16"/>
          <p:cNvSpPr txBox="1"/>
          <p:nvPr/>
        </p:nvSpPr>
        <p:spPr>
          <a:xfrm>
            <a:off x="5992320" y="4901161"/>
            <a:ext cx="1155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(Q:h2, K:h2, V:h2)</a:t>
            </a:r>
            <a:endParaRPr sz="647"/>
          </a:p>
        </p:txBody>
      </p:sp>
      <p:sp>
        <p:nvSpPr>
          <p:cNvPr id="246" name="Google Shape;246;p16"/>
          <p:cNvSpPr txBox="1"/>
          <p:nvPr/>
        </p:nvSpPr>
        <p:spPr>
          <a:xfrm>
            <a:off x="6165740" y="4385165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h2</a:t>
            </a:r>
            <a:endParaRPr sz="566"/>
          </a:p>
        </p:txBody>
      </p:sp>
      <p:cxnSp>
        <p:nvCxnSpPr>
          <p:cNvPr id="247" name="Google Shape;247;p16"/>
          <p:cNvCxnSpPr>
            <a:stCxn id="221" idx="2"/>
            <a:endCxn id="241" idx="0"/>
          </p:cNvCxnSpPr>
          <p:nvPr/>
        </p:nvCxnSpPr>
        <p:spPr>
          <a:xfrm flipH="1">
            <a:off x="5938422" y="4675651"/>
            <a:ext cx="18900" cy="885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16"/>
          <p:cNvCxnSpPr>
            <a:stCxn id="234" idx="2"/>
            <a:endCxn id="245" idx="0"/>
          </p:cNvCxnSpPr>
          <p:nvPr/>
        </p:nvCxnSpPr>
        <p:spPr>
          <a:xfrm>
            <a:off x="6569895" y="4675660"/>
            <a:ext cx="0" cy="225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16"/>
          <p:cNvSpPr txBox="1"/>
          <p:nvPr/>
        </p:nvSpPr>
        <p:spPr>
          <a:xfrm>
            <a:off x="6876335" y="4901161"/>
            <a:ext cx="9639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(Q:h1, K:h3, V:h3)</a:t>
            </a:r>
            <a:endParaRPr sz="647"/>
          </a:p>
        </p:txBody>
      </p:sp>
      <p:cxnSp>
        <p:nvCxnSpPr>
          <p:cNvPr id="250" name="Google Shape;250;p16"/>
          <p:cNvCxnSpPr>
            <a:stCxn id="232" idx="2"/>
            <a:endCxn id="249" idx="0"/>
          </p:cNvCxnSpPr>
          <p:nvPr/>
        </p:nvCxnSpPr>
        <p:spPr>
          <a:xfrm>
            <a:off x="7233112" y="4676313"/>
            <a:ext cx="125100" cy="224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6"/>
          <p:cNvCxnSpPr>
            <a:stCxn id="243" idx="3"/>
            <a:endCxn id="232" idx="0"/>
          </p:cNvCxnSpPr>
          <p:nvPr/>
        </p:nvCxnSpPr>
        <p:spPr>
          <a:xfrm>
            <a:off x="6835146" y="3946137"/>
            <a:ext cx="398100" cy="544800"/>
          </a:xfrm>
          <a:prstGeom prst="curvedConnector2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16"/>
          <p:cNvSpPr txBox="1"/>
          <p:nvPr/>
        </p:nvSpPr>
        <p:spPr>
          <a:xfrm>
            <a:off x="5462726" y="4264693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proto</a:t>
            </a:r>
            <a:endParaRPr sz="566"/>
          </a:p>
        </p:txBody>
      </p:sp>
      <p:cxnSp>
        <p:nvCxnSpPr>
          <p:cNvPr id="253" name="Google Shape;253;p16"/>
          <p:cNvCxnSpPr>
            <a:stCxn id="243" idx="3"/>
            <a:endCxn id="221" idx="0"/>
          </p:cNvCxnSpPr>
          <p:nvPr/>
        </p:nvCxnSpPr>
        <p:spPr>
          <a:xfrm flipH="1">
            <a:off x="5957346" y="3946137"/>
            <a:ext cx="877800" cy="544200"/>
          </a:xfrm>
          <a:prstGeom prst="curvedConnector4">
            <a:avLst>
              <a:gd fmla="val -10974" name="adj1"/>
              <a:gd fmla="val 58008" name="adj2"/>
            </a:avLst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6354328" y="3895500"/>
            <a:ext cx="0" cy="101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16"/>
          <p:cNvSpPr txBox="1"/>
          <p:nvPr/>
        </p:nvSpPr>
        <p:spPr>
          <a:xfrm>
            <a:off x="6827421" y="4120405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220" name="Google Shape;220;p16"/>
          <p:cNvSpPr/>
          <p:nvPr/>
        </p:nvSpPr>
        <p:spPr>
          <a:xfrm>
            <a:off x="5974639" y="3995289"/>
            <a:ext cx="759300" cy="185400"/>
          </a:xfrm>
          <a:prstGeom prst="rect">
            <a:avLst/>
          </a:prstGeom>
          <a:solidFill>
            <a:srgbClr val="EFEFEF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"/>
              <a:buFont typeface="Arial"/>
              <a:buNone/>
            </a:pPr>
            <a:r>
              <a:rPr lang="zh-TW" sz="566">
                <a:solidFill>
                  <a:schemeClr val="dk1"/>
                </a:solidFill>
              </a:rPr>
              <a:t>PrototypeEncoder </a:t>
            </a:r>
            <a:endParaRPr sz="566"/>
          </a:p>
        </p:txBody>
      </p:sp>
      <p:cxnSp>
        <p:nvCxnSpPr>
          <p:cNvPr id="256" name="Google Shape;256;p16"/>
          <p:cNvCxnSpPr>
            <a:stCxn id="217" idx="3"/>
            <a:endCxn id="257" idx="1"/>
          </p:cNvCxnSpPr>
          <p:nvPr/>
        </p:nvCxnSpPr>
        <p:spPr>
          <a:xfrm>
            <a:off x="6153645" y="3378287"/>
            <a:ext cx="1197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58" name="Google Shape;258;p16"/>
          <p:cNvGrpSpPr/>
          <p:nvPr/>
        </p:nvGrpSpPr>
        <p:grpSpPr>
          <a:xfrm>
            <a:off x="7757925" y="3050579"/>
            <a:ext cx="1359717" cy="465735"/>
            <a:chOff x="5756806" y="70375"/>
            <a:chExt cx="3360646" cy="1151100"/>
          </a:xfrm>
        </p:grpSpPr>
        <p:sp>
          <p:nvSpPr>
            <p:cNvPr id="259" name="Google Shape;259;p16"/>
            <p:cNvSpPr txBox="1"/>
            <p:nvPr/>
          </p:nvSpPr>
          <p:spPr>
            <a:xfrm>
              <a:off x="6968300" y="19330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Chunk1</a:t>
              </a:r>
              <a:br>
                <a:rPr lang="zh-TW" sz="566">
                  <a:solidFill>
                    <a:schemeClr val="dk1"/>
                  </a:solidFill>
                </a:rPr>
              </a:br>
              <a:r>
                <a:rPr lang="zh-TW" sz="566">
                  <a:solidFill>
                    <a:schemeClr val="dk1"/>
                  </a:solidFill>
                </a:rPr>
                <a:t>window:256</a:t>
              </a:r>
              <a:endParaRPr sz="566"/>
            </a:p>
          </p:txBody>
        </p:sp>
        <p:grpSp>
          <p:nvGrpSpPr>
            <p:cNvPr id="260" name="Google Shape;260;p16"/>
            <p:cNvGrpSpPr/>
            <p:nvPr/>
          </p:nvGrpSpPr>
          <p:grpSpPr>
            <a:xfrm>
              <a:off x="5756806" y="70375"/>
              <a:ext cx="3360646" cy="1151100"/>
              <a:chOff x="6117013" y="141950"/>
              <a:chExt cx="3281881" cy="1151100"/>
            </a:xfrm>
          </p:grpSpPr>
          <p:grpSp>
            <p:nvGrpSpPr>
              <p:cNvPr id="261" name="Google Shape;261;p16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262" name="Google Shape;262;p16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38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37000" lIns="37000" spcFirstLastPara="1" rIns="37000" wrap="square" tIns="370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Multi-Chunk Module</a:t>
                  </a:r>
                  <a:endParaRPr sz="566"/>
                </a:p>
              </p:txBody>
            </p:sp>
            <p:sp>
              <p:nvSpPr>
                <p:cNvPr id="263" name="Google Shape;263;p16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38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7000" lIns="37000" spcFirstLastPara="1" rIns="37000" wrap="square" tIns="370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Chunk1</a:t>
                  </a:r>
                  <a:endParaRPr sz="566"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scale:256</a:t>
                  </a:r>
                  <a:endParaRPr sz="566"/>
                </a:p>
              </p:txBody>
            </p:sp>
          </p:grpSp>
          <p:sp>
            <p:nvSpPr>
              <p:cNvPr id="264" name="Google Shape;264;p16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38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00" lIns="37000" spcFirstLastPara="1" rIns="37000" wrap="square" tIns="37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Chunk2</a:t>
                </a:r>
                <a:endParaRPr sz="566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scale:64</a:t>
                </a:r>
                <a:endParaRPr sz="566"/>
              </a:p>
            </p:txBody>
          </p:sp>
          <p:sp>
            <p:nvSpPr>
              <p:cNvPr id="265" name="Google Shape;265;p16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38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00" lIns="37000" spcFirstLastPara="1" rIns="37000" wrap="square" tIns="37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Chunk3</a:t>
                </a:r>
                <a:endParaRPr sz="566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scale:16</a:t>
                </a:r>
                <a:endParaRPr sz="566"/>
              </a:p>
            </p:txBody>
          </p:sp>
        </p:grpSp>
        <p:sp>
          <p:nvSpPr>
            <p:cNvPr id="266" name="Google Shape;266;p16"/>
            <p:cNvSpPr txBox="1"/>
            <p:nvPr/>
          </p:nvSpPr>
          <p:spPr>
            <a:xfrm>
              <a:off x="6626969" y="54335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+</a:t>
              </a:r>
              <a:endParaRPr sz="566"/>
            </a:p>
          </p:txBody>
        </p:sp>
        <p:sp>
          <p:nvSpPr>
            <p:cNvPr id="267" name="Google Shape;267;p16"/>
            <p:cNvSpPr txBox="1"/>
            <p:nvPr/>
          </p:nvSpPr>
          <p:spPr>
            <a:xfrm>
              <a:off x="7679613" y="54335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+</a:t>
              </a:r>
              <a:endParaRPr sz="566"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6819831" y="675225"/>
              <a:ext cx="178500" cy="154800"/>
            </a:xfrm>
            <a:prstGeom prst="ellipse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66"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7865200" y="672844"/>
              <a:ext cx="178500" cy="154800"/>
            </a:xfrm>
            <a:prstGeom prst="ellipse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66"/>
            </a:p>
          </p:txBody>
        </p:sp>
      </p:grpSp>
      <p:sp>
        <p:nvSpPr>
          <p:cNvPr id="257" name="Google Shape;257;p16"/>
          <p:cNvSpPr/>
          <p:nvPr/>
        </p:nvSpPr>
        <p:spPr>
          <a:xfrm>
            <a:off x="6273310" y="3285587"/>
            <a:ext cx="422100" cy="185400"/>
          </a:xfrm>
          <a:prstGeom prst="rect">
            <a:avLst/>
          </a:prstGeom>
          <a:solidFill>
            <a:srgbClr val="B6D7A8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MCM</a:t>
            </a:r>
            <a:endParaRPr sz="566"/>
          </a:p>
        </p:txBody>
      </p:sp>
      <p:sp>
        <p:nvSpPr>
          <p:cNvPr id="270" name="Google Shape;270;p16"/>
          <p:cNvSpPr/>
          <p:nvPr/>
        </p:nvSpPr>
        <p:spPr>
          <a:xfrm>
            <a:off x="6804467" y="3285587"/>
            <a:ext cx="4221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MLP</a:t>
            </a:r>
            <a:endParaRPr sz="566"/>
          </a:p>
        </p:txBody>
      </p:sp>
      <p:cxnSp>
        <p:nvCxnSpPr>
          <p:cNvPr id="271" name="Google Shape;271;p16"/>
          <p:cNvCxnSpPr>
            <a:stCxn id="257" idx="3"/>
            <a:endCxn id="270" idx="1"/>
          </p:cNvCxnSpPr>
          <p:nvPr/>
        </p:nvCxnSpPr>
        <p:spPr>
          <a:xfrm>
            <a:off x="6695410" y="3378287"/>
            <a:ext cx="1092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16"/>
          <p:cNvCxnSpPr>
            <a:stCxn id="270" idx="2"/>
            <a:endCxn id="231" idx="3"/>
          </p:cNvCxnSpPr>
          <p:nvPr/>
        </p:nvCxnSpPr>
        <p:spPr>
          <a:xfrm rot="5400000">
            <a:off x="6708917" y="3496187"/>
            <a:ext cx="331800" cy="281400"/>
          </a:xfrm>
          <a:prstGeom prst="curvedConnector2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"/>
          <p:cNvSpPr txBox="1"/>
          <p:nvPr>
            <p:ph idx="1" type="body"/>
          </p:nvPr>
        </p:nvSpPr>
        <p:spPr>
          <a:xfrm>
            <a:off x="78300" y="929400"/>
            <a:ext cx="9065700" cy="17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Chunk1:目標embedding的前後128條log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Chunk2:目標embedding的前後</a:t>
            </a:r>
            <a:r>
              <a:rPr lang="zh-TW">
                <a:solidFill>
                  <a:schemeClr val="dk1"/>
                </a:solidFill>
              </a:rPr>
              <a:t>32</a:t>
            </a:r>
            <a:r>
              <a:rPr lang="zh-TW">
                <a:solidFill>
                  <a:schemeClr val="dk1"/>
                </a:solidFill>
              </a:rPr>
              <a:t>條log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Chunk3:目標embedding的前後</a:t>
            </a:r>
            <a:r>
              <a:rPr lang="zh-TW">
                <a:solidFill>
                  <a:schemeClr val="dk1"/>
                </a:solidFill>
              </a:rPr>
              <a:t>8</a:t>
            </a:r>
            <a:r>
              <a:rPr lang="zh-TW">
                <a:solidFill>
                  <a:schemeClr val="dk1"/>
                </a:solidFill>
              </a:rPr>
              <a:t>條log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越靠近目標embedding的log會被收錄越多次，代表該log對目標embedding比較重要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17"/>
          <p:cNvSpPr txBox="1"/>
          <p:nvPr>
            <p:ph type="title"/>
          </p:nvPr>
        </p:nvSpPr>
        <p:spPr>
          <a:xfrm>
            <a:off x="311700" y="15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Multi-Chunk Module</a:t>
            </a:r>
            <a:endParaRPr/>
          </a:p>
        </p:txBody>
      </p:sp>
      <p:sp>
        <p:nvSpPr>
          <p:cNvPr id="279" name="Google Shape;2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80" name="Google Shape;280;p17"/>
          <p:cNvGrpSpPr/>
          <p:nvPr/>
        </p:nvGrpSpPr>
        <p:grpSpPr>
          <a:xfrm>
            <a:off x="5660506" y="152400"/>
            <a:ext cx="3360646" cy="1151100"/>
            <a:chOff x="4666256" y="19025"/>
            <a:chExt cx="3360646" cy="1151100"/>
          </a:xfrm>
        </p:grpSpPr>
        <p:sp>
          <p:nvSpPr>
            <p:cNvPr id="281" name="Google Shape;281;p17"/>
            <p:cNvSpPr txBox="1"/>
            <p:nvPr/>
          </p:nvSpPr>
          <p:spPr>
            <a:xfrm>
              <a:off x="5877750" y="14195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Chunk1</a:t>
              </a:r>
              <a:br>
                <a:rPr lang="zh-TW">
                  <a:solidFill>
                    <a:schemeClr val="dk1"/>
                  </a:solidFill>
                </a:rPr>
              </a:br>
              <a:r>
                <a:rPr lang="zh-TW">
                  <a:solidFill>
                    <a:schemeClr val="dk1"/>
                  </a:solidFill>
                </a:rPr>
                <a:t>window:256</a:t>
              </a:r>
              <a:endParaRPr/>
            </a:p>
          </p:txBody>
        </p:sp>
        <p:grpSp>
          <p:nvGrpSpPr>
            <p:cNvPr id="282" name="Google Shape;282;p17"/>
            <p:cNvGrpSpPr/>
            <p:nvPr/>
          </p:nvGrpSpPr>
          <p:grpSpPr>
            <a:xfrm>
              <a:off x="4666256" y="19025"/>
              <a:ext cx="3360646" cy="1151100"/>
              <a:chOff x="6117013" y="141950"/>
              <a:chExt cx="3281881" cy="1151100"/>
            </a:xfrm>
          </p:grpSpPr>
          <p:grpSp>
            <p:nvGrpSpPr>
              <p:cNvPr id="283" name="Google Shape;283;p17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284" name="Google Shape;284;p17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Multi-Chunk Module</a:t>
                  </a:r>
                  <a:endParaRPr/>
                </a:p>
              </p:txBody>
            </p:sp>
            <p:sp>
              <p:nvSpPr>
                <p:cNvPr id="285" name="Google Shape;285;p17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Chunk1</a:t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scale:256</a:t>
                  </a:r>
                  <a:endParaRPr/>
                </a:p>
              </p:txBody>
            </p:sp>
          </p:grpSp>
          <p:sp>
            <p:nvSpPr>
              <p:cNvPr id="286" name="Google Shape;286;p17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Chunk2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scale:64</a:t>
                </a:r>
                <a:endParaRPr/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Chunk3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scale:16</a:t>
                </a:r>
                <a:endParaRPr/>
              </a:p>
            </p:txBody>
          </p:sp>
        </p:grpSp>
        <p:sp>
          <p:nvSpPr>
            <p:cNvPr id="288" name="Google Shape;288;p17"/>
            <p:cNvSpPr txBox="1"/>
            <p:nvPr/>
          </p:nvSpPr>
          <p:spPr>
            <a:xfrm>
              <a:off x="5536419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289" name="Google Shape;289;p17"/>
            <p:cNvSpPr txBox="1"/>
            <p:nvPr/>
          </p:nvSpPr>
          <p:spPr>
            <a:xfrm>
              <a:off x="6589063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5729281" y="62387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6774650" y="621494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7"/>
          <p:cNvSpPr/>
          <p:nvPr/>
        </p:nvSpPr>
        <p:spPr>
          <a:xfrm>
            <a:off x="311700" y="3020875"/>
            <a:ext cx="2165400" cy="18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Embeddings</a:t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311700" y="3956125"/>
            <a:ext cx="2165400" cy="1077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576900" y="4227118"/>
            <a:ext cx="163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Target embedding</a:t>
            </a:r>
            <a:endParaRPr/>
          </a:p>
        </p:txBody>
      </p:sp>
      <p:cxnSp>
        <p:nvCxnSpPr>
          <p:cNvPr id="295" name="Google Shape;295;p17"/>
          <p:cNvCxnSpPr>
            <a:endCxn id="293" idx="2"/>
          </p:cNvCxnSpPr>
          <p:nvPr/>
        </p:nvCxnSpPr>
        <p:spPr>
          <a:xfrm flipH="1" rot="10800000">
            <a:off x="1394100" y="4063825"/>
            <a:ext cx="30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17"/>
          <p:cNvSpPr/>
          <p:nvPr/>
        </p:nvSpPr>
        <p:spPr>
          <a:xfrm>
            <a:off x="2603025" y="3241525"/>
            <a:ext cx="339300" cy="153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4075375" y="3598825"/>
            <a:ext cx="339300" cy="822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5581375" y="3777475"/>
            <a:ext cx="339300" cy="465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3035901" y="3723625"/>
            <a:ext cx="945900" cy="57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Chunk1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scale:256</a:t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4572012" y="3723625"/>
            <a:ext cx="848100" cy="57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Chunk2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scale:64</a:t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6010300" y="3723625"/>
            <a:ext cx="848100" cy="57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Chunk3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scale:16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17"/>
          <p:cNvGrpSpPr/>
          <p:nvPr/>
        </p:nvGrpSpPr>
        <p:grpSpPr>
          <a:xfrm>
            <a:off x="4018064" y="3118825"/>
            <a:ext cx="848100" cy="400200"/>
            <a:chOff x="4018064" y="3118825"/>
            <a:chExt cx="848100" cy="400200"/>
          </a:xfrm>
        </p:grpSpPr>
        <p:sp>
          <p:nvSpPr>
            <p:cNvPr id="304" name="Google Shape;304;p17"/>
            <p:cNvSpPr/>
            <p:nvPr/>
          </p:nvSpPr>
          <p:spPr>
            <a:xfrm>
              <a:off x="4075381" y="324152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7"/>
            <p:cNvSpPr txBox="1"/>
            <p:nvPr/>
          </p:nvSpPr>
          <p:spPr>
            <a:xfrm>
              <a:off x="4018064" y="3118825"/>
              <a:ext cx="848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306" name="Google Shape;306;p17"/>
          <p:cNvGrpSpPr/>
          <p:nvPr/>
        </p:nvGrpSpPr>
        <p:grpSpPr>
          <a:xfrm>
            <a:off x="5581364" y="3118825"/>
            <a:ext cx="848100" cy="400200"/>
            <a:chOff x="4018064" y="3118825"/>
            <a:chExt cx="848100" cy="400200"/>
          </a:xfrm>
        </p:grpSpPr>
        <p:sp>
          <p:nvSpPr>
            <p:cNvPr id="307" name="Google Shape;307;p17"/>
            <p:cNvSpPr/>
            <p:nvPr/>
          </p:nvSpPr>
          <p:spPr>
            <a:xfrm>
              <a:off x="4075381" y="324152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7"/>
            <p:cNvSpPr txBox="1"/>
            <p:nvPr/>
          </p:nvSpPr>
          <p:spPr>
            <a:xfrm>
              <a:off x="4018064" y="3118825"/>
              <a:ext cx="848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311700" y="8443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CHT malware data</a:t>
            </a:r>
            <a:endParaRPr/>
          </a:p>
        </p:txBody>
      </p:sp>
      <p:sp>
        <p:nvSpPr>
          <p:cNvPr id="314" name="Google Shape;3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5" name="Google Shape;315;p18"/>
          <p:cNvSpPr txBox="1"/>
          <p:nvPr>
            <p:ph idx="1" type="body"/>
          </p:nvPr>
        </p:nvSpPr>
        <p:spPr>
          <a:xfrm>
            <a:off x="346875" y="657125"/>
            <a:ext cx="8520600" cy="1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來自中華電信的十支malware，其中只錄到3支(使用</a:t>
            </a:r>
            <a:r>
              <a:rPr lang="zh-TW">
                <a:solidFill>
                  <a:schemeClr val="dk1"/>
                </a:solidFill>
              </a:rPr>
              <a:t>procmon錄製</a:t>
            </a:r>
            <a:r>
              <a:rPr lang="zh-TW">
                <a:solidFill>
                  <a:schemeClr val="dk1"/>
                </a:solidFill>
              </a:rPr>
              <a:t>)，其餘皆有反沙箱偵測導致無法錄製完整。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僅提供每個Malware含有的TTP，沒有提供具體log的TTP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6" name="Google Shape;3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691" y="1743926"/>
            <a:ext cx="5908620" cy="3312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/>
          <p:nvPr>
            <p:ph type="title"/>
          </p:nvPr>
        </p:nvSpPr>
        <p:spPr>
          <a:xfrm>
            <a:off x="311700" y="8443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CHT TTP ground truth</a:t>
            </a:r>
            <a:r>
              <a:rPr lang="zh-TW"/>
              <a:t> &amp; prediction</a:t>
            </a:r>
            <a:endParaRPr/>
          </a:p>
        </p:txBody>
      </p:sp>
      <p:sp>
        <p:nvSpPr>
          <p:cNvPr id="322" name="Google Shape;32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23" name="Google Shape;3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038" y="677475"/>
            <a:ext cx="7201927" cy="4038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