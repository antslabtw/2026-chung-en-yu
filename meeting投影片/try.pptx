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141c54c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b141c54c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 C</a:t>
            </a:r>
            <a:r>
              <a:rPr lang="zh-TW" sz="1400">
                <a:solidFill>
                  <a:schemeClr val="dk1"/>
                </a:solidFill>
              </a:rPr>
              <a:t>ₜ</a:t>
            </a:r>
            <a:r>
              <a:rPr lang="zh-TW"/>
              <a:t> captures everything relevant to an authorization decision at time 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b141c54c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b141c54c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the source attribution function L determines where this information originated: s = L(x)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把這個四個定義套用在決定相同log是否為惡意，相同的process在不同情況下會有不同的定義，我們要找出方法去區分那些定義。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72d1a86c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72d1a86c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72d1a86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72d1a86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622050" y="90375"/>
            <a:ext cx="7899900" cy="8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Based on Figure 1 and Section 4.1, what is contextual security, and why does it matter for LLM agents?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58950" y="2686050"/>
            <a:ext cx="4104300" cy="24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28454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700">
                <a:solidFill>
                  <a:schemeClr val="dk1"/>
                </a:solidFill>
              </a:rPr>
              <a:t>context </a:t>
            </a:r>
            <a:r>
              <a:rPr b="1" lang="zh-TW" sz="1700">
                <a:solidFill>
                  <a:schemeClr val="dk1"/>
                </a:solidFill>
              </a:rPr>
              <a:t>C</a:t>
            </a:r>
            <a:r>
              <a:rPr b="1" lang="zh-TW" sz="1400">
                <a:solidFill>
                  <a:schemeClr val="dk1"/>
                </a:solidFill>
              </a:rPr>
              <a:t>ₜ</a:t>
            </a:r>
            <a:r>
              <a:rPr b="1" lang="zh-TW" sz="1700">
                <a:solidFill>
                  <a:schemeClr val="dk1"/>
                </a:solidFill>
              </a:rPr>
              <a:t> </a:t>
            </a:r>
            <a:r>
              <a:rPr lang="zh-TW" sz="1700">
                <a:solidFill>
                  <a:schemeClr val="dk1"/>
                </a:solidFill>
              </a:rPr>
              <a:t>captures everything relevant to an authorization decision at time t</a:t>
            </a:r>
            <a:endParaRPr sz="1700"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zh-TW">
                <a:solidFill>
                  <a:schemeClr val="dk1"/>
                </a:solidFill>
              </a:rPr>
              <a:t>C</a:t>
            </a:r>
            <a:r>
              <a:rPr b="1" lang="zh-TW" sz="1400">
                <a:solidFill>
                  <a:schemeClr val="dk1"/>
                </a:solidFill>
              </a:rPr>
              <a:t>ₜ</a:t>
            </a:r>
            <a:r>
              <a:rPr lang="zh-TW">
                <a:solidFill>
                  <a:schemeClr val="dk1"/>
                </a:solidFill>
              </a:rPr>
              <a:t> =(p, Tr</a:t>
            </a:r>
            <a:r>
              <a:rPr lang="zh-TW" sz="1400">
                <a:solidFill>
                  <a:schemeClr val="dk1"/>
                </a:solidFill>
              </a:rPr>
              <a:t>ₜ₋₁</a:t>
            </a:r>
            <a:r>
              <a:rPr lang="zh-TW">
                <a:solidFill>
                  <a:schemeClr val="dk1"/>
                </a:solidFill>
              </a:rPr>
              <a:t>, M</a:t>
            </a:r>
            <a:r>
              <a:rPr lang="zh-TW" sz="1400">
                <a:solidFill>
                  <a:schemeClr val="dk1"/>
                </a:solidFill>
              </a:rPr>
              <a:t>ₜ</a:t>
            </a:r>
            <a:r>
              <a:rPr lang="zh-TW">
                <a:solidFill>
                  <a:schemeClr val="dk1"/>
                </a:solidFill>
              </a:rPr>
              <a:t>, E</a:t>
            </a:r>
            <a:r>
              <a:rPr lang="zh-TW" sz="1400">
                <a:solidFill>
                  <a:schemeClr val="dk1"/>
                </a:solidFill>
              </a:rPr>
              <a:t>ₜ</a:t>
            </a:r>
            <a:r>
              <a:rPr lang="zh-TW">
                <a:solidFill>
                  <a:schemeClr val="dk1"/>
                </a:solidFill>
              </a:rPr>
              <a:t>, Sₐᵤₜₕ</a:t>
            </a:r>
            <a:r>
              <a:rPr lang="zh-TW" sz="1000">
                <a:solidFill>
                  <a:schemeClr val="dk1"/>
                </a:solidFill>
              </a:rPr>
              <a:t>,</a:t>
            </a:r>
            <a:r>
              <a:rPr lang="zh-TW">
                <a:solidFill>
                  <a:schemeClr val="dk1"/>
                </a:solidFill>
              </a:rPr>
              <a:t>ₜ</a:t>
            </a:r>
            <a:r>
              <a:rPr lang="zh-TW" sz="1400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chemeClr val="dk1"/>
                </a:solidFill>
              </a:rPr>
              <a:t>, G)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2500"/>
              <a:buChar char="●"/>
            </a:pPr>
            <a:r>
              <a:rPr b="1" lang="zh-TW">
                <a:solidFill>
                  <a:schemeClr val="dk1"/>
                </a:solidFill>
              </a:rPr>
              <a:t>Sₐᵤₜₕ</a:t>
            </a:r>
            <a:r>
              <a:rPr b="1" lang="zh-TW" sz="1000">
                <a:solidFill>
                  <a:schemeClr val="dk1"/>
                </a:solidFill>
              </a:rPr>
              <a:t>,</a:t>
            </a:r>
            <a:r>
              <a:rPr b="1" lang="zh-TW">
                <a:solidFill>
                  <a:schemeClr val="dk1"/>
                </a:solidFill>
              </a:rPr>
              <a:t>ₜ </a:t>
            </a:r>
            <a:r>
              <a:rPr lang="zh-TW">
                <a:solidFill>
                  <a:schemeClr val="dk1"/>
                </a:solidFill>
              </a:rPr>
              <a:t>: </a:t>
            </a:r>
            <a:r>
              <a:rPr lang="zh-TW" sz="1600">
                <a:solidFill>
                  <a:schemeClr val="dk1"/>
                </a:solidFill>
              </a:rPr>
              <a:t>the set of authenticated sources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zh-TW" sz="1600">
                <a:solidFill>
                  <a:schemeClr val="dk1"/>
                </a:solidFill>
              </a:rPr>
              <a:t>R</a:t>
            </a:r>
            <a:r>
              <a:rPr lang="zh-TW" sz="1600">
                <a:solidFill>
                  <a:schemeClr val="dk1"/>
                </a:solidFill>
              </a:rPr>
              <a:t> indicates that source s₁ has permission to access or influence source s₂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zh-TW" sz="1600">
                <a:solidFill>
                  <a:schemeClr val="dk1"/>
                </a:solidFill>
              </a:rPr>
              <a:t>G</a:t>
            </a:r>
            <a:r>
              <a:rPr lang="zh-TW" sz="1600">
                <a:solidFill>
                  <a:schemeClr val="dk1"/>
                </a:solidFill>
              </a:rPr>
              <a:t> = (S,R) is the source permission graph.</a:t>
            </a:r>
            <a:endParaRPr sz="16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600">
                <a:solidFill>
                  <a:schemeClr val="dk1"/>
                </a:solidFill>
              </a:rPr>
              <a:t>Because </a:t>
            </a:r>
            <a:r>
              <a:rPr b="1" lang="zh-TW" sz="1600">
                <a:solidFill>
                  <a:schemeClr val="dk1"/>
                </a:solidFill>
              </a:rPr>
              <a:t>C</a:t>
            </a:r>
            <a:r>
              <a:rPr b="1" lang="zh-TW" sz="1400">
                <a:solidFill>
                  <a:schemeClr val="dk1"/>
                </a:solidFill>
              </a:rPr>
              <a:t>ₜ</a:t>
            </a:r>
            <a:r>
              <a:rPr lang="zh-TW" sz="1600">
                <a:solidFill>
                  <a:schemeClr val="dk1"/>
                </a:solidFill>
              </a:rPr>
              <a:t> evolves at each step, security must be verified </a:t>
            </a:r>
            <a:r>
              <a:rPr lang="zh-TW" sz="1600">
                <a:solidFill>
                  <a:schemeClr val="dk1"/>
                </a:solidFill>
                <a:highlight>
                  <a:schemeClr val="accent6"/>
                </a:highlight>
              </a:rPr>
              <a:t>continuously</a:t>
            </a:r>
            <a:endParaRPr sz="1600">
              <a:solidFill>
                <a:schemeClr val="dk1"/>
              </a:solidFill>
              <a:highlight>
                <a:schemeClr val="accent6"/>
              </a:highlight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58950" y="974850"/>
            <a:ext cx="5913000" cy="14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Agent security is fundamentally contextual: the same action may be legitimate or a violation depending on :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zh-TW">
                <a:solidFill>
                  <a:schemeClr val="dk1"/>
                </a:solidFill>
              </a:rPr>
              <a:t>A</a:t>
            </a:r>
            <a:r>
              <a:rPr lang="zh-TW">
                <a:solidFill>
                  <a:schemeClr val="dk1"/>
                </a:solidFill>
              </a:rPr>
              <a:t>uthorizer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zh-TW">
                <a:solidFill>
                  <a:schemeClr val="dk1"/>
                </a:solidFill>
              </a:rPr>
              <a:t>P</a:t>
            </a:r>
            <a:r>
              <a:rPr lang="zh-TW">
                <a:solidFill>
                  <a:schemeClr val="dk1"/>
                </a:solidFill>
              </a:rPr>
              <a:t>urpose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zh-TW">
                <a:solidFill>
                  <a:schemeClr val="dk1"/>
                </a:solidFill>
              </a:rPr>
              <a:t>C</a:t>
            </a:r>
            <a:r>
              <a:rPr lang="zh-TW">
                <a:solidFill>
                  <a:schemeClr val="dk1"/>
                </a:solidFill>
              </a:rPr>
              <a:t>ircumstances</a:t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5972075" y="974850"/>
            <a:ext cx="30654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4 </a:t>
            </a:r>
            <a:r>
              <a:rPr lang="zh-TW" sz="1600">
                <a:solidFill>
                  <a:schemeClr val="dk1"/>
                </a:solidFill>
              </a:rPr>
              <a:t>Security Propoties: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zh-TW" sz="1600">
                <a:solidFill>
                  <a:srgbClr val="0000FF"/>
                </a:solidFill>
              </a:rPr>
              <a:t>T</a:t>
            </a:r>
            <a:r>
              <a:rPr lang="zh-TW" sz="1600">
                <a:solidFill>
                  <a:srgbClr val="0000FF"/>
                </a:solidFill>
              </a:rPr>
              <a:t>ask </a:t>
            </a:r>
            <a:r>
              <a:rPr lang="zh-TW" sz="1600">
                <a:solidFill>
                  <a:srgbClr val="0000FF"/>
                </a:solidFill>
              </a:rPr>
              <a:t>A</a:t>
            </a:r>
            <a:r>
              <a:rPr lang="zh-TW" sz="1600">
                <a:solidFill>
                  <a:srgbClr val="0000FF"/>
                </a:solidFill>
              </a:rPr>
              <a:t>lignment</a:t>
            </a:r>
            <a:r>
              <a:rPr lang="zh-TW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zh-TW" sz="1600">
                <a:solidFill>
                  <a:srgbClr val="FF9900"/>
                </a:solidFill>
              </a:rPr>
              <a:t>Action </a:t>
            </a:r>
            <a:r>
              <a:rPr lang="zh-TW" sz="1600">
                <a:solidFill>
                  <a:srgbClr val="FF9900"/>
                </a:solidFill>
              </a:rPr>
              <a:t>A</a:t>
            </a:r>
            <a:r>
              <a:rPr lang="zh-TW" sz="1600">
                <a:solidFill>
                  <a:srgbClr val="FF9900"/>
                </a:solidFill>
              </a:rPr>
              <a:t>lignment</a:t>
            </a:r>
            <a:r>
              <a:rPr lang="zh-TW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zh-TW" sz="1600">
                <a:solidFill>
                  <a:srgbClr val="3C78D8"/>
                </a:solidFill>
              </a:rPr>
              <a:t>S</a:t>
            </a:r>
            <a:r>
              <a:rPr lang="zh-TW" sz="1600">
                <a:solidFill>
                  <a:srgbClr val="3C78D8"/>
                </a:solidFill>
              </a:rPr>
              <a:t>ource </a:t>
            </a:r>
            <a:r>
              <a:rPr lang="zh-TW" sz="1600">
                <a:solidFill>
                  <a:srgbClr val="3C78D8"/>
                </a:solidFill>
              </a:rPr>
              <a:t>A</a:t>
            </a:r>
            <a:r>
              <a:rPr lang="zh-TW" sz="1600">
                <a:solidFill>
                  <a:srgbClr val="3C78D8"/>
                </a:solidFill>
              </a:rPr>
              <a:t>uthorization</a:t>
            </a:r>
            <a:r>
              <a:rPr lang="zh-TW" sz="1600">
                <a:solidFill>
                  <a:schemeClr val="dk1"/>
                </a:solidFill>
              </a:rPr>
              <a:t> 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lphaLcPeriod"/>
            </a:pPr>
            <a:r>
              <a:rPr lang="zh-TW" sz="1600">
                <a:solidFill>
                  <a:srgbClr val="38761D"/>
                </a:solidFill>
              </a:rPr>
              <a:t>D</a:t>
            </a:r>
            <a:r>
              <a:rPr lang="zh-TW" sz="1600">
                <a:solidFill>
                  <a:srgbClr val="38761D"/>
                </a:solidFill>
              </a:rPr>
              <a:t>ata </a:t>
            </a:r>
            <a:r>
              <a:rPr lang="zh-TW" sz="1600">
                <a:solidFill>
                  <a:srgbClr val="38761D"/>
                </a:solidFill>
              </a:rPr>
              <a:t>I</a:t>
            </a:r>
            <a:r>
              <a:rPr lang="zh-TW" sz="1600">
                <a:solidFill>
                  <a:srgbClr val="38761D"/>
                </a:solidFill>
              </a:rPr>
              <a:t>solation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8550" y="1109875"/>
            <a:ext cx="7613351" cy="383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106200" y="0"/>
            <a:ext cx="8931600" cy="10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Please summarize the agent security violations discussed in Section 5 according to the four proposed security properties.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0" y="1017600"/>
            <a:ext cx="9037800" cy="402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4 proposed security propoties: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Task Alignment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The user’s initial objective o₀ = Hp(p) must lie within </a:t>
            </a:r>
            <a:r>
              <a:rPr b="1" lang="zh-TW">
                <a:solidFill>
                  <a:schemeClr val="dk1"/>
                </a:solidFill>
              </a:rPr>
              <a:t>O </a:t>
            </a:r>
            <a:r>
              <a:rPr lang="zh-TW">
                <a:solidFill>
                  <a:schemeClr val="dk1"/>
                </a:solidFill>
              </a:rPr>
              <a:t>-&gt;  H</a:t>
            </a:r>
            <a:r>
              <a:rPr lang="zh-TW" sz="1000">
                <a:solidFill>
                  <a:schemeClr val="dk1"/>
                </a:solidFill>
              </a:rPr>
              <a:t>Tr</a:t>
            </a:r>
            <a:r>
              <a:rPr lang="zh-TW">
                <a:solidFill>
                  <a:schemeClr val="dk1"/>
                </a:solidFill>
              </a:rPr>
              <a:t>(Tr</a:t>
            </a:r>
            <a:r>
              <a:rPr lang="zh-TW">
                <a:solidFill>
                  <a:schemeClr val="dk1"/>
                </a:solidFill>
              </a:rPr>
              <a:t>ₜ₋₁</a:t>
            </a:r>
            <a:r>
              <a:rPr lang="zh-TW">
                <a:solidFill>
                  <a:schemeClr val="dk1"/>
                </a:solidFill>
              </a:rPr>
              <a:t>,</a:t>
            </a:r>
            <a:r>
              <a:rPr lang="zh-TW">
                <a:solidFill>
                  <a:schemeClr val="dk1"/>
                </a:solidFill>
              </a:rPr>
              <a:t>o₀</a:t>
            </a:r>
            <a:r>
              <a:rPr lang="zh-TW">
                <a:solidFill>
                  <a:schemeClr val="dk1"/>
                </a:solidFill>
              </a:rPr>
              <a:t>) = 1,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Action Alignment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While task alignment verifies the overall trajectory via HTr, action alignment examines whether each specific action contributes to </a:t>
            </a:r>
            <a:r>
              <a:rPr lang="zh-TW">
                <a:solidFill>
                  <a:schemeClr val="dk1"/>
                </a:solidFill>
              </a:rPr>
              <a:t>o₀</a:t>
            </a:r>
            <a:r>
              <a:rPr lang="zh-TW">
                <a:solidFill>
                  <a:schemeClr val="dk1"/>
                </a:solidFill>
              </a:rPr>
              <a:t> via Hₐ. -&gt; Hₐ(at,Tr</a:t>
            </a:r>
            <a:r>
              <a:rPr lang="zh-TW">
                <a:solidFill>
                  <a:schemeClr val="dk1"/>
                </a:solidFill>
              </a:rPr>
              <a:t>ₜ₋₁</a:t>
            </a:r>
            <a:r>
              <a:rPr lang="zh-TW">
                <a:solidFill>
                  <a:schemeClr val="dk1"/>
                </a:solidFill>
              </a:rPr>
              <a:t>,</a:t>
            </a:r>
            <a:r>
              <a:rPr lang="zh-TW">
                <a:solidFill>
                  <a:schemeClr val="dk1"/>
                </a:solidFill>
              </a:rPr>
              <a:t>o₀</a:t>
            </a:r>
            <a:r>
              <a:rPr lang="zh-TW">
                <a:solidFill>
                  <a:schemeClr val="dk1"/>
                </a:solidFill>
              </a:rPr>
              <a:t>) = 1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Source Authorization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A source authorization violation occurs if any source s ∈ </a:t>
            </a:r>
            <a:r>
              <a:rPr b="1" lang="zh-TW">
                <a:solidFill>
                  <a:schemeClr val="dk1"/>
                </a:solidFill>
              </a:rPr>
              <a:t>sₓ</a:t>
            </a:r>
            <a:r>
              <a:rPr lang="zh-TW">
                <a:solidFill>
                  <a:schemeClr val="dk1"/>
                </a:solidFill>
              </a:rPr>
              <a:t> is not authenticated: s /∈ </a:t>
            </a:r>
            <a:r>
              <a:rPr b="1" lang="zh-TW" sz="1800">
                <a:solidFill>
                  <a:schemeClr val="dk1"/>
                </a:solidFill>
              </a:rPr>
              <a:t>Sₐᵤₜₕ</a:t>
            </a:r>
            <a:r>
              <a:rPr b="1" lang="zh-TW" sz="1000">
                <a:solidFill>
                  <a:schemeClr val="dk1"/>
                </a:solidFill>
              </a:rPr>
              <a:t>,</a:t>
            </a:r>
            <a:r>
              <a:rPr b="1" lang="zh-TW" sz="1800">
                <a:solidFill>
                  <a:schemeClr val="dk1"/>
                </a:solidFill>
              </a:rPr>
              <a:t>ₜ</a:t>
            </a:r>
            <a:r>
              <a:rPr lang="zh-TW">
                <a:solidFill>
                  <a:schemeClr val="dk1"/>
                </a:solidFill>
              </a:rPr>
              <a:t>. -&gt; s ∈</a:t>
            </a:r>
            <a:r>
              <a:rPr b="1" lang="zh-TW" sz="1800">
                <a:solidFill>
                  <a:schemeClr val="dk1"/>
                </a:solidFill>
              </a:rPr>
              <a:t>Sₐᵤₜₕ</a:t>
            </a:r>
            <a:r>
              <a:rPr b="1" lang="zh-TW" sz="1000">
                <a:solidFill>
                  <a:schemeClr val="dk1"/>
                </a:solidFill>
              </a:rPr>
              <a:t>,</a:t>
            </a:r>
            <a:r>
              <a:rPr b="1" lang="zh-TW" sz="1800">
                <a:solidFill>
                  <a:schemeClr val="dk1"/>
                </a:solidFill>
              </a:rPr>
              <a:t>ₜ</a:t>
            </a:r>
            <a:r>
              <a:rPr lang="zh-TW">
                <a:solidFill>
                  <a:schemeClr val="dk1"/>
                </a:solidFill>
              </a:rPr>
              <a:t> ∨ </a:t>
            </a:r>
            <a:r>
              <a:rPr lang="zh-TW">
                <a:solidFill>
                  <a:schemeClr val="dk1"/>
                </a:solidFill>
              </a:rPr>
              <a:t>Hₐ(at,Trₜ₋₁,o₀) = 1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Data Isolation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For each source s ∈ </a:t>
            </a:r>
            <a:r>
              <a:rPr b="1" lang="zh-TW">
                <a:solidFill>
                  <a:schemeClr val="dk1"/>
                </a:solidFill>
              </a:rPr>
              <a:t>s</a:t>
            </a:r>
            <a:r>
              <a:rPr lang="zh-TW">
                <a:solidFill>
                  <a:schemeClr val="dk1"/>
                </a:solidFill>
              </a:rPr>
              <a:t> and each destination s′ ∈ </a:t>
            </a:r>
            <a:r>
              <a:rPr b="1" lang="zh-TW">
                <a:solidFill>
                  <a:schemeClr val="dk1"/>
                </a:solidFill>
              </a:rPr>
              <a:t>s′</a:t>
            </a:r>
            <a:r>
              <a:rPr lang="zh-TW">
                <a:solidFill>
                  <a:schemeClr val="dk1"/>
                </a:solidFill>
              </a:rPr>
              <a:t>, the source permission graph must permit the flow: (s,s′) ∈ </a:t>
            </a:r>
            <a:r>
              <a:rPr b="1" lang="zh-TW">
                <a:solidFill>
                  <a:schemeClr val="dk1"/>
                </a:solidFill>
              </a:rPr>
              <a:t>R</a:t>
            </a:r>
            <a:r>
              <a:rPr lang="zh-TW">
                <a:solidFill>
                  <a:schemeClr val="dk1"/>
                </a:solidFill>
              </a:rPr>
              <a:t>. </a:t>
            </a:r>
            <a:r>
              <a:rPr lang="zh-TW">
                <a:solidFill>
                  <a:schemeClr val="dk1"/>
                </a:solidFill>
              </a:rPr>
              <a:t>-&gt; </a:t>
            </a:r>
            <a:r>
              <a:rPr lang="zh-TW">
                <a:solidFill>
                  <a:schemeClr val="dk1"/>
                </a:solidFill>
              </a:rPr>
              <a:t>∀ s∈L(x), ∀s′ ∈s′ : (s,s′) ∈ 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1090" y="3998276"/>
            <a:ext cx="2696000" cy="10946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Additional semantic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在prompt裡詢問LLM以下問題去增加敘述的語意豐富度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which code is executed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where it comes from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how it is executed.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73047" l="0" r="0" t="0"/>
          <a:stretch/>
        </p:blipFill>
        <p:spPr>
          <a:xfrm>
            <a:off x="90013" y="2571750"/>
            <a:ext cx="8963976" cy="121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 proposed security propoties 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152475"/>
            <a:ext cx="8520600" cy="3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1"/>
                </a:solidFill>
              </a:rPr>
              <a:t>1. Task Alignment - History trace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TW" sz="1300">
                <a:solidFill>
                  <a:schemeClr val="dk1"/>
                </a:solidFill>
              </a:rPr>
              <a:t>在 Prompt 中，除了當下行為，必須附上該 Process 的前 N 個 Event 摘要。讓 LLM 判斷當下行為是否符合它一貫的目標。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1"/>
                </a:solidFill>
              </a:rPr>
              <a:t>2. Action Alignment - Contextual trace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TW" sz="1300">
                <a:solidFill>
                  <a:schemeClr val="dk1"/>
                </a:solidFill>
              </a:rPr>
              <a:t>把 </a:t>
            </a:r>
            <a:r>
              <a:rPr b="1" lang="zh-TW" sz="1300">
                <a:solidFill>
                  <a:schemeClr val="dk1"/>
                </a:solidFill>
              </a:rPr>
              <a:t>[Node A] + [Relation] + [Node B]</a:t>
            </a:r>
            <a:r>
              <a:rPr lang="zh-TW" sz="1300">
                <a:solidFill>
                  <a:schemeClr val="dk1"/>
                </a:solidFill>
              </a:rPr>
              <a:t> 串接在一起。LLM 負責判斷動作（如 Word 啟動 PowerShell）在邏輯上是否合理。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1"/>
                </a:solidFill>
              </a:rPr>
              <a:t>3. Source Authorization - Kernel Authentication Check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TW" sz="1300">
                <a:solidFill>
                  <a:schemeClr val="dk1"/>
                </a:solidFill>
              </a:rPr>
              <a:t>從Audit log 中提取該 Process 的</a:t>
            </a:r>
            <a:r>
              <a:rPr b="1" lang="zh-TW" sz="1300">
                <a:solidFill>
                  <a:schemeClr val="dk1"/>
                </a:solidFill>
              </a:rPr>
              <a:t>執行權限</a:t>
            </a:r>
            <a:r>
              <a:rPr lang="zh-TW" sz="1300">
                <a:solidFill>
                  <a:schemeClr val="dk1"/>
                </a:solidFill>
              </a:rPr>
              <a:t>（例如 User 或 SYSTEM）以及它的 </a:t>
            </a:r>
            <a:r>
              <a:rPr b="1" lang="zh-TW" sz="1300">
                <a:solidFill>
                  <a:schemeClr val="dk1"/>
                </a:solidFill>
              </a:rPr>
              <a:t>Parent Process</a:t>
            </a:r>
            <a:r>
              <a:rPr lang="zh-TW" sz="1300">
                <a:solidFill>
                  <a:schemeClr val="dk1"/>
                </a:solidFill>
              </a:rPr>
              <a:t>，並直接寫進 Prompt 中，讓 LLM 抓出「越權」或「異常繼承」的行為。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zh-TW" sz="1500">
                <a:solidFill>
                  <a:schemeClr val="dk1"/>
                </a:solidFill>
              </a:rPr>
              <a:t>4. Data Isolation - White list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zh-TW" sz="1300">
                <a:solidFill>
                  <a:schemeClr val="dk1"/>
                </a:solidFill>
              </a:rPr>
              <a:t>在程式碼裡寫一個 Lookup Table。如果 Log 牽涉到特定高敏感路徑（如 /etc/shadow 或 SAM 檔）或外部網路 IP，就在 Prompt 裡標註 [Sensitive File] 或 [External Boundary]，讓 LLM 判定這是否為資料外洩路徑。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