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aa73b9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aa73b9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5aa73b9f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5aa73b9f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5aa73b9f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5aa73b9f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label 的 softmax跟圖的softmax做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mask掉其他只看collocation</a:t>
            </a:r>
            <a:br>
              <a:rPr lang="zh-TW">
                <a:solidFill>
                  <a:schemeClr val="dk1"/>
                </a:solidFill>
              </a:rPr>
            </a:b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拿出self attention的layer做MSE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2206cef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2206cef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8e14155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78e14155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78e14155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78e14155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aa73b9f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5aa73b9f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5aa73b9f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5aa73b9f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ntslabtw.github.io/files/ACL2025_AES__MOOSE__camera_ready_.pdf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uggingface.co/vennify/t5-base-grammar-correction/tree/75590c2ce694801e950afeec96f16681b8a12a05" TargetMode="External"/><Relationship Id="rId4" Type="http://schemas.openxmlformats.org/officeDocument/2006/relationships/hyperlink" Target="https://huggingface.co/mistralai/Mistral-7B-Instruct-v0.3" TargetMode="External"/><Relationship Id="rId5" Type="http://schemas.openxmlformats.org/officeDocument/2006/relationships/hyperlink" Target="https://huggingface.co/google/gemma-2-2b-it" TargetMode="External"/><Relationship Id="rId6" Type="http://schemas.openxmlformats.org/officeDocument/2006/relationships/hyperlink" Target="https://huggingface.co/google/gemma-2-2b-i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200"/>
              <a:t>U</a:t>
            </a:r>
            <a:r>
              <a:rPr lang="zh-TW" sz="4200"/>
              <a:t>sing PMI as supervised signal with </a:t>
            </a:r>
            <a:r>
              <a:rPr lang="zh-TW" sz="4200" u="sng">
                <a:solidFill>
                  <a:schemeClr val="hlink"/>
                </a:solidFill>
                <a:hlinkClick r:id="rId3"/>
              </a:rPr>
              <a:t>MOOSE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12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Target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Use PMI score calculated from corpus(BNC) as a signal to instruct MOOSE to reproduce and distribute more sensible Trait scores.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2720250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Adding PMI score at early stage of BERT training (one of the first 4 layers out of 12 layars for each BERT)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205500"/>
            <a:ext cx="161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Planning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262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 structure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09350" y="1152488"/>
            <a:ext cx="518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Each Bert(base) has 12 layers, we plan to add PMI scores as an instructive value for the </a:t>
            </a:r>
            <a:r>
              <a:rPr lang="zh-TW">
                <a:solidFill>
                  <a:schemeClr val="dk1"/>
                </a:solidFill>
              </a:rPr>
              <a:t>first</a:t>
            </a:r>
            <a:r>
              <a:rPr lang="zh-TW">
                <a:solidFill>
                  <a:schemeClr val="dk1"/>
                </a:solidFill>
              </a:rPr>
              <a:t> 4 layers.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We first try it on the Document Bert, since it’s input is all document. We can decide how to do with multi-chunk Bert according to the  performance for </a:t>
            </a:r>
            <a:r>
              <a:rPr lang="zh-TW">
                <a:solidFill>
                  <a:schemeClr val="dk1"/>
                </a:solidFill>
              </a:rPr>
              <a:t>Document Bert</a:t>
            </a:r>
            <a:r>
              <a:rPr lang="zh-TW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049" y="1635197"/>
            <a:ext cx="3690725" cy="2450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15"/>
          <p:cNvSpPr/>
          <p:nvPr/>
        </p:nvSpPr>
        <p:spPr>
          <a:xfrm>
            <a:off x="5712050" y="2757275"/>
            <a:ext cx="1409400" cy="494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21875"/>
            <a:ext cx="265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Bert modification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694575"/>
            <a:ext cx="4798800" cy="12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We insert PMI value as an </a:t>
            </a:r>
            <a:r>
              <a:rPr lang="zh-TW">
                <a:solidFill>
                  <a:schemeClr val="dk1"/>
                </a:solidFill>
              </a:rPr>
              <a:t>instruct signal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352" y="2045400"/>
            <a:ext cx="3898125" cy="2937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6"/>
          <p:cNvSpPr/>
          <p:nvPr/>
        </p:nvSpPr>
        <p:spPr>
          <a:xfrm>
            <a:off x="5820387" y="1367875"/>
            <a:ext cx="1836600" cy="4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Labeled-attention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2045400"/>
            <a:ext cx="3898125" cy="2937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1" name="Google Shape;81;p16"/>
          <p:cNvCxnSpPr>
            <a:stCxn id="80" idx="0"/>
            <a:endCxn id="79" idx="1"/>
          </p:cNvCxnSpPr>
          <p:nvPr/>
        </p:nvCxnSpPr>
        <p:spPr>
          <a:xfrm rot="-5400000">
            <a:off x="3811164" y="36300"/>
            <a:ext cx="458700" cy="3559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6"/>
          <p:cNvCxnSpPr>
            <a:stCxn id="78" idx="0"/>
            <a:endCxn id="79" idx="2"/>
          </p:cNvCxnSpPr>
          <p:nvPr/>
        </p:nvCxnSpPr>
        <p:spPr>
          <a:xfrm rot="-5400000">
            <a:off x="6617764" y="1924350"/>
            <a:ext cx="239700" cy="2400"/>
          </a:xfrm>
          <a:prstGeom prst="bentConnector3">
            <a:avLst>
              <a:gd fmla="val 5002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6"/>
          <p:cNvSpPr/>
          <p:nvPr/>
        </p:nvSpPr>
        <p:spPr>
          <a:xfrm>
            <a:off x="5729300" y="744863"/>
            <a:ext cx="2014200" cy="4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other layers (11 layers)</a:t>
            </a:r>
            <a:endParaRPr/>
          </a:p>
        </p:txBody>
      </p:sp>
      <p:cxnSp>
        <p:nvCxnSpPr>
          <p:cNvPr id="84" name="Google Shape;84;p16"/>
          <p:cNvCxnSpPr>
            <a:stCxn id="79" idx="0"/>
            <a:endCxn id="83" idx="2"/>
          </p:cNvCxnSpPr>
          <p:nvPr/>
        </p:nvCxnSpPr>
        <p:spPr>
          <a:xfrm rot="10800000">
            <a:off x="6736287" y="1182475"/>
            <a:ext cx="2400" cy="18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6"/>
          <p:cNvSpPr/>
          <p:nvPr/>
        </p:nvSpPr>
        <p:spPr>
          <a:xfrm>
            <a:off x="5906463" y="121875"/>
            <a:ext cx="1664400" cy="4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Moose Structure</a:t>
            </a:r>
            <a:endParaRPr/>
          </a:p>
        </p:txBody>
      </p:sp>
      <p:cxnSp>
        <p:nvCxnSpPr>
          <p:cNvPr id="86" name="Google Shape;86;p16"/>
          <p:cNvCxnSpPr>
            <a:stCxn id="83" idx="0"/>
            <a:endCxn id="85" idx="2"/>
          </p:cNvCxnSpPr>
          <p:nvPr/>
        </p:nvCxnSpPr>
        <p:spPr>
          <a:xfrm flipH="1" rot="10800000">
            <a:off x="6736400" y="559463"/>
            <a:ext cx="2400" cy="18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6"/>
          <p:cNvSpPr/>
          <p:nvPr/>
        </p:nvSpPr>
        <p:spPr>
          <a:xfrm>
            <a:off x="3850663" y="121875"/>
            <a:ext cx="1664400" cy="4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Traits</a:t>
            </a:r>
            <a:endParaRPr/>
          </a:p>
        </p:txBody>
      </p:sp>
      <p:cxnSp>
        <p:nvCxnSpPr>
          <p:cNvPr id="88" name="Google Shape;88;p16"/>
          <p:cNvCxnSpPr>
            <a:stCxn id="85" idx="1"/>
            <a:endCxn id="87" idx="3"/>
          </p:cNvCxnSpPr>
          <p:nvPr/>
        </p:nvCxnSpPr>
        <p:spPr>
          <a:xfrm rot="10800000">
            <a:off x="5514963" y="340725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6"/>
          <p:cNvSpPr/>
          <p:nvPr/>
        </p:nvSpPr>
        <p:spPr>
          <a:xfrm>
            <a:off x="4829775" y="2967625"/>
            <a:ext cx="3777000" cy="363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/>
          <p:cNvCxnSpPr>
            <a:stCxn id="89" idx="3"/>
            <a:endCxn id="91" idx="3"/>
          </p:cNvCxnSpPr>
          <p:nvPr/>
        </p:nvCxnSpPr>
        <p:spPr>
          <a:xfrm flipH="1" rot="10800000">
            <a:off x="8606775" y="1202425"/>
            <a:ext cx="333600" cy="1947000"/>
          </a:xfrm>
          <a:prstGeom prst="bentConnector3">
            <a:avLst>
              <a:gd fmla="val 1392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6"/>
          <p:cNvSpPr txBox="1"/>
          <p:nvPr/>
        </p:nvSpPr>
        <p:spPr>
          <a:xfrm>
            <a:off x="7918550" y="1002325"/>
            <a:ext cx="1021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PMI value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11700" y="1638468"/>
            <a:ext cx="7950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Layer 1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4787350" y="1638468"/>
            <a:ext cx="7950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Layer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Label (畫圖)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往後抓五個(斷句) 用pmi值 抓pair 其他-inf</a:t>
            </a:r>
            <a:br>
              <a:rPr lang="zh-TW"/>
            </a:br>
            <a:r>
              <a:rPr lang="zh-TW"/>
              <a:t>###ing問題 把前一個的分數也傳進去例如 playing的分數傳播到play ###ing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說明n*n矩陣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200"/>
              <a:t>Word Correction </a:t>
            </a:r>
            <a:r>
              <a:rPr lang="zh-TW" sz="4200"/>
              <a:t>using LLM</a:t>
            </a:r>
            <a:endParaRPr sz="4200"/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31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Word Correction</a:t>
            </a:r>
            <a:r>
              <a:rPr lang="zh-TW"/>
              <a:t> attempts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61107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python plugin (e.g Textblob, Fasttext, symspellpy)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Symspellpy &amp; </a:t>
            </a:r>
            <a:r>
              <a:rPr lang="zh-TW" u="sng">
                <a:solidFill>
                  <a:schemeClr val="hlink"/>
                </a:solidFill>
                <a:hlinkClick r:id="rId3"/>
              </a:rPr>
              <a:t>vennify/t5-base-grammar-correctionT5</a:t>
            </a:r>
            <a:r>
              <a:rPr lang="zh-TW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Symspellpy &amp; </a:t>
            </a:r>
            <a:r>
              <a:rPr lang="zh-TW" u="sng">
                <a:solidFill>
                  <a:schemeClr val="hlink"/>
                </a:solidFill>
                <a:hlinkClick r:id="rId4"/>
              </a:rPr>
              <a:t>mistralai/Mistral-7B-Instruct-v0.3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Symspellpy &amp; </a:t>
            </a:r>
            <a:r>
              <a:rPr lang="zh-TW" u="sng">
                <a:solidFill>
                  <a:schemeClr val="hlink"/>
                </a:solidFill>
                <a:hlinkClick r:id="rId5"/>
              </a:rPr>
              <a:t>google/gemma-2-2b-i</a:t>
            </a:r>
            <a:r>
              <a:rPr lang="zh-TW" u="sng">
                <a:solidFill>
                  <a:schemeClr val="hlink"/>
                </a:solidFill>
                <a:hlinkClick r:id="rId6"/>
              </a:rPr>
              <a:t>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3038300"/>
            <a:ext cx="8520600" cy="1809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I define the level of mispelled words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A : simple mispelled (e.g forbidde, troble)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B : plural mispelled (e.g countrys, ourselfs)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C : space replacement and abbreviation (e.g “now adays” , “ect”)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6171250" y="1152475"/>
            <a:ext cx="14928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A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AB(C)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 rot="10800000">
            <a:off x="6924725" y="2514200"/>
            <a:ext cx="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Word correction framework</a:t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245138" y="3997775"/>
            <a:ext cx="11964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document</a:t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1820413" y="3997775"/>
            <a:ext cx="11964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Symspellpy</a:t>
            </a:r>
            <a:endParaRPr/>
          </a:p>
        </p:txBody>
      </p:sp>
      <p:cxnSp>
        <p:nvCxnSpPr>
          <p:cNvPr id="122" name="Google Shape;122;p20"/>
          <p:cNvCxnSpPr>
            <a:stCxn id="120" idx="3"/>
            <a:endCxn id="121" idx="1"/>
          </p:cNvCxnSpPr>
          <p:nvPr/>
        </p:nvCxnSpPr>
        <p:spPr>
          <a:xfrm>
            <a:off x="1441538" y="4327625"/>
            <a:ext cx="37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20"/>
          <p:cNvSpPr/>
          <p:nvPr/>
        </p:nvSpPr>
        <p:spPr>
          <a:xfrm>
            <a:off x="3481138" y="3997775"/>
            <a:ext cx="13833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mispelled sentences</a:t>
            </a:r>
            <a:endParaRPr/>
          </a:p>
        </p:txBody>
      </p:sp>
      <p:cxnSp>
        <p:nvCxnSpPr>
          <p:cNvPr id="124" name="Google Shape;124;p20"/>
          <p:cNvCxnSpPr>
            <a:stCxn id="121" idx="3"/>
            <a:endCxn id="123" idx="1"/>
          </p:cNvCxnSpPr>
          <p:nvPr/>
        </p:nvCxnSpPr>
        <p:spPr>
          <a:xfrm>
            <a:off x="3016813" y="4327625"/>
            <a:ext cx="46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0"/>
          <p:cNvCxnSpPr>
            <a:stCxn id="123" idx="3"/>
            <a:endCxn id="126" idx="1"/>
          </p:cNvCxnSpPr>
          <p:nvPr/>
        </p:nvCxnSpPr>
        <p:spPr>
          <a:xfrm>
            <a:off x="4864438" y="4327625"/>
            <a:ext cx="7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0"/>
          <p:cNvSpPr/>
          <p:nvPr/>
        </p:nvSpPr>
        <p:spPr>
          <a:xfrm>
            <a:off x="5639688" y="3997775"/>
            <a:ext cx="13833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Language Model</a:t>
            </a:r>
            <a:endParaRPr/>
          </a:p>
        </p:txBody>
      </p:sp>
      <p:cxnSp>
        <p:nvCxnSpPr>
          <p:cNvPr id="127" name="Google Shape;127;p20"/>
          <p:cNvCxnSpPr>
            <a:stCxn id="126" idx="3"/>
            <a:endCxn id="128" idx="1"/>
          </p:cNvCxnSpPr>
          <p:nvPr/>
        </p:nvCxnSpPr>
        <p:spPr>
          <a:xfrm>
            <a:off x="7022988" y="4327625"/>
            <a:ext cx="49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20"/>
          <p:cNvSpPr/>
          <p:nvPr/>
        </p:nvSpPr>
        <p:spPr>
          <a:xfrm>
            <a:off x="7515563" y="3997775"/>
            <a:ext cx="13833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Corrected Words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152475"/>
            <a:ext cx="8382300" cy="21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We use Symspellpy to </a:t>
            </a:r>
            <a:r>
              <a:rPr lang="zh-TW">
                <a:solidFill>
                  <a:schemeClr val="dk1"/>
                </a:solidFill>
              </a:rPr>
              <a:t>separate</a:t>
            </a:r>
            <a:r>
              <a:rPr lang="zh-TW">
                <a:solidFill>
                  <a:schemeClr val="dk1"/>
                </a:solidFill>
              </a:rPr>
              <a:t> the mispelled sentences from documents.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Use those mispelled sentences as input of Language Model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Inspecting the output to decide whether change Language Model or not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5352600" y="4556490"/>
            <a:ext cx="195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(Prompt Engineering)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Word correction framework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Since the collocation has been captured using the mispelled documents, even though we fixed the mispelled problem, we still need to update the collocation database to apply the corrected collocation.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