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4F17F0-6054-4CA4-9983-939D86B92D03}">
  <a:tblStyle styleId="{464F17F0-6054-4CA4-9983-939D86B92D0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google.com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用LLM查怎麼分dstnode</a:t>
            </a:r>
            <a:br>
              <a:rPr b="1"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其他作品的log都不是用auditd錄的 所以用casino的話作法會不一樣 所以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重新定義event: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重新定義event 把一組record拆下來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假如說同一組record中 拆出來的Syscall proctitle 共用 然後每個path都可以變成dst node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查一下接下來是不是接brute force</a:t>
            </a:r>
            <a:br>
              <a:rPr b="1"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-&gt; ps aux(常用的查看處理程序)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a: 顯示所有使用者的行程（不僅僅是當前 Shell 的）。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u: 以使用者為主的格式顯示（包含 CPU%、MEM% 等資訊）。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x: 顯示沒有控制終端機（TTY）的行程（通常是背景服務 Daemon）。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-&gt;ping  </a:t>
            </a:r>
            <a:r>
              <a:rPr lang="zh-TW" u="sng">
                <a:solidFill>
                  <a:schemeClr val="hlink"/>
                </a:solidFill>
                <a:hlinkClick r:id="rId2"/>
              </a:rPr>
              <a:t>www.google.com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Casino圈圈圖更新 E5做圈圈圖 log數量連結TTP</a:t>
            </a:r>
            <a:br>
              <a:rPr b="1"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LLM標ground trurh*3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LLM(嚴格),LLM(寬鬆),LLM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應人學長和名義學長的reduction要包含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通則會寫在方法 細節會寫在實驗裡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Log2Vec -&gt; airtag embedding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看TTP的描述 去抓multihost 可以找一個方法去找出來multi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A主機可能可以連B 但B蓮步道A 可以想辦法補充資訊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重新定義event的長相 確認別人的linux是怎麼畫圖的 因為我的不一樣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760d924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760d924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a8ffb195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a8ffb195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760d924a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760d924a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看MAGIC 使用的embedding 挑最好的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留Semnatic和Gra和singleormuulti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明確的點出研究問題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760d924a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760d924a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654c806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654c806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執行類 Syscall (你現在遇到的)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>
                <a:solidFill>
                  <a:srgbClr val="188038"/>
                </a:solidFill>
              </a:rPr>
              <a:t>execve</a:t>
            </a:r>
            <a:r>
              <a:rPr lang="zh-TW">
                <a:solidFill>
                  <a:schemeClr val="dk1"/>
                </a:solidFill>
              </a:rPr>
              <a:t> (59) $\rightarrow$ </a:t>
            </a:r>
            <a:r>
              <a:rPr b="1" lang="zh-TW">
                <a:solidFill>
                  <a:schemeClr val="dk1"/>
                </a:solidFill>
              </a:rPr>
              <a:t>本質上是 READ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zh-TW">
                <a:solidFill>
                  <a:schemeClr val="dk1"/>
                </a:solidFill>
              </a:rPr>
              <a:t>解釋：</a:t>
            </a:r>
            <a:r>
              <a:rPr lang="zh-TW">
                <a:solidFill>
                  <a:schemeClr val="dk1"/>
                </a:solidFill>
              </a:rPr>
              <a:t> 執行一個程式，OS 必須先把檔案內容「讀」進記憶體。它</a:t>
            </a:r>
            <a:r>
              <a:rPr b="1" lang="zh-TW">
                <a:solidFill>
                  <a:schemeClr val="dk1"/>
                </a:solidFill>
              </a:rPr>
              <a:t>絕對不會</a:t>
            </a:r>
            <a:r>
              <a:rPr lang="zh-TW">
                <a:solidFill>
                  <a:schemeClr val="dk1"/>
                </a:solidFill>
              </a:rPr>
              <a:t>去修改執行檔本身。所以標記為 </a:t>
            </a:r>
            <a:r>
              <a:rPr b="1" lang="zh-TW">
                <a:solidFill>
                  <a:schemeClr val="dk1"/>
                </a:solidFill>
              </a:rPr>
              <a:t>READ</a:t>
            </a:r>
            <a:r>
              <a:rPr lang="zh-TW">
                <a:solidFill>
                  <a:schemeClr val="dk1"/>
                </a:solidFill>
              </a:rPr>
              <a:t> 是完全正確的。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lib64/linux-x86-64</a:t>
            </a:r>
            <a:r>
              <a:rPr lang="zh-TW">
                <a:solidFill>
                  <a:schemeClr val="dk1"/>
                </a:solidFill>
              </a:rPr>
              <a:t>那欄是 Linux 系統中的 </a:t>
            </a:r>
            <a:r>
              <a:rPr b="1" lang="zh-TW">
                <a:solidFill>
                  <a:schemeClr val="dk1"/>
                </a:solidFill>
              </a:rPr>
              <a:t>動態連結器 (Dynamic Linker/Loader)</a:t>
            </a:r>
            <a:r>
              <a:rPr lang="zh-TW">
                <a:solidFill>
                  <a:schemeClr val="dk1"/>
                </a:solidFill>
              </a:rPr>
              <a:t>。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所以我們沒有攻擊者使用id -u獲取的任何資訊 因為他顯示在cmd視窗裡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777056cb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a777056c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a777056c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a777056c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020000160A23B4140000000000000000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A. 前 2 Bytes: 協定家族 (Family)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Hex: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02 00</a:t>
            </a:r>
            <a:endParaRPr>
              <a:solidFill>
                <a:srgbClr val="18803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數值: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0x0002</a:t>
            </a:r>
            <a:r>
              <a:rPr lang="zh-TW">
                <a:solidFill>
                  <a:schemeClr val="dk1"/>
                </a:solidFill>
              </a:rPr>
              <a:t> (Little Endian read as 2)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意義: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b="1" lang="zh-TW">
                <a:solidFill>
                  <a:srgbClr val="188038"/>
                </a:solidFill>
              </a:rPr>
              <a:t>AF_INET</a:t>
            </a:r>
            <a:r>
              <a:rPr b="1" lang="zh-TW">
                <a:solidFill>
                  <a:schemeClr val="dk1"/>
                </a:solidFill>
              </a:rPr>
              <a:t> (IPv4)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01 00</a:t>
            </a:r>
            <a:r>
              <a:rPr lang="zh-TW">
                <a:solidFill>
                  <a:schemeClr val="dk1"/>
                </a:solidFill>
              </a:rPr>
              <a:t> = Unix Socket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02 00</a:t>
            </a:r>
            <a:r>
              <a:rPr lang="zh-TW">
                <a:solidFill>
                  <a:schemeClr val="dk1"/>
                </a:solidFill>
              </a:rPr>
              <a:t> = IPv4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0A 00</a:t>
            </a:r>
            <a:r>
              <a:rPr lang="zh-TW">
                <a:solidFill>
                  <a:schemeClr val="dk1"/>
                </a:solidFill>
              </a:rPr>
              <a:t> = IPv6 (0x0A = 10)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B. 第 3-4 Bytes: 連接埠 (Port)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Hex: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00 16</a:t>
            </a:r>
            <a:endParaRPr>
              <a:solidFill>
                <a:srgbClr val="18803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格式: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b="1" lang="zh-TW">
                <a:solidFill>
                  <a:schemeClr val="dk1"/>
                </a:solidFill>
              </a:rPr>
              <a:t>Big Endian</a:t>
            </a:r>
            <a:r>
              <a:rPr lang="zh-TW">
                <a:solidFill>
                  <a:schemeClr val="dk1"/>
                </a:solidFill>
              </a:rPr>
              <a:t> (網路傳輸標準，高位在前)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計算:</a:t>
            </a:r>
            <a:r>
              <a:rPr lang="zh-TW">
                <a:solidFill>
                  <a:schemeClr val="dk1"/>
                </a:solidFill>
              </a:rPr>
              <a:t> $0 \times 256 + 22 = 22$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意義: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b="1" lang="zh-TW">
                <a:solidFill>
                  <a:schemeClr val="dk1"/>
                </a:solidFill>
              </a:rPr>
              <a:t>Port 22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C. 第 5-8 Bytes: IP 位址 (IP Address)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Hex: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0A 23 B4 14</a:t>
            </a:r>
            <a:endParaRPr>
              <a:solidFill>
                <a:srgbClr val="18803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格式:</a:t>
            </a:r>
            <a:r>
              <a:rPr lang="zh-TW">
                <a:solidFill>
                  <a:schemeClr val="dk1"/>
                </a:solidFill>
              </a:rPr>
              <a:t> Big Endian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解碼: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0A</a:t>
            </a:r>
            <a:r>
              <a:rPr lang="zh-TW">
                <a:solidFill>
                  <a:schemeClr val="dk1"/>
                </a:solidFill>
              </a:rPr>
              <a:t> = </a:t>
            </a:r>
            <a:r>
              <a:rPr b="1" lang="zh-TW">
                <a:solidFill>
                  <a:schemeClr val="dk1"/>
                </a:solidFill>
              </a:rPr>
              <a:t>10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23</a:t>
            </a:r>
            <a:r>
              <a:rPr lang="zh-TW">
                <a:solidFill>
                  <a:schemeClr val="dk1"/>
                </a:solidFill>
              </a:rPr>
              <a:t> = </a:t>
            </a:r>
            <a:r>
              <a:rPr b="1" lang="zh-TW">
                <a:solidFill>
                  <a:schemeClr val="dk1"/>
                </a:solidFill>
              </a:rPr>
              <a:t>35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B4</a:t>
            </a:r>
            <a:r>
              <a:rPr lang="zh-TW">
                <a:solidFill>
                  <a:schemeClr val="dk1"/>
                </a:solidFill>
              </a:rPr>
              <a:t> = </a:t>
            </a:r>
            <a:r>
              <a:rPr b="1" lang="zh-TW">
                <a:solidFill>
                  <a:schemeClr val="dk1"/>
                </a:solidFill>
              </a:rPr>
              <a:t>180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14</a:t>
            </a:r>
            <a:r>
              <a:rPr lang="zh-TW">
                <a:solidFill>
                  <a:schemeClr val="dk1"/>
                </a:solidFill>
              </a:rPr>
              <a:t> = </a:t>
            </a:r>
            <a:r>
              <a:rPr b="1" lang="zh-TW">
                <a:solidFill>
                  <a:schemeClr val="dk1"/>
                </a:solidFill>
              </a:rPr>
              <a:t>20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意義: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b="1" lang="zh-TW">
                <a:solidFill>
                  <a:schemeClr val="dk1"/>
                </a:solidFill>
              </a:rPr>
              <a:t>10.35.180.20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D. 後面 8 Bytes: 填充 (Padding)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Hex: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00 00 00 00 00 00 00 00</a:t>
            </a:r>
            <a:endParaRPr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a8e57b4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ba8e57b4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020000160A23B4140000000000000000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A. 前 2 Bytes: 協定家族 (Family)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Hex: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02 00</a:t>
            </a:r>
            <a:endParaRPr>
              <a:solidFill>
                <a:srgbClr val="18803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數值: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0x0002</a:t>
            </a:r>
            <a:r>
              <a:rPr lang="zh-TW">
                <a:solidFill>
                  <a:schemeClr val="dk1"/>
                </a:solidFill>
              </a:rPr>
              <a:t> (Little Endian read as 2)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意義: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b="1" lang="zh-TW">
                <a:solidFill>
                  <a:srgbClr val="188038"/>
                </a:solidFill>
              </a:rPr>
              <a:t>AF_INET</a:t>
            </a:r>
            <a:r>
              <a:rPr b="1" lang="zh-TW">
                <a:solidFill>
                  <a:schemeClr val="dk1"/>
                </a:solidFill>
              </a:rPr>
              <a:t> (IPv4)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01 00</a:t>
            </a:r>
            <a:r>
              <a:rPr lang="zh-TW">
                <a:solidFill>
                  <a:schemeClr val="dk1"/>
                </a:solidFill>
              </a:rPr>
              <a:t> = Unix Socket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02 00</a:t>
            </a:r>
            <a:r>
              <a:rPr lang="zh-TW">
                <a:solidFill>
                  <a:schemeClr val="dk1"/>
                </a:solidFill>
              </a:rPr>
              <a:t> = IPv4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0A 00</a:t>
            </a:r>
            <a:r>
              <a:rPr lang="zh-TW">
                <a:solidFill>
                  <a:schemeClr val="dk1"/>
                </a:solidFill>
              </a:rPr>
              <a:t> = IPv6 (0x0A = 10)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B. 第 3-4 Bytes: 連接埠 (Port)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Hex: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00 16</a:t>
            </a:r>
            <a:endParaRPr>
              <a:solidFill>
                <a:srgbClr val="18803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格式: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b="1" lang="zh-TW">
                <a:solidFill>
                  <a:schemeClr val="dk1"/>
                </a:solidFill>
              </a:rPr>
              <a:t>Big Endian</a:t>
            </a:r>
            <a:r>
              <a:rPr lang="zh-TW">
                <a:solidFill>
                  <a:schemeClr val="dk1"/>
                </a:solidFill>
              </a:rPr>
              <a:t> (網路傳輸標準，高位在前)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計算:</a:t>
            </a:r>
            <a:r>
              <a:rPr lang="zh-TW">
                <a:solidFill>
                  <a:schemeClr val="dk1"/>
                </a:solidFill>
              </a:rPr>
              <a:t> $0 \times 256 + 22 = 22$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意義: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b="1" lang="zh-TW">
                <a:solidFill>
                  <a:schemeClr val="dk1"/>
                </a:solidFill>
              </a:rPr>
              <a:t>Port 22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C. 第 5-8 Bytes: IP 位址 (IP Address)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Hex: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0A 23 B4 14</a:t>
            </a:r>
            <a:endParaRPr>
              <a:solidFill>
                <a:srgbClr val="18803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格式:</a:t>
            </a:r>
            <a:r>
              <a:rPr lang="zh-TW">
                <a:solidFill>
                  <a:schemeClr val="dk1"/>
                </a:solidFill>
              </a:rPr>
              <a:t> Big Endian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解碼: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0A</a:t>
            </a:r>
            <a:r>
              <a:rPr lang="zh-TW">
                <a:solidFill>
                  <a:schemeClr val="dk1"/>
                </a:solidFill>
              </a:rPr>
              <a:t> = </a:t>
            </a:r>
            <a:r>
              <a:rPr b="1" lang="zh-TW">
                <a:solidFill>
                  <a:schemeClr val="dk1"/>
                </a:solidFill>
              </a:rPr>
              <a:t>10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23</a:t>
            </a:r>
            <a:r>
              <a:rPr lang="zh-TW">
                <a:solidFill>
                  <a:schemeClr val="dk1"/>
                </a:solidFill>
              </a:rPr>
              <a:t> = </a:t>
            </a:r>
            <a:r>
              <a:rPr b="1" lang="zh-TW">
                <a:solidFill>
                  <a:schemeClr val="dk1"/>
                </a:solidFill>
              </a:rPr>
              <a:t>35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B4</a:t>
            </a:r>
            <a:r>
              <a:rPr lang="zh-TW">
                <a:solidFill>
                  <a:schemeClr val="dk1"/>
                </a:solidFill>
              </a:rPr>
              <a:t> = </a:t>
            </a:r>
            <a:r>
              <a:rPr b="1" lang="zh-TW">
                <a:solidFill>
                  <a:schemeClr val="dk1"/>
                </a:solidFill>
              </a:rPr>
              <a:t>180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rgbClr val="188038"/>
                </a:solidFill>
              </a:rPr>
              <a:t>14</a:t>
            </a:r>
            <a:r>
              <a:rPr lang="zh-TW">
                <a:solidFill>
                  <a:schemeClr val="dk1"/>
                </a:solidFill>
              </a:rPr>
              <a:t> = </a:t>
            </a:r>
            <a:r>
              <a:rPr b="1" lang="zh-TW">
                <a:solidFill>
                  <a:schemeClr val="dk1"/>
                </a:solidFill>
              </a:rPr>
              <a:t>20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意義: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b="1" lang="zh-TW">
                <a:solidFill>
                  <a:schemeClr val="dk1"/>
                </a:solidFill>
              </a:rPr>
              <a:t>10.35.180.20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D. 後面 8 Bytes: 填充 (Padding)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zh-TW">
                <a:solidFill>
                  <a:schemeClr val="dk1"/>
                </a:solidFill>
              </a:rPr>
              <a:t>Hex: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rgbClr val="188038"/>
                </a:solidFill>
              </a:rPr>
              <a:t>00 00 00 00 00 00 00 00</a:t>
            </a:r>
            <a:endParaRPr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2b59ad7c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2b59ad7c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a8e57b46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a8e57b46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9e17c9b2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9e17c9b2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a8e57b46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ba8e57b46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a8e57b46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ba8e57b46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a8e57b46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ba8e57b46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9e17c9b28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b9e17c9b28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9e17c9b2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9e17c9b2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b9e17c9b28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b9e17c9b28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</a:t>
            </a:r>
            <a:r>
              <a:rPr lang="zh-TW"/>
              <a:t>和E5的表格 特別標出multi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9e17c9b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b9e17c9b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l.acm.org/doi/pdf/10.1145/3719027.3744788" TargetMode="External"/><Relationship Id="rId4" Type="http://schemas.openxmlformats.org/officeDocument/2006/relationships/hyperlink" Target="https://ieeexplore.ieee.org/stamp/stamp.jsp?arnumber=10646673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jxmorris12/language_tool_python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www.google.com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Multihost</a:t>
            </a:r>
            <a:r>
              <a:rPr lang="zh-TW"/>
              <a:t>的問題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研究問題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現有以 SLOT、Kairos 等為代表的攻擊行為分析系統，多採用「Anomaly Detection」為核心：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只能找異常，無法直接指出「是哪一個 TTP（攻擊技術）」導致異常。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Kairos 透過 connect, send, recv 等行為去連接</a:t>
            </a:r>
            <a:r>
              <a:rPr lang="zh-TW">
                <a:solidFill>
                  <a:schemeClr val="dk1"/>
                </a:solidFill>
              </a:rPr>
              <a:t>multihost的行為，SLOT則無。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所以我要設計的架構是可以針對multihost的惡意行為做偵測並且指出是哪一個TTP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0" y="4256250"/>
            <a:ext cx="644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222222"/>
                </a:solidFill>
                <a:highlight>
                  <a:srgbClr val="FFFFFF"/>
                </a:highlight>
              </a:rPr>
              <a:t>Qiao, Wei, et al. "</a:t>
            </a:r>
            <a:r>
              <a:rPr lang="zh-TW" sz="10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Slot: Provenance-driven APT detection through graph reinforcement learning.</a:t>
            </a:r>
            <a:r>
              <a:rPr lang="zh-TW" sz="1000">
                <a:solidFill>
                  <a:srgbClr val="222222"/>
                </a:solidFill>
                <a:highlight>
                  <a:srgbClr val="FFFFFF"/>
                </a:highlight>
              </a:rPr>
              <a:t>" </a:t>
            </a:r>
            <a:r>
              <a:rPr i="1" lang="zh-TW" sz="1000">
                <a:solidFill>
                  <a:srgbClr val="222222"/>
                </a:solidFill>
                <a:highlight>
                  <a:srgbClr val="FFFFFF"/>
                </a:highlight>
              </a:rPr>
              <a:t>Proceedings of the 2025 ACM SIGSAC Conference on Computer and Communications Security</a:t>
            </a:r>
            <a:r>
              <a:rPr lang="zh-TW" sz="1000">
                <a:solidFill>
                  <a:srgbClr val="222222"/>
                </a:solidFill>
                <a:highlight>
                  <a:srgbClr val="FFFFFF"/>
                </a:highlight>
              </a:rPr>
              <a:t>. 2025.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0" y="4598149"/>
            <a:ext cx="685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222222"/>
                </a:solidFill>
                <a:highlight>
                  <a:srgbClr val="FFFFFF"/>
                </a:highlight>
              </a:rPr>
              <a:t>Cheng, Zijun, et al. "</a:t>
            </a:r>
            <a:r>
              <a:rPr lang="zh-TW" sz="10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Kairos: Practical intrusion detection and investigation using whole-system provenance.</a:t>
            </a:r>
            <a:r>
              <a:rPr lang="zh-TW" sz="1000">
                <a:solidFill>
                  <a:srgbClr val="222222"/>
                </a:solidFill>
                <a:highlight>
                  <a:srgbClr val="FFFFFF"/>
                </a:highlight>
              </a:rPr>
              <a:t>" </a:t>
            </a:r>
            <a:r>
              <a:rPr i="1" lang="zh-TW" sz="1000">
                <a:solidFill>
                  <a:srgbClr val="222222"/>
                </a:solidFill>
                <a:highlight>
                  <a:srgbClr val="FFFFFF"/>
                </a:highlight>
              </a:rPr>
              <a:t>2024 IEEE Symposium on Security and Privacy (SP)</a:t>
            </a:r>
            <a:r>
              <a:rPr lang="zh-TW" sz="1000">
                <a:solidFill>
                  <a:srgbClr val="222222"/>
                </a:solidFill>
                <a:highlight>
                  <a:srgbClr val="FFFFFF"/>
                </a:highlight>
              </a:rPr>
              <a:t>. IEEE, 2024.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下周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DARPA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找相關的sample證明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Mitre看那些TTP是multihost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Preprocessing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找multihost相關文獻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其他架構的比較(From SLOT)</a:t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266325" y="1223075"/>
            <a:ext cx="3895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TW" sz="1600">
                <a:solidFill>
                  <a:srgbClr val="000000"/>
                </a:solidFill>
              </a:rPr>
              <a:t>Threat Report</a:t>
            </a:r>
            <a:endParaRPr sz="16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zh-TW" sz="1200">
                <a:solidFill>
                  <a:srgbClr val="000000"/>
                </a:solidFill>
              </a:rPr>
              <a:t>這個模型是否能夠產生可讀的攻擊報告或解釋性輸出。</a:t>
            </a:r>
            <a:endParaRPr sz="16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TW" sz="1600">
                <a:solidFill>
                  <a:srgbClr val="000000"/>
                </a:solidFill>
              </a:rPr>
              <a:t>Semantic Encoding</a:t>
            </a:r>
            <a:endParaRPr sz="16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zh-TW" sz="1200">
                <a:solidFill>
                  <a:srgbClr val="000000"/>
                </a:solidFill>
              </a:rPr>
              <a:t>模型是否能將系統行為、事件或節點做語義層次的嵌入（semantic embedding）。</a:t>
            </a:r>
            <a:endParaRPr sz="16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TW" sz="1600">
                <a:solidFill>
                  <a:srgbClr val="000000"/>
                </a:solidFill>
              </a:rPr>
              <a:t>Attack Reconstruction</a:t>
            </a:r>
            <a:endParaRPr sz="16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zh-TW" sz="1200">
                <a:solidFill>
                  <a:srgbClr val="000000"/>
                </a:solidFill>
              </a:rPr>
              <a:t>是否能根據檢測到的事件，把整個攻擊路徑串回來</a:t>
            </a:r>
            <a:endParaRPr sz="12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TW" sz="1600">
                <a:solidFill>
                  <a:srgbClr val="000000"/>
                </a:solidFill>
              </a:rPr>
              <a:t>Adversarial Robustness</a:t>
            </a:r>
            <a:endParaRPr sz="16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zh-TW" sz="1200">
                <a:solidFill>
                  <a:srgbClr val="000000"/>
                </a:solidFill>
              </a:rPr>
              <a:t>模型是否能抵禦攻擊者刻意混淆、隱藏或規避偵測的行為（例如投毒、log obfuscation）</a:t>
            </a:r>
            <a:endParaRPr sz="12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TW" sz="1600">
                <a:solidFill>
                  <a:srgbClr val="000000"/>
                </a:solidFill>
              </a:rPr>
              <a:t>Granularity</a:t>
            </a:r>
            <a:endParaRPr sz="16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zh-TW" sz="1200">
                <a:solidFill>
                  <a:srgbClr val="000000"/>
                </a:solidFill>
              </a:rPr>
              <a:t>偵測對象的細緻程度</a:t>
            </a:r>
            <a:endParaRPr sz="1200">
              <a:solidFill>
                <a:srgbClr val="000000"/>
              </a:solidFill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1475" y="1350200"/>
            <a:ext cx="4677200" cy="2173375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" name="Google Shape;80;p16"/>
          <p:cNvSpPr txBox="1"/>
          <p:nvPr/>
        </p:nvSpPr>
        <p:spPr>
          <a:xfrm>
            <a:off x="4251475" y="3638725"/>
            <a:ext cx="3000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以上架構只有Poirot可以透過設定好的query去關聯不同主機的行為，無法自動偵測multihhost。</a:t>
            </a:r>
            <a:endParaRPr/>
          </a:p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481513" y="476282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8110362" y="2037478"/>
            <a:ext cx="782100" cy="1421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16"/>
          <p:cNvCxnSpPr>
            <a:stCxn id="82" idx="2"/>
          </p:cNvCxnSpPr>
          <p:nvPr/>
        </p:nvCxnSpPr>
        <p:spPr>
          <a:xfrm flipH="1">
            <a:off x="8493912" y="3459178"/>
            <a:ext cx="7500" cy="27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" name="Google Shape;84;p16"/>
          <p:cNvSpPr txBox="1"/>
          <p:nvPr/>
        </p:nvSpPr>
        <p:spPr>
          <a:xfrm>
            <a:off x="7180975" y="3712675"/>
            <a:ext cx="1903500" cy="1160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能偵測的sample類</a:t>
            </a:r>
            <a:r>
              <a:rPr lang="zh-TW" sz="1200">
                <a:solidFill>
                  <a:schemeClr val="dk1"/>
                </a:solidFill>
              </a:rPr>
              <a:t>型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</a:rPr>
              <a:t>Graph:子圖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</a:rPr>
              <a:t>Node:節點異常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</a:rPr>
              <a:t>Edge:relation異常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 TTP 類型及作法規劃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152475"/>
            <a:ext cx="3292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zh-TW" sz="1600">
                <a:solidFill>
                  <a:schemeClr val="dk1"/>
                </a:solidFill>
              </a:rPr>
              <a:t>針對不同類型的TTP做detection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zh-TW" sz="1600">
                <a:solidFill>
                  <a:schemeClr val="dk1"/>
                </a:solidFill>
              </a:rPr>
              <a:t>對multihost的TTP用網路行為做連接</a:t>
            </a:r>
            <a:br>
              <a:rPr lang="zh-TW" sz="1600">
                <a:solidFill>
                  <a:schemeClr val="dk1"/>
                </a:solidFill>
              </a:rPr>
            </a:br>
            <a:r>
              <a:rPr lang="zh-TW" sz="1600">
                <a:solidFill>
                  <a:schemeClr val="dk1"/>
                </a:solidFill>
              </a:rPr>
              <a:t>(目前想到能證明行為是multihost只能用網路行為連接)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91" name="Google Shape;91;p17" title="sample_typ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7825" y="1562378"/>
            <a:ext cx="5268676" cy="2596601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4665800" y="646850"/>
            <a:ext cx="4280700" cy="7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400">
                <a:solidFill>
                  <a:schemeClr val="dk1"/>
                </a:solidFill>
              </a:rPr>
              <a:t>x軸代表此TTP的sample 中 single event的含量</a:t>
            </a:r>
            <a:br>
              <a:rPr lang="zh-TW" sz="1400">
                <a:solidFill>
                  <a:schemeClr val="dk1"/>
                </a:solidFill>
              </a:rPr>
            </a:br>
            <a:r>
              <a:rPr lang="zh-TW" sz="1400">
                <a:solidFill>
                  <a:schemeClr val="dk1"/>
                </a:solidFill>
              </a:rPr>
              <a:t>y軸代表</a:t>
            </a:r>
            <a:r>
              <a:rPr lang="zh-TW" sz="1400">
                <a:solidFill>
                  <a:schemeClr val="dk1"/>
                </a:solidFill>
              </a:rPr>
              <a:t>此TTP的sample 中 event的時間跨度大小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442050" y="4261350"/>
            <a:ext cx="5154600" cy="7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300">
                <a:solidFill>
                  <a:schemeClr val="dk1"/>
                </a:solidFill>
              </a:rPr>
              <a:t>綠色代表此TTP大多都是single event 且時間跨度極小 (除了T1033)</a:t>
            </a:r>
            <a:br>
              <a:rPr lang="zh-TW" sz="1300">
                <a:solidFill>
                  <a:schemeClr val="dk1"/>
                </a:solidFill>
              </a:rPr>
            </a:br>
            <a:r>
              <a:rPr lang="zh-TW" sz="1300">
                <a:solidFill>
                  <a:schemeClr val="dk1"/>
                </a:solidFill>
              </a:rPr>
              <a:t>橘色代表此TTP大多都</a:t>
            </a:r>
            <a:r>
              <a:rPr lang="zh-TW" sz="1300">
                <a:solidFill>
                  <a:schemeClr val="dk1"/>
                </a:solidFill>
              </a:rPr>
              <a:t>不是single event 且時間跨度較小</a:t>
            </a:r>
            <a:br>
              <a:rPr lang="zh-TW" sz="1300">
                <a:solidFill>
                  <a:schemeClr val="dk1"/>
                </a:solidFill>
              </a:rPr>
            </a:br>
            <a:r>
              <a:rPr lang="zh-TW" sz="1300">
                <a:solidFill>
                  <a:schemeClr val="dk1"/>
                </a:solidFill>
              </a:rPr>
              <a:t>紅色代表此TTP大多都不是single event 且時間跨度較大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/>
          <p:nvPr/>
        </p:nvSpPr>
        <p:spPr>
          <a:xfrm>
            <a:off x="2158463" y="4439450"/>
            <a:ext cx="246300" cy="2601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0" name="Google Shape;100;p18"/>
          <p:cNvSpPr/>
          <p:nvPr/>
        </p:nvSpPr>
        <p:spPr>
          <a:xfrm>
            <a:off x="3240250" y="4436600"/>
            <a:ext cx="246300" cy="260100"/>
          </a:xfrm>
          <a:prstGeom prst="flowChart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445025"/>
            <a:ext cx="794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420"/>
              <a:t>T1033: System Owner/User Discovery</a:t>
            </a:r>
            <a:endParaRPr sz="2420"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1041375"/>
            <a:ext cx="7370100" cy="18363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               "type=SYSCALL msg=audit(1715974431.706:37679): syscall=59 success=yes exit=0 a0=5608445845b0 a1=5608445850f0 a2=560844581e00 a3=8 ppid=11613 pid=11614 exe=\"/usr/bin/id\" SYSCALL=execve ",</a:t>
            </a:r>
            <a:endParaRPr sz="1200">
              <a:solidFill>
                <a:schemeClr val="dk1"/>
              </a:solidFill>
              <a:highlight>
                <a:srgbClr val="999999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                "type=PATH msg=audit(1715974431.706:37679): name=\"/usr/bin/id\" mode=0100755 nametype=NORMAL OUID=\"root\" OGID=\"root\"",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               "type=PATH msg=audit(1715974431.706:37679): name=\"/usr/bin/id\" mode=0100755 nametype=NORMAL OUID=\"root\" OGID=\"root\"",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                "type=PATH msg=audit(1715974431.706:37679): name=\"/lib64/ld-linux-x86-64.so.2\" mode=0100755 nametype=NORMAL OUID=\"root\" OGID=\"root\"",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                "type=PROCTITLE msg=audit(1715974431.706:37679): proctitle=6964002D75"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0437" y="71325"/>
            <a:ext cx="2698225" cy="479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2442975" y="4382012"/>
            <a:ext cx="7470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Relati</a:t>
            </a:r>
            <a:r>
              <a:rPr lang="zh-TW" sz="1200">
                <a:solidFill>
                  <a:schemeClr val="dk1"/>
                </a:solidFill>
              </a:rPr>
              <a:t>on</a:t>
            </a:r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503875" y="3067862"/>
            <a:ext cx="4557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Info</a:t>
            </a:r>
            <a:endParaRPr/>
          </a:p>
        </p:txBody>
      </p:sp>
      <p:sp>
        <p:nvSpPr>
          <p:cNvPr id="107" name="Google Shape;107;p18"/>
          <p:cNvSpPr txBox="1"/>
          <p:nvPr/>
        </p:nvSpPr>
        <p:spPr>
          <a:xfrm>
            <a:off x="1296000" y="3697112"/>
            <a:ext cx="7794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Log2Vec</a:t>
            </a:r>
            <a:endParaRPr/>
          </a:p>
        </p:txBody>
      </p:sp>
      <p:cxnSp>
        <p:nvCxnSpPr>
          <p:cNvPr id="108" name="Google Shape;108;p18"/>
          <p:cNvCxnSpPr>
            <a:stCxn id="106" idx="3"/>
            <a:endCxn id="109" idx="1"/>
          </p:cNvCxnSpPr>
          <p:nvPr/>
        </p:nvCxnSpPr>
        <p:spPr>
          <a:xfrm>
            <a:off x="959575" y="3252512"/>
            <a:ext cx="22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" name="Google Shape;110;p18"/>
          <p:cNvSpPr txBox="1"/>
          <p:nvPr/>
        </p:nvSpPr>
        <p:spPr>
          <a:xfrm>
            <a:off x="2330625" y="3697099"/>
            <a:ext cx="9717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Cmdcaliper</a:t>
            </a:r>
            <a:endParaRPr/>
          </a:p>
        </p:txBody>
      </p:sp>
      <p:cxnSp>
        <p:nvCxnSpPr>
          <p:cNvPr id="111" name="Google Shape;111;p18"/>
          <p:cNvCxnSpPr>
            <a:stCxn id="110" idx="2"/>
            <a:endCxn id="105" idx="0"/>
          </p:cNvCxnSpPr>
          <p:nvPr/>
        </p:nvCxnSpPr>
        <p:spPr>
          <a:xfrm>
            <a:off x="2816475" y="4066399"/>
            <a:ext cx="0" cy="3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" name="Google Shape;112;p18"/>
          <p:cNvSpPr txBox="1"/>
          <p:nvPr/>
        </p:nvSpPr>
        <p:spPr>
          <a:xfrm>
            <a:off x="2120238" y="4382012"/>
            <a:ext cx="31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+</a:t>
            </a:r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2470725" y="3067838"/>
            <a:ext cx="6915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Syscall</a:t>
            </a:r>
            <a:endParaRPr/>
          </a:p>
        </p:txBody>
      </p:sp>
      <p:cxnSp>
        <p:nvCxnSpPr>
          <p:cNvPr id="114" name="Google Shape;114;p18"/>
          <p:cNvCxnSpPr>
            <a:stCxn id="113" idx="2"/>
            <a:endCxn id="110" idx="0"/>
          </p:cNvCxnSpPr>
          <p:nvPr/>
        </p:nvCxnSpPr>
        <p:spPr>
          <a:xfrm>
            <a:off x="2816475" y="3437138"/>
            <a:ext cx="0" cy="26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" name="Google Shape;109;p18"/>
          <p:cNvSpPr txBox="1"/>
          <p:nvPr/>
        </p:nvSpPr>
        <p:spPr>
          <a:xfrm>
            <a:off x="1180800" y="3067850"/>
            <a:ext cx="10098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</a:rPr>
              <a:t>Reduction</a:t>
            </a:r>
            <a:endParaRPr/>
          </a:p>
        </p:txBody>
      </p:sp>
      <p:cxnSp>
        <p:nvCxnSpPr>
          <p:cNvPr id="115" name="Google Shape;115;p18"/>
          <p:cNvCxnSpPr>
            <a:stCxn id="109" idx="2"/>
            <a:endCxn id="107" idx="0"/>
          </p:cNvCxnSpPr>
          <p:nvPr/>
        </p:nvCxnSpPr>
        <p:spPr>
          <a:xfrm>
            <a:off x="1685700" y="3437150"/>
            <a:ext cx="0" cy="26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" name="Google Shape;116;p18"/>
          <p:cNvSpPr txBox="1"/>
          <p:nvPr/>
        </p:nvSpPr>
        <p:spPr>
          <a:xfrm>
            <a:off x="1251150" y="4382000"/>
            <a:ext cx="8691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SrcNode</a:t>
            </a:r>
            <a:endParaRPr/>
          </a:p>
        </p:txBody>
      </p:sp>
      <p:cxnSp>
        <p:nvCxnSpPr>
          <p:cNvPr id="117" name="Google Shape;117;p18"/>
          <p:cNvCxnSpPr>
            <a:stCxn id="107" idx="2"/>
            <a:endCxn id="116" idx="0"/>
          </p:cNvCxnSpPr>
          <p:nvPr/>
        </p:nvCxnSpPr>
        <p:spPr>
          <a:xfrm>
            <a:off x="1685700" y="4066412"/>
            <a:ext cx="0" cy="3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" name="Google Shape;118;p18"/>
          <p:cNvSpPr txBox="1"/>
          <p:nvPr/>
        </p:nvSpPr>
        <p:spPr>
          <a:xfrm>
            <a:off x="4572000" y="3067850"/>
            <a:ext cx="3063600" cy="1160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Reduction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</a:rPr>
              <a:t>把完全一樣資訊的record整合成一條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</a:rPr>
              <a:t>把LOAD記憶體的指令record刪掉(如果內容跟SYSCALL那欄重疊的話)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3505038" y="3067850"/>
            <a:ext cx="9327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End info</a:t>
            </a:r>
            <a:endParaRPr/>
          </a:p>
        </p:txBody>
      </p:sp>
      <p:cxnSp>
        <p:nvCxnSpPr>
          <p:cNvPr id="120" name="Google Shape;120;p18"/>
          <p:cNvCxnSpPr>
            <a:stCxn id="103" idx="1"/>
            <a:endCxn id="121" idx="1"/>
          </p:cNvCxnSpPr>
          <p:nvPr/>
        </p:nvCxnSpPr>
        <p:spPr>
          <a:xfrm>
            <a:off x="6320437" y="311175"/>
            <a:ext cx="600" cy="485100"/>
          </a:xfrm>
          <a:prstGeom prst="bentConnector3">
            <a:avLst>
              <a:gd fmla="val -3968952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1" name="Google Shape;121;p18" title="provenance_graph_fin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0425" y="603009"/>
            <a:ext cx="2698251" cy="38639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22" name="Google Shape;122;p18"/>
          <p:cNvCxnSpPr>
            <a:stCxn id="118" idx="3"/>
          </p:cNvCxnSpPr>
          <p:nvPr/>
        </p:nvCxnSpPr>
        <p:spPr>
          <a:xfrm flipH="1" rot="10800000">
            <a:off x="7635600" y="1053500"/>
            <a:ext cx="1125000" cy="2594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8"/>
          <p:cNvCxnSpPr>
            <a:stCxn id="119" idx="2"/>
            <a:endCxn id="124" idx="0"/>
          </p:cNvCxnSpPr>
          <p:nvPr/>
        </p:nvCxnSpPr>
        <p:spPr>
          <a:xfrm>
            <a:off x="3971388" y="3437150"/>
            <a:ext cx="0" cy="26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" name="Google Shape;124;p18"/>
          <p:cNvSpPr txBox="1"/>
          <p:nvPr/>
        </p:nvSpPr>
        <p:spPr>
          <a:xfrm>
            <a:off x="3581700" y="3697112"/>
            <a:ext cx="7794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Log2Vec</a:t>
            </a:r>
            <a:endParaRPr/>
          </a:p>
        </p:txBody>
      </p:sp>
      <p:sp>
        <p:nvSpPr>
          <p:cNvPr id="125" name="Google Shape;125;p18"/>
          <p:cNvSpPr txBox="1"/>
          <p:nvPr/>
        </p:nvSpPr>
        <p:spPr>
          <a:xfrm>
            <a:off x="3536850" y="4382000"/>
            <a:ext cx="8691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Dst</a:t>
            </a:r>
            <a:r>
              <a:rPr lang="zh-TW" sz="1200">
                <a:solidFill>
                  <a:schemeClr val="dk1"/>
                </a:solidFill>
              </a:rPr>
              <a:t>Node</a:t>
            </a:r>
            <a:endParaRPr/>
          </a:p>
        </p:txBody>
      </p:sp>
      <p:cxnSp>
        <p:nvCxnSpPr>
          <p:cNvPr id="126" name="Google Shape;126;p18"/>
          <p:cNvCxnSpPr>
            <a:stCxn id="124" idx="2"/>
            <a:endCxn id="125" idx="0"/>
          </p:cNvCxnSpPr>
          <p:nvPr/>
        </p:nvCxnSpPr>
        <p:spPr>
          <a:xfrm>
            <a:off x="3971400" y="4066412"/>
            <a:ext cx="0" cy="3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18"/>
          <p:cNvSpPr txBox="1"/>
          <p:nvPr/>
        </p:nvSpPr>
        <p:spPr>
          <a:xfrm>
            <a:off x="4572025" y="4382000"/>
            <a:ext cx="3063600" cy="73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End info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zh-TW" sz="1200">
                <a:solidFill>
                  <a:schemeClr val="dk1"/>
                </a:solidFill>
              </a:rPr>
              <a:t>挑最後幾條event或是record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3205150" y="4382012"/>
            <a:ext cx="31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+</a:t>
            </a:r>
            <a:endParaRPr/>
          </a:p>
        </p:txBody>
      </p:sp>
      <p:cxnSp>
        <p:nvCxnSpPr>
          <p:cNvPr id="129" name="Google Shape;129;p18"/>
          <p:cNvCxnSpPr>
            <a:stCxn id="109" idx="0"/>
            <a:endCxn id="119" idx="0"/>
          </p:cNvCxnSpPr>
          <p:nvPr/>
        </p:nvCxnSpPr>
        <p:spPr>
          <a:xfrm flipH="1" rot="-5400000">
            <a:off x="2828250" y="1925300"/>
            <a:ext cx="600" cy="2285700"/>
          </a:xfrm>
          <a:prstGeom prst="bentConnector3">
            <a:avLst>
              <a:gd fmla="val -2057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" name="Google Shape;130;p18"/>
          <p:cNvSpPr/>
          <p:nvPr/>
        </p:nvSpPr>
        <p:spPr>
          <a:xfrm>
            <a:off x="1180800" y="4313750"/>
            <a:ext cx="3302400" cy="511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375259" y="4411700"/>
            <a:ext cx="894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</a:rPr>
              <a:t>模型的輸入: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375325" y="3364450"/>
            <a:ext cx="712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</a:rPr>
              <a:t>原始資料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911875" y="2907288"/>
            <a:ext cx="316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</a:rPr>
              <a:t>➀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1165275" y="3653825"/>
            <a:ext cx="3302400" cy="511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116125" y="3873225"/>
            <a:ext cx="1231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</a:rPr>
              <a:t>Embedding 處理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1369200" y="3364461"/>
            <a:ext cx="316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</a:rPr>
              <a:t>➁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2437125" y="3364461"/>
            <a:ext cx="316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</a:rPr>
              <a:t>➁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3654900" y="3364449"/>
            <a:ext cx="316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</a:rPr>
              <a:t>➁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1346151" y="4055814"/>
            <a:ext cx="316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</a:rPr>
              <a:t>➂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2414076" y="4055814"/>
            <a:ext cx="316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</a:rPr>
              <a:t>➂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3631851" y="4055802"/>
            <a:ext cx="316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</a:rPr>
              <a:t>➂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1986453" y="4761875"/>
            <a:ext cx="584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</a:rPr>
              <a:t>concat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of </a:t>
            </a:r>
            <a:r>
              <a:rPr lang="zh-TW"/>
              <a:t>Aggregation </a:t>
            </a:r>
            <a:endParaRPr/>
          </a:p>
        </p:txBody>
      </p:sp>
      <p:sp>
        <p:nvSpPr>
          <p:cNvPr id="148" name="Google Shape;148;p19"/>
          <p:cNvSpPr txBox="1"/>
          <p:nvPr>
            <p:ph idx="1" type="body"/>
          </p:nvPr>
        </p:nvSpPr>
        <p:spPr>
          <a:xfrm>
            <a:off x="311700" y="1152475"/>
            <a:ext cx="3667200" cy="3299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chemeClr val="dk1"/>
                </a:solidFill>
              </a:rPr>
              <a:t>這</a:t>
            </a:r>
            <a:r>
              <a:rPr lang="zh-TW" sz="1400">
                <a:solidFill>
                  <a:schemeClr val="dk1"/>
                </a:solidFill>
              </a:rPr>
              <a:t>欄是 Linux 系統中的 </a:t>
            </a:r>
            <a:r>
              <a:rPr b="1" lang="zh-TW" sz="1400">
                <a:solidFill>
                  <a:schemeClr val="dk1"/>
                </a:solidFill>
              </a:rPr>
              <a:t>動態連結器 (Dynamic Linker/Loader)</a:t>
            </a:r>
            <a:r>
              <a:rPr lang="zh-TW" sz="1400">
                <a:solidFill>
                  <a:schemeClr val="dk1"/>
                </a:solidFill>
              </a:rPr>
              <a:t>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chemeClr val="dk1"/>
                </a:solidFill>
              </a:rPr>
              <a:t>任何程式或指令啟動時都會去呼叫 </a:t>
            </a:r>
            <a:r>
              <a:rPr lang="zh-TW" sz="1400">
                <a:solidFill>
                  <a:schemeClr val="dk1"/>
                </a:solidFill>
                <a:highlight>
                  <a:schemeClr val="lt2"/>
                </a:highlight>
              </a:rPr>
              <a:t>/lib64/ld-linux-x86-64.so.2</a:t>
            </a:r>
            <a:r>
              <a:rPr lang="zh-TW" sz="1400">
                <a:solidFill>
                  <a:schemeClr val="dk1"/>
                </a:solidFill>
              </a:rPr>
              <a:t> 來協助載入函式庫，又因為type=SYSCALL的record裡面已有紀錄本次指令是否成功執行，所以我想把這欄也拿掉。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zh-TW" sz="1400">
                <a:solidFill>
                  <a:schemeClr val="dk1"/>
                </a:solidFill>
              </a:rPr>
            </a:br>
            <a:r>
              <a:rPr lang="zh-TW" sz="1400">
                <a:solidFill>
                  <a:schemeClr val="dk1"/>
                </a:solidFill>
              </a:rPr>
              <a:t>這樣的話這個例子裡面就會完全缺失dst node，因為我們沒有攻擊者使用id -u獲取的任何資訊，因為id -u的輸出顯示在cmd視窗裡而且沒有存取任何檔案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49" name="Google Shape;1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4775" y="2044900"/>
            <a:ext cx="4676353" cy="831378"/>
          </a:xfrm>
          <a:prstGeom prst="rect">
            <a:avLst/>
          </a:prstGeom>
          <a:noFill/>
          <a:ln cap="flat" cmpd="sng" w="16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51" name="Google Shape;151;p19"/>
          <p:cNvCxnSpPr>
            <a:stCxn id="150" idx="1"/>
            <a:endCxn id="152" idx="1"/>
          </p:cNvCxnSpPr>
          <p:nvPr/>
        </p:nvCxnSpPr>
        <p:spPr>
          <a:xfrm>
            <a:off x="4344775" y="2460589"/>
            <a:ext cx="600" cy="840600"/>
          </a:xfrm>
          <a:prstGeom prst="bentConnector3">
            <a:avLst>
              <a:gd fmla="val -39689522" name="adj1"/>
            </a:avLst>
          </a:prstGeom>
          <a:noFill/>
          <a:ln cap="flat" cmpd="sng" w="165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2" name="Google Shape;152;p19" title="provenance_graph_fin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4754" y="2966383"/>
            <a:ext cx="4676396" cy="669662"/>
          </a:xfrm>
          <a:prstGeom prst="rect">
            <a:avLst/>
          </a:prstGeom>
          <a:noFill/>
          <a:ln cap="flat" cmpd="sng" w="16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3" name="Google Shape;153;p19"/>
          <p:cNvSpPr/>
          <p:nvPr/>
        </p:nvSpPr>
        <p:spPr>
          <a:xfrm>
            <a:off x="7533354" y="3099550"/>
            <a:ext cx="1464900" cy="393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4" name="Google Shape;154;p19"/>
          <p:cNvCxnSpPr>
            <a:stCxn id="153" idx="2"/>
          </p:cNvCxnSpPr>
          <p:nvPr/>
        </p:nvCxnSpPr>
        <p:spPr>
          <a:xfrm rot="5400000">
            <a:off x="5711154" y="1748500"/>
            <a:ext cx="810000" cy="4299300"/>
          </a:xfrm>
          <a:prstGeom prst="bentConnector2">
            <a:avLst/>
          </a:prstGeom>
          <a:noFill/>
          <a:ln cap="flat" cmpd="sng" w="165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T1021: Remote Services</a:t>
            </a:r>
            <a:endParaRPr/>
          </a:p>
        </p:txBody>
      </p:sp>
      <p:pic>
        <p:nvPicPr>
          <p:cNvPr id="160" name="Google Shape;16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1075" y="1168150"/>
            <a:ext cx="6301851" cy="10957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62" name="Google Shape;162;p20" title="provenance_graph_final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249" y="3448350"/>
            <a:ext cx="8217500" cy="908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63" name="Google Shape;163;p20"/>
          <p:cNvCxnSpPr>
            <a:stCxn id="160" idx="2"/>
            <a:endCxn id="162" idx="0"/>
          </p:cNvCxnSpPr>
          <p:nvPr/>
        </p:nvCxnSpPr>
        <p:spPr>
          <a:xfrm>
            <a:off x="4572000" y="2263875"/>
            <a:ext cx="0" cy="118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/>
        </p:nvSpPr>
        <p:spPr>
          <a:xfrm>
            <a:off x="244200" y="1348125"/>
            <a:ext cx="6525600" cy="1076400"/>
          </a:xfrm>
          <a:prstGeom prst="rect">
            <a:avLst/>
          </a:prstGeom>
          <a:noFill/>
          <a:ln cap="flat" cmpd="sng" w="73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975" lIns="70975" spcFirstLastPara="1" rIns="70975" wrap="square" tIns="7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7"/>
          </a:p>
        </p:txBody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T1021: Remote Services</a:t>
            </a:r>
            <a:endParaRPr/>
          </a:p>
        </p:txBody>
      </p:sp>
      <p:sp>
        <p:nvSpPr>
          <p:cNvPr id="170" name="Google Shape;170;p21"/>
          <p:cNvSpPr txBox="1"/>
          <p:nvPr>
            <p:ph idx="1" type="body"/>
          </p:nvPr>
        </p:nvSpPr>
        <p:spPr>
          <a:xfrm>
            <a:off x="191325" y="1285475"/>
            <a:ext cx="6615600" cy="2694900"/>
          </a:xfrm>
          <a:prstGeom prst="rect">
            <a:avLst/>
          </a:prstGeom>
          <a:ln cap="flat" cmpd="sng" w="7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0975" lIns="70975" spcFirstLastPara="1" rIns="70975" wrap="square" tIns="7097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98">
                <a:solidFill>
                  <a:schemeClr val="dk1"/>
                </a:solidFill>
              </a:rPr>
              <a:t>            "840790": [</a:t>
            </a:r>
            <a:br>
              <a:rPr lang="zh-TW" sz="1398">
                <a:solidFill>
                  <a:schemeClr val="dk1"/>
                </a:solidFill>
              </a:rPr>
            </a:br>
            <a:r>
              <a:rPr lang="zh-TW" sz="1398">
                <a:solidFill>
                  <a:schemeClr val="dk1"/>
                </a:solidFill>
              </a:rPr>
              <a:t>"type=SYSCALL msg=audit(1715983705.185:840790): syscall=59 success=yes exit=0 a0=55fb6ed164c0 a1=55fb6ece4030 a2=55fb6ed6dc00 a3=10 ppid=25366 pid=25423 exe=\"/usr/bin/ssh\" SYSCALL=execve",</a:t>
            </a:r>
            <a:br>
              <a:rPr lang="zh-TW" sz="1398">
                <a:solidFill>
                  <a:schemeClr val="dk1"/>
                </a:solidFill>
              </a:rPr>
            </a:br>
            <a:r>
              <a:rPr lang="zh-TW" sz="1398">
                <a:solidFill>
                  <a:schemeClr val="dk1"/>
                </a:solidFill>
              </a:rPr>
              <a:t>"type=PATH msg=audit(1715983705.185:840790): name=\"/usr/bin/ssh\" mode=0100755 nametype=NORMAL OUID=\"root\" OGID=\"root\"",</a:t>
            </a:r>
            <a:br>
              <a:rPr lang="zh-TW" sz="1398">
                <a:solidFill>
                  <a:schemeClr val="dk1"/>
                </a:solidFill>
              </a:rPr>
            </a:br>
            <a:r>
              <a:rPr lang="zh-TW" sz="1398">
                <a:solidFill>
                  <a:schemeClr val="dk1"/>
                </a:solidFill>
              </a:rPr>
              <a:t>"type=PATH msg=audit(1715983705.185:840790): name=\"/usr/bin/ssh\" mode=0100755 nametype=NORMAL OUID=\"root\" OGID=\"root\"",</a:t>
            </a:r>
            <a:br>
              <a:rPr lang="zh-TW" sz="1398">
                <a:solidFill>
                  <a:schemeClr val="dk1"/>
                </a:solidFill>
              </a:rPr>
            </a:br>
            <a:r>
              <a:rPr lang="zh-TW" sz="1398">
                <a:solidFill>
                  <a:schemeClr val="dk1"/>
                </a:solidFill>
              </a:rPr>
              <a:t>"type=PATH msg=audit(1715983705.185:840790): name=\"/lib64/ld-linux-x86-64.so.2\" mode=0100755 nametype=NORMAL OUID=\"root\" OGID=\"root\"",</a:t>
            </a:r>
            <a:br>
              <a:rPr lang="zh-TW" sz="1398">
                <a:solidFill>
                  <a:schemeClr val="dk1"/>
                </a:solidFill>
              </a:rPr>
            </a:br>
            <a:r>
              <a:rPr lang="zh-TW" sz="1398">
                <a:solidFill>
                  <a:schemeClr val="dk1"/>
                </a:solidFill>
              </a:rPr>
              <a:t>"type=PROCTITLE msg=audit(1715983705.185:840790): proctitle=737368007462656E65646963744031302E33352E3138302E3230"</a:t>
            </a:r>
            <a:br>
              <a:rPr lang="zh-TW" sz="1398">
                <a:solidFill>
                  <a:schemeClr val="dk1"/>
                </a:solidFill>
              </a:rPr>
            </a:br>
            <a:r>
              <a:rPr lang="zh-TW" sz="1398">
                <a:solidFill>
                  <a:schemeClr val="dk1"/>
                </a:solidFill>
              </a:rPr>
              <a:t>            ],</a:t>
            </a:r>
            <a:endParaRPr sz="139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32"/>
              </a:spcBef>
              <a:spcAft>
                <a:spcPts val="0"/>
              </a:spcAft>
              <a:buNone/>
            </a:pPr>
            <a:r>
              <a:rPr lang="zh-TW" sz="1398">
                <a:solidFill>
                  <a:schemeClr val="dk1"/>
                </a:solidFill>
              </a:rPr>
              <a:t>            "840791": [</a:t>
            </a:r>
            <a:br>
              <a:rPr lang="zh-TW" sz="1398">
                <a:solidFill>
                  <a:schemeClr val="dk1"/>
                </a:solidFill>
              </a:rPr>
            </a:br>
            <a:r>
              <a:rPr lang="zh-TW" sz="1398">
                <a:solidFill>
                  <a:schemeClr val="dk1"/>
                </a:solidFill>
              </a:rPr>
              <a:t>"type=SYSCALL msg=audit(1715983705.189:840791): syscall=41 success=yes exit=3 a0=2 a1=1 a2=6 a3=0 ppid=25366 pid=25423 exe=\"/usr/bin/ssh\" SYSCALL=socket",</a:t>
            </a:r>
            <a:br>
              <a:rPr lang="zh-TW" sz="1398">
                <a:solidFill>
                  <a:schemeClr val="dk1"/>
                </a:solidFill>
              </a:rPr>
            </a:br>
            <a:r>
              <a:rPr lang="zh-TW" sz="1398">
                <a:solidFill>
                  <a:schemeClr val="dk1"/>
                </a:solidFill>
              </a:rPr>
              <a:t>"type=PROCTITLE msg=audit(1715983705.189:840791): proctitle=737368007462656E65646963744031302E33352E3138302E3230"</a:t>
            </a:r>
            <a:br>
              <a:rPr lang="zh-TW" sz="1398">
                <a:solidFill>
                  <a:schemeClr val="dk1"/>
                </a:solidFill>
              </a:rPr>
            </a:br>
            <a:r>
              <a:rPr lang="zh-TW" sz="1398">
                <a:solidFill>
                  <a:schemeClr val="dk1"/>
                </a:solidFill>
              </a:rPr>
              <a:t>            ],</a:t>
            </a:r>
            <a:endParaRPr sz="139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32"/>
              </a:spcBef>
              <a:spcAft>
                <a:spcPts val="932"/>
              </a:spcAft>
              <a:buNone/>
            </a:pPr>
            <a:r>
              <a:rPr lang="zh-TW" sz="1398">
                <a:solidFill>
                  <a:schemeClr val="dk1"/>
                </a:solidFill>
              </a:rPr>
              <a:t>            "840792": [</a:t>
            </a:r>
            <a:br>
              <a:rPr lang="zh-TW" sz="1398">
                <a:solidFill>
                  <a:schemeClr val="dk1"/>
                </a:solidFill>
              </a:rPr>
            </a:br>
            <a:r>
              <a:rPr lang="zh-TW" sz="1398">
                <a:solidFill>
                  <a:schemeClr val="dk1"/>
                </a:solidFill>
              </a:rPr>
              <a:t>"type=SYSCALL msg=audit(1715983705.189:840792): syscall=42 success=yes exit=0 a0=3 a1=563385841380 a2=10 a3=0 ppid=25366 pid=25423 exe=\"/usr/bin/ssh\" SYSCALL=connect",</a:t>
            </a:r>
            <a:br>
              <a:rPr lang="zh-TW" sz="1398">
                <a:solidFill>
                  <a:schemeClr val="dk1"/>
                </a:solidFill>
              </a:rPr>
            </a:br>
            <a:r>
              <a:rPr lang="zh-TW" sz="1398">
                <a:solidFill>
                  <a:schemeClr val="dk1"/>
                </a:solidFill>
              </a:rPr>
              <a:t>"type=SOCKADDR msg=audit(1715983705.189:840792): saddr=020000160A23B4140000000000000000 SADDR={ saddr_fam=inet laddr=10.35.180.20 lport=22 }",</a:t>
            </a:r>
            <a:br>
              <a:rPr lang="zh-TW" sz="1398">
                <a:solidFill>
                  <a:schemeClr val="dk1"/>
                </a:solidFill>
              </a:rPr>
            </a:br>
            <a:r>
              <a:rPr lang="zh-TW" sz="1398">
                <a:solidFill>
                  <a:schemeClr val="dk1"/>
                </a:solidFill>
              </a:rPr>
              <a:t>"type=PROCTITLE msg=audit(1715983705.189:840792): proctitle=737368007462656E65646963744031302E33352E3138302E3230"] </a:t>
            </a:r>
            <a:endParaRPr sz="1398">
              <a:solidFill>
                <a:schemeClr val="dk1"/>
              </a:solidFill>
            </a:endParaRPr>
          </a:p>
        </p:txBody>
      </p:sp>
      <p:pic>
        <p:nvPicPr>
          <p:cNvPr id="171" name="Google Shape;17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2670" y="123025"/>
            <a:ext cx="4096080" cy="712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2" name="Google Shape;17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3" name="Google Shape;173;p21"/>
          <p:cNvSpPr/>
          <p:nvPr/>
        </p:nvSpPr>
        <p:spPr>
          <a:xfrm>
            <a:off x="244198" y="2457369"/>
            <a:ext cx="6283200" cy="638100"/>
          </a:xfrm>
          <a:prstGeom prst="rect">
            <a:avLst/>
          </a:prstGeom>
          <a:noFill/>
          <a:ln cap="flat" cmpd="sng" w="73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975" lIns="70975" spcFirstLastPara="1" rIns="70975" wrap="square" tIns="7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7"/>
          </a:p>
        </p:txBody>
      </p:sp>
      <p:sp>
        <p:nvSpPr>
          <p:cNvPr id="174" name="Google Shape;174;p21"/>
          <p:cNvSpPr/>
          <p:nvPr/>
        </p:nvSpPr>
        <p:spPr>
          <a:xfrm>
            <a:off x="244199" y="3128012"/>
            <a:ext cx="6485100" cy="712200"/>
          </a:xfrm>
          <a:prstGeom prst="rect">
            <a:avLst/>
          </a:prstGeom>
          <a:noFill/>
          <a:ln cap="flat" cmpd="sng" w="73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975" lIns="70975" spcFirstLastPara="1" rIns="70975" wrap="square" tIns="70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7"/>
          </a:p>
        </p:txBody>
      </p:sp>
      <p:pic>
        <p:nvPicPr>
          <p:cNvPr id="175" name="Google Shape;175;p21" title="provenance_graph_final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4875" y="4230225"/>
            <a:ext cx="5011775" cy="554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76" name="Google Shape;176;p21"/>
          <p:cNvCxnSpPr/>
          <p:nvPr/>
        </p:nvCxnSpPr>
        <p:spPr>
          <a:xfrm>
            <a:off x="8080025" y="840575"/>
            <a:ext cx="0" cy="338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2"/>
          <p:cNvSpPr txBox="1"/>
          <p:nvPr>
            <p:ph idx="1" type="body"/>
          </p:nvPr>
        </p:nvSpPr>
        <p:spPr>
          <a:xfrm>
            <a:off x="311700" y="1242725"/>
            <a:ext cx="349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針對每種顏色都設計好detection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別人的方法只能偵測哪種sample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要跑東西出來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把之前slot相關的比較的圖拿出來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3" name="Google Shape;183;p22" title="sample_typ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5525" y="1562378"/>
            <a:ext cx="5268676" cy="2596601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4" name="Google Shape;18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highlight>
                  <a:schemeClr val="accent6"/>
                </a:highlight>
              </a:rPr>
              <a:t>- High-score vs. low-score interface</a:t>
            </a:r>
            <a:endParaRPr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highlight>
                  <a:schemeClr val="accent6"/>
                </a:highlight>
              </a:rPr>
              <a:t>- pmi數值的調整(不用太細、自由調整)</a:t>
            </a:r>
            <a:endParaRPr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TW">
                <a:solidFill>
                  <a:schemeClr val="dk1"/>
                </a:solidFill>
                <a:highlight>
                  <a:schemeClr val="accent6"/>
                </a:highlight>
              </a:rPr>
              <a:t>- 解決重疊問題(數值、顏色)</a:t>
            </a:r>
            <a:endParaRPr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  <a:highlight>
                  <a:schemeClr val="accent6"/>
                </a:highlight>
              </a:rPr>
              <a:t>- 不要有自己跟自己算分數的情況</a:t>
            </a:r>
            <a:endParaRPr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- Model predictions vs. collocation analysis -&gt; ground truth 的分數可以接moose</a:t>
            </a:r>
            <a:endParaRPr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- 將目前無法使用的功能修好(attention map, donwload, lemma)</a:t>
            </a:r>
            <a:endParaRPr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- 算法考慮順序問題(正反各一個分數) -&gt; 目前只有正向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- 字詞關係的抓取邏輯(如 形容詞找最近的名詞、副詞找最近的動詞) -&gt; 目前是window=5依序抓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- 錯字能否用套件修正-&gt;可使用</a:t>
            </a:r>
            <a:r>
              <a:rPr lang="zh-TW" u="sng">
                <a:solidFill>
                  <a:schemeClr val="hlink"/>
                </a:solidFill>
                <a:hlinkClick r:id="rId3"/>
              </a:rPr>
              <a:t> Language tool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1" name="Google Shape;19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用LLM查怎麼分dstnode</a:t>
            </a:r>
            <a:endParaRPr/>
          </a:p>
        </p:txBody>
      </p:sp>
      <p:sp>
        <p:nvSpPr>
          <p:cNvPr id="197" name="Google Shape;19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>
                <a:solidFill>
                  <a:schemeClr val="dk1"/>
                </a:solidFill>
              </a:rPr>
              <a:t>其他作品的log都不是用auditd錄的 所以用casino的話作法會不一樣 所以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>
                <a:solidFill>
                  <a:schemeClr val="dk1"/>
                </a:solidFill>
              </a:rPr>
              <a:t>重新定義event:</a:t>
            </a:r>
            <a:br>
              <a:rPr lang="zh-TW" sz="1600">
                <a:solidFill>
                  <a:schemeClr val="dk1"/>
                </a:solidFill>
              </a:rPr>
            </a:br>
            <a:r>
              <a:rPr lang="zh-TW" sz="1600">
                <a:solidFill>
                  <a:schemeClr val="dk1"/>
                </a:solidFill>
              </a:rPr>
              <a:t>重新定義event 把一組record拆下來</a:t>
            </a:r>
            <a:br>
              <a:rPr lang="zh-TW" sz="1600">
                <a:solidFill>
                  <a:schemeClr val="dk1"/>
                </a:solidFill>
              </a:rPr>
            </a:br>
            <a:r>
              <a:rPr lang="zh-TW" sz="1600">
                <a:solidFill>
                  <a:schemeClr val="dk1"/>
                </a:solidFill>
              </a:rPr>
              <a:t>假如說同一組record中 拆出來的Syscall proctitle 共用 然後每個path都可以變成dst node</a:t>
            </a:r>
            <a:endParaRPr sz="1600"/>
          </a:p>
        </p:txBody>
      </p:sp>
      <p:sp>
        <p:nvSpPr>
          <p:cNvPr id="198" name="Google Shape;19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type=SYSCALL的record</a:t>
            </a:r>
            <a:endParaRPr/>
          </a:p>
        </p:txBody>
      </p:sp>
      <p:sp>
        <p:nvSpPr>
          <p:cNvPr id="204" name="Google Shape;20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206" name="Google Shape;206;p25"/>
          <p:cNvGraphicFramePr/>
          <p:nvPr/>
        </p:nvGraphicFramePr>
        <p:xfrm>
          <a:off x="1244525" y="17367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{464F17F0-6054-4CA4-9983-939D86B92D03}</a:tableStyleId>
              </a:tblPr>
              <a:tblGrid>
                <a:gridCol w="742775"/>
                <a:gridCol w="1573875"/>
                <a:gridCol w="4338275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意義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備註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syscall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系統呼叫編號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需查表。如 2=Open, 59=Exec, 42=Connect。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pid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Process 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發起動作的行程。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ppid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Parent PID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父行程 ID。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euid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Effective UID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當前有效權限 (用於判斷是否提權)。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exe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執行檔路徑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發起者的執行檔路徑。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type=PATH的record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214" name="Google Shape;214;p26"/>
          <p:cNvGraphicFramePr/>
          <p:nvPr/>
        </p:nvGraphicFramePr>
        <p:xfrm>
          <a:off x="1857188" y="129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{464F17F0-6054-4CA4-9983-939D86B92D03}</a:tableStyleId>
              </a:tblPr>
              <a:tblGrid>
                <a:gridCol w="803275"/>
                <a:gridCol w="1413200"/>
                <a:gridCol w="3213150"/>
              </a:tblGrid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意義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備註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mode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檔案類型與權限 (Octal)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判斷是 File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010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), Directory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004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), Socket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014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 等。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FFFF00"/>
                          </a:highlight>
                        </a:rPr>
                        <a:t>nametype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路徑操作類型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極重要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：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CREATE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建立新檔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NORMAL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讀寫現有檔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DELETE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刪除檔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chemeClr val="accent6"/>
                          </a:highlight>
                        </a:rPr>
                        <a:t>ouid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檔案擁有者 UID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誰擁有這個檔案。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chemeClr val="accent6"/>
                          </a:highlight>
                        </a:rPr>
                        <a:t>ogid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檔案擁有者 GID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哪個群組擁有這個檔案。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type=SOCKADDR 的record</a:t>
            </a:r>
            <a:endParaRPr/>
          </a:p>
        </p:txBody>
      </p:sp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222" name="Google Shape;222;p27"/>
          <p:cNvGraphicFramePr/>
          <p:nvPr/>
        </p:nvGraphicFramePr>
        <p:xfrm>
          <a:off x="1709313" y="178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{464F17F0-6054-4CA4-9983-939D86B92D03}</a:tableStyleId>
              </a:tblPr>
              <a:tblGrid>
                <a:gridCol w="812700"/>
                <a:gridCol w="1850275"/>
                <a:gridCol w="306240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欄位名稱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全名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意義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4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444746"/>
                          </a:solidFill>
                          <a:highlight>
                            <a:schemeClr val="accent6"/>
                          </a:highlight>
                        </a:rPr>
                        <a:t>saddr_fam</a:t>
                      </a:r>
                      <a:endParaRPr b="1" sz="1100">
                        <a:solidFill>
                          <a:srgbClr val="444746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Socket Address Family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協定家族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。告訴你這是什麼類型的連線。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8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444746"/>
                          </a:solidFill>
                          <a:highlight>
                            <a:schemeClr val="accent6"/>
                          </a:highlight>
                        </a:rPr>
                        <a:t>laddr</a:t>
                      </a:r>
                      <a:endParaRPr b="1" sz="1100">
                        <a:solidFill>
                          <a:srgbClr val="444746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Local Address*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IP 位址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444746"/>
                          </a:solidFill>
                          <a:highlight>
                            <a:schemeClr val="accent6"/>
                          </a:highlight>
                        </a:rPr>
                        <a:t>lport</a:t>
                      </a:r>
                      <a:endParaRPr b="1" sz="1100">
                        <a:solidFill>
                          <a:srgbClr val="444746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Local Port*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連接埠號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同樣地，在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connect()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中，這代表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目標 Port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其他type的處理</a:t>
            </a:r>
            <a:endParaRPr/>
          </a:p>
        </p:txBody>
      </p:sp>
      <p:sp>
        <p:nvSpPr>
          <p:cNvPr id="228" name="Google Shape;22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type = EXECVE -&gt; </a:t>
            </a:r>
            <a:r>
              <a:rPr lang="zh-TW">
                <a:solidFill>
                  <a:schemeClr val="dk1"/>
                </a:solidFill>
              </a:rPr>
              <a:t>不考慮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因為 type = proctitle已包含EXECVE的全部資訊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並且不是每條PATH後面都會有 </a:t>
            </a:r>
            <a:r>
              <a:rPr lang="zh-TW">
                <a:solidFill>
                  <a:schemeClr val="dk1"/>
                </a:solidFill>
              </a:rPr>
              <a:t>EXECVE，一段指令如果有批量執行的話一組PATH只會有一個EXECVE，但proctitle每個PATH都會有，對於資料處理比較方便。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9" name="Google Shape;22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查一下p6接下來是不是接brute force</a:t>
            </a:r>
            <a:endParaRPr/>
          </a:p>
        </p:txBody>
      </p:sp>
      <p:sp>
        <p:nvSpPr>
          <p:cNvPr id="235" name="Google Shape;23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>
                <a:solidFill>
                  <a:schemeClr val="dk1"/>
                </a:solidFill>
              </a:rPr>
              <a:t>-&gt; ps aux(常用的查看處理程序)</a:t>
            </a:r>
            <a:br>
              <a:rPr lang="zh-TW" sz="1600">
                <a:solidFill>
                  <a:schemeClr val="dk1"/>
                </a:solidFill>
              </a:rPr>
            </a:br>
            <a:r>
              <a:rPr lang="zh-TW" sz="1600">
                <a:solidFill>
                  <a:schemeClr val="dk1"/>
                </a:solidFill>
              </a:rPr>
              <a:t>a: 顯示所有使用者的行程（不僅僅是當前 Shell 的）。</a:t>
            </a:r>
            <a:br>
              <a:rPr lang="zh-TW" sz="1600">
                <a:solidFill>
                  <a:schemeClr val="dk1"/>
                </a:solidFill>
              </a:rPr>
            </a:br>
            <a:r>
              <a:rPr lang="zh-TW" sz="1600">
                <a:solidFill>
                  <a:schemeClr val="dk1"/>
                </a:solidFill>
              </a:rPr>
              <a:t>u: 以使用者為主的格式顯示（包含 CPU%、MEM% 等資訊）。</a:t>
            </a:r>
            <a:br>
              <a:rPr lang="zh-TW" sz="1600">
                <a:solidFill>
                  <a:schemeClr val="dk1"/>
                </a:solidFill>
              </a:rPr>
            </a:br>
            <a:r>
              <a:rPr lang="zh-TW" sz="1600">
                <a:solidFill>
                  <a:schemeClr val="dk1"/>
                </a:solidFill>
              </a:rPr>
              <a:t>x: 顯示沒有控制終端機（TTY）的行程（通常是背景服務 Daemon）。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>
                <a:solidFill>
                  <a:schemeClr val="dk1"/>
                </a:solidFill>
              </a:rPr>
              <a:t>-&gt;ping  </a:t>
            </a:r>
            <a:r>
              <a:rPr lang="zh-TW" sz="1600" u="sng">
                <a:solidFill>
                  <a:srgbClr val="2200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www.google.com</a:t>
            </a:r>
            <a:endParaRPr sz="1600"/>
          </a:p>
        </p:txBody>
      </p:sp>
      <p:sp>
        <p:nvSpPr>
          <p:cNvPr id="236" name="Google Shape;23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44" name="Google Shape;244;p30" title="TTP_typ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2150" y="649700"/>
            <a:ext cx="5979701" cy="3844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51" name="Google Shape;251;p31" title="provenance_graph_filter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0188" y="562825"/>
            <a:ext cx="4663624" cy="45806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2" name="Google Shape;252;p31"/>
          <p:cNvSpPr/>
          <p:nvPr/>
        </p:nvSpPr>
        <p:spPr>
          <a:xfrm>
            <a:off x="5657775" y="534575"/>
            <a:ext cx="1324500" cy="428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1"/>
          <p:cNvSpPr/>
          <p:nvPr/>
        </p:nvSpPr>
        <p:spPr>
          <a:xfrm>
            <a:off x="3795025" y="2450225"/>
            <a:ext cx="1324500" cy="804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31"/>
          <p:cNvCxnSpPr>
            <a:stCxn id="253" idx="0"/>
            <a:endCxn id="252" idx="1"/>
          </p:cNvCxnSpPr>
          <p:nvPr/>
        </p:nvCxnSpPr>
        <p:spPr>
          <a:xfrm flipH="1" rot="10800000">
            <a:off x="4457275" y="748925"/>
            <a:ext cx="1200600" cy="1701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