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029edac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029edac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029edac0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029edac0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029edac0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029edac0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029edac0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029edac0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029edac04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029edac0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029edac0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029edac0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029edac0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029edac0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PCA降維:</a:t>
            </a:r>
            <a:br>
              <a:rPr lang="zh-TW"/>
            </a:br>
            <a:br>
              <a:rPr lang="zh-TW"/>
            </a:br>
            <a:r>
              <a:rPr lang="zh-TW"/>
              <a:t>資料標準化： 首先，對資料進行標準化處理，確保每個特徵的尺度都一樣，避免某些數值較大的特徵主導了分析結果。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計算共變異數矩陣： 計算資料中所有特徵兩兩之間的共變異數（covariance），這能反映出它們之間的相關性。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計算特徵向量與特徵值： 從共變異數矩陣中，找出它的特徵向量（eigenvectors）和特徵值（eigenvalues）。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特徵向量代表了資料投影的新方向。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特徵值則代表了在該方向上的變異量，特徵值越大，說明該方向包含的資訊越多。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選擇主成分： 根據特徵值的大小對特徵向量進行排序，特徵值最大的特徵向量就是第一主成分，它解釋了資料中最大的變異。第二大的就是第二主成分，以此類推。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投影降維： 選擇你想要保留的主成分數量（通常會選擇能解釋大部分變異的前幾個），然後將原始資料投影到由這些主成分組成的新的子空間上，從而得到一個維度更低的新資料集。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029edac0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029edac0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029edac04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029edac04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Detection Introduction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350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報告人:余仲恩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66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9149" l="0" r="49582" t="0"/>
          <a:stretch/>
        </p:blipFill>
        <p:spPr>
          <a:xfrm>
            <a:off x="1141275" y="737850"/>
            <a:ext cx="6861476" cy="4105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" name="Google Shape;62;p14"/>
          <p:cNvSpPr/>
          <p:nvPr/>
        </p:nvSpPr>
        <p:spPr>
          <a:xfrm>
            <a:off x="1141275" y="737850"/>
            <a:ext cx="6861600" cy="276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1177525" y="1156550"/>
            <a:ext cx="1043400" cy="3627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" name="Google Shape;64;p14"/>
          <p:cNvCxnSpPr>
            <a:stCxn id="62" idx="0"/>
            <a:endCxn id="65" idx="2"/>
          </p:cNvCxnSpPr>
          <p:nvPr/>
        </p:nvCxnSpPr>
        <p:spPr>
          <a:xfrm rot="10800000">
            <a:off x="4572075" y="460950"/>
            <a:ext cx="0" cy="27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" name="Google Shape;65;p14"/>
          <p:cNvSpPr txBox="1"/>
          <p:nvPr>
            <p:ph type="title"/>
          </p:nvPr>
        </p:nvSpPr>
        <p:spPr>
          <a:xfrm>
            <a:off x="3808513" y="138350"/>
            <a:ext cx="1527000" cy="32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61875"/>
              <a:buNone/>
            </a:pPr>
            <a:r>
              <a:rPr lang="zh-TW" sz="1600"/>
              <a:t>Tactic</a:t>
            </a:r>
            <a:endParaRPr sz="1600"/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-225450" y="3949700"/>
            <a:ext cx="1527000" cy="32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61875"/>
              <a:buNone/>
            </a:pPr>
            <a:r>
              <a:rPr lang="zh-TW" sz="1600"/>
              <a:t>Technique</a:t>
            </a:r>
            <a:endParaRPr sz="1600"/>
          </a:p>
        </p:txBody>
      </p:sp>
      <p:cxnSp>
        <p:nvCxnSpPr>
          <p:cNvPr id="67" name="Google Shape;67;p14"/>
          <p:cNvCxnSpPr>
            <a:stCxn id="63" idx="1"/>
            <a:endCxn id="66" idx="0"/>
          </p:cNvCxnSpPr>
          <p:nvPr/>
        </p:nvCxnSpPr>
        <p:spPr>
          <a:xfrm flipH="1">
            <a:off x="537925" y="2970500"/>
            <a:ext cx="639600" cy="979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207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499" y="702137"/>
            <a:ext cx="6666998" cy="37392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207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475" y="932825"/>
            <a:ext cx="8839204" cy="378946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207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Audit Log</a:t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237600" y="945900"/>
            <a:ext cx="86688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Procmon(Windows):</a:t>
            </a:r>
            <a:br>
              <a:rPr lang="zh-TW" sz="1600"/>
            </a:br>
            <a:r>
              <a:rPr lang="zh-TW" sz="1600"/>
              <a:t>{</a:t>
            </a:r>
            <a:r>
              <a:rPr lang="zh-TW" sz="1600">
                <a:highlight>
                  <a:srgbClr val="A4C2F4"/>
                </a:highlight>
              </a:rPr>
              <a:t>"Event": "RegistryQuery"</a:t>
            </a:r>
            <a:r>
              <a:rPr lang="zh-TW" sz="1600"/>
              <a:t>, "PID": 7928, </a:t>
            </a:r>
            <a:r>
              <a:rPr lang="zh-TW" sz="1600">
                <a:highlight>
                  <a:srgbClr val="00FF00"/>
                </a:highlight>
              </a:rPr>
              <a:t>"PName": "conhost.exe"</a:t>
            </a:r>
            <a:r>
              <a:rPr lang="zh-TW" sz="1600"/>
              <a:t>, "PPID": 2412, </a:t>
            </a:r>
            <a:r>
              <a:rPr lang="zh-TW" sz="1600">
                <a:highlight>
                  <a:srgbClr val="FFFF00"/>
                </a:highlight>
              </a:rPr>
              <a:t>"PPName": "powershell.exe"</a:t>
            </a:r>
            <a:r>
              <a:rPr lang="zh-TW" sz="1600"/>
              <a:t>, "TID": 7868, "TimeStamp": 133341559560493155, "Host-UUID": "FBFFA15C-FEDE-4f96-9AF8-398294758A2A", "args": {"Index": 3, "InitialTime": 593909788, "KeyHandle": 784855216, "KeyName": "SOFTWARE\\Sogouinput", "Status": 0}}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Auditd(Linux):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type=PATH msg=audit(1715874317.560:26430): item=3 name="/usr/share/filebeat/kibana/7/visualization/baeaca80-cd2b-11ec-83d5-7f8e1b7a2529.json" inode=520713 dev=08:01 mode=0100644 ouid=0 ogid=0 rdev=00:00 obj=? nametype=CREATE cap_fp=0 cap_fi=0 cap_fe=0 cap_fver=0 cap_frootid=0OUID="root" OGID="root"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Provenance Graph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A provenance graph is defined as 𝑃𝐺 = (𝑉,𝐸),where the node set 𝑉 represents all system entities and the edge set 𝐸 represents all system events. Each edge 𝑒 = (𝑢,𝑣,𝑝) denotes that system entity 𝑢 (called subject) performs operation 𝑝 on system entity 𝑣 (called object).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2178925" y="4107175"/>
            <a:ext cx="1321500" cy="46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𝑒 = (𝑢,𝑣,𝑝)</a:t>
            </a:r>
            <a:endParaRPr/>
          </a:p>
        </p:txBody>
      </p:sp>
      <p:grpSp>
        <p:nvGrpSpPr>
          <p:cNvPr id="93" name="Google Shape;93;p18"/>
          <p:cNvGrpSpPr/>
          <p:nvPr/>
        </p:nvGrpSpPr>
        <p:grpSpPr>
          <a:xfrm>
            <a:off x="311698" y="2943625"/>
            <a:ext cx="5687515" cy="1034400"/>
            <a:chOff x="727948" y="2742175"/>
            <a:chExt cx="5687515" cy="1034400"/>
          </a:xfrm>
        </p:grpSpPr>
        <p:pic>
          <p:nvPicPr>
            <p:cNvPr id="94" name="Google Shape;94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7948" y="3203875"/>
              <a:ext cx="5687515" cy="5727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5" name="Google Shape;95;p18"/>
            <p:cNvSpPr txBox="1"/>
            <p:nvPr/>
          </p:nvSpPr>
          <p:spPr>
            <a:xfrm>
              <a:off x="1402550" y="2742175"/>
              <a:ext cx="408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zh-TW" sz="1800">
                  <a:solidFill>
                    <a:schemeClr val="dk1"/>
                  </a:solidFill>
                </a:rPr>
                <a:t>𝑢</a:t>
              </a:r>
              <a:endParaRPr/>
            </a:p>
          </p:txBody>
        </p:sp>
        <p:sp>
          <p:nvSpPr>
            <p:cNvPr id="96" name="Google Shape;96;p18"/>
            <p:cNvSpPr txBox="1"/>
            <p:nvPr/>
          </p:nvSpPr>
          <p:spPr>
            <a:xfrm>
              <a:off x="5291950" y="2742175"/>
              <a:ext cx="607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zh-TW" sz="1800">
                  <a:solidFill>
                    <a:schemeClr val="dk1"/>
                  </a:solidFill>
                </a:rPr>
                <a:t>𝑣</a:t>
              </a:r>
              <a:endParaRPr/>
            </a:p>
          </p:txBody>
        </p:sp>
        <p:sp>
          <p:nvSpPr>
            <p:cNvPr id="97" name="Google Shape;97;p18"/>
            <p:cNvSpPr txBox="1"/>
            <p:nvPr/>
          </p:nvSpPr>
          <p:spPr>
            <a:xfrm>
              <a:off x="2933050" y="2742175"/>
              <a:ext cx="408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zh-TW" sz="1800">
                  <a:solidFill>
                    <a:schemeClr val="dk1"/>
                  </a:solidFill>
                </a:rPr>
                <a:t>𝑝</a:t>
              </a:r>
              <a:endParaRPr/>
            </a:p>
          </p:txBody>
        </p:sp>
      </p:grpSp>
      <p:pic>
        <p:nvPicPr>
          <p:cNvPr id="98" name="Google Shape;98;p18"/>
          <p:cNvPicPr preferRelativeResize="0"/>
          <p:nvPr/>
        </p:nvPicPr>
        <p:blipFill rotWithShape="1">
          <a:blip r:embed="rId4">
            <a:alphaModFix/>
          </a:blip>
          <a:srcRect b="39853" l="0" r="0" t="0"/>
          <a:stretch/>
        </p:blipFill>
        <p:spPr>
          <a:xfrm>
            <a:off x="6145896" y="2786400"/>
            <a:ext cx="2819529" cy="1782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9" name="Google Shape;99;p18"/>
          <p:cNvSpPr txBox="1"/>
          <p:nvPr/>
        </p:nvSpPr>
        <p:spPr>
          <a:xfrm>
            <a:off x="6894913" y="4584563"/>
            <a:ext cx="132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𝑃𝐺 = (𝑉,𝐸)</a:t>
            </a:r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4065125" y="4326056"/>
            <a:ext cx="1934100" cy="780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大𝑉是node集合</a:t>
            </a:r>
            <a:br>
              <a:rPr lang="zh-TW" sz="1800">
                <a:solidFill>
                  <a:schemeClr val="dk1"/>
                </a:solidFill>
              </a:rPr>
            </a:br>
            <a:r>
              <a:rPr lang="zh-TW" sz="1800">
                <a:solidFill>
                  <a:schemeClr val="dk1"/>
                </a:solidFill>
              </a:rPr>
              <a:t>大E是edge集合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01" name="Google Shape;101;p18"/>
          <p:cNvCxnSpPr>
            <a:stCxn id="100" idx="3"/>
            <a:endCxn id="99" idx="1"/>
          </p:cNvCxnSpPr>
          <p:nvPr/>
        </p:nvCxnSpPr>
        <p:spPr>
          <a:xfrm>
            <a:off x="5999225" y="4716206"/>
            <a:ext cx="895800" cy="9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169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利用預訓練模型將Audit Log轉成模型看得懂的embedding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e.g.  SecureBert2.0:</a:t>
            </a:r>
            <a:br>
              <a:rPr lang="zh-TW">
                <a:solidFill>
                  <a:schemeClr val="dk1"/>
                </a:solidFill>
              </a:rPr>
            </a:b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架構升級：基於 ModernBERT（Encoder-only），具備長文本處理與階層式處理程式碼的能力。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訓練資料：結合 136 億文字標記與 5,300 萬程式碼標記，具備雙模態理解力。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訓練策略：採用遮蔽語言模型 (MLM)，特別針對資安專用名詞與程式碼進行訓練。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Benchmark : Attack BERT, all-MiniLM-L6-v2, 以及其他hugging face的優良模型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Input的embedding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1206225" y="2562200"/>
            <a:ext cx="11844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rgbClr val="000000"/>
                </a:solidFill>
              </a:rPr>
              <a:t>Audit Log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3900" y="2015000"/>
            <a:ext cx="5558401" cy="169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/>
          <p:nvPr/>
        </p:nvSpPr>
        <p:spPr>
          <a:xfrm>
            <a:off x="3323925" y="2224850"/>
            <a:ext cx="960600" cy="1140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" name="Google Shape;117;p20"/>
          <p:cNvCxnSpPr>
            <a:stCxn id="116" idx="1"/>
            <a:endCxn id="114" idx="3"/>
          </p:cNvCxnSpPr>
          <p:nvPr/>
        </p:nvCxnSpPr>
        <p:spPr>
          <a:xfrm rot="10800000">
            <a:off x="2390625" y="2795300"/>
            <a:ext cx="93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20"/>
          <p:cNvCxnSpPr/>
          <p:nvPr/>
        </p:nvCxnSpPr>
        <p:spPr>
          <a:xfrm flipH="1" rot="10800000">
            <a:off x="4439700" y="1634550"/>
            <a:ext cx="5100" cy="44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422850" y="1133500"/>
            <a:ext cx="20388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rgbClr val="000000"/>
                </a:solidFill>
              </a:rPr>
              <a:t>Embedding model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5436500" y="1133500"/>
            <a:ext cx="11145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rgbClr val="000000"/>
                </a:solidFill>
              </a:rPr>
              <a:t>PCA降維</a:t>
            </a:r>
            <a:endParaRPr>
              <a:solidFill>
                <a:srgbClr val="000000"/>
              </a:solidFill>
            </a:endParaRPr>
          </a:p>
        </p:txBody>
      </p:sp>
      <p:cxnSp>
        <p:nvCxnSpPr>
          <p:cNvPr id="121" name="Google Shape;121;p20"/>
          <p:cNvCxnSpPr/>
          <p:nvPr/>
        </p:nvCxnSpPr>
        <p:spPr>
          <a:xfrm flipH="1" rot="10800000">
            <a:off x="5988050" y="1599700"/>
            <a:ext cx="5100" cy="44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123" name="Google Shape;123;p20"/>
          <p:cNvCxnSpPr/>
          <p:nvPr/>
        </p:nvCxnSpPr>
        <p:spPr>
          <a:xfrm>
            <a:off x="8291350" y="2949200"/>
            <a:ext cx="3600" cy="80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7700950" y="3758000"/>
            <a:ext cx="11844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rgbClr val="000000"/>
                </a:solidFill>
              </a:rPr>
              <a:t>Model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311700" y="214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TREC - Structure</a:t>
            </a:r>
            <a:endParaRPr/>
          </a:p>
        </p:txBody>
      </p:sp>
      <p:sp>
        <p:nvSpPr>
          <p:cNvPr id="130" name="Google Shape;1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1" name="Google Shape;131;p21"/>
          <p:cNvSpPr txBox="1"/>
          <p:nvPr/>
        </p:nvSpPr>
        <p:spPr>
          <a:xfrm>
            <a:off x="190300" y="906675"/>
            <a:ext cx="39600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zh-TW" sz="1800">
                <a:solidFill>
                  <a:srgbClr val="000000"/>
                </a:solidFill>
              </a:rPr>
              <a:t>The provenance graph construction module</a:t>
            </a:r>
            <a:endParaRPr sz="1800">
              <a:solidFill>
                <a:srgbClr val="000000"/>
              </a:solidFill>
            </a:endParaRPr>
          </a:p>
          <a:p>
            <a:pPr indent="-3041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zh-TW">
                <a:solidFill>
                  <a:srgbClr val="000000"/>
                </a:solidFill>
              </a:rPr>
              <a:t>持續收集底層的系統核心事件，並將這些事件編排建構成一張完整的Provenance Graph</a:t>
            </a:r>
            <a:endParaRPr>
              <a:solidFill>
                <a:srgbClr val="000000"/>
              </a:solidFill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zh-TW" sz="1800">
                <a:solidFill>
                  <a:srgbClr val="000000"/>
                </a:solidFill>
              </a:rPr>
              <a:t>The NOI detection and sub-graph sampling module</a:t>
            </a:r>
            <a:endParaRPr sz="1800">
              <a:solidFill>
                <a:srgbClr val="000000"/>
              </a:solidFill>
            </a:endParaRPr>
          </a:p>
          <a:p>
            <a:pPr indent="-3041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zh-TW">
                <a:solidFill>
                  <a:srgbClr val="000000"/>
                </a:solidFill>
              </a:rPr>
              <a:t>套用異常偵測模型，在無監督的情況下，找出圖中潛在的惡意節點然後套用「子圖採樣演算法 (Subgraph sampling algorithm)」</a:t>
            </a:r>
            <a:endParaRPr>
              <a:solidFill>
                <a:srgbClr val="000000"/>
              </a:solidFill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zh-TW" sz="1800">
                <a:solidFill>
                  <a:srgbClr val="000000"/>
                </a:solidFill>
              </a:rPr>
              <a:t>The technique subgraph representation module</a:t>
            </a:r>
            <a:endParaRPr sz="1800">
              <a:solidFill>
                <a:srgbClr val="000000"/>
              </a:solidFill>
            </a:endParaRPr>
          </a:p>
          <a:p>
            <a:pPr indent="-3041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zh-TW">
                <a:solidFill>
                  <a:srgbClr val="000000"/>
                </a:solidFill>
              </a:rPr>
              <a:t>運用「異質圖嵌入技術 (Heterogeneous graph embedding)」，將剛切出來的技術子圖（TSG）編碼轉換成一段特徵向量 。</a:t>
            </a:r>
            <a:endParaRPr>
              <a:solidFill>
                <a:srgbClr val="000000"/>
              </a:solidFill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zh-TW" sz="1800">
                <a:solidFill>
                  <a:srgbClr val="000000"/>
                </a:solidFill>
              </a:rPr>
              <a:t>The APT technique recognition module</a:t>
            </a:r>
            <a:endParaRPr sz="1800">
              <a:solidFill>
                <a:srgbClr val="000000"/>
              </a:solidFill>
            </a:endParaRPr>
          </a:p>
          <a:p>
            <a:pPr indent="-3041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zh-TW">
                <a:solidFill>
                  <a:srgbClr val="000000"/>
                </a:solidFill>
              </a:rPr>
              <a:t>判斷該技術子圖屬於哪一種 APT 技術 。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250" y="1047575"/>
            <a:ext cx="4659451" cy="3346376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8443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CHT TTP ground truth &amp; prediction</a:t>
            </a:r>
            <a:endParaRPr/>
          </a:p>
        </p:txBody>
      </p:sp>
      <p:sp>
        <p:nvSpPr>
          <p:cNvPr id="138" name="Google Shape;13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038" y="677475"/>
            <a:ext cx="7201927" cy="4038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