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Roboto Mon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9FF171-3011-4F44-B1C0-362C887973A1}">
  <a:tblStyle styleId="{919FF171-3011-4F44-B1C0-362C887973A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6e15147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6e15147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3b6065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3b6065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Description</a:t>
            </a:r>
            <a:r>
              <a:rPr lang="zh-TW"/>
              <a:t>如何產生 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dataset的資訊(各dataset用自己的data train) V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LLM的部分忘記寫了 prompt那些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Prototypes跟h1有甚麼差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Multichunk要改(Multi部分) 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調查PCA的eigen V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Model圖重畫 (train, inference) 確認完開始跑。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加一個feature 在第五頁:</a:t>
            </a:r>
            <a:br>
              <a:rPr lang="zh-TW"/>
            </a:br>
            <a:r>
              <a:rPr lang="zh-TW"/>
              <a:t>目前只有semantic 但是我加上multichunk不就也有structure了嗎</a:t>
            </a:r>
            <a:br>
              <a:rPr lang="zh-TW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13b606561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13b606561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溯源圖技術分析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探討文獻：</a:t>
            </a:r>
            <a:r>
              <a:rPr i="1" lang="zh-TW">
                <a:solidFill>
                  <a:schemeClr val="dk1"/>
                </a:solidFill>
              </a:rPr>
              <a:t>Provenance-based Intrusion Detection Systems A Survey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探討文獻：</a:t>
            </a:r>
            <a:r>
              <a:rPr i="1" lang="zh-TW">
                <a:solidFill>
                  <a:schemeClr val="dk1"/>
                </a:solidFill>
              </a:rPr>
              <a:t>Threat Detection and Investigation with System-level Provenance Graphs_A Survey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異常偵測技術分析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基於專家規則的偵測方法 (探討系統/文獻：</a:t>
            </a:r>
            <a:r>
              <a:rPr i="1" lang="zh-TW">
                <a:solidFill>
                  <a:schemeClr val="dk1"/>
                </a:solidFill>
              </a:rPr>
              <a:t>SLEUTH, HOLMES, POIROT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基於溯源圖結構的偵測方法 (探討系統/文獻：</a:t>
            </a:r>
            <a:r>
              <a:rPr i="1" lang="zh-TW">
                <a:solidFill>
                  <a:schemeClr val="dk1"/>
                </a:solidFill>
              </a:rPr>
              <a:t>StreamSpot, UNICORN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基於深度學習結構的偵測方法 (探討系統/文獻：</a:t>
            </a:r>
            <a:r>
              <a:rPr i="1" lang="zh-TW">
                <a:solidFill>
                  <a:schemeClr val="dk1"/>
                </a:solidFill>
              </a:rPr>
              <a:t>THREATRACE, FLASH, MAGIC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攻擊偵測技術分析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探討系統/文獻：</a:t>
            </a:r>
            <a:r>
              <a:rPr i="1" lang="zh-TW">
                <a:solidFill>
                  <a:schemeClr val="dk1"/>
                </a:solidFill>
              </a:rPr>
              <a:t>KAIROS,</a:t>
            </a:r>
            <a:r>
              <a:rPr i="1" lang="zh-TW">
                <a:solidFill>
                  <a:schemeClr val="dk1"/>
                </a:solidFill>
              </a:rPr>
              <a:t>AIRTAG,SLOT,TREC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探討系統/文獻：</a:t>
            </a:r>
            <a:r>
              <a:rPr i="1" lang="zh-TW">
                <a:solidFill>
                  <a:schemeClr val="dk1"/>
                </a:solidFill>
              </a:rPr>
              <a:t>AIRTAG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探討系統/文獻：</a:t>
            </a:r>
            <a:r>
              <a:rPr i="1" lang="zh-TW">
                <a:solidFill>
                  <a:schemeClr val="dk1"/>
                </a:solidFill>
              </a:rPr>
              <a:t>SLOT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探討系統/文獻：</a:t>
            </a:r>
            <a:r>
              <a:rPr i="1" lang="zh-TW">
                <a:solidFill>
                  <a:schemeClr val="dk1"/>
                </a:solidFill>
              </a:rPr>
              <a:t>TREC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資安日誌與指令嵌入模型之演進與分析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探討模型/文獻：</a:t>
            </a:r>
            <a:r>
              <a:rPr i="1" lang="zh-TW">
                <a:solidFill>
                  <a:schemeClr val="dk1"/>
                </a:solidFill>
              </a:rPr>
              <a:t>Log2Vec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探討模型/文獻：</a:t>
            </a:r>
            <a:r>
              <a:rPr i="1" lang="zh-TW">
                <a:solidFill>
                  <a:schemeClr val="dk1"/>
                </a:solidFill>
              </a:rPr>
              <a:t>LogBERT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探討模型/文獻：</a:t>
            </a:r>
            <a:r>
              <a:rPr i="1" lang="zh-TW">
                <a:solidFill>
                  <a:schemeClr val="dk1"/>
                </a:solidFill>
              </a:rPr>
              <a:t>CmdCaliper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多主機關聯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探討問題與系統：跨主機偵測挑戰與 </a:t>
            </a:r>
            <a:r>
              <a:rPr i="1" lang="zh-TW">
                <a:solidFill>
                  <a:schemeClr val="dk1"/>
                </a:solidFill>
              </a:rPr>
              <a:t>KAIROS</a:t>
            </a: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TW">
                <a:solidFill>
                  <a:schemeClr val="dk1"/>
                </a:solidFill>
              </a:rPr>
              <a:t>探討系統/文獻：</a:t>
            </a:r>
            <a:r>
              <a:rPr i="1" lang="zh-TW">
                <a:solidFill>
                  <a:schemeClr val="dk1"/>
                </a:solidFill>
              </a:rPr>
              <a:t>T-trace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13b606561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13b606561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MLM:</a:t>
            </a:r>
            <a:r>
              <a:rPr lang="zh-TW">
                <a:solidFill>
                  <a:schemeClr val="dk1"/>
                </a:solidFill>
              </a:rPr>
              <a:t>masked language modeling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大規模網頁文本 (Large-scale web text)</a:t>
            </a:r>
            <a:r>
              <a:rPr lang="zh-TW">
                <a:solidFill>
                  <a:schemeClr val="dk1"/>
                </a:solidFill>
              </a:rPr>
              <a:t>：經資安關聯性過濾的公開網頁抓取內容（佔最大宗，約 122 億）。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原始基準資料集 (Original baseline dataset)</a:t>
            </a:r>
            <a:r>
              <a:rPr lang="zh-TW">
                <a:solidFill>
                  <a:schemeClr val="dk1"/>
                </a:solidFill>
              </a:rPr>
              <a:t>：第一代 SecureBERT 使用的預訓練語料（約 10.7 億）。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種子語料庫 (Seed corpus)</a:t>
            </a:r>
            <a:r>
              <a:rPr lang="zh-TW">
                <a:solidFill>
                  <a:schemeClr val="dk1"/>
                </a:solidFill>
              </a:rPr>
              <a:t>：高品質的精選資安文章、威脅報告與技術部落格（約 2.5 億）。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資安對話資料 (Cybersecurity dialogue data)</a:t>
            </a:r>
            <a:r>
              <a:rPr lang="zh-TW">
                <a:solidFill>
                  <a:schemeClr val="dk1"/>
                </a:solidFill>
              </a:rPr>
              <a:t>：分析師工作流程、技術問答與真實對話紀錄（約 5,600 萬）。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推理型資料 (Reasoning-focused data)</a:t>
            </a:r>
            <a:r>
              <a:rPr lang="zh-TW">
                <a:solidFill>
                  <a:schemeClr val="dk1"/>
                </a:solidFill>
              </a:rPr>
              <a:t>：資安導向的問答與邏輯推理資料集（約 320 萬）。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指令微調資料 (Instruction-tuning data)</a:t>
            </a:r>
            <a:r>
              <a:rPr lang="zh-TW">
                <a:solidFill>
                  <a:schemeClr val="dk1"/>
                </a:solidFill>
              </a:rPr>
              <a:t>：資安任務相關的教學與程序性文本（約 230 萬）。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bfd4e603a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bfd4e603a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fd4e603a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fd4e603a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bd342b9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bd342b9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因為casino每個隊伍有4個機器，而且有140隊，平均一隊產生833,808行log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16f31c16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16f31c16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bd342b92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bd342b9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雖然不同 Campaign 之間的 TTP 標籤存在重疊，但由於每個 Campaign 來自不同的威脅行為者（Threat Actor）或是在不同的主機環境中執行，其</a:t>
            </a:r>
            <a:r>
              <a:rPr b="1" lang="zh-TW">
                <a:solidFill>
                  <a:schemeClr val="dk1"/>
                </a:solidFill>
              </a:rPr>
              <a:t>底層的實作細節（Implementation artifacts）如檔案路徑、指令參數及執行順序皆有顯著差異</a:t>
            </a:r>
            <a:r>
              <a:rPr lang="zh-TW">
                <a:solidFill>
                  <a:schemeClr val="dk1"/>
                </a:solidFill>
              </a:rPr>
              <a:t>。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16f31c16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16f31c1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13b606561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13b606561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可以試試看停用或啟用R3</a:t>
            </a:r>
            <a:br>
              <a:rPr b="1" lang="zh-TW">
                <a:solidFill>
                  <a:schemeClr val="dk1"/>
                </a:solidFill>
              </a:rPr>
            </a:br>
            <a:br>
              <a:rPr b="1" lang="zh-TW">
                <a:solidFill>
                  <a:schemeClr val="dk1"/>
                </a:solidFill>
              </a:rPr>
            </a:br>
            <a:r>
              <a:rPr b="1" lang="zh-TW">
                <a:solidFill>
                  <a:schemeClr val="dk1"/>
                </a:solidFill>
              </a:rPr>
              <a:t>系統角色</a:t>
            </a:r>
            <a:r>
              <a:rPr lang="zh-TW">
                <a:solidFill>
                  <a:schemeClr val="dk1"/>
                </a:solidFill>
              </a:rPr>
              <a:t>：Windows 行程知識庫 (Windows process knowledge base)。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核心任務</a:t>
            </a:r>
            <a:r>
              <a:rPr lang="zh-TW">
                <a:solidFill>
                  <a:schemeClr val="dk1"/>
                </a:solidFill>
              </a:rPr>
              <a:t>：接收 Windows 執行檔路徑（如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C:\Windows\System32\cmd.exe</a:t>
            </a:r>
            <a:r>
              <a:rPr lang="zh-TW">
                <a:solidFill>
                  <a:schemeClr val="dk1"/>
                </a:solidFill>
              </a:rPr>
              <a:t>），結合公開文獻知識與檔案路徑的系統含義，輸出描述該程式標準行為的 JSON。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四項強制規則 (Hard Rules)</a:t>
            </a:r>
            <a:r>
              <a:rPr lang="zh-TW">
                <a:solidFill>
                  <a:schemeClr val="dk1"/>
                </a:solidFill>
              </a:rPr>
              <a:t>：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事實陳述</a:t>
            </a:r>
            <a:r>
              <a:rPr lang="zh-TW">
                <a:solidFill>
                  <a:schemeClr val="dk1"/>
                </a:solidFill>
              </a:rPr>
              <a:t>：僅描述廣泛記錄的知識與實際功能，遇未知程式則描述為通用使用者模式應用程式，嚴禁捏造。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技術術語</a:t>
            </a:r>
            <a:r>
              <a:rPr lang="zh-TW">
                <a:solidFill>
                  <a:schemeClr val="dk1"/>
                </a:solidFill>
              </a:rPr>
              <a:t>：強制使用具體的技術詞彙（如「載入服務 DLL」、「直譯 .ps1 腳本」）。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絕對中立</a:t>
            </a:r>
            <a:r>
              <a:rPr lang="zh-TW">
                <a:solidFill>
                  <a:schemeClr val="dk1"/>
                </a:solidFill>
              </a:rPr>
              <a:t>：禁用任何主觀、猜測或資安屬性強烈的詞彙（嚴禁使用：suspicious, malicious, benign, attack, legitimate, might 等）。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zh-TW">
                <a:solidFill>
                  <a:schemeClr val="dk1"/>
                </a:solidFill>
              </a:rPr>
              <a:t>純淨輸出</a:t>
            </a:r>
            <a:r>
              <a:rPr lang="zh-TW">
                <a:solidFill>
                  <a:schemeClr val="dk1"/>
                </a:solidFill>
              </a:rPr>
              <a:t>：必須輸出單一、有效的純 JSON 物件，嚴禁包含任何 Markdown 標記或說明文字。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bd342b92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bd342b92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bd342b92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bd342b92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改attention 前 改multichunk。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ablation study做在其他資料集上。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attention 之中qkv要是誰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Audit log具有強烈的「先後因果關係」。雙向閘門循環單位 (BiGRU) 專門負責捕捉這種相鄰事件的局部依賴性 (Sequential Inductive Bias)。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 block 站在這個基礎上只需要學「哪些遠處的 event 和當前 event 有關」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post_rnn_norm 把 BiGRU 輸出的 activation scale 穩定下來再餵給 attention。</a:t>
            </a:r>
            <a:br>
              <a:rPr lang="zh-TW"/>
            </a:br>
            <a:r>
              <a:rPr lang="zh-TW"/>
              <a:t>Multi-head attention (8 heads)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每個 block 是標準 Pre-LN Transformer（norm 在前），8 heads、d_k=32。rel_pos_bias 作為一個可學習的 [8, T, T] 偏置加到 attention logits 上，讓模型學相對距離而非絕對位置。Pad mask 把 [B, T, 256] 裡的 padding 位置用 -1e9 擋掉，不讓它們參與 attention score 計算。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bd342b92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bd342b92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13b60656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13b60656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13e916120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13e916120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bfd4e603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bfd4e603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13e91612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13e91612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左右backborn要一樣 inference要用到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Prototypes跟h1有甚麼差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e39f54e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e39f54e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bd342b923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bd342b923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左右backborn要一樣 inference要用到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Graph-Self attention</a:t>
            </a:r>
            <a:r>
              <a:rPr lang="zh-TW">
                <a:solidFill>
                  <a:schemeClr val="dk1"/>
                </a:solidFill>
              </a:rPr>
              <a:t>讓每個節點只與其前後 K 個時間步的節點進行注意力運算，大幅降低了計算複雜度 $O(N^2) \rightarrow O(N \times K)$，並保留了時序距離的特徵 (</a:t>
            </a:r>
            <a:r>
              <a:rPr lang="zh-TW">
                <a:solidFill>
                  <a:srgbClr val="188038"/>
                </a:solidFill>
              </a:rPr>
              <a:t>edge_attr</a:t>
            </a:r>
            <a:r>
              <a:rPr lang="zh-TW">
                <a:solidFill>
                  <a:schemeClr val="dk1"/>
                </a:solidFill>
              </a:rPr>
              <a:t>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為每一個 TTP 類別宣告了一個專屬的可學習向量（長度為 256 維）。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座標會看資料：代表「執行 (Execution)」或「防禦規避 (Evasion)」的類別座標，會先去掃描這段日誌。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座標會微調位置：如果它發現這段日誌的上下文跟自己很搭，這個類別座標就會在 256 維空間中，微微向這段特徵「靠攏」，並吸收這段特徵的上下文資訊。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資料再找座標：最後，日誌特徵再去對照這些「已經針對當下情境微調過」的類別座標，決定自己的歸屬。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程式碼邏輯</a:t>
            </a:r>
            <a:r>
              <a:rPr lang="zh-TW">
                <a:solidFill>
                  <a:schemeClr val="dk1"/>
                </a:solidFill>
              </a:rPr>
              <a:t>：拿「日誌 (h1)」當 Query 去算跟所有「類別 (h3)」的相似度，然後把最像的那個「類別特徵 (h3)」當作 Value 抽出來，附加到日誌身上，變成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h1_enriched</a:t>
            </a:r>
            <a:r>
              <a:rPr lang="zh-TW">
                <a:solidFill>
                  <a:schemeClr val="dk1"/>
                </a:solidFill>
              </a:rPr>
              <a:t>，最後送進 </a:t>
            </a:r>
            <a:r>
              <a:rPr lang="zh-TW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self.classifier</a:t>
            </a:r>
            <a:r>
              <a:rPr lang="zh-TW">
                <a:solidFill>
                  <a:schemeClr val="dk1"/>
                </a:solidFill>
              </a:rPr>
              <a:t> 輸出 Logits。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crf_loss(為了順序) + w(為了讓CRF和Focal平衡) * focal_loss(為了長尾)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13b60656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13b60656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gamma：衰減因子（控制歷史分數消散的速度，抑制誤報）。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K：回溯觀察的時間視窗大小。也就是決定U要看多少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alpha：擴增係數（決定分數放大的倍率）。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13b60656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f13b60656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bfd4e603a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ebfd4e603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POIROT誤植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bfd4e603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ebfd4e603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都是sub-technique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bfd4e603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ebfd4e603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ebfd4e603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ebfd4e603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limit是機器為單位(Multi-host + network)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label是人標的，跟一般的APT可能不太一樣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ebfd4e603a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ebfd4e603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Split from Kairos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AirTag用的是自己錄的和Atlas和DEPIMPACT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ebd342b923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ebd342b923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bd342b92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ebd342b92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細節說明elastic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以event為單位(micro)一個以TTP(macro)為單位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ebd342b923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ebd342b923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241202:T1574.001,T1217,T1547.001</a:t>
            </a:r>
            <a:br>
              <a:rPr lang="zh-TW"/>
            </a:br>
            <a:r>
              <a:rPr lang="zh-TW"/>
              <a:t>250305:T1574.001,</a:t>
            </a:r>
            <a:r>
              <a:rPr lang="zh-TW">
                <a:solidFill>
                  <a:schemeClr val="dk1"/>
                </a:solidFill>
              </a:rPr>
              <a:t>T1547.001,T1547.001,T1547.001,T1204.002,T1055.002,T1105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250701B:T1105,T1105,T1105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ebd342b92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ebd342b92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ebd342b923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ebd342b923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MRR (Mean Reciprocal Rank) 第一個正確答案出現在第幾名？ 它會給予排名越靠前的正確答案越高的分數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Top@K ：模型給出的前 K 個預測中，是否「包含」正確答案？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用cmdcaliper的表格評估LLM的response正確與否 好像不是這張表格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f13b606561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f13b606561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bd342b92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ebd342b92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ebd342b92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ebd342b92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bd342b92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ebd342b92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ebd342b92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ebd342b92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OSS 20B</a:t>
            </a:r>
            <a:br>
              <a:rPr lang="zh-TW"/>
            </a:br>
            <a:r>
              <a:rPr lang="zh-TW"/>
              <a:t>分node去獲得敘述(src,dst) 測node的行為</a:t>
            </a:r>
            <a:br>
              <a:rPr lang="zh-TW"/>
            </a:br>
            <a:r>
              <a:rPr lang="zh-TW"/>
              <a:t>把node的正確答案寫在prompt裡面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ebd342b92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ebd342b92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ebd342b92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ebd342b92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ebd342b92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ebd342b92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ebd342b92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ebd342b92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ebd342b92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ebd342b92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ebd342b92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ebd342b92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 — 2層雙向 GRU，hidden=128，每層 forward + backward 各輸出 128H，concat 成 256D；初始隱狀態 h₀ 每個 batch 都重新從 N(0,1) 採樣（code 裡的 torch.randn）。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bd342b923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3ebd342b923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ebd342b923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ebd342b92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Audit log具有強烈的「先後因果關係」。雙向閘門循環單位 (BiGRU) 專門負責捕捉這種相鄰事件的局部依賴性 (Sequential Inductive Bias)。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 block 站在這個基礎上只需要學「哪些遠處的 event 和當前 event 有關」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post_rnn_norm 把 BiGRU 輸出的 activation scale 穩定下來再餵給 attention。</a:t>
            </a:r>
            <a:br>
              <a:rPr lang="zh-TW"/>
            </a:br>
            <a:r>
              <a:rPr lang="zh-TW"/>
              <a:t>Multi-head attention (8 heads)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每個 block 是標準 Pre-LN Transformer（norm 在前），8 heads、d_k=32。rel_pos_bias 作為一個可學習的 [8, T, T] 偏置加到 attention logits 上，讓模型學相對距離而非絕對位置。Pad mask 把 [B, T, 256] 裡的 padding 位置用 -1e9 擋掉，不讓它們參與 attention score 計算。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ebd342b923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ebd342b923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多任務損失函數 (Multi-task Loss)</a:t>
            </a:r>
            <a:r>
              <a:rPr lang="zh-TW">
                <a:solidFill>
                  <a:schemeClr val="dk1"/>
                </a:solidFill>
              </a:rPr>
              <a:t>：模型同時學習 Tactic、Technique 和 Sub-technique。我們將三者的二元交叉熵 (BCE) 相加作為總損失。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解決類別不平衡 (Focal Loss)</a:t>
            </a:r>
            <a:r>
              <a:rPr lang="zh-TW">
                <a:solidFill>
                  <a:schemeClr val="dk1"/>
                </a:solidFill>
              </a:rPr>
              <a:t>：因為某些攻擊手法非常罕見，我們使用了 </a:t>
            </a:r>
            <a:r>
              <a:rPr b="1" lang="zh-TW">
                <a:solidFill>
                  <a:schemeClr val="dk1"/>
                </a:solidFill>
              </a:rPr>
              <a:t>Focal Loss ($\gamma=2$)</a:t>
            </a:r>
            <a:r>
              <a:rPr lang="zh-TW">
                <a:solidFill>
                  <a:schemeClr val="dk1"/>
                </a:solidFill>
              </a:rPr>
              <a:t>。這會強迫模型更專注於那些難學、少見的樣本，而不是被常見樣本淹沒。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訓練參數</a:t>
            </a:r>
            <a:r>
              <a:rPr lang="zh-TW">
                <a:solidFill>
                  <a:schemeClr val="dk1"/>
                </a:solidFill>
              </a:rPr>
              <a:t>：使用 </a:t>
            </a:r>
            <a:r>
              <a:rPr b="1" lang="zh-TW">
                <a:solidFill>
                  <a:schemeClr val="dk1"/>
                </a:solidFill>
              </a:rPr>
              <a:t>AdamW</a:t>
            </a:r>
            <a:r>
              <a:rPr lang="zh-TW">
                <a:solidFill>
                  <a:schemeClr val="dk1"/>
                </a:solidFill>
              </a:rPr>
              <a:t> 優化器（比一般 Adam 更適合處理權重衰減），學習率設為 $10^{-3}$。隱藏層為 64 維，並使用 40% 的 </a:t>
            </a:r>
            <a:r>
              <a:rPr b="1" lang="zh-TW">
                <a:solidFill>
                  <a:schemeClr val="dk1"/>
                </a:solidFill>
              </a:rPr>
              <a:t>Dropout</a:t>
            </a:r>
            <a:r>
              <a:rPr lang="zh-TW">
                <a:solidFill>
                  <a:schemeClr val="dk1"/>
                </a:solidFill>
              </a:rPr>
              <a:t> 來防止過擬合。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早停機制 (Early Stopping)</a:t>
            </a:r>
            <a:r>
              <a:rPr lang="zh-TW">
                <a:solidFill>
                  <a:schemeClr val="dk1"/>
                </a:solidFill>
              </a:rPr>
              <a:t>：如果訓練損失連續 30 個 Epoch 沒有下降，就停止訓練，避免模型學過頭。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8-fold LOCO 驗證</a:t>
            </a:r>
            <a:r>
              <a:rPr lang="zh-TW">
                <a:solidFill>
                  <a:schemeClr val="dk1"/>
                </a:solidFill>
              </a:rPr>
              <a:t>：這是一種強大的驗證方式，確保模型對於沒看過的攻擊類別（Category）依然有偵測能力，而不只是死背資料。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閾值校準 (Threshold Calibration)</a:t>
            </a:r>
            <a:r>
              <a:rPr lang="zh-TW">
                <a:solidFill>
                  <a:schemeClr val="dk1"/>
                </a:solidFill>
              </a:rPr>
              <a:t>：模型輸出的機率 (0~1) 並不直接代表結果。我們根據每種手法在現實中出現的頻率（Prevalence），為每個類別量身打造最適合的判斷門檻（Threshold），這能顯著提升 F1-score。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b="1" lang="zh-TW">
                <a:solidFill>
                  <a:schemeClr val="dk1"/>
                </a:solidFill>
              </a:rPr>
              <a:t>8 個 fold，每個 fold 嚴格定義為：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fold C_k: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test  = 整個 campaign C_k 的所有 unit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       train = 其餘 7 個 campaign 的 union（沒有任何 C_k 的 unit）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ebd342b923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ebd342b923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ebd342b923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ebd342b92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用Trec&amp;zoomer的表達法去做</a:t>
            </a:r>
            <a:r>
              <a:rPr lang="zh-TW">
                <a:solidFill>
                  <a:schemeClr val="dk1"/>
                </a:solidFill>
              </a:rPr>
              <a:t>APT4kellect的實驗設計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用SFM的train法跑我的emb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sheet弄好看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saga-tw.github.io/dataset/v2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改動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LLM Description如何產生 V ,P11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dataset的資訊(各dataset用自己的data train) V P24,25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Prototypes跟h1的差別 V P19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Multichunk要改(Multi部分) V P20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調查PCA的eigen V P10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8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研究背景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29375" y="715600"/>
            <a:ext cx="8892000" cy="11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隨著進階持續性威脅的攻擊手法日益複雜，現有的溯源圖偵測系統（如 SLOT 與 Kairos）在惡意行為偵測上雖具備一定成效，但仍面臨技術瓶頸。為突破現有框架的限制，本研究提出一個結合大型語言模型 (LLM) 與資安專用預訓練模型 SecureBERT 2.0 的新型威脅偵測架構。透過將系統審計日誌 (Audit Log) 轉化為具備上下文資訊的自然語言敘述，並利用 SecureBERT 2.0 萃取深層的語意特徵向量 (Embeddings)，以建立具備深度語意理解能力的自動化威脅防禦機制。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1350" y="2129288"/>
            <a:ext cx="90213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異常偵測 (Anomaly Detection)：</a:t>
            </a:r>
            <a:r>
              <a:rPr lang="zh-TW" sz="1200">
                <a:solidFill>
                  <a:schemeClr val="dk1"/>
                </a:solidFill>
              </a:rPr>
              <a:t> 利用深層語意特徵學習系統常規模式，從大量日誌中初步過濾並精準識別出潛在的異常行為。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TTP 偵測 (TTP Detection)：</a:t>
            </a:r>
            <a:r>
              <a:rPr lang="zh-TW" sz="1200">
                <a:solidFill>
                  <a:schemeClr val="dk1"/>
                </a:solidFill>
              </a:rPr>
              <a:t> 將識別出的惡意行為與高階攻擊語意連結，精準對應至具體的攻擊戰術與技術以解釋攻擊手法。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入侵偵測 (Intrusion Detection)：</a:t>
            </a:r>
            <a:r>
              <a:rPr lang="zh-TW" sz="1200">
                <a:solidFill>
                  <a:schemeClr val="dk1"/>
                </a:solidFill>
              </a:rPr>
              <a:t> 針對潛在異常進行深度特徵分類與驗證，確保僅在面臨真實威脅時才觸發警報。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1637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研究</a:t>
            </a:r>
            <a:r>
              <a:rPr lang="zh-TW"/>
              <a:t>目的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1350" y="3693325"/>
            <a:ext cx="9021300" cy="13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提出基於語意增強的異常偵測機制：</a:t>
            </a:r>
            <a:r>
              <a:rPr lang="zh-TW" sz="1200">
                <a:solidFill>
                  <a:schemeClr val="dk1"/>
                </a:solidFill>
              </a:rPr>
              <a:t> 結合 LLM 與 SecureBERT 2.0 賦予系統深度的語意理解能力，有效達成初步的精準流量過濾。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具備預測進階持續性威脅攻擊的能力：</a:t>
            </a:r>
            <a:r>
              <a:rPr lang="zh-TW" sz="1200">
                <a:solidFill>
                  <a:schemeClr val="dk1"/>
                </a:solidFill>
              </a:rPr>
              <a:t> 系統能將異常精確映射至 MITRE ATT&amp;CK 框架，大幅減輕資安鑑識人員的分析負擔。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zh-TW" sz="1200">
                <a:solidFill>
                  <a:schemeClr val="dk1"/>
                </a:solidFill>
              </a:rPr>
              <a:t>實現低誤報率的入侵偵測與警報系統：</a:t>
            </a:r>
            <a:r>
              <a:rPr lang="zh-TW" sz="1200">
                <a:solidFill>
                  <a:schemeClr val="dk1"/>
                </a:solidFill>
              </a:rPr>
              <a:t> 透過漸進式的深度驗證機制確認真實攻擊，提供高可信度且極低誤報率的防護資訊。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21371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研究</a:t>
            </a:r>
            <a:r>
              <a:rPr lang="zh-TW"/>
              <a:t>貢獻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289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相關文獻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溯源圖技術分析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異常偵測技術分析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基於專家規則的偵測方法 (</a:t>
            </a:r>
            <a:r>
              <a:rPr i="1" lang="zh-TW">
                <a:solidFill>
                  <a:schemeClr val="dk1"/>
                </a:solidFill>
              </a:rPr>
              <a:t>SLEUTH</a:t>
            </a:r>
            <a:r>
              <a:rPr i="1" lang="zh-TW" sz="1000">
                <a:solidFill>
                  <a:schemeClr val="dk1"/>
                </a:solidFill>
              </a:rPr>
              <a:t>(2017)</a:t>
            </a:r>
            <a:r>
              <a:rPr i="1" lang="zh-TW">
                <a:solidFill>
                  <a:schemeClr val="dk1"/>
                </a:solidFill>
              </a:rPr>
              <a:t>, HOLMES</a:t>
            </a:r>
            <a:r>
              <a:rPr i="1" lang="zh-TW" sz="1000">
                <a:solidFill>
                  <a:schemeClr val="dk1"/>
                </a:solidFill>
              </a:rPr>
              <a:t>(2019)</a:t>
            </a:r>
            <a:r>
              <a:rPr i="1" lang="zh-TW">
                <a:solidFill>
                  <a:schemeClr val="dk1"/>
                </a:solidFill>
              </a:rPr>
              <a:t>, POIROT</a:t>
            </a:r>
            <a:r>
              <a:rPr i="1" lang="zh-TW" sz="1000">
                <a:solidFill>
                  <a:schemeClr val="dk1"/>
                </a:solidFill>
              </a:rPr>
              <a:t>(2019)</a:t>
            </a:r>
            <a:r>
              <a:rPr lang="zh-TW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基於溯源圖結構的偵測方法(</a:t>
            </a:r>
            <a:r>
              <a:rPr i="1" lang="zh-TW">
                <a:solidFill>
                  <a:schemeClr val="dk1"/>
                </a:solidFill>
              </a:rPr>
              <a:t>StreamSpot</a:t>
            </a:r>
            <a:r>
              <a:rPr i="1" lang="zh-TW" sz="1000">
                <a:solidFill>
                  <a:schemeClr val="dk1"/>
                </a:solidFill>
              </a:rPr>
              <a:t>(2016)</a:t>
            </a:r>
            <a:r>
              <a:rPr i="1" lang="zh-TW">
                <a:solidFill>
                  <a:schemeClr val="dk1"/>
                </a:solidFill>
              </a:rPr>
              <a:t>, UNICORN</a:t>
            </a:r>
            <a:r>
              <a:rPr i="1" lang="zh-TW" sz="1000">
                <a:solidFill>
                  <a:schemeClr val="dk1"/>
                </a:solidFill>
              </a:rPr>
              <a:t>(2020)</a:t>
            </a:r>
            <a:r>
              <a:rPr lang="zh-TW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基於深度學習結構的偵測方法(</a:t>
            </a:r>
            <a:r>
              <a:rPr i="1" lang="zh-TW">
                <a:solidFill>
                  <a:schemeClr val="dk1"/>
                </a:solidFill>
              </a:rPr>
              <a:t>THREATRACE</a:t>
            </a:r>
            <a:r>
              <a:rPr i="1" lang="zh-TW" sz="1000">
                <a:solidFill>
                  <a:schemeClr val="dk1"/>
                </a:solidFill>
              </a:rPr>
              <a:t>(2022)</a:t>
            </a:r>
            <a:r>
              <a:rPr i="1" lang="zh-TW">
                <a:solidFill>
                  <a:schemeClr val="dk1"/>
                </a:solidFill>
              </a:rPr>
              <a:t>, FLASH</a:t>
            </a:r>
            <a:r>
              <a:rPr i="1" lang="zh-TW" sz="1000">
                <a:solidFill>
                  <a:schemeClr val="dk1"/>
                </a:solidFill>
              </a:rPr>
              <a:t>(2024)</a:t>
            </a:r>
            <a:r>
              <a:rPr i="1" lang="zh-TW">
                <a:solidFill>
                  <a:schemeClr val="dk1"/>
                </a:solidFill>
              </a:rPr>
              <a:t>, MAGIC</a:t>
            </a:r>
            <a:r>
              <a:rPr i="1" lang="zh-TW" sz="1000">
                <a:solidFill>
                  <a:schemeClr val="dk1"/>
                </a:solidFill>
              </a:rPr>
              <a:t>(2024)</a:t>
            </a:r>
            <a:r>
              <a:rPr lang="zh-TW" sz="1800">
                <a:solidFill>
                  <a:schemeClr val="dk1"/>
                </a:solidFill>
              </a:rPr>
              <a:t>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攻擊偵測技術分析</a:t>
            </a:r>
            <a:r>
              <a:rPr lang="zh-TW">
                <a:solidFill>
                  <a:schemeClr val="dk1"/>
                </a:solidFill>
              </a:rPr>
              <a:t>(</a:t>
            </a:r>
            <a:r>
              <a:rPr i="1" lang="zh-TW" sz="1400">
                <a:solidFill>
                  <a:schemeClr val="dk1"/>
                </a:solidFill>
              </a:rPr>
              <a:t>AIRTAG</a:t>
            </a:r>
            <a:r>
              <a:rPr i="1" lang="zh-TW" sz="1000">
                <a:solidFill>
                  <a:schemeClr val="dk1"/>
                </a:solidFill>
              </a:rPr>
              <a:t>(2023)</a:t>
            </a:r>
            <a:r>
              <a:rPr i="1" lang="zh-TW" sz="1400">
                <a:solidFill>
                  <a:schemeClr val="dk1"/>
                </a:solidFill>
              </a:rPr>
              <a:t>,KAIROS</a:t>
            </a:r>
            <a:r>
              <a:rPr i="1" lang="zh-TW" sz="1000">
                <a:solidFill>
                  <a:schemeClr val="dk1"/>
                </a:solidFill>
              </a:rPr>
              <a:t>(2024)</a:t>
            </a:r>
            <a:r>
              <a:rPr i="1" lang="zh-TW" sz="1400">
                <a:solidFill>
                  <a:schemeClr val="dk1"/>
                </a:solidFill>
              </a:rPr>
              <a:t>,TREC</a:t>
            </a:r>
            <a:r>
              <a:rPr i="1" lang="zh-TW" sz="1000">
                <a:solidFill>
                  <a:schemeClr val="dk1"/>
                </a:solidFill>
              </a:rPr>
              <a:t>(2024),</a:t>
            </a:r>
            <a:r>
              <a:rPr i="1" lang="zh-TW" sz="1400">
                <a:solidFill>
                  <a:schemeClr val="dk1"/>
                </a:solidFill>
              </a:rPr>
              <a:t>SLOT</a:t>
            </a:r>
            <a:r>
              <a:rPr i="1" lang="zh-TW" sz="1000">
                <a:solidFill>
                  <a:schemeClr val="dk1"/>
                </a:solidFill>
              </a:rPr>
              <a:t>(2025)</a:t>
            </a:r>
            <a:r>
              <a:rPr i="1" lang="zh-TW" sz="1400">
                <a:solidFill>
                  <a:schemeClr val="dk1"/>
                </a:solidFill>
              </a:rPr>
              <a:t>,ZOOMER</a:t>
            </a:r>
            <a:r>
              <a:rPr i="1" lang="zh-TW" sz="1000">
                <a:solidFill>
                  <a:schemeClr val="dk1"/>
                </a:solidFill>
              </a:rPr>
              <a:t>(2025)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資安日誌與指令嵌入模型之演進與分析</a:t>
            </a:r>
            <a:r>
              <a:rPr lang="zh-TW">
                <a:solidFill>
                  <a:schemeClr val="dk1"/>
                </a:solidFill>
              </a:rPr>
              <a:t>(</a:t>
            </a:r>
            <a:r>
              <a:rPr i="1" lang="zh-TW" sz="1400">
                <a:solidFill>
                  <a:schemeClr val="dk1"/>
                </a:solidFill>
              </a:rPr>
              <a:t>Log2Vec</a:t>
            </a:r>
            <a:r>
              <a:rPr i="1" lang="zh-TW" sz="1000">
                <a:solidFill>
                  <a:schemeClr val="dk1"/>
                </a:solidFill>
              </a:rPr>
              <a:t>(2019)</a:t>
            </a:r>
            <a:r>
              <a:rPr i="1" lang="zh-TW" sz="1400">
                <a:solidFill>
                  <a:schemeClr val="dk1"/>
                </a:solidFill>
              </a:rPr>
              <a:t>,LogBERT</a:t>
            </a:r>
            <a:r>
              <a:rPr i="1" lang="zh-TW" sz="1000">
                <a:solidFill>
                  <a:schemeClr val="dk1"/>
                </a:solidFill>
              </a:rPr>
              <a:t>(2021)</a:t>
            </a:r>
            <a:r>
              <a:rPr i="1" lang="zh-TW" sz="1400">
                <a:solidFill>
                  <a:schemeClr val="dk1"/>
                </a:solidFill>
              </a:rPr>
              <a:t>,CmdCaliper</a:t>
            </a:r>
            <a:r>
              <a:rPr i="1" lang="zh-TW" sz="1000">
                <a:solidFill>
                  <a:schemeClr val="dk1"/>
                </a:solidFill>
              </a:rPr>
              <a:t>(2024)</a:t>
            </a:r>
            <a:r>
              <a:rPr i="1" lang="zh-TW" sz="1400">
                <a:solidFill>
                  <a:schemeClr val="dk1"/>
                </a:solidFill>
              </a:rPr>
              <a:t>,SecureBert2.0</a:t>
            </a:r>
            <a:r>
              <a:rPr i="1" lang="zh-TW" sz="1000">
                <a:solidFill>
                  <a:schemeClr val="dk1"/>
                </a:solidFill>
              </a:rPr>
              <a:t>(2025)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69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SecureBert2.0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25400" y="742550"/>
            <a:ext cx="8893200" cy="17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solidFill>
                  <a:schemeClr val="dk1"/>
                </a:solidFill>
              </a:rPr>
              <a:t>架構升級</a:t>
            </a:r>
            <a:r>
              <a:rPr lang="zh-TW" sz="1600">
                <a:solidFill>
                  <a:schemeClr val="dk1"/>
                </a:solidFill>
              </a:rPr>
              <a:t>：基於 ModernBERT（Encoder-only），具備長文本處理與階層式處理程式碼的能力。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solidFill>
                  <a:schemeClr val="dk1"/>
                </a:solidFill>
              </a:rPr>
              <a:t>訓練資料</a:t>
            </a:r>
            <a:r>
              <a:rPr lang="zh-TW" sz="1600">
                <a:solidFill>
                  <a:schemeClr val="dk1"/>
                </a:solidFill>
              </a:rPr>
              <a:t>：結合 136 億文字標記與 5,300 萬程式碼標記，具備雙模態理解力。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訓練策略</a:t>
            </a:r>
            <a:r>
              <a:rPr lang="zh-TW" sz="1600">
                <a:solidFill>
                  <a:schemeClr val="dk1"/>
                </a:solidFill>
              </a:rPr>
              <a:t>：採用遮蔽語言模型 (MLM)，特別針對資安專用名詞與程式碼進行訓練。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Benchmark : </a:t>
            </a:r>
            <a:r>
              <a:rPr lang="zh-TW" sz="1600">
                <a:solidFill>
                  <a:schemeClr val="dk1"/>
                </a:solidFill>
              </a:rPr>
              <a:t>Attack BERT, all-MiniLM-L6-v2, 以及其他hugging face的優良模型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2501300"/>
            <a:ext cx="7486650" cy="1857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214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TREC - Structure</a:t>
            </a:r>
            <a:endParaRPr/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190300" y="906675"/>
            <a:ext cx="39600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provenance graph construction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持續收集底層的系統核心事件，並將這些事件編排建構成一張完整的Provenance Graph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NOI detection and sub-graph sampling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套用異常偵測模型，在無監督的情況下，找出圖中潛在的惡意節點然後套用「子圖採樣演算法 (Subgraph sampling algorithm)」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technique subgraph representation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運用「異質圖嵌入技術 (Heterogeneous graph embedding)」，將剛切出來的技術子圖（TSG）編碼轉換成一段特徵向量 。</a:t>
            </a:r>
            <a:endParaRPr>
              <a:solidFill>
                <a:srgbClr val="000000"/>
              </a:solidFill>
            </a:endParaRPr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zh-TW" sz="1800">
                <a:solidFill>
                  <a:srgbClr val="000000"/>
                </a:solidFill>
              </a:rPr>
              <a:t>The APT technique recognition module</a:t>
            </a:r>
            <a:endParaRPr sz="1800">
              <a:solidFill>
                <a:srgbClr val="000000"/>
              </a:solidFill>
            </a:endParaRPr>
          </a:p>
          <a:p>
            <a:pPr indent="-3041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○"/>
            </a:pPr>
            <a:r>
              <a:rPr lang="zh-TW">
                <a:solidFill>
                  <a:srgbClr val="000000"/>
                </a:solidFill>
              </a:rPr>
              <a:t>判斷該技術子圖屬於哪一種 APT 技術 。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250" y="1047575"/>
            <a:ext cx="4659451" cy="334637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4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 - Structure</a:t>
            </a:r>
            <a:endParaRPr/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37" y="901812"/>
            <a:ext cx="7543326" cy="3339875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" name="Google Shape;98;p18"/>
          <p:cNvSpPr/>
          <p:nvPr/>
        </p:nvSpPr>
        <p:spPr>
          <a:xfrm>
            <a:off x="2595311" y="1239436"/>
            <a:ext cx="1719000" cy="105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Datasets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54975" y="1017725"/>
            <a:ext cx="32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SAGA-Known APT Campaign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Higaisa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admin338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APT28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FIN7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CobaltGroup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Gamaredon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Patchwork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GorgonGroup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3525" y="946563"/>
            <a:ext cx="5485425" cy="325037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53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Datasets</a:t>
            </a:r>
            <a:r>
              <a:rPr lang="zh-TW"/>
              <a:t> - TTPs of Kellect4APT &amp; SAGA</a:t>
            </a:r>
            <a:endParaRPr/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1390" l="0" r="0" t="0"/>
          <a:stretch/>
        </p:blipFill>
        <p:spPr>
          <a:xfrm>
            <a:off x="2662400" y="626500"/>
            <a:ext cx="3819200" cy="42298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384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Training setting - Original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8" y="1093025"/>
            <a:ext cx="6557100" cy="18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用Caldera所有的ability</a:t>
            </a:r>
            <a:r>
              <a:rPr lang="zh-TW">
                <a:solidFill>
                  <a:schemeClr val="dk1"/>
                </a:solidFill>
              </a:rPr>
              <a:t>做training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每個ability都有100個sample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用LLM對ability的srcnode,dstnode,relation等資訊產生敘述-&gt;用securebert2.0做成embedding-&gt;PCA降維-&gt;Training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2471" y="3452450"/>
            <a:ext cx="5268749" cy="1612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" name="Google Shape;121;p21"/>
          <p:cNvSpPr txBox="1"/>
          <p:nvPr/>
        </p:nvSpPr>
        <p:spPr>
          <a:xfrm>
            <a:off x="5079606" y="0"/>
            <a:ext cx="40572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Total abilities : 16900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Total Events: 7,949,998 events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Benign : 4,146,957 events (52.16%)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Malicious : 3,803,041 events(47.84%)</a:t>
            </a:r>
            <a:endParaRPr sz="1800"/>
          </a:p>
        </p:txBody>
      </p:sp>
      <p:sp>
        <p:nvSpPr>
          <p:cNvPr id="122" name="Google Shape;122;p21"/>
          <p:cNvSpPr txBox="1"/>
          <p:nvPr/>
        </p:nvSpPr>
        <p:spPr>
          <a:xfrm>
            <a:off x="455650" y="3109247"/>
            <a:ext cx="1151700" cy="461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src node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455650" y="4259772"/>
            <a:ext cx="11517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dst</a:t>
            </a:r>
            <a:r>
              <a:rPr lang="zh-TW" sz="1800">
                <a:solidFill>
                  <a:schemeClr val="dk1"/>
                </a:solidFill>
              </a:rPr>
              <a:t> node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455650" y="3684509"/>
            <a:ext cx="1151700" cy="461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relation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2097609" y="3109250"/>
            <a:ext cx="1368300" cy="461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Description</a:t>
            </a:r>
            <a:endParaRPr/>
          </a:p>
        </p:txBody>
      </p:sp>
      <p:cxnSp>
        <p:nvCxnSpPr>
          <p:cNvPr id="126" name="Google Shape;126;p21"/>
          <p:cNvCxnSpPr>
            <a:stCxn id="122" idx="3"/>
            <a:endCxn id="125" idx="1"/>
          </p:cNvCxnSpPr>
          <p:nvPr/>
        </p:nvCxnSpPr>
        <p:spPr>
          <a:xfrm>
            <a:off x="1607350" y="3340097"/>
            <a:ext cx="49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1"/>
          <p:cNvCxnSpPr>
            <a:stCxn id="124" idx="3"/>
            <a:endCxn id="128" idx="1"/>
          </p:cNvCxnSpPr>
          <p:nvPr/>
        </p:nvCxnSpPr>
        <p:spPr>
          <a:xfrm flipH="1" rot="10800000">
            <a:off x="1607350" y="3913859"/>
            <a:ext cx="21609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1"/>
          <p:cNvSpPr txBox="1"/>
          <p:nvPr/>
        </p:nvSpPr>
        <p:spPr>
          <a:xfrm>
            <a:off x="2097609" y="4259775"/>
            <a:ext cx="13683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Description</a:t>
            </a:r>
            <a:endParaRPr/>
          </a:p>
        </p:txBody>
      </p:sp>
      <p:cxnSp>
        <p:nvCxnSpPr>
          <p:cNvPr id="130" name="Google Shape;130;p21"/>
          <p:cNvCxnSpPr>
            <a:stCxn id="123" idx="3"/>
            <a:endCxn id="129" idx="1"/>
          </p:cNvCxnSpPr>
          <p:nvPr/>
        </p:nvCxnSpPr>
        <p:spPr>
          <a:xfrm>
            <a:off x="1607350" y="4490622"/>
            <a:ext cx="49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1"/>
          <p:cNvSpPr txBox="1"/>
          <p:nvPr/>
        </p:nvSpPr>
        <p:spPr>
          <a:xfrm>
            <a:off x="1351458" y="2725488"/>
            <a:ext cx="100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LLM</a:t>
            </a: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3768209" y="3109250"/>
            <a:ext cx="1368300" cy="461700"/>
          </a:xfrm>
          <a:prstGeom prst="rect">
            <a:avLst/>
          </a:prstGeom>
          <a:noFill/>
          <a:ln cap="flat" cmpd="sng" w="952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133" name="Google Shape;133;p21"/>
          <p:cNvCxnSpPr>
            <a:stCxn id="125" idx="3"/>
            <a:endCxn id="132" idx="1"/>
          </p:cNvCxnSpPr>
          <p:nvPr/>
        </p:nvCxnSpPr>
        <p:spPr>
          <a:xfrm>
            <a:off x="3465909" y="3340100"/>
            <a:ext cx="3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1"/>
          <p:cNvSpPr txBox="1"/>
          <p:nvPr/>
        </p:nvSpPr>
        <p:spPr>
          <a:xfrm>
            <a:off x="2616758" y="2725488"/>
            <a:ext cx="20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SecureBert 2.0</a:t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3768209" y="3683069"/>
            <a:ext cx="1368300" cy="461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Embedding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3768209" y="4259775"/>
            <a:ext cx="1368300" cy="4617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136" name="Google Shape;136;p21"/>
          <p:cNvCxnSpPr>
            <a:stCxn id="129" idx="3"/>
            <a:endCxn id="135" idx="1"/>
          </p:cNvCxnSpPr>
          <p:nvPr/>
        </p:nvCxnSpPr>
        <p:spPr>
          <a:xfrm>
            <a:off x="3465909" y="4490625"/>
            <a:ext cx="3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21"/>
          <p:cNvCxnSpPr>
            <a:stCxn id="132" idx="3"/>
            <a:endCxn id="138" idx="1"/>
          </p:cNvCxnSpPr>
          <p:nvPr/>
        </p:nvCxnSpPr>
        <p:spPr>
          <a:xfrm>
            <a:off x="5136509" y="3340100"/>
            <a:ext cx="525600" cy="5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1"/>
          <p:cNvSpPr txBox="1"/>
          <p:nvPr/>
        </p:nvSpPr>
        <p:spPr>
          <a:xfrm>
            <a:off x="5001283" y="2725500"/>
            <a:ext cx="81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PCA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5662021" y="3684500"/>
            <a:ext cx="1368300" cy="46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Concat</a:t>
            </a:r>
            <a:endParaRPr/>
          </a:p>
        </p:txBody>
      </p:sp>
      <p:cxnSp>
        <p:nvCxnSpPr>
          <p:cNvPr id="140" name="Google Shape;140;p21"/>
          <p:cNvCxnSpPr>
            <a:stCxn id="128" idx="3"/>
            <a:endCxn id="138" idx="1"/>
          </p:cNvCxnSpPr>
          <p:nvPr/>
        </p:nvCxnSpPr>
        <p:spPr>
          <a:xfrm>
            <a:off x="5136509" y="3913919"/>
            <a:ext cx="525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1"/>
          <p:cNvCxnSpPr>
            <a:stCxn id="135" idx="3"/>
            <a:endCxn id="138" idx="1"/>
          </p:cNvCxnSpPr>
          <p:nvPr/>
        </p:nvCxnSpPr>
        <p:spPr>
          <a:xfrm flipH="1" rot="10800000">
            <a:off x="5136509" y="3915225"/>
            <a:ext cx="525600" cy="5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1"/>
          <p:cNvSpPr txBox="1"/>
          <p:nvPr/>
        </p:nvSpPr>
        <p:spPr>
          <a:xfrm>
            <a:off x="7424596" y="3525211"/>
            <a:ext cx="1368300" cy="780300"/>
          </a:xfrm>
          <a:prstGeom prst="rect">
            <a:avLst/>
          </a:prstGeom>
          <a:noFill/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Event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Embedding</a:t>
            </a:r>
            <a:endParaRPr/>
          </a:p>
        </p:txBody>
      </p:sp>
      <p:cxnSp>
        <p:nvCxnSpPr>
          <p:cNvPr id="143" name="Google Shape;143;p21"/>
          <p:cNvCxnSpPr>
            <a:stCxn id="138" idx="3"/>
            <a:endCxn id="142" idx="1"/>
          </p:cNvCxnSpPr>
          <p:nvPr/>
        </p:nvCxnSpPr>
        <p:spPr>
          <a:xfrm>
            <a:off x="7030321" y="3915350"/>
            <a:ext cx="394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592934" y="3895012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16</a:t>
            </a:r>
            <a:endParaRPr sz="1200"/>
          </a:p>
        </p:txBody>
      </p:sp>
      <p:sp>
        <p:nvSpPr>
          <p:cNvPr id="146" name="Google Shape;146;p21"/>
          <p:cNvSpPr txBox="1"/>
          <p:nvPr/>
        </p:nvSpPr>
        <p:spPr>
          <a:xfrm>
            <a:off x="4561533" y="4477792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256</a:t>
            </a:r>
            <a:endParaRPr sz="1200"/>
          </a:p>
        </p:txBody>
      </p:sp>
      <p:sp>
        <p:nvSpPr>
          <p:cNvPr id="147" name="Google Shape;147;p21"/>
          <p:cNvSpPr txBox="1"/>
          <p:nvPr/>
        </p:nvSpPr>
        <p:spPr>
          <a:xfrm>
            <a:off x="4561533" y="3334838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256</a:t>
            </a:r>
            <a:endParaRPr sz="1200"/>
          </a:p>
        </p:txBody>
      </p:sp>
      <p:sp>
        <p:nvSpPr>
          <p:cNvPr id="148" name="Google Shape;148;p21"/>
          <p:cNvSpPr txBox="1"/>
          <p:nvPr/>
        </p:nvSpPr>
        <p:spPr>
          <a:xfrm>
            <a:off x="6434294" y="3885836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528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162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PCA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245550" y="922200"/>
            <a:ext cx="86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PCA選擇維度的依據是完全依賴變異數（Variance）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透過Eigen value的大小評估哪些維度的重要性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透過Eigen vector去分析每個維度的意義 (Securebert2.0的維度太抽象無法用此方法)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可以透過 Elbow Method 在 Scree Plot 找出最適合的PCA維度，在考量效率與資訊豐富度的情下找到最適合的維度。(每次跑新的dataset都要重新評估，後續架構也要重新fine-tune)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25" y="2852196"/>
            <a:ext cx="3055400" cy="2204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8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settings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165750" y="505050"/>
            <a:ext cx="8978400" cy="4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lang="zh-TW" sz="1360">
                <a:solidFill>
                  <a:schemeClr val="dk1"/>
                </a:solidFill>
              </a:rPr>
              <a:t>LMs</a:t>
            </a:r>
            <a:endParaRPr b="1" sz="136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Mistral-7B-Instruct-v0.3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Llama-3.1-8B-Instruct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Qwen2.5-7B-Instruct</a:t>
            </a:r>
            <a:endParaRPr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b="1" lang="zh-TW" sz="1360">
                <a:solidFill>
                  <a:schemeClr val="dk1"/>
                </a:solidFill>
              </a:rPr>
              <a:t>Prompt:</a:t>
            </a:r>
            <a:endParaRPr b="1" sz="136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You are a Windows process knowledge base. Given an image path of an executable (e.g. \"C:\\\\Windows\\\\System32\\\\cmd.exe", "C:\\\\Program Files\\\\Google\\\\Chrome\\\\Application\\\\chrome.exe",), output a JSON description of what that executable generally is in Windows.</a:t>
            </a:r>
            <a:endParaRPr sz="1200">
              <a:solidFill>
                <a:schemeClr val="dk1"/>
              </a:solidFill>
            </a:endParaRPr>
          </a:p>
          <a:p>
            <a:pPr indent="-30353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"/>
              <a:buChar char="○"/>
            </a:pPr>
            <a:r>
              <a:rPr lang="zh-TW" sz="1200">
                <a:solidFill>
                  <a:schemeClr val="dk1"/>
                </a:solidFill>
              </a:rPr>
              <a:t>Use only widely documented knowledge of the executable, plus what the filesystem location implies (e.g. "System32" = OS binary, "Program Files" = installed application, "AppData" = user-installed component). Use neutral, factual language describing what the program is and what it standardly does. For unknown \executables, describe them as generic user-mode applications without inventing details.</a:t>
            </a:r>
            <a:br>
              <a:rPr lang="zh-TW" sz="1180">
                <a:solidFill>
                  <a:schemeClr val="dk1"/>
                </a:solidFill>
              </a:rPr>
            </a:br>
            <a:endParaRPr sz="118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Hard rules: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R1  Use only documented background knowledge. State what the program   is and what it standardly does.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R2  Use concrete technical vocabulary (e.g. "loads service DLLs",    "renders web content", "interprets .ps1 scripts").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R3  Stay neutral and present-tense factual. Avoid the words   "suspicious", "malicious", "benign", "anomalous", "attack",    "legitimate", "might", "could", "may", "possibly".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zh-TW" sz="1200">
                <a:solidFill>
                  <a:schemeClr val="dk1"/>
                </a:solidFill>
              </a:rPr>
              <a:t>R4  Output exactly ONE valid JSON object matching the schema. No markdown, no commentary, no text outside the JSON.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406200" y="312100"/>
            <a:ext cx="789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</a:t>
            </a:r>
            <a:r>
              <a:rPr lang="zh-TW"/>
              <a:t>relation </a:t>
            </a:r>
            <a:r>
              <a:rPr lang="zh-TW"/>
              <a:t>mapping - ETW(32)</a:t>
            </a:r>
            <a:r>
              <a:rPr lang="zh-TW"/>
              <a:t> - KELLECT4APT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053" y="1389875"/>
            <a:ext cx="6733899" cy="2363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164050" y="130875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- TTP detection</a:t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2108704" y="703575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177" name="Google Shape;177;p25"/>
          <p:cNvSpPr/>
          <p:nvPr/>
        </p:nvSpPr>
        <p:spPr>
          <a:xfrm>
            <a:off x="2108704" y="3571788"/>
            <a:ext cx="1538100" cy="572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</a:t>
            </a:r>
            <a:endParaRPr/>
          </a:p>
        </p:txBody>
      </p:sp>
      <p:cxnSp>
        <p:nvCxnSpPr>
          <p:cNvPr id="178" name="Google Shape;178;p25"/>
          <p:cNvCxnSpPr>
            <a:stCxn id="176" idx="2"/>
            <a:endCxn id="179" idx="0"/>
          </p:cNvCxnSpPr>
          <p:nvPr/>
        </p:nvCxnSpPr>
        <p:spPr>
          <a:xfrm>
            <a:off x="2877754" y="1161675"/>
            <a:ext cx="0" cy="5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" name="Google Shape;180;p25"/>
          <p:cNvSpPr/>
          <p:nvPr/>
        </p:nvSpPr>
        <p:spPr>
          <a:xfrm>
            <a:off x="2108704" y="4399500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LayerNorm</a:t>
            </a:r>
            <a:endParaRPr/>
          </a:p>
        </p:txBody>
      </p:sp>
      <p:cxnSp>
        <p:nvCxnSpPr>
          <p:cNvPr id="181" name="Google Shape;181;p25"/>
          <p:cNvCxnSpPr>
            <a:stCxn id="177" idx="2"/>
            <a:endCxn id="180" idx="0"/>
          </p:cNvCxnSpPr>
          <p:nvPr/>
        </p:nvCxnSpPr>
        <p:spPr>
          <a:xfrm>
            <a:off x="2877754" y="4144488"/>
            <a:ext cx="0" cy="25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5"/>
          <p:cNvCxnSpPr/>
          <p:nvPr/>
        </p:nvCxnSpPr>
        <p:spPr>
          <a:xfrm>
            <a:off x="4924529" y="2435225"/>
            <a:ext cx="0" cy="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3" name="Google Shape;183;p25"/>
          <p:cNvGrpSpPr/>
          <p:nvPr/>
        </p:nvGrpSpPr>
        <p:grpSpPr>
          <a:xfrm>
            <a:off x="5422782" y="-1"/>
            <a:ext cx="3793266" cy="1533357"/>
            <a:chOff x="849589" y="3063102"/>
            <a:chExt cx="4407188" cy="1781523"/>
          </a:xfrm>
        </p:grpSpPr>
        <p:grpSp>
          <p:nvGrpSpPr>
            <p:cNvPr id="184" name="Google Shape;184;p25"/>
            <p:cNvGrpSpPr/>
            <p:nvPr/>
          </p:nvGrpSpPr>
          <p:grpSpPr>
            <a:xfrm>
              <a:off x="849589" y="3066225"/>
              <a:ext cx="4078200" cy="1778400"/>
              <a:chOff x="355113" y="3066225"/>
              <a:chExt cx="4078200" cy="1778400"/>
            </a:xfrm>
          </p:grpSpPr>
          <p:sp>
            <p:nvSpPr>
              <p:cNvPr id="185" name="Google Shape;185;p25"/>
              <p:cNvSpPr/>
              <p:nvPr/>
            </p:nvSpPr>
            <p:spPr>
              <a:xfrm>
                <a:off x="355113" y="3066225"/>
                <a:ext cx="4078200" cy="1778400"/>
              </a:xfrm>
              <a:prstGeom prst="rect">
                <a:avLst/>
              </a:prstGeom>
              <a:solidFill>
                <a:srgbClr val="FCE5CD"/>
              </a:solidFill>
              <a:ln cap="flat" cmpd="sng" w="8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78675" lIns="78675" spcFirstLastPara="1" rIns="78675" wrap="square" tIns="78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5"/>
                  <a:t>Attention Module</a:t>
                </a:r>
                <a:endParaRPr sz="1205"/>
              </a:p>
            </p:txBody>
          </p:sp>
          <p:sp>
            <p:nvSpPr>
              <p:cNvPr id="186" name="Google Shape;186;p25"/>
              <p:cNvSpPr/>
              <p:nvPr/>
            </p:nvSpPr>
            <p:spPr>
              <a:xfrm>
                <a:off x="498013" y="3382725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8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8675" lIns="78675" spcFirstLastPara="1" rIns="78675" wrap="square" tIns="78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5"/>
                  <a:t>Multi-head attention</a:t>
                </a:r>
                <a:endParaRPr sz="1205"/>
              </a:p>
            </p:txBody>
          </p:sp>
          <p:sp>
            <p:nvSpPr>
              <p:cNvPr id="187" name="Google Shape;187;p25"/>
              <p:cNvSpPr/>
              <p:nvPr/>
            </p:nvSpPr>
            <p:spPr>
              <a:xfrm>
                <a:off x="498000" y="4147800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8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8675" lIns="78675" spcFirstLastPara="1" rIns="78675" wrap="square" tIns="78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5"/>
                  <a:t>Residual + LayerNorm</a:t>
                </a:r>
                <a:endParaRPr sz="1205"/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2494063" y="3382725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8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8675" lIns="78675" spcFirstLastPara="1" rIns="78675" wrap="square" tIns="78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5"/>
                  <a:t>FFN</a:t>
                </a:r>
                <a:endParaRPr sz="1205"/>
              </a:p>
            </p:txBody>
          </p:sp>
          <p:sp>
            <p:nvSpPr>
              <p:cNvPr id="189" name="Google Shape;189;p25"/>
              <p:cNvSpPr/>
              <p:nvPr/>
            </p:nvSpPr>
            <p:spPr>
              <a:xfrm>
                <a:off x="2494038" y="4147800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82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8675" lIns="78675" spcFirstLastPara="1" rIns="78675" wrap="square" tIns="786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5">
                    <a:solidFill>
                      <a:schemeClr val="dk1"/>
                    </a:solidFill>
                  </a:rPr>
                  <a:t>Residual + LayerNorm</a:t>
                </a:r>
                <a:endParaRPr sz="1205"/>
              </a:p>
            </p:txBody>
          </p:sp>
          <p:cxnSp>
            <p:nvCxnSpPr>
              <p:cNvPr id="190" name="Google Shape;190;p25"/>
              <p:cNvCxnSpPr>
                <a:stCxn id="186" idx="2"/>
                <a:endCxn id="187" idx="0"/>
              </p:cNvCxnSpPr>
              <p:nvPr/>
            </p:nvCxnSpPr>
            <p:spPr>
              <a:xfrm>
                <a:off x="1424563" y="3955425"/>
                <a:ext cx="0" cy="192300"/>
              </a:xfrm>
              <a:prstGeom prst="straightConnector1">
                <a:avLst/>
              </a:prstGeom>
              <a:noFill/>
              <a:ln cap="flat" cmpd="sng" w="82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1" name="Google Shape;191;p25"/>
              <p:cNvCxnSpPr>
                <a:stCxn id="187" idx="3"/>
                <a:endCxn id="188" idx="1"/>
              </p:cNvCxnSpPr>
              <p:nvPr/>
            </p:nvCxnSpPr>
            <p:spPr>
              <a:xfrm flipH="1" rot="10800000">
                <a:off x="2351100" y="3669150"/>
                <a:ext cx="143100" cy="765000"/>
              </a:xfrm>
              <a:prstGeom prst="straightConnector1">
                <a:avLst/>
              </a:prstGeom>
              <a:noFill/>
              <a:ln cap="flat" cmpd="sng" w="82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92" name="Google Shape;192;p25"/>
              <p:cNvCxnSpPr>
                <a:stCxn id="188" idx="2"/>
                <a:endCxn id="189" idx="0"/>
              </p:cNvCxnSpPr>
              <p:nvPr/>
            </p:nvCxnSpPr>
            <p:spPr>
              <a:xfrm>
                <a:off x="3420613" y="3955425"/>
                <a:ext cx="0" cy="192300"/>
              </a:xfrm>
              <a:prstGeom prst="straightConnector1">
                <a:avLst/>
              </a:prstGeom>
              <a:noFill/>
              <a:ln cap="flat" cmpd="sng" w="82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93" name="Google Shape;193;p25"/>
            <p:cNvSpPr txBox="1"/>
            <p:nvPr/>
          </p:nvSpPr>
          <p:spPr>
            <a:xfrm>
              <a:off x="4265576" y="3063102"/>
              <a:ext cx="99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8675" lIns="78675" spcFirstLastPara="1" rIns="78675" wrap="square" tIns="786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5">
                  <a:solidFill>
                    <a:schemeClr val="dk1"/>
                  </a:solidFill>
                </a:rPr>
                <a:t>*2</a:t>
              </a:r>
              <a:endParaRPr sz="1205"/>
            </a:p>
          </p:txBody>
        </p:sp>
      </p:grpSp>
      <p:sp>
        <p:nvSpPr>
          <p:cNvPr id="194" name="Google Shape;194;p25"/>
          <p:cNvSpPr/>
          <p:nvPr/>
        </p:nvSpPr>
        <p:spPr>
          <a:xfrm>
            <a:off x="6823093" y="2191539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LayerNorm</a:t>
            </a:r>
            <a:endParaRPr/>
          </a:p>
        </p:txBody>
      </p:sp>
      <p:cxnSp>
        <p:nvCxnSpPr>
          <p:cNvPr id="195" name="Google Shape;195;p25"/>
          <p:cNvCxnSpPr>
            <a:stCxn id="180" idx="3"/>
          </p:cNvCxnSpPr>
          <p:nvPr/>
        </p:nvCxnSpPr>
        <p:spPr>
          <a:xfrm flipH="1" rot="10800000">
            <a:off x="3646804" y="1546050"/>
            <a:ext cx="2521500" cy="3082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5"/>
          <p:cNvSpPr/>
          <p:nvPr/>
        </p:nvSpPr>
        <p:spPr>
          <a:xfrm>
            <a:off x="6823093" y="2931714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197" name="Google Shape;197;p25"/>
          <p:cNvCxnSpPr>
            <a:stCxn id="194" idx="2"/>
            <a:endCxn id="196" idx="0"/>
          </p:cNvCxnSpPr>
          <p:nvPr/>
        </p:nvCxnSpPr>
        <p:spPr>
          <a:xfrm>
            <a:off x="7592143" y="2649639"/>
            <a:ext cx="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5"/>
          <p:cNvSpPr/>
          <p:nvPr/>
        </p:nvSpPr>
        <p:spPr>
          <a:xfrm>
            <a:off x="6823093" y="3671889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CRF</a:t>
            </a:r>
            <a:endParaRPr/>
          </a:p>
        </p:txBody>
      </p:sp>
      <p:cxnSp>
        <p:nvCxnSpPr>
          <p:cNvPr id="199" name="Google Shape;199;p25"/>
          <p:cNvCxnSpPr>
            <a:stCxn id="196" idx="2"/>
            <a:endCxn id="198" idx="0"/>
          </p:cNvCxnSpPr>
          <p:nvPr/>
        </p:nvCxnSpPr>
        <p:spPr>
          <a:xfrm>
            <a:off x="7592143" y="3389814"/>
            <a:ext cx="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5"/>
          <p:cNvCxnSpPr>
            <a:stCxn id="198" idx="2"/>
            <a:endCxn id="201" idx="0"/>
          </p:cNvCxnSpPr>
          <p:nvPr/>
        </p:nvCxnSpPr>
        <p:spPr>
          <a:xfrm>
            <a:off x="7592143" y="4129989"/>
            <a:ext cx="0" cy="3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25"/>
          <p:cNvSpPr/>
          <p:nvPr/>
        </p:nvSpPr>
        <p:spPr>
          <a:xfrm>
            <a:off x="6823093" y="4492989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sequence</a:t>
            </a:r>
            <a:endParaRPr/>
          </a:p>
        </p:txBody>
      </p:sp>
      <p:sp>
        <p:nvSpPr>
          <p:cNvPr id="202" name="Google Shape;202;p25"/>
          <p:cNvSpPr txBox="1"/>
          <p:nvPr/>
        </p:nvSpPr>
        <p:spPr>
          <a:xfrm>
            <a:off x="854250" y="3804850"/>
            <a:ext cx="11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2L, 128H </a:t>
            </a:r>
            <a:endParaRPr/>
          </a:p>
        </p:txBody>
      </p:sp>
      <p:sp>
        <p:nvSpPr>
          <p:cNvPr id="203" name="Google Shape;203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25"/>
          <p:cNvGrpSpPr/>
          <p:nvPr/>
        </p:nvGrpSpPr>
        <p:grpSpPr>
          <a:xfrm>
            <a:off x="361500" y="1664093"/>
            <a:ext cx="5032500" cy="1580519"/>
            <a:chOff x="372475" y="3138405"/>
            <a:chExt cx="5032500" cy="1580519"/>
          </a:xfrm>
        </p:grpSpPr>
        <p:grpSp>
          <p:nvGrpSpPr>
            <p:cNvPr id="205" name="Google Shape;205;p25"/>
            <p:cNvGrpSpPr/>
            <p:nvPr/>
          </p:nvGrpSpPr>
          <p:grpSpPr>
            <a:xfrm>
              <a:off x="372475" y="3138405"/>
              <a:ext cx="5032500" cy="1580519"/>
              <a:chOff x="549625" y="3138250"/>
              <a:chExt cx="5032500" cy="1397700"/>
            </a:xfrm>
          </p:grpSpPr>
          <p:sp>
            <p:nvSpPr>
              <p:cNvPr id="179" name="Google Shape;179;p25"/>
              <p:cNvSpPr/>
              <p:nvPr/>
            </p:nvSpPr>
            <p:spPr>
              <a:xfrm>
                <a:off x="549625" y="3138250"/>
                <a:ext cx="5032500" cy="1397700"/>
              </a:xfrm>
              <a:prstGeom prst="rect">
                <a:avLst/>
              </a:prstGeom>
              <a:solidFill>
                <a:srgbClr val="B6D7A8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Multi-Chunks</a:t>
                </a:r>
                <a:endParaRPr/>
              </a:p>
            </p:txBody>
          </p:sp>
          <p:sp>
            <p:nvSpPr>
              <p:cNvPr id="206" name="Google Shape;206;p25"/>
              <p:cNvSpPr/>
              <p:nvPr/>
            </p:nvSpPr>
            <p:spPr>
              <a:xfrm>
                <a:off x="634354" y="3489180"/>
                <a:ext cx="1538100" cy="4581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>
                    <a:solidFill>
                      <a:schemeClr val="dk1"/>
                    </a:solidFill>
                  </a:rPr>
                  <a:t>Target Chunks</a:t>
                </a:r>
                <a:endParaRPr/>
              </a:p>
            </p:txBody>
          </p:sp>
          <p:sp>
            <p:nvSpPr>
              <p:cNvPr id="207" name="Google Shape;207;p25"/>
              <p:cNvSpPr/>
              <p:nvPr/>
            </p:nvSpPr>
            <p:spPr>
              <a:xfrm>
                <a:off x="2282629" y="3489175"/>
                <a:ext cx="1538100" cy="4581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>
                    <a:solidFill>
                      <a:schemeClr val="dk1"/>
                    </a:solidFill>
                  </a:rPr>
                  <a:t>Context Chunks</a:t>
                </a:r>
                <a:endParaRPr/>
              </a:p>
            </p:txBody>
          </p:sp>
          <p:sp>
            <p:nvSpPr>
              <p:cNvPr id="208" name="Google Shape;208;p25"/>
              <p:cNvSpPr/>
              <p:nvPr/>
            </p:nvSpPr>
            <p:spPr>
              <a:xfrm>
                <a:off x="3930904" y="3489180"/>
                <a:ext cx="1538100" cy="4581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>
                    <a:solidFill>
                      <a:schemeClr val="dk1"/>
                    </a:solidFill>
                  </a:rPr>
                  <a:t>Scale Chunks</a:t>
                </a:r>
                <a:endParaRPr/>
              </a:p>
            </p:txBody>
          </p:sp>
        </p:grpSp>
        <p:sp>
          <p:nvSpPr>
            <p:cNvPr id="209" name="Google Shape;209;p25"/>
            <p:cNvSpPr txBox="1"/>
            <p:nvPr/>
          </p:nvSpPr>
          <p:spPr>
            <a:xfrm>
              <a:off x="638250" y="4140950"/>
              <a:ext cx="110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主要chunk </a:t>
              </a:r>
              <a:endParaRPr/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2334925" y="4122375"/>
              <a:ext cx="110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前後chunk </a:t>
              </a:r>
              <a:endParaRPr/>
            </a:p>
          </p:txBody>
        </p:sp>
        <p:sp>
          <p:nvSpPr>
            <p:cNvPr id="211" name="Google Shape;211;p25"/>
            <p:cNvSpPr txBox="1"/>
            <p:nvPr/>
          </p:nvSpPr>
          <p:spPr>
            <a:xfrm>
              <a:off x="3786125" y="4122375"/>
              <a:ext cx="145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前後chunk補充</a:t>
              </a:r>
              <a:endParaRPr/>
            </a:p>
          </p:txBody>
        </p:sp>
      </p:grpSp>
      <p:cxnSp>
        <p:nvCxnSpPr>
          <p:cNvPr id="212" name="Google Shape;212;p25"/>
          <p:cNvCxnSpPr/>
          <p:nvPr/>
        </p:nvCxnSpPr>
        <p:spPr>
          <a:xfrm>
            <a:off x="7585525" y="1524575"/>
            <a:ext cx="7500" cy="67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214" name="Google Shape;214;p25"/>
          <p:cNvCxnSpPr>
            <a:stCxn id="179" idx="2"/>
            <a:endCxn id="177" idx="0"/>
          </p:cNvCxnSpPr>
          <p:nvPr/>
        </p:nvCxnSpPr>
        <p:spPr>
          <a:xfrm>
            <a:off x="2877750" y="3244612"/>
            <a:ext cx="0" cy="3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406200" y="312100"/>
            <a:ext cx="74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</a:t>
            </a:r>
            <a:r>
              <a:rPr lang="zh-TW"/>
              <a:t>relation </a:t>
            </a:r>
            <a:r>
              <a:rPr lang="zh-TW"/>
              <a:t>mapping - Procmon(53) - SAGA</a:t>
            </a:r>
            <a:endParaRPr/>
          </a:p>
        </p:txBody>
      </p:sp>
      <p:sp>
        <p:nvSpPr>
          <p:cNvPr id="220" name="Google Shape;22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1" name="Google Shape;2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375" y="901725"/>
            <a:ext cx="6761249" cy="3340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7"/>
          <p:cNvGrpSpPr/>
          <p:nvPr/>
        </p:nvGrpSpPr>
        <p:grpSpPr>
          <a:xfrm>
            <a:off x="1724700" y="613050"/>
            <a:ext cx="2676461" cy="1807800"/>
            <a:chOff x="1744375" y="899100"/>
            <a:chExt cx="2676461" cy="1807800"/>
          </a:xfrm>
        </p:grpSpPr>
        <p:sp>
          <p:nvSpPr>
            <p:cNvPr id="227" name="Google Shape;227;p27"/>
            <p:cNvSpPr/>
            <p:nvPr/>
          </p:nvSpPr>
          <p:spPr>
            <a:xfrm>
              <a:off x="1744375" y="899100"/>
              <a:ext cx="2626200" cy="18078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Prototype Encoder</a:t>
              </a:r>
              <a:endParaRPr/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2098075" y="1239365"/>
              <a:ext cx="1876800" cy="458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Self-Attention</a:t>
              </a:r>
              <a:endParaRPr/>
            </a:p>
          </p:txBody>
        </p:sp>
        <p:sp>
          <p:nvSpPr>
            <p:cNvPr id="229" name="Google Shape;229;p27"/>
            <p:cNvSpPr txBox="1"/>
            <p:nvPr/>
          </p:nvSpPr>
          <p:spPr>
            <a:xfrm>
              <a:off x="3234336" y="2275582"/>
              <a:ext cx="1186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</a:rPr>
                <a:t>prototypes</a:t>
              </a:r>
              <a:endParaRPr sz="1600"/>
            </a:p>
          </p:txBody>
        </p:sp>
        <p:sp>
          <p:nvSpPr>
            <p:cNvPr id="230" name="Google Shape;230;p27"/>
            <p:cNvSpPr txBox="1"/>
            <p:nvPr/>
          </p:nvSpPr>
          <p:spPr>
            <a:xfrm>
              <a:off x="3832805" y="1598414"/>
              <a:ext cx="548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</a:rPr>
                <a:t>h1</a:t>
              </a:r>
              <a:endParaRPr/>
            </a:p>
          </p:txBody>
        </p:sp>
        <p:cxnSp>
          <p:nvCxnSpPr>
            <p:cNvPr id="231" name="Google Shape;231;p27"/>
            <p:cNvCxnSpPr>
              <a:endCxn id="232" idx="0"/>
            </p:cNvCxnSpPr>
            <p:nvPr/>
          </p:nvCxnSpPr>
          <p:spPr>
            <a:xfrm>
              <a:off x="3024624" y="1697413"/>
              <a:ext cx="0" cy="23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2" name="Google Shape;232;p27"/>
            <p:cNvSpPr/>
            <p:nvPr/>
          </p:nvSpPr>
          <p:spPr>
            <a:xfrm>
              <a:off x="2086224" y="1930513"/>
              <a:ext cx="1876800" cy="4002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PrototypeEncoder </a:t>
              </a:r>
              <a:endParaRPr/>
            </a:p>
          </p:txBody>
        </p:sp>
        <p:cxnSp>
          <p:nvCxnSpPr>
            <p:cNvPr id="233" name="Google Shape;233;p27"/>
            <p:cNvCxnSpPr>
              <a:stCxn id="232" idx="2"/>
              <a:endCxn id="229" idx="1"/>
            </p:cNvCxnSpPr>
            <p:nvPr/>
          </p:nvCxnSpPr>
          <p:spPr>
            <a:xfrm flipH="1" rot="-5400000">
              <a:off x="3049224" y="2306113"/>
              <a:ext cx="160500" cy="209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4" name="Google Shape;234;p27"/>
          <p:cNvSpPr txBox="1"/>
          <p:nvPr/>
        </p:nvSpPr>
        <p:spPr>
          <a:xfrm>
            <a:off x="290519" y="4648546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</a:t>
            </a:r>
            <a:r>
              <a:rPr lang="zh-TW"/>
              <a:t>ᵢ</a:t>
            </a:r>
            <a:endParaRPr/>
          </a:p>
        </p:txBody>
      </p:sp>
      <p:cxnSp>
        <p:nvCxnSpPr>
          <p:cNvPr id="235" name="Google Shape;235;p27"/>
          <p:cNvCxnSpPr>
            <a:stCxn id="236" idx="2"/>
          </p:cNvCxnSpPr>
          <p:nvPr/>
        </p:nvCxnSpPr>
        <p:spPr>
          <a:xfrm flipH="1" rot="-5400000">
            <a:off x="1295404" y="4107919"/>
            <a:ext cx="372900" cy="12852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7" name="Google Shape;237;p27"/>
          <p:cNvGrpSpPr/>
          <p:nvPr/>
        </p:nvGrpSpPr>
        <p:grpSpPr>
          <a:xfrm>
            <a:off x="1744375" y="2810195"/>
            <a:ext cx="2626200" cy="1754100"/>
            <a:chOff x="1744375" y="2881632"/>
            <a:chExt cx="2626200" cy="1754100"/>
          </a:xfrm>
        </p:grpSpPr>
        <p:sp>
          <p:nvSpPr>
            <p:cNvPr id="238" name="Google Shape;238;p27"/>
            <p:cNvSpPr/>
            <p:nvPr/>
          </p:nvSpPr>
          <p:spPr>
            <a:xfrm>
              <a:off x="1744375" y="2881632"/>
              <a:ext cx="2626200" cy="17541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Siamese Network</a:t>
              </a:r>
              <a:endParaRPr/>
            </a:p>
          </p:txBody>
        </p:sp>
        <p:sp>
          <p:nvSpPr>
            <p:cNvPr id="239" name="Google Shape;239;p27"/>
            <p:cNvSpPr txBox="1"/>
            <p:nvPr/>
          </p:nvSpPr>
          <p:spPr>
            <a:xfrm>
              <a:off x="3156719" y="3635680"/>
              <a:ext cx="548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</a:rPr>
                <a:t>h1’</a:t>
              </a:r>
              <a:endParaRPr/>
            </a:p>
          </p:txBody>
        </p:sp>
        <p:cxnSp>
          <p:nvCxnSpPr>
            <p:cNvPr id="240" name="Google Shape;240;p27"/>
            <p:cNvCxnSpPr>
              <a:stCxn id="241" idx="2"/>
              <a:endCxn id="242" idx="0"/>
            </p:cNvCxnSpPr>
            <p:nvPr/>
          </p:nvCxnSpPr>
          <p:spPr>
            <a:xfrm flipH="1">
              <a:off x="3029875" y="3680007"/>
              <a:ext cx="6600" cy="331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2" name="Google Shape;242;p27"/>
            <p:cNvSpPr/>
            <p:nvPr/>
          </p:nvSpPr>
          <p:spPr>
            <a:xfrm>
              <a:off x="2091358" y="4011427"/>
              <a:ext cx="1876800" cy="458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Distance Function</a:t>
              </a: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2098075" y="3221907"/>
              <a:ext cx="1876800" cy="458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Self-Attention</a:t>
              </a:r>
              <a:endParaRPr/>
            </a:p>
          </p:txBody>
        </p:sp>
        <p:sp>
          <p:nvSpPr>
            <p:cNvPr id="243" name="Google Shape;243;p27"/>
            <p:cNvSpPr txBox="1"/>
            <p:nvPr/>
          </p:nvSpPr>
          <p:spPr>
            <a:xfrm>
              <a:off x="2366580" y="3635783"/>
              <a:ext cx="548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>
                  <a:solidFill>
                    <a:schemeClr val="dk1"/>
                  </a:solidFill>
                </a:rPr>
                <a:t>h1</a:t>
              </a:r>
              <a:endParaRPr/>
            </a:p>
          </p:txBody>
        </p:sp>
      </p:grpSp>
      <p:sp>
        <p:nvSpPr>
          <p:cNvPr id="244" name="Google Shape;244;p27"/>
          <p:cNvSpPr txBox="1"/>
          <p:nvPr>
            <p:ph type="title"/>
          </p:nvPr>
        </p:nvSpPr>
        <p:spPr>
          <a:xfrm>
            <a:off x="164050" y="-12650"/>
            <a:ext cx="97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</a:t>
            </a:r>
            <a:r>
              <a:rPr lang="zh-TW"/>
              <a:t> - Prototype Encoder vs Siamese Network</a:t>
            </a:r>
            <a:endParaRPr/>
          </a:p>
        </p:txBody>
      </p:sp>
      <p:sp>
        <p:nvSpPr>
          <p:cNvPr id="245" name="Google Shape;245;p27"/>
          <p:cNvSpPr/>
          <p:nvPr/>
        </p:nvSpPr>
        <p:spPr>
          <a:xfrm>
            <a:off x="70204" y="2420847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4909375" y="1460547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247" name="Google Shape;247;p27"/>
          <p:cNvCxnSpPr>
            <a:stCxn id="246" idx="3"/>
            <a:endCxn id="248" idx="1"/>
          </p:cNvCxnSpPr>
          <p:nvPr/>
        </p:nvCxnSpPr>
        <p:spPr>
          <a:xfrm>
            <a:off x="5700475" y="1689597"/>
            <a:ext cx="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27"/>
          <p:cNvSpPr/>
          <p:nvPr/>
        </p:nvSpPr>
        <p:spPr>
          <a:xfrm>
            <a:off x="5962325" y="1460547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7151775" y="1460547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250" name="Google Shape;250;p27"/>
          <p:cNvCxnSpPr>
            <a:stCxn id="248" idx="3"/>
            <a:endCxn id="249" idx="1"/>
          </p:cNvCxnSpPr>
          <p:nvPr/>
        </p:nvCxnSpPr>
        <p:spPr>
          <a:xfrm>
            <a:off x="6889925" y="1689597"/>
            <a:ext cx="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9487125" y="3722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253" name="Google Shape;253;p27"/>
          <p:cNvCxnSpPr>
            <a:endCxn id="246" idx="1"/>
          </p:cNvCxnSpPr>
          <p:nvPr/>
        </p:nvCxnSpPr>
        <p:spPr>
          <a:xfrm flipH="1" rot="10800000">
            <a:off x="4276675" y="1689597"/>
            <a:ext cx="632700" cy="5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7"/>
          <p:cNvCxnSpPr>
            <a:stCxn id="245" idx="2"/>
            <a:endCxn id="241" idx="1"/>
          </p:cNvCxnSpPr>
          <p:nvPr/>
        </p:nvCxnSpPr>
        <p:spPr>
          <a:xfrm>
            <a:off x="839254" y="2878947"/>
            <a:ext cx="1258800" cy="5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7"/>
          <p:cNvSpPr/>
          <p:nvPr/>
        </p:nvSpPr>
        <p:spPr>
          <a:xfrm>
            <a:off x="4795450" y="3446675"/>
            <a:ext cx="905100" cy="458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Distance</a:t>
            </a:r>
            <a:endParaRPr/>
          </a:p>
        </p:txBody>
      </p:sp>
      <p:cxnSp>
        <p:nvCxnSpPr>
          <p:cNvPr id="256" name="Google Shape;256;p27"/>
          <p:cNvCxnSpPr>
            <a:stCxn id="255" idx="3"/>
            <a:endCxn id="257" idx="1"/>
          </p:cNvCxnSpPr>
          <p:nvPr/>
        </p:nvCxnSpPr>
        <p:spPr>
          <a:xfrm>
            <a:off x="5700550" y="3675725"/>
            <a:ext cx="35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p27"/>
          <p:cNvSpPr/>
          <p:nvPr/>
        </p:nvSpPr>
        <p:spPr>
          <a:xfrm>
            <a:off x="6053875" y="3446672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258" name="Google Shape;258;p27"/>
          <p:cNvCxnSpPr>
            <a:stCxn id="242" idx="3"/>
            <a:endCxn id="255" idx="1"/>
          </p:cNvCxnSpPr>
          <p:nvPr/>
        </p:nvCxnSpPr>
        <p:spPr>
          <a:xfrm flipH="1" rot="10800000">
            <a:off x="3968158" y="3675839"/>
            <a:ext cx="827400" cy="49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9" name="Google Shape;259;p27"/>
          <p:cNvGrpSpPr/>
          <p:nvPr/>
        </p:nvGrpSpPr>
        <p:grpSpPr>
          <a:xfrm>
            <a:off x="7065950" y="4105975"/>
            <a:ext cx="1761900" cy="615600"/>
            <a:chOff x="6591025" y="4184550"/>
            <a:chExt cx="1761900" cy="615600"/>
          </a:xfrm>
        </p:grpSpPr>
        <p:sp>
          <p:nvSpPr>
            <p:cNvPr id="260" name="Google Shape;260;p27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261" name="Google Shape;261;p27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6" name="Google Shape;236;p27"/>
          <p:cNvSpPr/>
          <p:nvPr/>
        </p:nvSpPr>
        <p:spPr>
          <a:xfrm>
            <a:off x="70204" y="4105969"/>
            <a:ext cx="1538100" cy="4581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Test embedding</a:t>
            </a:r>
            <a:endParaRPr/>
          </a:p>
        </p:txBody>
      </p:sp>
      <p:cxnSp>
        <p:nvCxnSpPr>
          <p:cNvPr id="263" name="Google Shape;263;p27"/>
          <p:cNvCxnSpPr>
            <a:stCxn id="245" idx="0"/>
            <a:endCxn id="228" idx="1"/>
          </p:cNvCxnSpPr>
          <p:nvPr/>
        </p:nvCxnSpPr>
        <p:spPr>
          <a:xfrm flipH="1" rot="10800000">
            <a:off x="839254" y="1182447"/>
            <a:ext cx="1239000" cy="123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27"/>
          <p:cNvSpPr/>
          <p:nvPr/>
        </p:nvSpPr>
        <p:spPr>
          <a:xfrm>
            <a:off x="2124525" y="4624642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cxnSp>
        <p:nvCxnSpPr>
          <p:cNvPr id="265" name="Google Shape;265;p27"/>
          <p:cNvCxnSpPr>
            <a:stCxn id="264" idx="3"/>
            <a:endCxn id="266" idx="1"/>
          </p:cNvCxnSpPr>
          <p:nvPr/>
        </p:nvCxnSpPr>
        <p:spPr>
          <a:xfrm flipH="1" rot="10800000">
            <a:off x="4001325" y="4615492"/>
            <a:ext cx="912900" cy="2382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7"/>
          <p:cNvSpPr txBox="1"/>
          <p:nvPr/>
        </p:nvSpPr>
        <p:spPr>
          <a:xfrm>
            <a:off x="4381494" y="4637246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</a:t>
            </a:r>
            <a:r>
              <a:rPr lang="zh-TW"/>
              <a:t>ᵢ</a:t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4914313" y="43865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</a:t>
            </a:r>
            <a:r>
              <a:rPr lang="zh-TW"/>
              <a:t>uclidean Distance</a:t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4367138" y="4213675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cxnSp>
        <p:nvCxnSpPr>
          <p:cNvPr id="269" name="Google Shape;269;p27"/>
          <p:cNvCxnSpPr>
            <a:stCxn id="266" idx="0"/>
            <a:endCxn id="255" idx="2"/>
          </p:cNvCxnSpPr>
          <p:nvPr/>
        </p:nvCxnSpPr>
        <p:spPr>
          <a:xfrm flipH="1" rot="5400000">
            <a:off x="5309413" y="3843275"/>
            <a:ext cx="481800" cy="604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7"/>
          <p:cNvCxnSpPr/>
          <p:nvPr/>
        </p:nvCxnSpPr>
        <p:spPr>
          <a:xfrm flipH="1" rot="10800000">
            <a:off x="5709668" y="3823622"/>
            <a:ext cx="343200" cy="4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"/>
          <p:cNvSpPr txBox="1"/>
          <p:nvPr>
            <p:ph type="title"/>
          </p:nvPr>
        </p:nvSpPr>
        <p:spPr>
          <a:xfrm>
            <a:off x="164050" y="78550"/>
            <a:ext cx="782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anomaly detection - OneclassSVM</a:t>
            </a:r>
            <a:endParaRPr/>
          </a:p>
        </p:txBody>
      </p:sp>
      <p:sp>
        <p:nvSpPr>
          <p:cNvPr id="276" name="Google Shape;276;p28"/>
          <p:cNvSpPr/>
          <p:nvPr/>
        </p:nvSpPr>
        <p:spPr>
          <a:xfrm>
            <a:off x="573766" y="1065897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5356713" y="987150"/>
            <a:ext cx="1146000" cy="61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OneClass</a:t>
            </a:r>
            <a:br>
              <a:rPr lang="zh-TW"/>
            </a:br>
            <a:r>
              <a:rPr lang="zh-TW"/>
              <a:t>SVM</a:t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7098737" y="1065897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279" name="Google Shape;279;p28"/>
          <p:cNvCxnSpPr>
            <a:stCxn id="277" idx="3"/>
            <a:endCxn id="278" idx="1"/>
          </p:cNvCxnSpPr>
          <p:nvPr/>
        </p:nvCxnSpPr>
        <p:spPr>
          <a:xfrm>
            <a:off x="6502713" y="1294950"/>
            <a:ext cx="596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1" name="Google Shape;281;p28"/>
          <p:cNvSpPr txBox="1"/>
          <p:nvPr/>
        </p:nvSpPr>
        <p:spPr>
          <a:xfrm>
            <a:off x="9487125" y="3722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grpSp>
        <p:nvGrpSpPr>
          <p:cNvPr id="282" name="Google Shape;282;p28"/>
          <p:cNvGrpSpPr/>
          <p:nvPr/>
        </p:nvGrpSpPr>
        <p:grpSpPr>
          <a:xfrm>
            <a:off x="10106175" y="4185525"/>
            <a:ext cx="1761900" cy="615600"/>
            <a:chOff x="6591025" y="4184550"/>
            <a:chExt cx="1761900" cy="615600"/>
          </a:xfrm>
        </p:grpSpPr>
        <p:sp>
          <p:nvSpPr>
            <p:cNvPr id="283" name="Google Shape;283;p28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284" name="Google Shape;284;p28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5" name="Google Shape;285;p28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86" name="Google Shape;286;p28"/>
          <p:cNvCxnSpPr>
            <a:stCxn id="276" idx="3"/>
            <a:endCxn id="287" idx="1"/>
          </p:cNvCxnSpPr>
          <p:nvPr/>
        </p:nvCxnSpPr>
        <p:spPr>
          <a:xfrm>
            <a:off x="2111866" y="1294947"/>
            <a:ext cx="48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8" name="Google Shape;288;p28"/>
          <p:cNvSpPr/>
          <p:nvPr/>
        </p:nvSpPr>
        <p:spPr>
          <a:xfrm>
            <a:off x="2600263" y="1065900"/>
            <a:ext cx="9276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 </a:t>
            </a:r>
            <a:endParaRPr/>
          </a:p>
        </p:txBody>
      </p:sp>
      <p:cxnSp>
        <p:nvCxnSpPr>
          <p:cNvPr id="289" name="Google Shape;289;p28"/>
          <p:cNvCxnSpPr>
            <a:stCxn id="288" idx="3"/>
            <a:endCxn id="290" idx="1"/>
          </p:cNvCxnSpPr>
          <p:nvPr/>
        </p:nvCxnSpPr>
        <p:spPr>
          <a:xfrm>
            <a:off x="3527863" y="1294950"/>
            <a:ext cx="56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28"/>
          <p:cNvSpPr/>
          <p:nvPr/>
        </p:nvSpPr>
        <p:spPr>
          <a:xfrm>
            <a:off x="4093412" y="1065897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291" name="Google Shape;291;p28"/>
          <p:cNvCxnSpPr>
            <a:stCxn id="290" idx="3"/>
            <a:endCxn id="277" idx="1"/>
          </p:cNvCxnSpPr>
          <p:nvPr/>
        </p:nvCxnSpPr>
        <p:spPr>
          <a:xfrm>
            <a:off x="4884512" y="1294947"/>
            <a:ext cx="47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28"/>
          <p:cNvSpPr txBox="1"/>
          <p:nvPr/>
        </p:nvSpPr>
        <p:spPr>
          <a:xfrm>
            <a:off x="1872925" y="1602750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H:256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 vs Siamese Network</a:t>
            </a:r>
            <a:endParaRPr/>
          </a:p>
        </p:txBody>
      </p:sp>
      <p:sp>
        <p:nvSpPr>
          <p:cNvPr id="298" name="Google Shape;29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99" name="Google Shape;2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54" y="1357000"/>
            <a:ext cx="8029483" cy="2789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/>
        </p:nvSpPr>
        <p:spPr>
          <a:xfrm>
            <a:off x="3483393" y="3664120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305" name="Google Shape;305;p30"/>
          <p:cNvSpPr txBox="1"/>
          <p:nvPr>
            <p:ph type="title"/>
          </p:nvPr>
        </p:nvSpPr>
        <p:spPr>
          <a:xfrm>
            <a:off x="164050" y="78550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TTP detection</a:t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1539779" y="659575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995725" y="136040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308" name="Google Shape;308;p30"/>
          <p:cNvCxnSpPr>
            <a:stCxn id="306" idx="2"/>
            <a:endCxn id="307" idx="0"/>
          </p:cNvCxnSpPr>
          <p:nvPr/>
        </p:nvCxnSpPr>
        <p:spPr>
          <a:xfrm>
            <a:off x="2308829" y="1117675"/>
            <a:ext cx="0" cy="2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0"/>
          <p:cNvCxnSpPr>
            <a:stCxn id="310" idx="2"/>
            <a:endCxn id="311" idx="1"/>
          </p:cNvCxnSpPr>
          <p:nvPr/>
        </p:nvCxnSpPr>
        <p:spPr>
          <a:xfrm rot="5400000">
            <a:off x="1358200" y="2749975"/>
            <a:ext cx="816000" cy="1043100"/>
          </a:xfrm>
          <a:prstGeom prst="curvedConnector4">
            <a:avLst>
              <a:gd fmla="val 32647" name="adj1"/>
              <a:gd fmla="val 167139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12" name="Google Shape;312;p30"/>
          <p:cNvGrpSpPr/>
          <p:nvPr/>
        </p:nvGrpSpPr>
        <p:grpSpPr>
          <a:xfrm>
            <a:off x="4829139" y="345688"/>
            <a:ext cx="4078200" cy="1778400"/>
            <a:chOff x="355113" y="3066225"/>
            <a:chExt cx="4078200" cy="1778400"/>
          </a:xfrm>
        </p:grpSpPr>
        <p:sp>
          <p:nvSpPr>
            <p:cNvPr id="313" name="Google Shape;313;p30"/>
            <p:cNvSpPr/>
            <p:nvPr/>
          </p:nvSpPr>
          <p:spPr>
            <a:xfrm>
              <a:off x="355113" y="3066225"/>
              <a:ext cx="40782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498013" y="3382725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498000" y="4147800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2494063" y="3382725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2494038" y="4147800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318" name="Google Shape;318;p30"/>
            <p:cNvCxnSpPr>
              <a:stCxn id="314" idx="2"/>
              <a:endCxn id="315" idx="0"/>
            </p:cNvCxnSpPr>
            <p:nvPr/>
          </p:nvCxnSpPr>
          <p:spPr>
            <a:xfrm>
              <a:off x="1424563" y="3955425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9" name="Google Shape;319;p30"/>
            <p:cNvCxnSpPr>
              <a:stCxn id="315" idx="3"/>
              <a:endCxn id="316" idx="1"/>
            </p:cNvCxnSpPr>
            <p:nvPr/>
          </p:nvCxnSpPr>
          <p:spPr>
            <a:xfrm flipH="1" rot="10800000">
              <a:off x="2351100" y="3669150"/>
              <a:ext cx="1431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0" name="Google Shape;320;p30"/>
            <p:cNvCxnSpPr>
              <a:stCxn id="316" idx="2"/>
              <a:endCxn id="317" idx="0"/>
            </p:cNvCxnSpPr>
            <p:nvPr/>
          </p:nvCxnSpPr>
          <p:spPr>
            <a:xfrm>
              <a:off x="3420613" y="3955425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21" name="Google Shape;321;p30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1244675" y="34504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322" name="Google Shape;322;p30"/>
          <p:cNvSpPr/>
          <p:nvPr/>
        </p:nvSpPr>
        <p:spPr>
          <a:xfrm>
            <a:off x="4067938" y="34504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323" name="Google Shape;323;p30"/>
          <p:cNvCxnSpPr>
            <a:stCxn id="311" idx="3"/>
            <a:endCxn id="324" idx="1"/>
          </p:cNvCxnSpPr>
          <p:nvPr/>
        </p:nvCxnSpPr>
        <p:spPr>
          <a:xfrm>
            <a:off x="2035775" y="36795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0"/>
          <p:cNvCxnSpPr>
            <a:stCxn id="322" idx="3"/>
            <a:endCxn id="326" idx="1"/>
          </p:cNvCxnSpPr>
          <p:nvPr/>
        </p:nvCxnSpPr>
        <p:spPr>
          <a:xfrm>
            <a:off x="4859038" y="3679525"/>
            <a:ext cx="31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30"/>
          <p:cNvSpPr/>
          <p:nvPr/>
        </p:nvSpPr>
        <p:spPr>
          <a:xfrm>
            <a:off x="5169275" y="34504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327" name="Google Shape;327;p30"/>
          <p:cNvCxnSpPr>
            <a:stCxn id="326" idx="3"/>
            <a:endCxn id="328" idx="1"/>
          </p:cNvCxnSpPr>
          <p:nvPr/>
        </p:nvCxnSpPr>
        <p:spPr>
          <a:xfrm>
            <a:off x="5960375" y="3679525"/>
            <a:ext cx="31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30"/>
          <p:cNvSpPr/>
          <p:nvPr/>
        </p:nvSpPr>
        <p:spPr>
          <a:xfrm>
            <a:off x="6270600" y="34504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329" name="Google Shape;329;p30"/>
          <p:cNvSpPr/>
          <p:nvPr/>
        </p:nvSpPr>
        <p:spPr>
          <a:xfrm>
            <a:off x="7508425" y="3450475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330" name="Google Shape;330;p30"/>
          <p:cNvCxnSpPr>
            <a:stCxn id="328" idx="3"/>
            <a:endCxn id="329" idx="1"/>
          </p:cNvCxnSpPr>
          <p:nvPr/>
        </p:nvCxnSpPr>
        <p:spPr>
          <a:xfrm>
            <a:off x="7198200" y="3679525"/>
            <a:ext cx="31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30"/>
          <p:cNvSpPr txBox="1"/>
          <p:nvPr/>
        </p:nvSpPr>
        <p:spPr>
          <a:xfrm>
            <a:off x="72450" y="4169100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332" name="Google Shape;332;p30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333" name="Google Shape;3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2927550" y="206852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2687225" y="3450486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335" name="Google Shape;335;p30"/>
          <p:cNvCxnSpPr>
            <a:stCxn id="324" idx="3"/>
            <a:endCxn id="322" idx="1"/>
          </p:cNvCxnSpPr>
          <p:nvPr/>
        </p:nvCxnSpPr>
        <p:spPr>
          <a:xfrm>
            <a:off x="3478325" y="3679536"/>
            <a:ext cx="58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6" name="Google Shape;336;p30"/>
          <p:cNvSpPr txBox="1"/>
          <p:nvPr/>
        </p:nvSpPr>
        <p:spPr>
          <a:xfrm>
            <a:off x="14178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337" name="Google Shape;337;p30"/>
          <p:cNvSpPr txBox="1"/>
          <p:nvPr/>
        </p:nvSpPr>
        <p:spPr>
          <a:xfrm>
            <a:off x="2087155" y="3662558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338" name="Google Shape;338;p30"/>
          <p:cNvCxnSpPr>
            <a:stCxn id="311" idx="2"/>
            <a:endCxn id="331" idx="0"/>
          </p:cNvCxnSpPr>
          <p:nvPr/>
        </p:nvCxnSpPr>
        <p:spPr>
          <a:xfrm flipH="1">
            <a:off x="1500125" y="3908575"/>
            <a:ext cx="140100" cy="2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0"/>
          <p:cNvCxnSpPr>
            <a:stCxn id="324" idx="2"/>
            <a:endCxn id="336" idx="0"/>
          </p:cNvCxnSpPr>
          <p:nvPr/>
        </p:nvCxnSpPr>
        <p:spPr>
          <a:xfrm flipH="1">
            <a:off x="2845475" y="3908586"/>
            <a:ext cx="237300" cy="7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0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341" name="Google Shape;341;p30"/>
          <p:cNvCxnSpPr>
            <a:stCxn id="322" idx="2"/>
            <a:endCxn id="340" idx="0"/>
          </p:cNvCxnSpPr>
          <p:nvPr/>
        </p:nvCxnSpPr>
        <p:spPr>
          <a:xfrm>
            <a:off x="4463488" y="3908575"/>
            <a:ext cx="305700" cy="7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0"/>
          <p:cNvCxnSpPr>
            <a:stCxn id="334" idx="3"/>
            <a:endCxn id="322" idx="0"/>
          </p:cNvCxnSpPr>
          <p:nvPr/>
        </p:nvCxnSpPr>
        <p:spPr>
          <a:xfrm>
            <a:off x="3476250" y="2284075"/>
            <a:ext cx="987300" cy="116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30"/>
          <p:cNvSpPr txBox="1"/>
          <p:nvPr/>
        </p:nvSpPr>
        <p:spPr>
          <a:xfrm>
            <a:off x="-38575" y="3071437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344" name="Google Shape;344;p30"/>
          <p:cNvCxnSpPr>
            <a:stCxn id="334" idx="3"/>
            <a:endCxn id="311" idx="0"/>
          </p:cNvCxnSpPr>
          <p:nvPr/>
        </p:nvCxnSpPr>
        <p:spPr>
          <a:xfrm flipH="1">
            <a:off x="1640250" y="2284075"/>
            <a:ext cx="1836000" cy="1166400"/>
          </a:xfrm>
          <a:prstGeom prst="curvedConnector4">
            <a:avLst>
              <a:gd fmla="val -11789" name="adj1"/>
              <a:gd fmla="val 8141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30"/>
          <p:cNvSpPr txBox="1"/>
          <p:nvPr/>
        </p:nvSpPr>
        <p:spPr>
          <a:xfrm>
            <a:off x="5644900" y="4076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346" name="Google Shape;346;p30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0"/>
          <p:cNvSpPr txBox="1"/>
          <p:nvPr/>
        </p:nvSpPr>
        <p:spPr>
          <a:xfrm>
            <a:off x="3457175" y="27146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348" name="Google Shape;348;p30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349" name="Google Shape;349;p30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350" name="Google Shape;350;p30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51" name="Google Shape;351;p30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52" name="Google Shape;352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1349350" y="24054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/>
          <p:nvPr/>
        </p:nvSpPr>
        <p:spPr>
          <a:xfrm>
            <a:off x="7796631" y="4770361"/>
            <a:ext cx="1213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Loss = crf_loss + w * focal_loss</a:t>
            </a:r>
            <a:endParaRPr sz="566"/>
          </a:p>
        </p:txBody>
      </p:sp>
      <p:sp>
        <p:nvSpPr>
          <p:cNvPr id="358" name="Google Shape;358;p31"/>
          <p:cNvSpPr/>
          <p:nvPr/>
        </p:nvSpPr>
        <p:spPr>
          <a:xfrm>
            <a:off x="5437275" y="2992875"/>
            <a:ext cx="3706800" cy="215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1992925" y="1258998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360" name="Google Shape;360;p31"/>
          <p:cNvSpPr txBox="1"/>
          <p:nvPr>
            <p:ph type="title"/>
          </p:nvPr>
        </p:nvSpPr>
        <p:spPr>
          <a:xfrm>
            <a:off x="311700" y="7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sp>
        <p:nvSpPr>
          <p:cNvPr id="361" name="Google Shape;361;p31"/>
          <p:cNvSpPr/>
          <p:nvPr/>
        </p:nvSpPr>
        <p:spPr>
          <a:xfrm>
            <a:off x="1539779" y="8129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995725" y="177275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363" name="Google Shape;363;p31"/>
          <p:cNvCxnSpPr>
            <a:stCxn id="361" idx="2"/>
          </p:cNvCxnSpPr>
          <p:nvPr/>
        </p:nvCxnSpPr>
        <p:spPr>
          <a:xfrm>
            <a:off x="2308829" y="12710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1"/>
          <p:cNvCxnSpPr>
            <a:stCxn id="365" idx="2"/>
            <a:endCxn id="366" idx="1"/>
          </p:cNvCxnSpPr>
          <p:nvPr/>
        </p:nvCxnSpPr>
        <p:spPr>
          <a:xfrm rot="-5400000">
            <a:off x="3010600" y="1714525"/>
            <a:ext cx="838500" cy="2284200"/>
          </a:xfrm>
          <a:prstGeom prst="curvedConnector4">
            <a:avLst>
              <a:gd fmla="val -28399" name="adj1"/>
              <a:gd fmla="val 7054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31"/>
          <p:cNvSpPr/>
          <p:nvPr/>
        </p:nvSpPr>
        <p:spPr>
          <a:xfrm>
            <a:off x="1349425" y="21130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4572000" y="22082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368" name="Google Shape;368;p31"/>
          <p:cNvCxnSpPr>
            <a:stCxn id="366" idx="3"/>
            <a:endCxn id="369" idx="1"/>
          </p:cNvCxnSpPr>
          <p:nvPr/>
        </p:nvCxnSpPr>
        <p:spPr>
          <a:xfrm>
            <a:off x="53631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0" name="Google Shape;370;p31"/>
          <p:cNvSpPr txBox="1"/>
          <p:nvPr/>
        </p:nvSpPr>
        <p:spPr>
          <a:xfrm>
            <a:off x="2927550" y="248087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371" name="Google Shape;371;p31"/>
          <p:cNvSpPr txBox="1"/>
          <p:nvPr/>
        </p:nvSpPr>
        <p:spPr>
          <a:xfrm>
            <a:off x="5414555" y="1844858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sp>
        <p:nvSpPr>
          <p:cNvPr id="372" name="Google Shape;372;p31"/>
          <p:cNvSpPr txBox="1"/>
          <p:nvPr/>
        </p:nvSpPr>
        <p:spPr>
          <a:xfrm>
            <a:off x="211600" y="4175250"/>
            <a:ext cx="42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proto:</a:t>
            </a:r>
            <a:r>
              <a:rPr lang="zh-TW" sz="1600">
                <a:solidFill>
                  <a:schemeClr val="dk1"/>
                </a:solidFill>
              </a:rPr>
              <a:t>使用h1學習並映射在256維的標籤座標</a:t>
            </a:r>
            <a:endParaRPr sz="1600"/>
          </a:p>
        </p:txBody>
      </p:sp>
      <p:cxnSp>
        <p:nvCxnSpPr>
          <p:cNvPr id="373" name="Google Shape;373;p31"/>
          <p:cNvCxnSpPr>
            <a:stCxn id="370" idx="3"/>
            <a:endCxn id="366" idx="0"/>
          </p:cNvCxnSpPr>
          <p:nvPr/>
        </p:nvCxnSpPr>
        <p:spPr>
          <a:xfrm flipH="1" rot="10800000">
            <a:off x="3476250" y="2208325"/>
            <a:ext cx="1491300" cy="488100"/>
          </a:xfrm>
          <a:prstGeom prst="curvedConnector4">
            <a:avLst>
              <a:gd fmla="val 36738" name="adj1"/>
              <a:gd fmla="val 14879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1"/>
          <p:cNvCxnSpPr/>
          <p:nvPr/>
        </p:nvCxnSpPr>
        <p:spPr>
          <a:xfrm>
            <a:off x="2287829" y="257112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31"/>
          <p:cNvSpPr/>
          <p:nvPr/>
        </p:nvSpPr>
        <p:spPr>
          <a:xfrm>
            <a:off x="1349350" y="28177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sp>
        <p:nvSpPr>
          <p:cNvPr id="375" name="Google Shape;375;p31"/>
          <p:cNvSpPr/>
          <p:nvPr/>
        </p:nvSpPr>
        <p:spPr>
          <a:xfrm>
            <a:off x="6014700" y="2208286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376" name="Google Shape;376;p31"/>
          <p:cNvCxnSpPr/>
          <p:nvPr/>
        </p:nvCxnSpPr>
        <p:spPr>
          <a:xfrm>
            <a:off x="6805800" y="2437325"/>
            <a:ext cx="6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31"/>
          <p:cNvSpPr txBox="1"/>
          <p:nvPr/>
        </p:nvSpPr>
        <p:spPr>
          <a:xfrm>
            <a:off x="7457400" y="223722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378" name="Google Shape;378;p31"/>
          <p:cNvSpPr txBox="1"/>
          <p:nvPr/>
        </p:nvSpPr>
        <p:spPr>
          <a:xfrm>
            <a:off x="211600" y="3744150"/>
            <a:ext cx="42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h1:</a:t>
            </a:r>
            <a:r>
              <a:rPr lang="zh-TW" sz="1600">
                <a:solidFill>
                  <a:schemeClr val="dk1"/>
                </a:solidFill>
              </a:rPr>
              <a:t>用audit log 做self-attention產出的特徵</a:t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3345075" y="3313044"/>
            <a:ext cx="65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proto</a:t>
            </a:r>
            <a:endParaRPr sz="1600"/>
          </a:p>
        </p:txBody>
      </p:sp>
      <p:sp>
        <p:nvSpPr>
          <p:cNvPr id="380" name="Google Shape;380;p31"/>
          <p:cNvSpPr txBox="1"/>
          <p:nvPr/>
        </p:nvSpPr>
        <p:spPr>
          <a:xfrm>
            <a:off x="3345075" y="561675"/>
            <a:ext cx="206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(Q:proto, K:h1, V:h1)</a:t>
            </a:r>
            <a:endParaRPr sz="1600"/>
          </a:p>
        </p:txBody>
      </p:sp>
      <p:sp>
        <p:nvSpPr>
          <p:cNvPr id="381" name="Google Shape;381;p31"/>
          <p:cNvSpPr txBox="1"/>
          <p:nvPr/>
        </p:nvSpPr>
        <p:spPr>
          <a:xfrm>
            <a:off x="2617825" y="1346713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-359025" y="2356188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-359025" y="3227963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4797750" y="1413738"/>
            <a:ext cx="17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dim:256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5631600" y="438675"/>
            <a:ext cx="310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把proto當作Q的用意是為了分辨不同TTP但h1相似的embedding</a:t>
            </a:r>
            <a:endParaRPr/>
          </a:p>
        </p:txBody>
      </p:sp>
      <p:cxnSp>
        <p:nvCxnSpPr>
          <p:cNvPr id="386" name="Google Shape;386;p31"/>
          <p:cNvCxnSpPr>
            <a:stCxn id="380" idx="3"/>
            <a:endCxn id="385" idx="1"/>
          </p:cNvCxnSpPr>
          <p:nvPr/>
        </p:nvCxnSpPr>
        <p:spPr>
          <a:xfrm>
            <a:off x="5414475" y="777225"/>
            <a:ext cx="21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31"/>
          <p:cNvCxnSpPr/>
          <p:nvPr/>
        </p:nvCxnSpPr>
        <p:spPr>
          <a:xfrm>
            <a:off x="2308829" y="1591850"/>
            <a:ext cx="2400" cy="18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8" name="Google Shape;388;p31"/>
          <p:cNvSpPr txBox="1"/>
          <p:nvPr/>
        </p:nvSpPr>
        <p:spPr>
          <a:xfrm>
            <a:off x="6723917" y="4666564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h3</a:t>
            </a:r>
            <a:endParaRPr sz="566"/>
          </a:p>
        </p:txBody>
      </p:sp>
      <p:sp>
        <p:nvSpPr>
          <p:cNvPr id="389" name="Google Shape;389;p31"/>
          <p:cNvSpPr txBox="1"/>
          <p:nvPr>
            <p:ph type="title"/>
          </p:nvPr>
        </p:nvSpPr>
        <p:spPr>
          <a:xfrm>
            <a:off x="5442105" y="3029800"/>
            <a:ext cx="1718400" cy="231600"/>
          </a:xfrm>
          <a:prstGeom prst="rect">
            <a:avLst/>
          </a:prstGeom>
        </p:spPr>
        <p:txBody>
          <a:bodyPr anchorCtr="0" anchor="t" bIns="37000" lIns="37000" spcFirstLastPara="1" rIns="37000" wrap="square" tIns="370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33"/>
              <a:t>Structure - TTP detection</a:t>
            </a:r>
            <a:endParaRPr sz="1133"/>
          </a:p>
        </p:txBody>
      </p:sp>
      <p:sp>
        <p:nvSpPr>
          <p:cNvPr id="390" name="Google Shape;390;p31"/>
          <p:cNvSpPr/>
          <p:nvPr/>
        </p:nvSpPr>
        <p:spPr>
          <a:xfrm>
            <a:off x="5531445" y="3285587"/>
            <a:ext cx="622200" cy="185400"/>
          </a:xfrm>
          <a:prstGeom prst="rect">
            <a:avLst/>
          </a:prstGeom>
          <a:solidFill>
            <a:srgbClr val="FFE599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TTP embedding</a:t>
            </a:r>
            <a:endParaRPr sz="566"/>
          </a:p>
        </p:txBody>
      </p:sp>
      <p:sp>
        <p:nvSpPr>
          <p:cNvPr id="391" name="Google Shape;391;p31"/>
          <p:cNvSpPr/>
          <p:nvPr/>
        </p:nvSpPr>
        <p:spPr>
          <a:xfrm>
            <a:off x="5831570" y="3572494"/>
            <a:ext cx="1062600" cy="692100"/>
          </a:xfrm>
          <a:prstGeom prst="rect">
            <a:avLst/>
          </a:prstGeom>
          <a:solidFill>
            <a:srgbClr val="C9DAF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Prototype Encoder</a:t>
            </a:r>
            <a:endParaRPr sz="566"/>
          </a:p>
        </p:txBody>
      </p:sp>
      <p:cxnSp>
        <p:nvCxnSpPr>
          <p:cNvPr id="392" name="Google Shape;392;p31"/>
          <p:cNvCxnSpPr>
            <a:stCxn id="393" idx="2"/>
            <a:endCxn id="394" idx="1"/>
          </p:cNvCxnSpPr>
          <p:nvPr/>
        </p:nvCxnSpPr>
        <p:spPr>
          <a:xfrm rot="5400000">
            <a:off x="5874589" y="4103289"/>
            <a:ext cx="402300" cy="5571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95" name="Google Shape;395;p31"/>
          <p:cNvGrpSpPr/>
          <p:nvPr/>
        </p:nvGrpSpPr>
        <p:grpSpPr>
          <a:xfrm>
            <a:off x="7798645" y="3586472"/>
            <a:ext cx="1278253" cy="719541"/>
            <a:chOff x="5857450" y="1394875"/>
            <a:chExt cx="3159300" cy="1778400"/>
          </a:xfrm>
        </p:grpSpPr>
        <p:sp>
          <p:nvSpPr>
            <p:cNvPr id="396" name="Google Shape;396;p31"/>
            <p:cNvSpPr/>
            <p:nvPr/>
          </p:nvSpPr>
          <p:spPr>
            <a:xfrm>
              <a:off x="5857450" y="1394875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Graph Transformer</a:t>
              </a:r>
              <a:endParaRPr sz="566"/>
            </a:p>
          </p:txBody>
        </p:sp>
        <p:sp>
          <p:nvSpPr>
            <p:cNvPr id="397" name="Google Shape;397;p31"/>
            <p:cNvSpPr/>
            <p:nvPr/>
          </p:nvSpPr>
          <p:spPr>
            <a:xfrm>
              <a:off x="6076196" y="1711375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Multi-head attention</a:t>
              </a:r>
              <a:endParaRPr sz="566"/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6113850" y="2476450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Residual + LayerNorm</a:t>
              </a:r>
              <a:endParaRPr sz="566"/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7827274" y="1711375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/>
                <a:t>FFN</a:t>
              </a:r>
              <a:endParaRPr sz="566"/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7633175" y="2476450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Residual + LayerNorm</a:t>
              </a:r>
              <a:endParaRPr sz="566"/>
            </a:p>
          </p:txBody>
        </p:sp>
        <p:cxnSp>
          <p:nvCxnSpPr>
            <p:cNvPr id="401" name="Google Shape;401;p31"/>
            <p:cNvCxnSpPr>
              <a:stCxn id="397" idx="2"/>
              <a:endCxn id="398" idx="0"/>
            </p:cNvCxnSpPr>
            <p:nvPr/>
          </p:nvCxnSpPr>
          <p:spPr>
            <a:xfrm>
              <a:off x="6725396" y="2284075"/>
              <a:ext cx="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2" name="Google Shape;402;p31"/>
            <p:cNvCxnSpPr>
              <a:stCxn id="398" idx="3"/>
              <a:endCxn id="399" idx="1"/>
            </p:cNvCxnSpPr>
            <p:nvPr/>
          </p:nvCxnSpPr>
          <p:spPr>
            <a:xfrm flipH="1" rot="10800000">
              <a:off x="7336950" y="1997800"/>
              <a:ext cx="490200" cy="7650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3" name="Google Shape;403;p31"/>
            <p:cNvCxnSpPr>
              <a:stCxn id="399" idx="2"/>
              <a:endCxn id="400" idx="0"/>
            </p:cNvCxnSpPr>
            <p:nvPr/>
          </p:nvCxnSpPr>
          <p:spPr>
            <a:xfrm flipH="1">
              <a:off x="8200924" y="2284075"/>
              <a:ext cx="21900" cy="192300"/>
            </a:xfrm>
            <a:prstGeom prst="straightConnector1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04" name="Google Shape;404;p31"/>
          <p:cNvSpPr/>
          <p:nvPr/>
        </p:nvSpPr>
        <p:spPr>
          <a:xfrm>
            <a:off x="5974670" y="3710162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Graph Self-Attention</a:t>
            </a:r>
            <a:endParaRPr sz="566"/>
          </a:p>
        </p:txBody>
      </p:sp>
      <p:sp>
        <p:nvSpPr>
          <p:cNvPr id="394" name="Google Shape;394;p31"/>
          <p:cNvSpPr/>
          <p:nvPr/>
        </p:nvSpPr>
        <p:spPr>
          <a:xfrm>
            <a:off x="5797272" y="4490251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sp>
        <p:nvSpPr>
          <p:cNvPr id="405" name="Google Shape;405;p31"/>
          <p:cNvSpPr/>
          <p:nvPr/>
        </p:nvSpPr>
        <p:spPr>
          <a:xfrm>
            <a:off x="7073062" y="4490913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406" name="Google Shape;406;p31"/>
          <p:cNvCxnSpPr>
            <a:stCxn id="394" idx="3"/>
            <a:endCxn id="407" idx="1"/>
          </p:cNvCxnSpPr>
          <p:nvPr/>
        </p:nvCxnSpPr>
        <p:spPr>
          <a:xfrm>
            <a:off x="6117372" y="4582951"/>
            <a:ext cx="2925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1"/>
          <p:cNvCxnSpPr>
            <a:stCxn id="405" idx="3"/>
            <a:endCxn id="409" idx="1"/>
          </p:cNvCxnSpPr>
          <p:nvPr/>
        </p:nvCxnSpPr>
        <p:spPr>
          <a:xfrm>
            <a:off x="7393162" y="4583613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31"/>
          <p:cNvSpPr/>
          <p:nvPr/>
        </p:nvSpPr>
        <p:spPr>
          <a:xfrm>
            <a:off x="7519181" y="4490918"/>
            <a:ext cx="320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Linear</a:t>
            </a:r>
            <a:endParaRPr sz="566"/>
          </a:p>
        </p:txBody>
      </p:sp>
      <p:cxnSp>
        <p:nvCxnSpPr>
          <p:cNvPr id="410" name="Google Shape;410;p31"/>
          <p:cNvCxnSpPr>
            <a:stCxn id="409" idx="3"/>
            <a:endCxn id="411" idx="1"/>
          </p:cNvCxnSpPr>
          <p:nvPr/>
        </p:nvCxnSpPr>
        <p:spPr>
          <a:xfrm>
            <a:off x="7839281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1" name="Google Shape;411;p31"/>
          <p:cNvSpPr/>
          <p:nvPr/>
        </p:nvSpPr>
        <p:spPr>
          <a:xfrm>
            <a:off x="7965214" y="4490918"/>
            <a:ext cx="3753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Sigmoid</a:t>
            </a:r>
            <a:endParaRPr sz="566"/>
          </a:p>
        </p:txBody>
      </p:sp>
      <p:sp>
        <p:nvSpPr>
          <p:cNvPr id="412" name="Google Shape;412;p31"/>
          <p:cNvSpPr/>
          <p:nvPr/>
        </p:nvSpPr>
        <p:spPr>
          <a:xfrm>
            <a:off x="8466483" y="4490941"/>
            <a:ext cx="5952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Predicted label</a:t>
            </a:r>
            <a:endParaRPr sz="566"/>
          </a:p>
        </p:txBody>
      </p:sp>
      <p:cxnSp>
        <p:nvCxnSpPr>
          <p:cNvPr id="413" name="Google Shape;413;p31"/>
          <p:cNvCxnSpPr>
            <a:stCxn id="411" idx="3"/>
            <a:endCxn id="412" idx="1"/>
          </p:cNvCxnSpPr>
          <p:nvPr/>
        </p:nvCxnSpPr>
        <p:spPr>
          <a:xfrm>
            <a:off x="8340514" y="4583618"/>
            <a:ext cx="1260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4" name="Google Shape;414;p31"/>
          <p:cNvSpPr txBox="1"/>
          <p:nvPr/>
        </p:nvSpPr>
        <p:spPr>
          <a:xfrm>
            <a:off x="5360863" y="4764110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(Q:proto, K:h1, V:h1)</a:t>
            </a:r>
            <a:endParaRPr sz="647"/>
          </a:p>
        </p:txBody>
      </p:sp>
      <p:sp>
        <p:nvSpPr>
          <p:cNvPr id="415" name="Google Shape;415;p31"/>
          <p:cNvSpPr txBox="1"/>
          <p:nvPr/>
        </p:nvSpPr>
        <p:spPr>
          <a:xfrm>
            <a:off x="7138432" y="4161500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416" name="Google Shape;416;p31"/>
          <p:cNvSpPr txBox="1"/>
          <p:nvPr/>
        </p:nvSpPr>
        <p:spPr>
          <a:xfrm>
            <a:off x="6613146" y="3858987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407" name="Google Shape;407;p31"/>
          <p:cNvSpPr/>
          <p:nvPr/>
        </p:nvSpPr>
        <p:spPr>
          <a:xfrm>
            <a:off x="6409845" y="4490260"/>
            <a:ext cx="320100" cy="185400"/>
          </a:xfrm>
          <a:prstGeom prst="rect">
            <a:avLst/>
          </a:prstGeom>
          <a:solidFill>
            <a:srgbClr val="FCE5CD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GT</a:t>
            </a:r>
            <a:endParaRPr sz="566"/>
          </a:p>
        </p:txBody>
      </p:sp>
      <p:cxnSp>
        <p:nvCxnSpPr>
          <p:cNvPr id="417" name="Google Shape;417;p31"/>
          <p:cNvCxnSpPr>
            <a:stCxn id="407" idx="3"/>
            <a:endCxn id="405" idx="1"/>
          </p:cNvCxnSpPr>
          <p:nvPr/>
        </p:nvCxnSpPr>
        <p:spPr>
          <a:xfrm>
            <a:off x="6729945" y="4582960"/>
            <a:ext cx="343200" cy="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31"/>
          <p:cNvSpPr txBox="1"/>
          <p:nvPr/>
        </p:nvSpPr>
        <p:spPr>
          <a:xfrm>
            <a:off x="5992320" y="4901161"/>
            <a:ext cx="1155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(Q:h2, K:h2, V:h2)</a:t>
            </a:r>
            <a:endParaRPr sz="647"/>
          </a:p>
        </p:txBody>
      </p:sp>
      <p:sp>
        <p:nvSpPr>
          <p:cNvPr id="419" name="Google Shape;419;p31"/>
          <p:cNvSpPr txBox="1"/>
          <p:nvPr/>
        </p:nvSpPr>
        <p:spPr>
          <a:xfrm>
            <a:off x="6165740" y="4385165"/>
            <a:ext cx="2220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h2</a:t>
            </a:r>
            <a:endParaRPr sz="566"/>
          </a:p>
        </p:txBody>
      </p:sp>
      <p:cxnSp>
        <p:nvCxnSpPr>
          <p:cNvPr id="420" name="Google Shape;420;p31"/>
          <p:cNvCxnSpPr>
            <a:stCxn id="394" idx="2"/>
            <a:endCxn id="414" idx="0"/>
          </p:cNvCxnSpPr>
          <p:nvPr/>
        </p:nvCxnSpPr>
        <p:spPr>
          <a:xfrm flipH="1">
            <a:off x="5938422" y="4675651"/>
            <a:ext cx="18900" cy="885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1"/>
          <p:cNvCxnSpPr>
            <a:stCxn id="407" idx="2"/>
            <a:endCxn id="418" idx="0"/>
          </p:cNvCxnSpPr>
          <p:nvPr/>
        </p:nvCxnSpPr>
        <p:spPr>
          <a:xfrm>
            <a:off x="6569895" y="4675660"/>
            <a:ext cx="0" cy="225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31"/>
          <p:cNvSpPr txBox="1"/>
          <p:nvPr/>
        </p:nvSpPr>
        <p:spPr>
          <a:xfrm>
            <a:off x="6876335" y="4901161"/>
            <a:ext cx="9639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47">
                <a:solidFill>
                  <a:schemeClr val="dk1"/>
                </a:solidFill>
              </a:rPr>
              <a:t>(Q:h1, K:h3, V:h3)</a:t>
            </a:r>
            <a:endParaRPr sz="647"/>
          </a:p>
        </p:txBody>
      </p:sp>
      <p:cxnSp>
        <p:nvCxnSpPr>
          <p:cNvPr id="423" name="Google Shape;423;p31"/>
          <p:cNvCxnSpPr>
            <a:stCxn id="405" idx="2"/>
            <a:endCxn id="422" idx="0"/>
          </p:cNvCxnSpPr>
          <p:nvPr/>
        </p:nvCxnSpPr>
        <p:spPr>
          <a:xfrm>
            <a:off x="7233112" y="4676313"/>
            <a:ext cx="125100" cy="224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31"/>
          <p:cNvCxnSpPr>
            <a:stCxn id="416" idx="3"/>
            <a:endCxn id="405" idx="0"/>
          </p:cNvCxnSpPr>
          <p:nvPr/>
        </p:nvCxnSpPr>
        <p:spPr>
          <a:xfrm>
            <a:off x="6835146" y="3946137"/>
            <a:ext cx="398100" cy="5448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31"/>
          <p:cNvSpPr txBox="1"/>
          <p:nvPr/>
        </p:nvSpPr>
        <p:spPr>
          <a:xfrm>
            <a:off x="5462726" y="4264693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proto</a:t>
            </a:r>
            <a:endParaRPr sz="566"/>
          </a:p>
        </p:txBody>
      </p:sp>
      <p:cxnSp>
        <p:nvCxnSpPr>
          <p:cNvPr id="426" name="Google Shape;426;p31"/>
          <p:cNvCxnSpPr>
            <a:stCxn id="416" idx="3"/>
            <a:endCxn id="394" idx="0"/>
          </p:cNvCxnSpPr>
          <p:nvPr/>
        </p:nvCxnSpPr>
        <p:spPr>
          <a:xfrm flipH="1">
            <a:off x="5957346" y="3946137"/>
            <a:ext cx="877800" cy="5442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31"/>
          <p:cNvCxnSpPr/>
          <p:nvPr/>
        </p:nvCxnSpPr>
        <p:spPr>
          <a:xfrm>
            <a:off x="6354328" y="3895500"/>
            <a:ext cx="0" cy="101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8" name="Google Shape;428;p31"/>
          <p:cNvSpPr txBox="1"/>
          <p:nvPr/>
        </p:nvSpPr>
        <p:spPr>
          <a:xfrm>
            <a:off x="6827421" y="4120405"/>
            <a:ext cx="255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000" lIns="37000" spcFirstLastPara="1" rIns="37000" wrap="square" tIns="37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>
                <a:solidFill>
                  <a:schemeClr val="dk1"/>
                </a:solidFill>
              </a:rPr>
              <a:t>h1</a:t>
            </a:r>
            <a:endParaRPr sz="566"/>
          </a:p>
        </p:txBody>
      </p:sp>
      <p:sp>
        <p:nvSpPr>
          <p:cNvPr id="393" name="Google Shape;393;p31"/>
          <p:cNvSpPr/>
          <p:nvPr/>
        </p:nvSpPr>
        <p:spPr>
          <a:xfrm>
            <a:off x="5974639" y="3995289"/>
            <a:ext cx="759300" cy="185400"/>
          </a:xfrm>
          <a:prstGeom prst="rect">
            <a:avLst/>
          </a:prstGeom>
          <a:solidFill>
            <a:srgbClr val="EFEFEF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5"/>
              <a:buFont typeface="Arial"/>
              <a:buNone/>
            </a:pPr>
            <a:r>
              <a:rPr lang="zh-TW" sz="566">
                <a:solidFill>
                  <a:schemeClr val="dk1"/>
                </a:solidFill>
              </a:rPr>
              <a:t>PrototypeEncoder </a:t>
            </a:r>
            <a:endParaRPr sz="566"/>
          </a:p>
        </p:txBody>
      </p:sp>
      <p:cxnSp>
        <p:nvCxnSpPr>
          <p:cNvPr id="429" name="Google Shape;429;p31"/>
          <p:cNvCxnSpPr>
            <a:stCxn id="390" idx="3"/>
            <a:endCxn id="430" idx="1"/>
          </p:cNvCxnSpPr>
          <p:nvPr/>
        </p:nvCxnSpPr>
        <p:spPr>
          <a:xfrm>
            <a:off x="6153645" y="3378287"/>
            <a:ext cx="1197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31" name="Google Shape;431;p31"/>
          <p:cNvGrpSpPr/>
          <p:nvPr/>
        </p:nvGrpSpPr>
        <p:grpSpPr>
          <a:xfrm>
            <a:off x="7757925" y="3050579"/>
            <a:ext cx="1359717" cy="465735"/>
            <a:chOff x="5756806" y="70375"/>
            <a:chExt cx="3360646" cy="1151100"/>
          </a:xfrm>
        </p:grpSpPr>
        <p:sp>
          <p:nvSpPr>
            <p:cNvPr id="432" name="Google Shape;432;p31"/>
            <p:cNvSpPr txBox="1"/>
            <p:nvPr/>
          </p:nvSpPr>
          <p:spPr>
            <a:xfrm>
              <a:off x="6968300" y="19330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Chunk1</a:t>
              </a:r>
              <a:br>
                <a:rPr lang="zh-TW" sz="566">
                  <a:solidFill>
                    <a:schemeClr val="dk1"/>
                  </a:solidFill>
                </a:rPr>
              </a:br>
              <a:r>
                <a:rPr lang="zh-TW" sz="566">
                  <a:solidFill>
                    <a:schemeClr val="dk1"/>
                  </a:solidFill>
                </a:rPr>
                <a:t>window:256</a:t>
              </a:r>
              <a:endParaRPr sz="566"/>
            </a:p>
          </p:txBody>
        </p:sp>
        <p:grpSp>
          <p:nvGrpSpPr>
            <p:cNvPr id="433" name="Google Shape;433;p31"/>
            <p:cNvGrpSpPr/>
            <p:nvPr/>
          </p:nvGrpSpPr>
          <p:grpSpPr>
            <a:xfrm>
              <a:off x="5756806" y="70375"/>
              <a:ext cx="3360646" cy="1151100"/>
              <a:chOff x="6117013" y="141950"/>
              <a:chExt cx="3281881" cy="1151100"/>
            </a:xfrm>
          </p:grpSpPr>
          <p:grpSp>
            <p:nvGrpSpPr>
              <p:cNvPr id="434" name="Google Shape;434;p31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435" name="Google Shape;435;p31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Multi-Chunk Module</a:t>
                  </a:r>
                  <a:endParaRPr sz="566"/>
                </a:p>
              </p:txBody>
            </p:sp>
            <p:sp>
              <p:nvSpPr>
                <p:cNvPr id="436" name="Google Shape;436;p31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38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37000" lIns="37000" spcFirstLastPara="1" rIns="37000" wrap="square" tIns="370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Chunk1</a:t>
                  </a:r>
                  <a:endParaRPr sz="566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 sz="566"/>
                    <a:t>scale:256</a:t>
                  </a:r>
                  <a:endParaRPr sz="566"/>
                </a:p>
              </p:txBody>
            </p:sp>
          </p:grpSp>
          <p:sp>
            <p:nvSpPr>
              <p:cNvPr id="437" name="Google Shape;437;p31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Chunk2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scale:64</a:t>
                </a:r>
                <a:endParaRPr sz="566"/>
              </a:p>
            </p:txBody>
          </p:sp>
          <p:sp>
            <p:nvSpPr>
              <p:cNvPr id="438" name="Google Shape;438;p31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38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7000" lIns="37000" spcFirstLastPara="1" rIns="37000" wrap="square" tIns="370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Chunk3</a:t>
                </a:r>
                <a:endParaRPr sz="566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566"/>
                  <a:t>scale:16</a:t>
                </a:r>
                <a:endParaRPr sz="566"/>
              </a:p>
            </p:txBody>
          </p:sp>
        </p:grpSp>
        <p:sp>
          <p:nvSpPr>
            <p:cNvPr id="439" name="Google Shape;439;p31"/>
            <p:cNvSpPr txBox="1"/>
            <p:nvPr/>
          </p:nvSpPr>
          <p:spPr>
            <a:xfrm>
              <a:off x="6626969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440" name="Google Shape;440;p31"/>
            <p:cNvSpPr txBox="1"/>
            <p:nvPr/>
          </p:nvSpPr>
          <p:spPr>
            <a:xfrm>
              <a:off x="7679613" y="54335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7000" lIns="37000" spcFirstLastPara="1" rIns="37000" wrap="square" tIns="370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566">
                  <a:solidFill>
                    <a:schemeClr val="dk1"/>
                  </a:solidFill>
                </a:rPr>
                <a:t>+</a:t>
              </a:r>
              <a:endParaRPr sz="566"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6819831" y="675225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7865200" y="672844"/>
              <a:ext cx="178500" cy="154800"/>
            </a:xfrm>
            <a:prstGeom prst="ellipse">
              <a:avLst/>
            </a:prstGeom>
            <a:noFill/>
            <a:ln cap="flat" cmpd="sng" w="38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7000" lIns="37000" spcFirstLastPara="1" rIns="37000" wrap="square" tIns="3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66"/>
            </a:p>
          </p:txBody>
        </p:sp>
      </p:grpSp>
      <p:sp>
        <p:nvSpPr>
          <p:cNvPr id="430" name="Google Shape;430;p31"/>
          <p:cNvSpPr/>
          <p:nvPr/>
        </p:nvSpPr>
        <p:spPr>
          <a:xfrm>
            <a:off x="6273310" y="3285587"/>
            <a:ext cx="422100" cy="185400"/>
          </a:xfrm>
          <a:prstGeom prst="rect">
            <a:avLst/>
          </a:prstGeom>
          <a:solidFill>
            <a:srgbClr val="B6D7A8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MCM</a:t>
            </a:r>
            <a:endParaRPr sz="566"/>
          </a:p>
        </p:txBody>
      </p:sp>
      <p:sp>
        <p:nvSpPr>
          <p:cNvPr id="443" name="Google Shape;443;p31"/>
          <p:cNvSpPr/>
          <p:nvPr/>
        </p:nvSpPr>
        <p:spPr>
          <a:xfrm>
            <a:off x="6804467" y="3285587"/>
            <a:ext cx="422100" cy="1854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000" lIns="37000" spcFirstLastPara="1" rIns="37000" wrap="square" tIns="3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66"/>
              <a:t>MLP</a:t>
            </a:r>
            <a:endParaRPr sz="566"/>
          </a:p>
        </p:txBody>
      </p:sp>
      <p:cxnSp>
        <p:nvCxnSpPr>
          <p:cNvPr id="444" name="Google Shape;444;p31"/>
          <p:cNvCxnSpPr>
            <a:stCxn id="430" idx="3"/>
            <a:endCxn id="443" idx="1"/>
          </p:cNvCxnSpPr>
          <p:nvPr/>
        </p:nvCxnSpPr>
        <p:spPr>
          <a:xfrm>
            <a:off x="6695410" y="3378287"/>
            <a:ext cx="109200" cy="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31"/>
          <p:cNvCxnSpPr>
            <a:stCxn id="443" idx="2"/>
            <a:endCxn id="404" idx="3"/>
          </p:cNvCxnSpPr>
          <p:nvPr/>
        </p:nvCxnSpPr>
        <p:spPr>
          <a:xfrm rot="5400000">
            <a:off x="6708917" y="3496187"/>
            <a:ext cx="331800" cy="281400"/>
          </a:xfrm>
          <a:prstGeom prst="curvedConnector2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 txBox="1"/>
          <p:nvPr/>
        </p:nvSpPr>
        <p:spPr>
          <a:xfrm>
            <a:off x="3299793" y="335649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h3</a:t>
            </a:r>
            <a:endParaRPr/>
          </a:p>
        </p:txBody>
      </p:sp>
      <p:sp>
        <p:nvSpPr>
          <p:cNvPr id="451" name="Google Shape;451;p32"/>
          <p:cNvSpPr txBox="1"/>
          <p:nvPr>
            <p:ph type="title"/>
          </p:nvPr>
        </p:nvSpPr>
        <p:spPr>
          <a:xfrm>
            <a:off x="33081" y="19019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Structure - TTP detection</a:t>
            </a:r>
            <a:endParaRPr/>
          </a:p>
        </p:txBody>
      </p:sp>
      <p:sp>
        <p:nvSpPr>
          <p:cNvPr id="452" name="Google Shape;452;p32"/>
          <p:cNvSpPr/>
          <p:nvPr/>
        </p:nvSpPr>
        <p:spPr>
          <a:xfrm>
            <a:off x="2539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453" name="Google Shape;453;p32"/>
          <p:cNvSpPr/>
          <p:nvPr/>
        </p:nvSpPr>
        <p:spPr>
          <a:xfrm>
            <a:off x="995725" y="1360400"/>
            <a:ext cx="2626200" cy="1710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 Encoder</a:t>
            </a:r>
            <a:endParaRPr/>
          </a:p>
        </p:txBody>
      </p:sp>
      <p:cxnSp>
        <p:nvCxnSpPr>
          <p:cNvPr id="454" name="Google Shape;454;p32"/>
          <p:cNvCxnSpPr>
            <a:stCxn id="455" idx="2"/>
            <a:endCxn id="456" idx="1"/>
          </p:cNvCxnSpPr>
          <p:nvPr/>
        </p:nvCxnSpPr>
        <p:spPr>
          <a:xfrm rot="5400000">
            <a:off x="1102150" y="2672425"/>
            <a:ext cx="994500" cy="1376700"/>
          </a:xfrm>
          <a:prstGeom prst="curvedConnector4">
            <a:avLst>
              <a:gd fmla="val 38477" name="adj1"/>
              <a:gd fmla="val 117304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57" name="Google Shape;457;p32"/>
          <p:cNvGrpSpPr/>
          <p:nvPr/>
        </p:nvGrpSpPr>
        <p:grpSpPr>
          <a:xfrm>
            <a:off x="5773125" y="1394875"/>
            <a:ext cx="3159300" cy="1778400"/>
            <a:chOff x="513899" y="3066238"/>
            <a:chExt cx="3159300" cy="1778400"/>
          </a:xfrm>
        </p:grpSpPr>
        <p:sp>
          <p:nvSpPr>
            <p:cNvPr id="458" name="Google Shape;458;p32"/>
            <p:cNvSpPr/>
            <p:nvPr/>
          </p:nvSpPr>
          <p:spPr>
            <a:xfrm>
              <a:off x="513899" y="3066238"/>
              <a:ext cx="31593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459" name="Google Shape;459;p32"/>
            <p:cNvSpPr/>
            <p:nvPr/>
          </p:nvSpPr>
          <p:spPr>
            <a:xfrm>
              <a:off x="732645" y="3382738"/>
              <a:ext cx="12984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460" name="Google Shape;460;p32"/>
            <p:cNvSpPr/>
            <p:nvPr/>
          </p:nvSpPr>
          <p:spPr>
            <a:xfrm>
              <a:off x="770299" y="4147813"/>
              <a:ext cx="122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2483723" y="3382738"/>
              <a:ext cx="791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2289624" y="4147813"/>
              <a:ext cx="11355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463" name="Google Shape;463;p32"/>
            <p:cNvCxnSpPr>
              <a:stCxn id="459" idx="2"/>
              <a:endCxn id="460" idx="0"/>
            </p:cNvCxnSpPr>
            <p:nvPr/>
          </p:nvCxnSpPr>
          <p:spPr>
            <a:xfrm>
              <a:off x="1381845" y="3955438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4" name="Google Shape;464;p32"/>
            <p:cNvCxnSpPr>
              <a:stCxn id="460" idx="3"/>
              <a:endCxn id="461" idx="1"/>
            </p:cNvCxnSpPr>
            <p:nvPr/>
          </p:nvCxnSpPr>
          <p:spPr>
            <a:xfrm flipH="1" rot="10800000">
              <a:off x="1993399" y="3669163"/>
              <a:ext cx="4902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5" name="Google Shape;465;p32"/>
            <p:cNvCxnSpPr>
              <a:stCxn id="461" idx="2"/>
              <a:endCxn id="462" idx="0"/>
            </p:cNvCxnSpPr>
            <p:nvPr/>
          </p:nvCxnSpPr>
          <p:spPr>
            <a:xfrm flipH="1">
              <a:off x="2857373" y="3955438"/>
              <a:ext cx="2190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6" name="Google Shape;466;p32"/>
          <p:cNvSpPr/>
          <p:nvPr/>
        </p:nvSpPr>
        <p:spPr>
          <a:xfrm>
            <a:off x="1349425" y="170067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Graph Self-Attention</a:t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>
            <a:off x="910950" y="362882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467" name="Google Shape;467;p32"/>
          <p:cNvSpPr/>
          <p:nvPr/>
        </p:nvSpPr>
        <p:spPr>
          <a:xfrm>
            <a:off x="4064325" y="3630463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468" name="Google Shape;468;p32"/>
          <p:cNvCxnSpPr>
            <a:stCxn id="456" idx="3"/>
            <a:endCxn id="469" idx="1"/>
          </p:cNvCxnSpPr>
          <p:nvPr/>
        </p:nvCxnSpPr>
        <p:spPr>
          <a:xfrm>
            <a:off x="1702050" y="3857875"/>
            <a:ext cx="72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32"/>
          <p:cNvCxnSpPr>
            <a:stCxn id="467" idx="3"/>
            <a:endCxn id="471" idx="1"/>
          </p:cNvCxnSpPr>
          <p:nvPr/>
        </p:nvCxnSpPr>
        <p:spPr>
          <a:xfrm>
            <a:off x="4855425" y="3859513"/>
            <a:ext cx="31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32"/>
          <p:cNvSpPr/>
          <p:nvPr/>
        </p:nvSpPr>
        <p:spPr>
          <a:xfrm>
            <a:off x="5167000" y="36304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472" name="Google Shape;472;p32"/>
          <p:cNvCxnSpPr>
            <a:stCxn id="471" idx="3"/>
            <a:endCxn id="473" idx="1"/>
          </p:cNvCxnSpPr>
          <p:nvPr/>
        </p:nvCxnSpPr>
        <p:spPr>
          <a:xfrm>
            <a:off x="5958100" y="38595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32"/>
          <p:cNvSpPr/>
          <p:nvPr/>
        </p:nvSpPr>
        <p:spPr>
          <a:xfrm>
            <a:off x="6269463" y="36304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474" name="Google Shape;474;p32"/>
          <p:cNvSpPr/>
          <p:nvPr/>
        </p:nvSpPr>
        <p:spPr>
          <a:xfrm>
            <a:off x="7508450" y="3630531"/>
            <a:ext cx="14715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475" name="Google Shape;475;p32"/>
          <p:cNvCxnSpPr>
            <a:stCxn id="473" idx="3"/>
            <a:endCxn id="474" idx="1"/>
          </p:cNvCxnSpPr>
          <p:nvPr/>
        </p:nvCxnSpPr>
        <p:spPr>
          <a:xfrm>
            <a:off x="7197063" y="3859525"/>
            <a:ext cx="31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32"/>
          <p:cNvSpPr txBox="1"/>
          <p:nvPr/>
        </p:nvSpPr>
        <p:spPr>
          <a:xfrm>
            <a:off x="-167725" y="430572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proto,</a:t>
            </a:r>
            <a:r>
              <a:rPr lang="zh-TW" sz="1600">
                <a:solidFill>
                  <a:schemeClr val="dk1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</a:rPr>
              <a:t>K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h1,</a:t>
            </a:r>
            <a:r>
              <a:rPr lang="zh-TW" sz="1600">
                <a:solidFill>
                  <a:schemeClr val="dk1"/>
                </a:solidFill>
              </a:rPr>
              <a:t> </a:t>
            </a:r>
            <a:r>
              <a:rPr lang="zh-TW" sz="1600">
                <a:solidFill>
                  <a:schemeClr val="dk1"/>
                </a:solidFill>
              </a:rPr>
              <a:t>V</a:t>
            </a:r>
            <a:r>
              <a:rPr lang="zh-TW" sz="1600">
                <a:solidFill>
                  <a:schemeClr val="dk1"/>
                </a:solidFill>
              </a:rPr>
              <a:t>:</a:t>
            </a:r>
            <a:r>
              <a:rPr lang="zh-TW" sz="1600">
                <a:solidFill>
                  <a:schemeClr val="dk1"/>
                </a:solidFill>
              </a:rPr>
              <a:t>h1)</a:t>
            </a:r>
            <a:endParaRPr sz="1600"/>
          </a:p>
        </p:txBody>
      </p:sp>
      <p:sp>
        <p:nvSpPr>
          <p:cNvPr id="477" name="Google Shape;477;p32"/>
          <p:cNvSpPr txBox="1"/>
          <p:nvPr/>
        </p:nvSpPr>
        <p:spPr>
          <a:xfrm>
            <a:off x="4225900" y="2816250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478" name="Google Shape;47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9" name="Google Shape;479;p32"/>
          <p:cNvSpPr txBox="1"/>
          <p:nvPr/>
        </p:nvSpPr>
        <p:spPr>
          <a:xfrm>
            <a:off x="2927550" y="2068525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h1</a:t>
            </a:r>
            <a:endParaRPr/>
          </a:p>
        </p:txBody>
      </p:sp>
      <p:sp>
        <p:nvSpPr>
          <p:cNvPr id="469" name="Google Shape;469;p32"/>
          <p:cNvSpPr/>
          <p:nvPr/>
        </p:nvSpPr>
        <p:spPr>
          <a:xfrm>
            <a:off x="2425050" y="3628848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480" name="Google Shape;480;p32"/>
          <p:cNvCxnSpPr>
            <a:stCxn id="469" idx="3"/>
            <a:endCxn id="467" idx="1"/>
          </p:cNvCxnSpPr>
          <p:nvPr/>
        </p:nvCxnSpPr>
        <p:spPr>
          <a:xfrm>
            <a:off x="3216150" y="3857898"/>
            <a:ext cx="8481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" name="Google Shape;481;p32"/>
          <p:cNvSpPr txBox="1"/>
          <p:nvPr/>
        </p:nvSpPr>
        <p:spPr>
          <a:xfrm>
            <a:off x="1393050" y="4644475"/>
            <a:ext cx="285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(Q:h2, K:h2, V:h2)</a:t>
            </a:r>
            <a:endParaRPr sz="1600"/>
          </a:p>
        </p:txBody>
      </p:sp>
      <p:sp>
        <p:nvSpPr>
          <p:cNvPr id="482" name="Google Shape;482;p32"/>
          <p:cNvSpPr txBox="1"/>
          <p:nvPr/>
        </p:nvSpPr>
        <p:spPr>
          <a:xfrm>
            <a:off x="1821693" y="3369083"/>
            <a:ext cx="54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h2</a:t>
            </a:r>
            <a:endParaRPr/>
          </a:p>
        </p:txBody>
      </p:sp>
      <p:cxnSp>
        <p:nvCxnSpPr>
          <p:cNvPr id="483" name="Google Shape;483;p32"/>
          <p:cNvCxnSpPr>
            <a:stCxn id="456" idx="2"/>
            <a:endCxn id="476" idx="0"/>
          </p:cNvCxnSpPr>
          <p:nvPr/>
        </p:nvCxnSpPr>
        <p:spPr>
          <a:xfrm flipH="1">
            <a:off x="1259700" y="4086925"/>
            <a:ext cx="46800" cy="21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32"/>
          <p:cNvCxnSpPr>
            <a:stCxn id="469" idx="2"/>
            <a:endCxn id="481" idx="0"/>
          </p:cNvCxnSpPr>
          <p:nvPr/>
        </p:nvCxnSpPr>
        <p:spPr>
          <a:xfrm>
            <a:off x="2820600" y="4086948"/>
            <a:ext cx="0" cy="55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" name="Google Shape;485;p32"/>
          <p:cNvSpPr txBox="1"/>
          <p:nvPr/>
        </p:nvSpPr>
        <p:spPr>
          <a:xfrm>
            <a:off x="3578075" y="4644475"/>
            <a:ext cx="23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(Q:h1, K:h3, V:h3)</a:t>
            </a:r>
            <a:endParaRPr sz="1600"/>
          </a:p>
        </p:txBody>
      </p:sp>
      <p:cxnSp>
        <p:nvCxnSpPr>
          <p:cNvPr id="486" name="Google Shape;486;p32"/>
          <p:cNvCxnSpPr>
            <a:stCxn id="467" idx="2"/>
            <a:endCxn id="485" idx="0"/>
          </p:cNvCxnSpPr>
          <p:nvPr/>
        </p:nvCxnSpPr>
        <p:spPr>
          <a:xfrm>
            <a:off x="4459875" y="4088563"/>
            <a:ext cx="309300" cy="5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32"/>
          <p:cNvCxnSpPr>
            <a:stCxn id="479" idx="3"/>
            <a:endCxn id="467" idx="0"/>
          </p:cNvCxnSpPr>
          <p:nvPr/>
        </p:nvCxnSpPr>
        <p:spPr>
          <a:xfrm>
            <a:off x="3476250" y="2284075"/>
            <a:ext cx="983700" cy="1346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8" name="Google Shape;488;p32"/>
          <p:cNvSpPr txBox="1"/>
          <p:nvPr/>
        </p:nvSpPr>
        <p:spPr>
          <a:xfrm>
            <a:off x="84050" y="3071312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proto</a:t>
            </a:r>
            <a:endParaRPr/>
          </a:p>
        </p:txBody>
      </p:sp>
      <p:cxnSp>
        <p:nvCxnSpPr>
          <p:cNvPr id="489" name="Google Shape;489;p32"/>
          <p:cNvCxnSpPr>
            <a:stCxn id="479" idx="3"/>
            <a:endCxn id="456" idx="0"/>
          </p:cNvCxnSpPr>
          <p:nvPr/>
        </p:nvCxnSpPr>
        <p:spPr>
          <a:xfrm flipH="1">
            <a:off x="1306350" y="2284075"/>
            <a:ext cx="2169900" cy="1344900"/>
          </a:xfrm>
          <a:prstGeom prst="curvedConnector4">
            <a:avLst>
              <a:gd fmla="val -10974" name="adj1"/>
              <a:gd fmla="val 5800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0" name="Google Shape;490;p32"/>
          <p:cNvSpPr txBox="1"/>
          <p:nvPr/>
        </p:nvSpPr>
        <p:spPr>
          <a:xfrm>
            <a:off x="5852775" y="4321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Loss = crf_loss + w * focal_loss</a:t>
            </a:r>
            <a:endParaRPr/>
          </a:p>
        </p:txBody>
      </p:sp>
      <p:cxnSp>
        <p:nvCxnSpPr>
          <p:cNvPr id="491" name="Google Shape;491;p32"/>
          <p:cNvCxnSpPr/>
          <p:nvPr/>
        </p:nvCxnSpPr>
        <p:spPr>
          <a:xfrm>
            <a:off x="2287829" y="2158775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32"/>
          <p:cNvSpPr txBox="1"/>
          <p:nvPr/>
        </p:nvSpPr>
        <p:spPr>
          <a:xfrm>
            <a:off x="3457175" y="2714675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  <p:grpSp>
        <p:nvGrpSpPr>
          <p:cNvPr id="493" name="Google Shape;493;p32"/>
          <p:cNvGrpSpPr/>
          <p:nvPr/>
        </p:nvGrpSpPr>
        <p:grpSpPr>
          <a:xfrm>
            <a:off x="9729625" y="3662550"/>
            <a:ext cx="1761900" cy="615600"/>
            <a:chOff x="6591025" y="4184550"/>
            <a:chExt cx="1761900" cy="615600"/>
          </a:xfrm>
        </p:grpSpPr>
        <p:sp>
          <p:nvSpPr>
            <p:cNvPr id="494" name="Google Shape;494;p32"/>
            <p:cNvSpPr txBox="1"/>
            <p:nvPr/>
          </p:nvSpPr>
          <p:spPr>
            <a:xfrm>
              <a:off x="6591025" y="4184550"/>
              <a:ext cx="1761900" cy="615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Train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Inference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495" name="Google Shape;495;p32"/>
            <p:cNvCxnSpPr/>
            <p:nvPr/>
          </p:nvCxnSpPr>
          <p:spPr>
            <a:xfrm>
              <a:off x="7602450" y="438466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96" name="Google Shape;496;p32"/>
            <p:cNvCxnSpPr/>
            <p:nvPr/>
          </p:nvCxnSpPr>
          <p:spPr>
            <a:xfrm>
              <a:off x="7602450" y="4600211"/>
              <a:ext cx="589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55" name="Google Shape;455;p32"/>
          <p:cNvSpPr/>
          <p:nvPr/>
        </p:nvSpPr>
        <p:spPr>
          <a:xfrm>
            <a:off x="1349350" y="2405425"/>
            <a:ext cx="18768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PrototypeEncoder </a:t>
            </a:r>
            <a:endParaRPr/>
          </a:p>
        </p:txBody>
      </p:sp>
      <p:cxnSp>
        <p:nvCxnSpPr>
          <p:cNvPr id="497" name="Google Shape;497;p32"/>
          <p:cNvCxnSpPr>
            <a:stCxn id="452" idx="3"/>
            <a:endCxn id="498" idx="1"/>
          </p:cNvCxnSpPr>
          <p:nvPr/>
        </p:nvCxnSpPr>
        <p:spPr>
          <a:xfrm>
            <a:off x="1792004" y="880300"/>
            <a:ext cx="295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99" name="Google Shape;499;p32"/>
          <p:cNvGrpSpPr/>
          <p:nvPr/>
        </p:nvGrpSpPr>
        <p:grpSpPr>
          <a:xfrm>
            <a:off x="5672456" y="116150"/>
            <a:ext cx="3360646" cy="1151100"/>
            <a:chOff x="4666256" y="19025"/>
            <a:chExt cx="3360646" cy="1151100"/>
          </a:xfrm>
        </p:grpSpPr>
        <p:sp>
          <p:nvSpPr>
            <p:cNvPr id="500" name="Google Shape;500;p32"/>
            <p:cNvSpPr txBox="1"/>
            <p:nvPr/>
          </p:nvSpPr>
          <p:spPr>
            <a:xfrm>
              <a:off x="5877750" y="141951"/>
              <a:ext cx="1711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Chunk1</a:t>
              </a:r>
              <a:br>
                <a:rPr lang="zh-TW">
                  <a:solidFill>
                    <a:schemeClr val="dk1"/>
                  </a:solidFill>
                </a:rPr>
              </a:br>
              <a:r>
                <a:rPr lang="zh-TW">
                  <a:solidFill>
                    <a:schemeClr val="dk1"/>
                  </a:solidFill>
                </a:rPr>
                <a:t>window:256</a:t>
              </a:r>
              <a:endParaRPr/>
            </a:p>
          </p:txBody>
        </p:sp>
        <p:grpSp>
          <p:nvGrpSpPr>
            <p:cNvPr id="501" name="Google Shape;501;p32"/>
            <p:cNvGrpSpPr/>
            <p:nvPr/>
          </p:nvGrpSpPr>
          <p:grpSpPr>
            <a:xfrm>
              <a:off x="4666256" y="19025"/>
              <a:ext cx="3360646" cy="1151100"/>
              <a:chOff x="6117013" y="141950"/>
              <a:chExt cx="3281881" cy="1151100"/>
            </a:xfrm>
          </p:grpSpPr>
          <p:grpSp>
            <p:nvGrpSpPr>
              <p:cNvPr id="502" name="Google Shape;502;p32"/>
              <p:cNvGrpSpPr/>
              <p:nvPr/>
            </p:nvGrpSpPr>
            <p:grpSpPr>
              <a:xfrm>
                <a:off x="6117013" y="141950"/>
                <a:ext cx="3281881" cy="1151100"/>
                <a:chOff x="513899" y="3066238"/>
                <a:chExt cx="3159300" cy="1151100"/>
              </a:xfrm>
            </p:grpSpPr>
            <p:sp>
              <p:nvSpPr>
                <p:cNvPr id="503" name="Google Shape;503;p32"/>
                <p:cNvSpPr/>
                <p:nvPr/>
              </p:nvSpPr>
              <p:spPr>
                <a:xfrm>
                  <a:off x="513899" y="3066238"/>
                  <a:ext cx="3159300" cy="1151100"/>
                </a:xfrm>
                <a:prstGeom prst="rect">
                  <a:avLst/>
                </a:prstGeom>
                <a:solidFill>
                  <a:srgbClr val="B6D7A8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Multi-Chunk Module</a:t>
                  </a:r>
                  <a:endParaRPr/>
                </a:p>
              </p:txBody>
            </p:sp>
            <p:sp>
              <p:nvSpPr>
                <p:cNvPr id="504" name="Google Shape;504;p32"/>
                <p:cNvSpPr/>
                <p:nvPr/>
              </p:nvSpPr>
              <p:spPr>
                <a:xfrm>
                  <a:off x="610652" y="3460938"/>
                  <a:ext cx="889200" cy="572700"/>
                </a:xfrm>
                <a:prstGeom prst="rect">
                  <a:avLst/>
                </a:prstGeom>
                <a:solidFill>
                  <a:srgbClr val="EFEFEF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Chunk1</a:t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zh-TW"/>
                    <a:t>scale:256</a:t>
                  </a:r>
                  <a:endParaRPr/>
                </a:p>
              </p:txBody>
            </p:sp>
          </p:grpSp>
          <p:sp>
            <p:nvSpPr>
              <p:cNvPr id="505" name="Google Shape;505;p32"/>
              <p:cNvSpPr/>
              <p:nvPr/>
            </p:nvSpPr>
            <p:spPr>
              <a:xfrm>
                <a:off x="73395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Chunk2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scale:64</a:t>
                </a:r>
                <a:endParaRPr/>
              </a:p>
            </p:txBody>
          </p:sp>
          <p:sp>
            <p:nvSpPr>
              <p:cNvPr id="506" name="Google Shape;506;p32"/>
              <p:cNvSpPr/>
              <p:nvPr/>
            </p:nvSpPr>
            <p:spPr>
              <a:xfrm>
                <a:off x="8366128" y="536650"/>
                <a:ext cx="8283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Chunk</a:t>
                </a:r>
                <a:r>
                  <a:rPr lang="zh-TW"/>
                  <a:t>3</a:t>
                </a:r>
                <a:endParaRPr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scale:</a:t>
                </a:r>
                <a:r>
                  <a:rPr lang="zh-TW"/>
                  <a:t>16</a:t>
                </a:r>
                <a:endParaRPr/>
              </a:p>
            </p:txBody>
          </p:sp>
        </p:grpSp>
        <p:sp>
          <p:nvSpPr>
            <p:cNvPr id="507" name="Google Shape;507;p32"/>
            <p:cNvSpPr txBox="1"/>
            <p:nvPr/>
          </p:nvSpPr>
          <p:spPr>
            <a:xfrm>
              <a:off x="5536419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508" name="Google Shape;508;p32"/>
            <p:cNvSpPr txBox="1"/>
            <p:nvPr/>
          </p:nvSpPr>
          <p:spPr>
            <a:xfrm>
              <a:off x="6589063" y="492006"/>
              <a:ext cx="54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+</a:t>
              </a:r>
              <a:endParaRPr/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5729281" y="623875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6774650" y="621494"/>
              <a:ext cx="178500" cy="154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32"/>
          <p:cNvSpPr/>
          <p:nvPr/>
        </p:nvSpPr>
        <p:spPr>
          <a:xfrm>
            <a:off x="2087575" y="651250"/>
            <a:ext cx="1043400" cy="458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MCM</a:t>
            </a:r>
            <a:endParaRPr/>
          </a:p>
        </p:txBody>
      </p:sp>
      <p:sp>
        <p:nvSpPr>
          <p:cNvPr id="511" name="Google Shape;511;p32"/>
          <p:cNvSpPr/>
          <p:nvPr/>
        </p:nvSpPr>
        <p:spPr>
          <a:xfrm>
            <a:off x="3400438" y="651250"/>
            <a:ext cx="10434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cxnSp>
        <p:nvCxnSpPr>
          <p:cNvPr id="512" name="Google Shape;512;p32"/>
          <p:cNvCxnSpPr>
            <a:stCxn id="498" idx="3"/>
            <a:endCxn id="511" idx="1"/>
          </p:cNvCxnSpPr>
          <p:nvPr/>
        </p:nvCxnSpPr>
        <p:spPr>
          <a:xfrm>
            <a:off x="3130975" y="880300"/>
            <a:ext cx="26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32"/>
          <p:cNvCxnSpPr>
            <a:stCxn id="511" idx="2"/>
            <a:endCxn id="466" idx="3"/>
          </p:cNvCxnSpPr>
          <p:nvPr/>
        </p:nvCxnSpPr>
        <p:spPr>
          <a:xfrm rot="5400000">
            <a:off x="3163888" y="1171600"/>
            <a:ext cx="820500" cy="696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3"/>
          <p:cNvSpPr txBox="1"/>
          <p:nvPr>
            <p:ph type="title"/>
          </p:nvPr>
        </p:nvSpPr>
        <p:spPr>
          <a:xfrm>
            <a:off x="311700" y="136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Alarm Structure</a:t>
            </a:r>
            <a:endParaRPr/>
          </a:p>
        </p:txBody>
      </p:sp>
      <p:sp>
        <p:nvSpPr>
          <p:cNvPr id="519" name="Google Shape;51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0" name="Google Shape;520;p33"/>
          <p:cNvSpPr txBox="1"/>
          <p:nvPr>
            <p:ph idx="1" type="body"/>
          </p:nvPr>
        </p:nvSpPr>
        <p:spPr>
          <a:xfrm>
            <a:off x="217200" y="709425"/>
            <a:ext cx="8709600" cy="1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zh-TW" sz="1400">
                <a:solidFill>
                  <a:schemeClr val="dk1"/>
                </a:solidFill>
              </a:rPr>
              <a:t>階段權重 (Stage Weights)</a:t>
            </a:r>
            <a:r>
              <a:rPr lang="zh-TW" sz="1400">
                <a:solidFill>
                  <a:schemeClr val="dk1"/>
                </a:solidFill>
              </a:rPr>
              <a:t>：不同的 Tactic 具備不同的基礎風險值（例如：Impact 遠高於 Discovery）。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zh-TW" sz="1400">
                <a:solidFill>
                  <a:schemeClr val="dk1"/>
                </a:solidFill>
              </a:rPr>
              <a:t>時間衰減 (Time Decay)</a:t>
            </a:r>
            <a:r>
              <a:rPr lang="zh-TW" sz="1400">
                <a:solidFill>
                  <a:schemeClr val="dk1"/>
                </a:solidFill>
              </a:rPr>
              <a:t>：風險分數會隨時間推移衰減，避免長期累積的低危險行為導致誤報。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zh-TW" sz="1400">
                <a:solidFill>
                  <a:schemeClr val="dk1"/>
                </a:solidFill>
              </a:rPr>
              <a:t>鏈式擴增 (Kill-chain Multiplier)</a:t>
            </a:r>
            <a:r>
              <a:rPr lang="zh-TW" sz="1400">
                <a:solidFill>
                  <a:schemeClr val="dk1"/>
                </a:solidFill>
              </a:rPr>
              <a:t>：如果模型在短時間內偵測到「多個不同的攻擊階段」（例如：Execution -&gt; Privilege_Escalation -&gt; Defense_Evasion），代表攻擊者正在推進 Kill Chain，必須快速增加風險。</a:t>
            </a:r>
            <a:endParaRPr b="1" sz="1400">
              <a:solidFill>
                <a:schemeClr val="dk1"/>
              </a:solidFill>
            </a:endParaRPr>
          </a:p>
        </p:txBody>
      </p:sp>
      <p:pic>
        <p:nvPicPr>
          <p:cNvPr id="521" name="Google Shape;52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400" y="1921725"/>
            <a:ext cx="1676400" cy="333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2" name="Google Shape;52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0575" y="4211443"/>
            <a:ext cx="3448050" cy="3908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3" name="Google Shape;52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0575" y="2438675"/>
            <a:ext cx="3448050" cy="49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4" name="Google Shape;52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9213" y="3110738"/>
            <a:ext cx="2390775" cy="92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33"/>
          <p:cNvSpPr txBox="1"/>
          <p:nvPr/>
        </p:nvSpPr>
        <p:spPr>
          <a:xfrm>
            <a:off x="150975" y="2438675"/>
            <a:ext cx="4837800" cy="2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t：當前的時間步 (Time step) 。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y_t：模型在時間步 t所預測出的tactic標籤</a:t>
            </a:r>
            <a:r>
              <a:rPr lang="zh-TW" sz="1600"/>
              <a:t>。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W：權重映射函數（越後期的攻擊，分數越高）。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R_t：當下的基礎風險分數。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U(t)：近期視窗內觀測到的相異戰術數量。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M(t)：風險擴增乘數（tactic種類越多，值越大）。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S(t)：系統目前的</a:t>
            </a:r>
            <a:r>
              <a:rPr b="1" lang="zh-TW" sz="1600">
                <a:solidFill>
                  <a:schemeClr val="dk1"/>
                </a:solidFill>
              </a:rPr>
              <a:t>總風險分數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</a:t>
            </a:r>
            <a:endParaRPr/>
          </a:p>
        </p:txBody>
      </p:sp>
      <p:sp>
        <p:nvSpPr>
          <p:cNvPr id="531" name="Google Shape;5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32" name="Google Shape;5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750" y="1048775"/>
            <a:ext cx="5594502" cy="3820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311700" y="106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</a:t>
            </a:r>
            <a:endParaRPr/>
          </a:p>
        </p:txBody>
      </p:sp>
      <p:sp>
        <p:nvSpPr>
          <p:cNvPr id="538" name="Google Shape;53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39" name="Google Shape;5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850" y="679475"/>
            <a:ext cx="5516290" cy="41592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6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Kellect4APT</a:t>
            </a:r>
            <a:endParaRPr/>
          </a:p>
        </p:txBody>
      </p:sp>
      <p:sp>
        <p:nvSpPr>
          <p:cNvPr id="545" name="Google Shape;545;p36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Leave one sample out &amp;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One-shot or Few-shot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average 6 sample per TTPs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6" name="Google Shape;546;p36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 sample per TTP and cross-validation.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65 TTPs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414 samples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47" name="Google Shape;547;p36"/>
          <p:cNvPicPr preferRelativeResize="0"/>
          <p:nvPr/>
        </p:nvPicPr>
        <p:blipFill rotWithShape="1">
          <a:blip r:embed="rId3">
            <a:alphaModFix/>
          </a:blip>
          <a:srcRect b="38291" l="0" r="0" t="42952"/>
          <a:stretch/>
        </p:blipFill>
        <p:spPr>
          <a:xfrm>
            <a:off x="423163" y="3685504"/>
            <a:ext cx="8297674" cy="124102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8" name="Google Shape;54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9" name="Google Shape;549;p36"/>
          <p:cNvSpPr txBox="1"/>
          <p:nvPr/>
        </p:nvSpPr>
        <p:spPr>
          <a:xfrm>
            <a:off x="5677550" y="322380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550" name="Google Shape;550;p36"/>
          <p:cNvSpPr txBox="1"/>
          <p:nvPr/>
        </p:nvSpPr>
        <p:spPr>
          <a:xfrm>
            <a:off x="6760800" y="322380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551" name="Google Shape;551;p36"/>
          <p:cNvSpPr txBox="1"/>
          <p:nvPr/>
        </p:nvSpPr>
        <p:spPr>
          <a:xfrm>
            <a:off x="7733025" y="3223800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SAGA</a:t>
            </a:r>
            <a:endParaRPr/>
          </a:p>
        </p:txBody>
      </p:sp>
      <p:pic>
        <p:nvPicPr>
          <p:cNvPr id="557" name="Google Shape;557;p37"/>
          <p:cNvPicPr preferRelativeResize="0"/>
          <p:nvPr/>
        </p:nvPicPr>
        <p:blipFill rotWithShape="1">
          <a:blip r:embed="rId3">
            <a:alphaModFix/>
          </a:blip>
          <a:srcRect b="19535" l="0" r="0" t="61992"/>
          <a:stretch/>
        </p:blipFill>
        <p:spPr>
          <a:xfrm>
            <a:off x="120862" y="3406503"/>
            <a:ext cx="8902274" cy="131129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8" name="Google Shape;558;p37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16900 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Total Events: 7,949,998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Benign : 4,146,957 events (52.16%)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Malicious : 3,803,041 events (47.84%)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9" name="Google Shape;559;p37"/>
          <p:cNvSpPr txBox="1"/>
          <p:nvPr>
            <p:ph idx="1" type="body"/>
          </p:nvPr>
        </p:nvSpPr>
        <p:spPr>
          <a:xfrm>
            <a:off x="4572000" y="713050"/>
            <a:ext cx="4451100" cy="19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Known APT Campaigns C1~C8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SFM (C1,3,5,7,8)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0" name="Google Shape;56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1" name="Google Shape;561;p37"/>
          <p:cNvSpPr txBox="1"/>
          <p:nvPr/>
        </p:nvSpPr>
        <p:spPr>
          <a:xfrm>
            <a:off x="5868275" y="2817875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562" name="Google Shape;562;p37"/>
          <p:cNvSpPr txBox="1"/>
          <p:nvPr/>
        </p:nvSpPr>
        <p:spPr>
          <a:xfrm>
            <a:off x="6951525" y="2817875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563" name="Google Shape;563;p37"/>
          <p:cNvSpPr txBox="1"/>
          <p:nvPr/>
        </p:nvSpPr>
        <p:spPr>
          <a:xfrm>
            <a:off x="7923750" y="2817875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38"/>
          <p:cNvPicPr preferRelativeResize="0"/>
          <p:nvPr/>
        </p:nvPicPr>
        <p:blipFill rotWithShape="1">
          <a:blip r:embed="rId3">
            <a:alphaModFix/>
          </a:blip>
          <a:srcRect b="0" l="0" r="0" t="80465"/>
          <a:stretch/>
        </p:blipFill>
        <p:spPr>
          <a:xfrm>
            <a:off x="357826" y="3473501"/>
            <a:ext cx="8428350" cy="131292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9" name="Google Shape;569;p38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Train: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0" name="Google Shape;570;p38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1" name="Google Shape;571;p38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Casinolimit</a:t>
            </a:r>
            <a:endParaRPr/>
          </a:p>
        </p:txBody>
      </p:sp>
      <p:sp>
        <p:nvSpPr>
          <p:cNvPr id="572" name="Google Shape;57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3" name="Google Shape;573;p38"/>
          <p:cNvSpPr txBox="1"/>
          <p:nvPr/>
        </p:nvSpPr>
        <p:spPr>
          <a:xfrm>
            <a:off x="5677550" y="299035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574" name="Google Shape;574;p38"/>
          <p:cNvSpPr txBox="1"/>
          <p:nvPr/>
        </p:nvSpPr>
        <p:spPr>
          <a:xfrm>
            <a:off x="6760800" y="2990350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575" name="Google Shape;575;p38"/>
          <p:cNvSpPr txBox="1"/>
          <p:nvPr/>
        </p:nvSpPr>
        <p:spPr>
          <a:xfrm>
            <a:off x="7733025" y="2990350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39"/>
          <p:cNvPicPr preferRelativeResize="0"/>
          <p:nvPr/>
        </p:nvPicPr>
        <p:blipFill rotWithShape="1">
          <a:blip r:embed="rId3">
            <a:alphaModFix/>
          </a:blip>
          <a:srcRect b="19542" l="0" r="0" t="45661"/>
          <a:stretch/>
        </p:blipFill>
        <p:spPr>
          <a:xfrm>
            <a:off x="953288" y="3144000"/>
            <a:ext cx="7194751" cy="17099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1" name="Google Shape;581;p39"/>
          <p:cNvSpPr txBox="1"/>
          <p:nvPr>
            <p:ph type="title"/>
          </p:nvPr>
        </p:nvSpPr>
        <p:spPr>
          <a:xfrm>
            <a:off x="311700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E3 Datasets</a:t>
            </a:r>
            <a:endParaRPr/>
          </a:p>
        </p:txBody>
      </p:sp>
      <p:graphicFrame>
        <p:nvGraphicFramePr>
          <p:cNvPr id="582" name="Google Shape;582;p39"/>
          <p:cNvGraphicFramePr/>
          <p:nvPr/>
        </p:nvGraphicFramePr>
        <p:xfrm>
          <a:off x="-12" y="67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{919FF171-3011-4F44-B1C0-362C887973A1}</a:tableStyleId>
              </a:tblPr>
              <a:tblGrid>
                <a:gridCol w="1630600"/>
                <a:gridCol w="2336050"/>
                <a:gridCol w="1676875"/>
                <a:gridCol w="3457800"/>
              </a:tblGrid>
              <a:tr h="63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Dataset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Training Dates(僅選擇 APT 攻擊發起前的良性活動日期)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Validation Date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Test Dates </a:t>
                      </a:r>
                      <a:r>
                        <a:rPr b="1" i="1" lang="zh-TW" sz="1100"/>
                        <a:t>(mostly attack days)</a:t>
                      </a:r>
                      <a:br>
                        <a:rPr b="1" i="1" lang="zh-TW" sz="1100"/>
                      </a:br>
                      <a:r>
                        <a:rPr b="1" i="1" lang="zh-TW" sz="1100"/>
                        <a:t>(APT 攻擊活動發生的日期)</a:t>
                      </a:r>
                      <a:endParaRPr b="1" i="1" sz="1100"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E3-THEIA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2018-04-03 / 04 / 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2018-04-10 / 12</a:t>
                      </a:r>
                      <a:r>
                        <a:rPr lang="zh-TW"/>
                        <a:t>, 2018-04-11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E3-CADETS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2018-04-02 / 03 / 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2018-04-06</a:t>
                      </a:r>
                      <a:r>
                        <a:rPr lang="zh-TW"/>
                        <a:t>, 2018-04-07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E3-ClearScope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2018-04-04 / 05 / 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2018-04-10</a:t>
                      </a:r>
                      <a:r>
                        <a:rPr lang="zh-TW"/>
                        <a:t>, 2018-04-11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3" name="Google Shape;58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4" name="Google Shape;584;p39"/>
          <p:cNvSpPr txBox="1"/>
          <p:nvPr/>
        </p:nvSpPr>
        <p:spPr>
          <a:xfrm>
            <a:off x="5440808" y="2624656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P</a:t>
            </a:r>
            <a:endParaRPr/>
          </a:p>
        </p:txBody>
      </p:sp>
      <p:sp>
        <p:nvSpPr>
          <p:cNvPr id="585" name="Google Shape;585;p39"/>
          <p:cNvSpPr txBox="1"/>
          <p:nvPr/>
        </p:nvSpPr>
        <p:spPr>
          <a:xfrm>
            <a:off x="6386162" y="2624656"/>
            <a:ext cx="3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</a:t>
            </a:r>
            <a:endParaRPr/>
          </a:p>
        </p:txBody>
      </p:sp>
      <p:sp>
        <p:nvSpPr>
          <p:cNvPr id="586" name="Google Shape;586;p39"/>
          <p:cNvSpPr txBox="1"/>
          <p:nvPr/>
        </p:nvSpPr>
        <p:spPr>
          <a:xfrm>
            <a:off x="7289440" y="2610867"/>
            <a:ext cx="54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F1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0"/>
          <p:cNvSpPr txBox="1"/>
          <p:nvPr>
            <p:ph type="title"/>
          </p:nvPr>
        </p:nvSpPr>
        <p:spPr>
          <a:xfrm>
            <a:off x="52500" y="183200"/>
            <a:ext cx="903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TTP dection - BiGru + Transformer - PCA ablation</a:t>
            </a:r>
            <a:endParaRPr/>
          </a:p>
        </p:txBody>
      </p:sp>
      <p:pic>
        <p:nvPicPr>
          <p:cNvPr id="592" name="Google Shape;5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1750" y="1180125"/>
            <a:ext cx="4413875" cy="1758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3" name="Google Shape;59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94" name="Google Shape;59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1275"/>
            <a:ext cx="8839199" cy="214095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1"/>
          <p:cNvSpPr txBox="1"/>
          <p:nvPr>
            <p:ph type="title"/>
          </p:nvPr>
        </p:nvSpPr>
        <p:spPr>
          <a:xfrm>
            <a:off x="311700" y="445025"/>
            <a:ext cx="313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rules tagging</a:t>
            </a:r>
            <a:endParaRPr/>
          </a:p>
        </p:txBody>
      </p:sp>
      <p:sp>
        <p:nvSpPr>
          <p:cNvPr id="600" name="Google Shape;60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601" name="Google Shape;60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852" y="1272687"/>
            <a:ext cx="7706299" cy="2598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2"/>
          <p:cNvSpPr txBox="1"/>
          <p:nvPr>
            <p:ph type="title"/>
          </p:nvPr>
        </p:nvSpPr>
        <p:spPr>
          <a:xfrm>
            <a:off x="311700" y="106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CHT</a:t>
            </a:r>
            <a:endParaRPr/>
          </a:p>
        </p:txBody>
      </p:sp>
      <p:pic>
        <p:nvPicPr>
          <p:cNvPr id="607" name="Google Shape;6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1017725"/>
            <a:ext cx="8058150" cy="3781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8" name="Google Shape;60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Results of Threat Hunting</a:t>
            </a:r>
            <a:endParaRPr/>
          </a:p>
        </p:txBody>
      </p:sp>
      <p:pic>
        <p:nvPicPr>
          <p:cNvPr id="614" name="Google Shape;6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0338"/>
            <a:ext cx="8839200" cy="23428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15" name="Google Shape;61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performance</a:t>
            </a:r>
            <a:r>
              <a:rPr lang="zh-TW"/>
              <a:t> comparison</a:t>
            </a:r>
            <a:endParaRPr/>
          </a:p>
        </p:txBody>
      </p:sp>
      <p:pic>
        <p:nvPicPr>
          <p:cNvPr id="621" name="Google Shape;6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9275"/>
            <a:ext cx="8839200" cy="204495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2" name="Google Shape;62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Conclusion</a:t>
            </a:r>
            <a:endParaRPr/>
          </a:p>
        </p:txBody>
      </p:sp>
      <p:sp>
        <p:nvSpPr>
          <p:cNvPr id="628" name="Google Shape;62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本研究提出並實作結合 LLM 與 SecureBERT 2.0 的進階威脅偵測架構，旨在改善傳統系統日誌缺乏語意及誤報率過高的限制。本系統透過以下三階段架構進行初步驗證：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zh-TW" sz="1600">
                <a:solidFill>
                  <a:schemeClr val="dk1"/>
                </a:solidFill>
              </a:rPr>
              <a:t>高階語意映射</a:t>
            </a:r>
            <a:r>
              <a:rPr lang="zh-TW" sz="1600">
                <a:solidFill>
                  <a:schemeClr val="dk1"/>
                </a:solidFill>
              </a:rPr>
              <a:t>：成功將底層日誌透過LLM與資安預訓練模型對映到 MITRE ATT&amp;CK 框架，並且實作自動化 TTP 偵測。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zh-TW" sz="1600">
                <a:solidFill>
                  <a:schemeClr val="dk1"/>
                </a:solidFill>
              </a:rPr>
              <a:t>異常偵測</a:t>
            </a:r>
            <a:r>
              <a:rPr lang="zh-TW" sz="1600">
                <a:solidFill>
                  <a:schemeClr val="dk1"/>
                </a:solidFill>
              </a:rPr>
              <a:t>：運用語意特徵過濾大量正常日誌，解決傳統系統高誤報率問題。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zh-TW" sz="1600">
                <a:solidFill>
                  <a:schemeClr val="dk1"/>
                </a:solidFill>
              </a:rPr>
              <a:t>漸進式警報機制</a:t>
            </a:r>
            <a:r>
              <a:rPr lang="zh-TW" sz="1600">
                <a:solidFill>
                  <a:schemeClr val="dk1"/>
                </a:solidFill>
              </a:rPr>
              <a:t>：透過深度分類與階段性偵測，大幅降低數位鑑識的人工查核成本。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此設計有望為資安人員提供具備解釋能力的警報參考，進而減少後續數位鑑識中的人工查核成本，為抵禦進階持續性威脅 (APT) 提供了一個具發展潛力的防禦方案。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29" name="Google Shape;62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outputs - anydesk</a:t>
            </a:r>
            <a:endParaRPr/>
          </a:p>
        </p:txBody>
      </p:sp>
      <p:pic>
        <p:nvPicPr>
          <p:cNvPr id="635" name="Google Shape;6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425" y="1705675"/>
            <a:ext cx="5960526" cy="223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6" name="Google Shape;636;p46"/>
          <p:cNvSpPr txBox="1"/>
          <p:nvPr/>
        </p:nvSpPr>
        <p:spPr>
          <a:xfrm>
            <a:off x="65975" y="2106325"/>
            <a:ext cx="30000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Ground truth (SAGA labels)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tactics : command-and-control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techniques : T1219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37" name="Google Shape;63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outputs - rJxXgAcLrKwO</a:t>
            </a:r>
            <a:endParaRPr/>
          </a:p>
        </p:txBody>
      </p:sp>
      <p:sp>
        <p:nvSpPr>
          <p:cNvPr id="643" name="Google Shape;643;p47"/>
          <p:cNvSpPr txBox="1"/>
          <p:nvPr/>
        </p:nvSpPr>
        <p:spPr>
          <a:xfrm>
            <a:off x="116650" y="1307175"/>
            <a:ext cx="30000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Ground truth (SAGA labels)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tactics : execution, persistence, privilege-escalation, defense-evasion, discovery, lateral-movement, collection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techniques : T1005, T1021, T1033, T1059, T1518, T1547, T1548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sub-techniques: T1021.001, T1059.001, T1518.001, T1547.001, T1548.002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44" name="Google Shape;64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5139" y="1494325"/>
            <a:ext cx="5798212" cy="2154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45" name="Google Shape;64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outputs - TrustedInstaller.exe (Windows)</a:t>
            </a:r>
            <a:endParaRPr/>
          </a:p>
        </p:txBody>
      </p:sp>
      <p:sp>
        <p:nvSpPr>
          <p:cNvPr id="651" name="Google Shape;651;p48"/>
          <p:cNvSpPr txBox="1"/>
          <p:nvPr/>
        </p:nvSpPr>
        <p:spPr>
          <a:xfrm>
            <a:off x="82850" y="2137650"/>
            <a:ext cx="3000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Ground truth (SAGA labels)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Benign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652" name="Google Shape;65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0175" y="1357538"/>
            <a:ext cx="5722550" cy="23544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53" name="Google Shape;65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"/>
          <p:cNvSpPr txBox="1"/>
          <p:nvPr>
            <p:ph type="title"/>
          </p:nvPr>
        </p:nvSpPr>
        <p:spPr>
          <a:xfrm>
            <a:off x="358300" y="209050"/>
            <a:ext cx="705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Method - Semantic</a:t>
            </a:r>
            <a:endParaRPr/>
          </a:p>
        </p:txBody>
      </p:sp>
      <p:sp>
        <p:nvSpPr>
          <p:cNvPr id="659" name="Google Shape;659;p49"/>
          <p:cNvSpPr/>
          <p:nvPr/>
        </p:nvSpPr>
        <p:spPr>
          <a:xfrm>
            <a:off x="765675" y="1422550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log</a:t>
            </a:r>
            <a:endParaRPr sz="1600"/>
          </a:p>
        </p:txBody>
      </p:sp>
      <p:sp>
        <p:nvSpPr>
          <p:cNvPr id="660" name="Google Shape;660;p49"/>
          <p:cNvSpPr/>
          <p:nvPr/>
        </p:nvSpPr>
        <p:spPr>
          <a:xfrm>
            <a:off x="3919775" y="1422550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LLM</a:t>
            </a:r>
            <a:endParaRPr sz="1600"/>
          </a:p>
        </p:txBody>
      </p:sp>
      <p:cxnSp>
        <p:nvCxnSpPr>
          <p:cNvPr id="661" name="Google Shape;661;p49"/>
          <p:cNvCxnSpPr>
            <a:stCxn id="659" idx="3"/>
            <a:endCxn id="660" idx="1"/>
          </p:cNvCxnSpPr>
          <p:nvPr/>
        </p:nvCxnSpPr>
        <p:spPr>
          <a:xfrm>
            <a:off x="1744575" y="1632250"/>
            <a:ext cx="21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2" name="Google Shape;662;p49"/>
          <p:cNvSpPr/>
          <p:nvPr/>
        </p:nvSpPr>
        <p:spPr>
          <a:xfrm>
            <a:off x="7073900" y="1422550"/>
            <a:ext cx="12438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Embedding</a:t>
            </a:r>
            <a:endParaRPr sz="1600"/>
          </a:p>
        </p:txBody>
      </p:sp>
      <p:cxnSp>
        <p:nvCxnSpPr>
          <p:cNvPr id="663" name="Google Shape;663;p49"/>
          <p:cNvCxnSpPr>
            <a:stCxn id="660" idx="3"/>
            <a:endCxn id="662" idx="1"/>
          </p:cNvCxnSpPr>
          <p:nvPr/>
        </p:nvCxnSpPr>
        <p:spPr>
          <a:xfrm>
            <a:off x="4898675" y="1632250"/>
            <a:ext cx="21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p49"/>
          <p:cNvSpPr txBox="1"/>
          <p:nvPr/>
        </p:nvSpPr>
        <p:spPr>
          <a:xfrm>
            <a:off x="69975" y="2311450"/>
            <a:ext cx="3189000" cy="232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把LOG丟進LLM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以Event為單位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以node為單位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考慮前後文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Prompt Engineering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以TTP框架為基底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讓LLM不要輕易標惡意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5" name="Google Shape;665;p49"/>
          <p:cNvSpPr txBox="1"/>
          <p:nvPr/>
        </p:nvSpPr>
        <p:spPr>
          <a:xfrm>
            <a:off x="3439775" y="2342650"/>
            <a:ext cx="2416500" cy="226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大LLM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GPT4o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Gemini Pro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Claude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小LLM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Mistral 7B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Llama 8B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Qwen2.5 7B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666" name="Google Shape;666;p49"/>
          <p:cNvSpPr txBox="1"/>
          <p:nvPr/>
        </p:nvSpPr>
        <p:spPr>
          <a:xfrm>
            <a:off x="6061675" y="2342650"/>
            <a:ext cx="2970900" cy="120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做Embedding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SecureBert2.0</a:t>
            </a:r>
            <a:r>
              <a:rPr lang="zh-TW" sz="1600">
                <a:solidFill>
                  <a:schemeClr val="dk1"/>
                </a:solidFill>
              </a:rPr>
              <a:t> (768)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CyBert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7" name="Google Shape;667;p49"/>
          <p:cNvSpPr txBox="1"/>
          <p:nvPr/>
        </p:nvSpPr>
        <p:spPr>
          <a:xfrm>
            <a:off x="1800475" y="991438"/>
            <a:ext cx="2063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用log生成合理敘述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8" name="Google Shape;668;p49"/>
          <p:cNvSpPr txBox="1"/>
          <p:nvPr/>
        </p:nvSpPr>
        <p:spPr>
          <a:xfrm>
            <a:off x="4954588" y="991438"/>
            <a:ext cx="2063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把敘述轉成emb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669" name="Google Shape;669;p49"/>
          <p:cNvCxnSpPr>
            <a:endCxn id="664" idx="0"/>
          </p:cNvCxnSpPr>
          <p:nvPr/>
        </p:nvCxnSpPr>
        <p:spPr>
          <a:xfrm flipH="1">
            <a:off x="1664475" y="1639750"/>
            <a:ext cx="885300" cy="6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49"/>
          <p:cNvCxnSpPr>
            <a:stCxn id="660" idx="2"/>
            <a:endCxn id="665" idx="0"/>
          </p:cNvCxnSpPr>
          <p:nvPr/>
        </p:nvCxnSpPr>
        <p:spPr>
          <a:xfrm>
            <a:off x="4409225" y="1841950"/>
            <a:ext cx="238800" cy="5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9"/>
          <p:cNvCxnSpPr>
            <a:endCxn id="666" idx="0"/>
          </p:cNvCxnSpPr>
          <p:nvPr/>
        </p:nvCxnSpPr>
        <p:spPr>
          <a:xfrm>
            <a:off x="6219925" y="1640050"/>
            <a:ext cx="1327200" cy="70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49"/>
          <p:cNvSpPr txBox="1"/>
          <p:nvPr/>
        </p:nvSpPr>
        <p:spPr>
          <a:xfrm>
            <a:off x="8015400" y="913754"/>
            <a:ext cx="11286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dim&lt;768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73" name="Google Shape;67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Embedding Method - Relation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0"/>
          <p:cNvSpPr/>
          <p:nvPr/>
        </p:nvSpPr>
        <p:spPr>
          <a:xfrm>
            <a:off x="629604" y="1821045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Relation</a:t>
            </a:r>
            <a:endParaRPr sz="1600"/>
          </a:p>
        </p:txBody>
      </p:sp>
      <p:cxnSp>
        <p:nvCxnSpPr>
          <p:cNvPr id="680" name="Google Shape;680;p50"/>
          <p:cNvCxnSpPr>
            <a:stCxn id="679" idx="3"/>
            <a:endCxn id="681" idx="1"/>
          </p:cNvCxnSpPr>
          <p:nvPr/>
        </p:nvCxnSpPr>
        <p:spPr>
          <a:xfrm>
            <a:off x="1608504" y="2030745"/>
            <a:ext cx="19533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2" name="Google Shape;682;p50"/>
          <p:cNvSpPr/>
          <p:nvPr/>
        </p:nvSpPr>
        <p:spPr>
          <a:xfrm>
            <a:off x="3593004" y="1821045"/>
            <a:ext cx="12438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Embedding</a:t>
            </a:r>
            <a:endParaRPr sz="1600"/>
          </a:p>
        </p:txBody>
      </p:sp>
      <p:sp>
        <p:nvSpPr>
          <p:cNvPr id="683" name="Google Shape;683;p50"/>
          <p:cNvSpPr txBox="1"/>
          <p:nvPr/>
        </p:nvSpPr>
        <p:spPr>
          <a:xfrm>
            <a:off x="812304" y="2727092"/>
            <a:ext cx="35769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用SecureBert2.0轉成embedding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684" name="Google Shape;684;p50"/>
          <p:cNvCxnSpPr>
            <a:endCxn id="683" idx="0"/>
          </p:cNvCxnSpPr>
          <p:nvPr/>
        </p:nvCxnSpPr>
        <p:spPr>
          <a:xfrm flipH="1">
            <a:off x="2600754" y="2033192"/>
            <a:ext cx="9600" cy="6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50"/>
          <p:cNvSpPr/>
          <p:nvPr/>
        </p:nvSpPr>
        <p:spPr>
          <a:xfrm>
            <a:off x="5465754" y="1788495"/>
            <a:ext cx="1371600" cy="48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Semantic Embedding</a:t>
            </a:r>
            <a:endParaRPr sz="1600"/>
          </a:p>
        </p:txBody>
      </p:sp>
      <p:grpSp>
        <p:nvGrpSpPr>
          <p:cNvPr id="686" name="Google Shape;686;p50"/>
          <p:cNvGrpSpPr/>
          <p:nvPr/>
        </p:nvGrpSpPr>
        <p:grpSpPr>
          <a:xfrm>
            <a:off x="4994823" y="1804781"/>
            <a:ext cx="548700" cy="393600"/>
            <a:chOff x="1436923" y="3812213"/>
            <a:chExt cx="548700" cy="393600"/>
          </a:xfrm>
        </p:grpSpPr>
        <p:sp>
          <p:nvSpPr>
            <p:cNvPr id="687" name="Google Shape;687;p50"/>
            <p:cNvSpPr/>
            <p:nvPr/>
          </p:nvSpPr>
          <p:spPr>
            <a:xfrm>
              <a:off x="1460250" y="3911850"/>
              <a:ext cx="268200" cy="256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0"/>
            <p:cNvSpPr txBox="1"/>
            <p:nvPr/>
          </p:nvSpPr>
          <p:spPr>
            <a:xfrm>
              <a:off x="1436923" y="3812213"/>
              <a:ext cx="5487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+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cxnSp>
        <p:nvCxnSpPr>
          <p:cNvPr id="689" name="Google Shape;689;p50"/>
          <p:cNvCxnSpPr>
            <a:stCxn id="681" idx="3"/>
            <a:endCxn id="690" idx="1"/>
          </p:cNvCxnSpPr>
          <p:nvPr/>
        </p:nvCxnSpPr>
        <p:spPr>
          <a:xfrm>
            <a:off x="6905329" y="2033956"/>
            <a:ext cx="9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1" name="Google Shape;681;p50"/>
          <p:cNvSpPr/>
          <p:nvPr/>
        </p:nvSpPr>
        <p:spPr>
          <a:xfrm>
            <a:off x="3561829" y="1671256"/>
            <a:ext cx="3343500" cy="72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0"/>
          <p:cNvSpPr/>
          <p:nvPr/>
        </p:nvSpPr>
        <p:spPr>
          <a:xfrm>
            <a:off x="7856804" y="1824245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Model</a:t>
            </a:r>
            <a:endParaRPr sz="1600"/>
          </a:p>
        </p:txBody>
      </p:sp>
      <p:sp>
        <p:nvSpPr>
          <p:cNvPr id="691" name="Google Shape;691;p50"/>
          <p:cNvSpPr/>
          <p:nvPr/>
        </p:nvSpPr>
        <p:spPr>
          <a:xfrm>
            <a:off x="3771804" y="1281020"/>
            <a:ext cx="886200" cy="3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*512</a:t>
            </a:r>
            <a:endParaRPr sz="1600"/>
          </a:p>
        </p:txBody>
      </p:sp>
      <p:sp>
        <p:nvSpPr>
          <p:cNvPr id="692" name="Google Shape;692;p50"/>
          <p:cNvSpPr/>
          <p:nvPr/>
        </p:nvSpPr>
        <p:spPr>
          <a:xfrm>
            <a:off x="5708454" y="1281020"/>
            <a:ext cx="886200" cy="3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*512x2</a:t>
            </a:r>
            <a:endParaRPr sz="1600"/>
          </a:p>
        </p:txBody>
      </p:sp>
      <p:sp>
        <p:nvSpPr>
          <p:cNvPr id="693" name="Google Shape;693;p50"/>
          <p:cNvSpPr/>
          <p:nvPr/>
        </p:nvSpPr>
        <p:spPr>
          <a:xfrm>
            <a:off x="6938029" y="1281020"/>
            <a:ext cx="886200" cy="3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PCA</a:t>
            </a:r>
            <a:endParaRPr sz="1600"/>
          </a:p>
        </p:txBody>
      </p:sp>
      <p:sp>
        <p:nvSpPr>
          <p:cNvPr id="694" name="Google Shape;69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1"/>
          <p:cNvSpPr txBox="1"/>
          <p:nvPr>
            <p:ph type="title"/>
          </p:nvPr>
        </p:nvSpPr>
        <p:spPr>
          <a:xfrm>
            <a:off x="406200" y="312100"/>
            <a:ext cx="621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relation mapping - Auditd(44)</a:t>
            </a:r>
            <a:endParaRPr/>
          </a:p>
        </p:txBody>
      </p:sp>
      <p:sp>
        <p:nvSpPr>
          <p:cNvPr id="700" name="Google Shape;70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01" name="Google Shape;7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875" y="1460650"/>
            <a:ext cx="6218249" cy="2222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sp>
        <p:nvSpPr>
          <p:cNvPr id="707" name="Google Shape;70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08" name="Google Shape;708;p52"/>
          <p:cNvPicPr preferRelativeResize="0"/>
          <p:nvPr/>
        </p:nvPicPr>
        <p:blipFill rotWithShape="1">
          <a:blip r:embed="rId3">
            <a:alphaModFix/>
          </a:blip>
          <a:srcRect b="9016" l="6353" r="6257" t="8264"/>
          <a:stretch/>
        </p:blipFill>
        <p:spPr>
          <a:xfrm>
            <a:off x="3732250" y="1260100"/>
            <a:ext cx="4945225" cy="3160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709" name="Google Shape;709;p52"/>
          <p:cNvGrpSpPr/>
          <p:nvPr/>
        </p:nvGrpSpPr>
        <p:grpSpPr>
          <a:xfrm>
            <a:off x="212275" y="1411867"/>
            <a:ext cx="3102300" cy="2857200"/>
            <a:chOff x="212275" y="1369267"/>
            <a:chExt cx="3102300" cy="2857200"/>
          </a:xfrm>
        </p:grpSpPr>
        <p:sp>
          <p:nvSpPr>
            <p:cNvPr id="710" name="Google Shape;710;p52"/>
            <p:cNvSpPr/>
            <p:nvPr/>
          </p:nvSpPr>
          <p:spPr>
            <a:xfrm>
              <a:off x="212275" y="1369267"/>
              <a:ext cx="3102300" cy="2857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/>
                <a:t>Input</a:t>
              </a:r>
              <a:endParaRPr sz="2400"/>
            </a:p>
          </p:txBody>
        </p:sp>
        <p:sp>
          <p:nvSpPr>
            <p:cNvPr id="711" name="Google Shape;711;p52"/>
            <p:cNvSpPr/>
            <p:nvPr/>
          </p:nvSpPr>
          <p:spPr>
            <a:xfrm>
              <a:off x="414175" y="1899392"/>
              <a:ext cx="27255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 (src node) *512</a:t>
              </a:r>
              <a:endParaRPr sz="1600"/>
            </a:p>
          </p:txBody>
        </p:sp>
        <p:sp>
          <p:nvSpPr>
            <p:cNvPr id="712" name="Google Shape;712;p52"/>
            <p:cNvSpPr/>
            <p:nvPr/>
          </p:nvSpPr>
          <p:spPr>
            <a:xfrm>
              <a:off x="353275" y="3707742"/>
              <a:ext cx="28473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 (dest node) </a:t>
              </a:r>
              <a:r>
                <a:rPr lang="zh-TW" sz="1600">
                  <a:solidFill>
                    <a:schemeClr val="dk1"/>
                  </a:solidFill>
                </a:rPr>
                <a:t>*512</a:t>
              </a:r>
              <a:endParaRPr sz="1600"/>
            </a:p>
          </p:txBody>
        </p:sp>
        <p:sp>
          <p:nvSpPr>
            <p:cNvPr id="713" name="Google Shape;713;p52"/>
            <p:cNvSpPr/>
            <p:nvPr/>
          </p:nvSpPr>
          <p:spPr>
            <a:xfrm>
              <a:off x="414175" y="2803557"/>
              <a:ext cx="27255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Embedding(relation) </a:t>
              </a:r>
              <a:r>
                <a:rPr lang="zh-TW" sz="1600">
                  <a:solidFill>
                    <a:schemeClr val="dk1"/>
                  </a:solidFill>
                </a:rPr>
                <a:t>*512</a:t>
              </a:r>
              <a:endParaRPr sz="1600"/>
            </a:p>
          </p:txBody>
        </p:sp>
        <p:grpSp>
          <p:nvGrpSpPr>
            <p:cNvPr id="714" name="Google Shape;714;p52"/>
            <p:cNvGrpSpPr/>
            <p:nvPr/>
          </p:nvGrpSpPr>
          <p:grpSpPr>
            <a:xfrm>
              <a:off x="1597311" y="2325070"/>
              <a:ext cx="548700" cy="393600"/>
              <a:chOff x="1436923" y="3812213"/>
              <a:chExt cx="548700" cy="393600"/>
            </a:xfrm>
          </p:grpSpPr>
          <p:sp>
            <p:nvSpPr>
              <p:cNvPr id="715" name="Google Shape;715;p52"/>
              <p:cNvSpPr/>
              <p:nvPr/>
            </p:nvSpPr>
            <p:spPr>
              <a:xfrm>
                <a:off x="1460250" y="3911850"/>
                <a:ext cx="268200" cy="256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52"/>
              <p:cNvSpPr txBox="1"/>
              <p:nvPr/>
            </p:nvSpPr>
            <p:spPr>
              <a:xfrm>
                <a:off x="1436923" y="3812213"/>
                <a:ext cx="548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+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717" name="Google Shape;717;p52"/>
            <p:cNvGrpSpPr/>
            <p:nvPr/>
          </p:nvGrpSpPr>
          <p:grpSpPr>
            <a:xfrm>
              <a:off x="1608975" y="3246905"/>
              <a:ext cx="548700" cy="393600"/>
              <a:chOff x="1436923" y="3812213"/>
              <a:chExt cx="548700" cy="393600"/>
            </a:xfrm>
          </p:grpSpPr>
          <p:sp>
            <p:nvSpPr>
              <p:cNvPr id="718" name="Google Shape;718;p52"/>
              <p:cNvSpPr/>
              <p:nvPr/>
            </p:nvSpPr>
            <p:spPr>
              <a:xfrm>
                <a:off x="1460250" y="3911850"/>
                <a:ext cx="268200" cy="256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52"/>
              <p:cNvSpPr txBox="1"/>
              <p:nvPr/>
            </p:nvSpPr>
            <p:spPr>
              <a:xfrm>
                <a:off x="1436923" y="3812213"/>
                <a:ext cx="548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+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sp>
        <p:nvSpPr>
          <p:cNvPr id="725" name="Google Shape;72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26" name="Google Shape;72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700" y="848775"/>
            <a:ext cx="3730599" cy="396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 with Max Contraint Module</a:t>
            </a:r>
            <a:endParaRPr/>
          </a:p>
        </p:txBody>
      </p:sp>
      <p:sp>
        <p:nvSpPr>
          <p:cNvPr id="732" name="Google Shape;7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33" name="Google Shape;733;p54"/>
          <p:cNvSpPr txBox="1"/>
          <p:nvPr>
            <p:ph idx="1" type="body"/>
          </p:nvPr>
        </p:nvSpPr>
        <p:spPr>
          <a:xfrm>
            <a:off x="0" y="1301675"/>
            <a:ext cx="47514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Max Constriant Module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從technique和sub-tech的結果選一個機率比較大的technique作為technique的結果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4" name="Google Shape;73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975" y="618650"/>
            <a:ext cx="3890174" cy="4296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SFM</a:t>
            </a:r>
            <a:endParaRPr/>
          </a:p>
        </p:txBody>
      </p:sp>
      <p:sp>
        <p:nvSpPr>
          <p:cNvPr id="740" name="Google Shape;740;p55"/>
          <p:cNvSpPr txBox="1"/>
          <p:nvPr>
            <p:ph idx="1" type="body"/>
          </p:nvPr>
        </p:nvSpPr>
        <p:spPr>
          <a:xfrm>
            <a:off x="311700" y="1152475"/>
            <a:ext cx="373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Node→100D、Edge→56D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forward + backward 各輸出 128H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1" name="Google Shape;7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436" y="1017725"/>
            <a:ext cx="4646239" cy="40402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2" name="Google Shape;74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8" name="Google Shape;74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8538"/>
            <a:ext cx="8839200" cy="222641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9" name="Google Shape;74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7"/>
          <p:cNvSpPr txBox="1"/>
          <p:nvPr>
            <p:ph type="title"/>
          </p:nvPr>
        </p:nvSpPr>
        <p:spPr>
          <a:xfrm>
            <a:off x="164050" y="130875"/>
            <a:ext cx="475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- Anamoly Detecion</a:t>
            </a:r>
            <a:endParaRPr/>
          </a:p>
        </p:txBody>
      </p:sp>
      <p:pic>
        <p:nvPicPr>
          <p:cNvPr id="755" name="Google Shape;7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975" y="0"/>
            <a:ext cx="5407825" cy="6274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6" name="Google Shape;756;p57"/>
          <p:cNvSpPr/>
          <p:nvPr/>
        </p:nvSpPr>
        <p:spPr>
          <a:xfrm>
            <a:off x="411954" y="703575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A</a:t>
            </a:r>
            <a:endParaRPr/>
          </a:p>
        </p:txBody>
      </p:sp>
      <p:cxnSp>
        <p:nvCxnSpPr>
          <p:cNvPr id="757" name="Google Shape;757;p57"/>
          <p:cNvCxnSpPr>
            <a:stCxn id="756" idx="2"/>
            <a:endCxn id="758" idx="0"/>
          </p:cNvCxnSpPr>
          <p:nvPr/>
        </p:nvCxnSpPr>
        <p:spPr>
          <a:xfrm>
            <a:off x="1181004" y="11616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8" name="Google Shape;758;p57"/>
          <p:cNvSpPr/>
          <p:nvPr/>
        </p:nvSpPr>
        <p:spPr>
          <a:xfrm>
            <a:off x="411954" y="1481663"/>
            <a:ext cx="1538100" cy="458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</a:t>
            </a:r>
            <a:endParaRPr/>
          </a:p>
        </p:txBody>
      </p:sp>
      <p:cxnSp>
        <p:nvCxnSpPr>
          <p:cNvPr id="759" name="Google Shape;759;p57"/>
          <p:cNvCxnSpPr>
            <a:stCxn id="760" idx="2"/>
            <a:endCxn id="761" idx="0"/>
          </p:cNvCxnSpPr>
          <p:nvPr/>
        </p:nvCxnSpPr>
        <p:spPr>
          <a:xfrm>
            <a:off x="3211229" y="1195038"/>
            <a:ext cx="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57"/>
          <p:cNvSpPr/>
          <p:nvPr/>
        </p:nvSpPr>
        <p:spPr>
          <a:xfrm>
            <a:off x="2442179" y="1481675"/>
            <a:ext cx="1538100" cy="458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</a:t>
            </a:r>
            <a:endParaRPr/>
          </a:p>
        </p:txBody>
      </p:sp>
      <p:sp>
        <p:nvSpPr>
          <p:cNvPr id="760" name="Google Shape;760;p57"/>
          <p:cNvSpPr/>
          <p:nvPr/>
        </p:nvSpPr>
        <p:spPr>
          <a:xfrm>
            <a:off x="2442179" y="736938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B</a:t>
            </a:r>
            <a:endParaRPr/>
          </a:p>
        </p:txBody>
      </p:sp>
      <p:sp>
        <p:nvSpPr>
          <p:cNvPr id="762" name="Google Shape;762;p57"/>
          <p:cNvSpPr/>
          <p:nvPr/>
        </p:nvSpPr>
        <p:spPr>
          <a:xfrm>
            <a:off x="411954" y="2259750"/>
            <a:ext cx="15381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mean pooling</a:t>
            </a:r>
            <a:endParaRPr/>
          </a:p>
        </p:txBody>
      </p:sp>
      <p:sp>
        <p:nvSpPr>
          <p:cNvPr id="763" name="Google Shape;763;p57"/>
          <p:cNvSpPr/>
          <p:nvPr/>
        </p:nvSpPr>
        <p:spPr>
          <a:xfrm>
            <a:off x="2442179" y="2226400"/>
            <a:ext cx="15381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mean pooling</a:t>
            </a:r>
            <a:endParaRPr/>
          </a:p>
        </p:txBody>
      </p:sp>
      <p:cxnSp>
        <p:nvCxnSpPr>
          <p:cNvPr id="764" name="Google Shape;764;p57"/>
          <p:cNvCxnSpPr>
            <a:stCxn id="758" idx="2"/>
            <a:endCxn id="762" idx="0"/>
          </p:cNvCxnSpPr>
          <p:nvPr/>
        </p:nvCxnSpPr>
        <p:spPr>
          <a:xfrm>
            <a:off x="1181004" y="1939763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57"/>
          <p:cNvCxnSpPr/>
          <p:nvPr/>
        </p:nvCxnSpPr>
        <p:spPr>
          <a:xfrm>
            <a:off x="1333404" y="2092163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6" name="Google Shape;766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Performance of All Models</a:t>
            </a:r>
            <a:endParaRPr/>
          </a:p>
        </p:txBody>
      </p:sp>
      <p:sp>
        <p:nvSpPr>
          <p:cNvPr id="772" name="Google Shape;77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73" name="Google Shape;773;p58"/>
          <p:cNvPicPr preferRelativeResize="0"/>
          <p:nvPr/>
        </p:nvPicPr>
        <p:blipFill rotWithShape="1">
          <a:blip r:embed="rId3">
            <a:alphaModFix/>
          </a:blip>
          <a:srcRect b="2105" l="0" r="0" t="0"/>
          <a:stretch/>
        </p:blipFill>
        <p:spPr>
          <a:xfrm>
            <a:off x="852725" y="1017725"/>
            <a:ext cx="7438551" cy="3740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 on Campaign only (SAGA C1~C8)</a:t>
            </a:r>
            <a:endParaRPr/>
          </a:p>
        </p:txBody>
      </p:sp>
      <p:pic>
        <p:nvPicPr>
          <p:cNvPr id="779" name="Google Shape;7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50" y="1180226"/>
            <a:ext cx="8197899" cy="2783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0" name="Google Shape;780;p59"/>
          <p:cNvSpPr txBox="1"/>
          <p:nvPr>
            <p:ph type="title"/>
          </p:nvPr>
        </p:nvSpPr>
        <p:spPr>
          <a:xfrm>
            <a:off x="473050" y="4125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Fixed -&gt; train:C2,4,6 ; test:C1,3,5,7,8</a:t>
            </a:r>
            <a:endParaRPr sz="1800"/>
          </a:p>
        </p:txBody>
      </p:sp>
      <p:sp>
        <p:nvSpPr>
          <p:cNvPr id="781" name="Google Shape;78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1272289"/>
            <a:ext cx="7079400" cy="270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7" name="Google Shape;7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 on Original dataset </a:t>
            </a:r>
            <a:endParaRPr/>
          </a:p>
        </p:txBody>
      </p:sp>
      <p:sp>
        <p:nvSpPr>
          <p:cNvPr id="788" name="Google Shape;788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