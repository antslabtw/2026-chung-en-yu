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034AE8F-D5E3-456B-910B-F094CF2D29A0}">
  <a:tblStyle styleId="{0034AE8F-D5E3-456B-910B-F094CF2D29A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759d565a6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759d565a6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Word2vec:給定一個中心詞，去預測它周圍的上下</a:t>
            </a:r>
            <a:r>
              <a:rPr lang="zh-TW"/>
              <a:t>文。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CyBERT: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Krebs on Security：包含 500 篇網路安全新聞文章與技術報告 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CVE 記錄：包含來自 MITRE 和國家漏洞資料庫（NVD）的 16,000 份通用漏洞披露記錄（2019-2020 年） 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APT 報告：來自 APTNotes 儲存庫的 500 份關於高級持續性威脅組織的技術報告 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社交媒體與論壇：如來自 Twitter 的開源威脅情報數據 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Log2Vec: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十條建立圖的規則有以下三個方向</a:t>
            </a:r>
            <a:br>
              <a:rPr lang="zh-TW"/>
            </a:br>
            <a:r>
              <a:rPr lang="zh-TW"/>
              <a:t>時序關係 (Sequential)： 同一天內的日誌按時間順序連接 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邏輯關係 (Logical)： 跨天數的操作，如果行為模式相似（例如每天處理的文件數量差不多），就連起來 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物件互動 (Interaction)： 涉及相同的主機、文件或網站的日誌會連接起來（例如都在存取同一個惡意網域） 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chemeClr val="dk1"/>
                </a:solidFill>
              </a:rPr>
              <a:t>圖建構</a:t>
            </a:r>
            <a:r>
              <a:rPr lang="zh-TW">
                <a:solidFill>
                  <a:schemeClr val="dk1"/>
                </a:solidFill>
              </a:rPr>
              <a:t>與</a:t>
            </a:r>
            <a:r>
              <a:rPr b="1" lang="zh-TW">
                <a:solidFill>
                  <a:schemeClr val="dk1"/>
                </a:solidFill>
              </a:rPr>
              <a:t>隨機遊走</a:t>
            </a:r>
            <a:r>
              <a:rPr lang="zh-TW">
                <a:solidFill>
                  <a:schemeClr val="dk1"/>
                </a:solidFill>
              </a:rPr>
              <a:t>後生成的「路徑序列」（Path sequences），這些序列被視為自然語言中的句子輸入到 Word2vec 模型中進行訓練 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Cmdcaliper:GTE可以視為是強一點的BERT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priyankaranade1/CyBERT" TargetMode="External"/><Relationship Id="rId4" Type="http://schemas.openxmlformats.org/officeDocument/2006/relationships/hyperlink" Target="https://github.com/microsoft/CodeBERT" TargetMode="External"/><Relationship Id="rId10" Type="http://schemas.openxmlformats.org/officeDocument/2006/relationships/hyperlink" Target="https://huggingface.co/thenlper/gte-large" TargetMode="External"/><Relationship Id="rId9" Type="http://schemas.openxmlformats.org/officeDocument/2006/relationships/hyperlink" Target="https://huggingface.co/CyCraftAI/CmdCaliper-large" TargetMode="External"/><Relationship Id="rId5" Type="http://schemas.openxmlformats.org/officeDocument/2006/relationships/hyperlink" Target="https://github.com/HelenGuohx/logbert" TargetMode="External"/><Relationship Id="rId6" Type="http://schemas.openxmlformats.org/officeDocument/2006/relationships/hyperlink" Target="https://github.com/tigerFF/Log2vec" TargetMode="External"/><Relationship Id="rId7" Type="http://schemas.openxmlformats.org/officeDocument/2006/relationships/hyperlink" Target="https://github.com/lcd-dal/feature-extraction-for-CERT-insider-threat-test-datasets" TargetMode="External"/><Relationship Id="rId8" Type="http://schemas.openxmlformats.org/officeDocument/2006/relationships/hyperlink" Target="https://csr.lanl.gov/data/cyber1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embedding</a:t>
            </a:r>
            <a:r>
              <a:rPr lang="zh-TW"/>
              <a:t>模型 比較 </a:t>
            </a:r>
            <a:endParaRPr/>
          </a:p>
        </p:txBody>
      </p:sp>
      <p:graphicFrame>
        <p:nvGraphicFramePr>
          <p:cNvPr id="55" name="Google Shape;55;p13"/>
          <p:cNvGraphicFramePr/>
          <p:nvPr/>
        </p:nvGraphicFramePr>
        <p:xfrm>
          <a:off x="2210375" y="1295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{0034AE8F-D5E3-456B-910B-F094CF2D29A0}</a:tableStyleId>
              </a:tblPr>
              <a:tblGrid>
                <a:gridCol w="1853250"/>
                <a:gridCol w="1213775"/>
                <a:gridCol w="1656200"/>
              </a:tblGrid>
              <a:tr h="336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模型名稱 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核心架構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預訓練</a:t>
                      </a: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資料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594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 u="sng">
                          <a:solidFill>
                            <a:schemeClr val="hlink"/>
                          </a:solidFill>
                          <a:hlinkClick r:id="rId3"/>
                        </a:rPr>
                        <a:t>CyBERT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BERT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Krebs on Security, CVE, APT reports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5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 u="sng">
                          <a:solidFill>
                            <a:schemeClr val="hlink"/>
                          </a:solidFill>
                          <a:hlinkClick r:id="rId4"/>
                        </a:rPr>
                        <a:t>CodeBERT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RoBERTa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GitHub Code (Python, Java, etc.)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5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 u="sng">
                          <a:solidFill>
                            <a:schemeClr val="hlink"/>
                          </a:solidFill>
                          <a:hlinkClick r:id="rId5"/>
                        </a:rPr>
                        <a:t>LogBERT</a:t>
                      </a: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(沒有給PTM)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Transformer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HDFS, BGL, Hadoop Logs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5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 u="sng">
                          <a:solidFill>
                            <a:schemeClr val="hlink"/>
                          </a:solidFill>
                          <a:hlinkClick r:id="rId6"/>
                        </a:rPr>
                        <a:t>Log2Vec</a:t>
                      </a: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(沒有給PTM)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/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Word2vec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sng">
                          <a:solidFill>
                            <a:schemeClr val="hlink"/>
                          </a:solidFill>
                          <a:hlinkClick r:id="rId7"/>
                        </a:rPr>
                        <a:t>CERT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, </a:t>
                      </a:r>
                      <a:r>
                        <a:rPr lang="zh-TW" sz="1100" u="sng">
                          <a:solidFill>
                            <a:schemeClr val="hlink"/>
                          </a:solidFill>
                          <a:hlinkClick r:id="rId8"/>
                        </a:rPr>
                        <a:t>LANL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5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 u="sng">
                          <a:solidFill>
                            <a:schemeClr val="hlink"/>
                          </a:solidFill>
                          <a:hlinkClick r:id="rId9"/>
                        </a:rPr>
                        <a:t>Cmdcaliper</a:t>
                      </a:r>
                      <a:endParaRPr b="1" sz="1100"/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sng">
                          <a:solidFill>
                            <a:schemeClr val="hlink"/>
                          </a:solidFill>
                          <a:hlinkClick r:id="rId10"/>
                        </a:rPr>
                        <a:t>GTE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/>
                        <a:t>CmdDataset(用不同LLM生成的windows指令)</a:t>
                      </a:r>
                      <a:endParaRPr sz="1100"/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