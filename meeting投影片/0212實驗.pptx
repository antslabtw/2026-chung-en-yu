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AB712E-4870-43BD-85F5-BA58B447F1C7}">
  <a:tblStyle styleId="{8AAB712E-4870-43BD-85F5-BA58B447F1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759d565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759d565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759d565a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759d565a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Node對應到Record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759d565a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759d565a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Move&amp;Rename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759d565a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759d565a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759d565a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759d565a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06166300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06166300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d1c4b8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d1c4b8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06166300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06166300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0c3a3b70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0c3a3b7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06166300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06166300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759d565a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759d565a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Word2vec:給定一個中心詞，去預測它周圍的上下</a:t>
            </a:r>
            <a:r>
              <a:rPr lang="zh-TW"/>
              <a:t>文。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CyBERT: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Krebs on Security：包含 500 篇網路安全新聞文章與技術報告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CVE 記錄：包含來自 MITRE 和國家漏洞資料庫（NVD）的 16,000 份通用漏洞披露記錄（2019-2020 年）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APT 報告：來自 APTNotes 儲存庫的 500 份關於高級持續性威脅組織的技術報告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社交媒體與論壇：如來自 Twitter 的開源威脅情報數據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十條建立圖的規則有以下三個方向</a:t>
            </a:r>
            <a:br>
              <a:rPr lang="zh-TW"/>
            </a:br>
            <a:r>
              <a:rPr lang="zh-TW"/>
              <a:t>時序關係 (Sequential)： 同一天內的日誌按時間順序連接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邏輯關係 (Logical)： 跨天數的操作，如果行為模式相似（例如每天處理的文件數量差不多），就連起來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物件互動 (Interaction)： 涉及相同的主機、文件或網站的日誌會連接起來（例如都在存取同一個惡意網域）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圖建構</a:t>
            </a:r>
            <a:r>
              <a:rPr lang="zh-TW">
                <a:solidFill>
                  <a:schemeClr val="dk1"/>
                </a:solidFill>
              </a:rPr>
              <a:t>與</a:t>
            </a:r>
            <a:r>
              <a:rPr b="1" lang="zh-TW">
                <a:solidFill>
                  <a:schemeClr val="dk1"/>
                </a:solidFill>
              </a:rPr>
              <a:t>隨機遊走</a:t>
            </a:r>
            <a:r>
              <a:rPr lang="zh-TW">
                <a:solidFill>
                  <a:schemeClr val="dk1"/>
                </a:solidFill>
              </a:rPr>
              <a:t>後生成的「路徑序列」（Path sequences），這些序列被視為自然語言中的句子輸入到 Word2vec 模型中進行訓練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Cmdcaliper:GTE可以視為是強一點的BERT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0c3a3b7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0c3a3b7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0c3a3b70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0c3a3b70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e69885a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e69885a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 維度size100是表現比較好的時候</a:t>
            </a:r>
            <a:br>
              <a:rPr lang="zh-TW"/>
            </a:br>
            <a:r>
              <a:rPr lang="zh-TW"/>
              <a:t>100+768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nn.CrossEntropyLoss()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State：每個序列的平均 embedding (pooled = x.mean(dim=1)) → 表示這個事件序列的全局信息。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Action：從 policy network output 的概率分布中 sampling，選擇哪個 Expert 處理整個序列。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Reward：CRF 的負 NLL，代表選的 Expert 對序列的 label 預測正確程度。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更新：使用 REINFORCE 搭配 reward 計算 policy_loss，和 CRF 的 NLL 搭配訓練。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目標：讓 gating policy 學會「面對不同序列，選對 Expert 以提升 NLL 表現」。</a:t>
            </a:r>
            <a:br>
              <a:rPr lang="zh-TW"/>
            </a:br>
            <a:br>
              <a:rPr lang="zh-TW"/>
            </a:br>
            <a:r>
              <a:rPr lang="zh-TW"/>
              <a:t>CRF 負責接收 Expert 算出的 emissions，利用它內部學到的轉移規則，透過 decode 函數，幫你把可能不連貫的預測修正成一條合理的攻擊路徑。</a:t>
            </a:r>
            <a:br>
              <a:rPr lang="zh-TW"/>
            </a:br>
            <a:r>
              <a:rPr lang="zh-TW"/>
              <a:t>這裡它使用了 維特比演算法 (Viterbi Algorithm)。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它不會貪心地選每一個時間點最高的 Expert 分數，而是會考慮整條 Event Sequence，找出總分最高的那一條路徑。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這確保了你輸出的攻擊階段序列是連貫的。</a:t>
            </a:r>
            <a:br>
              <a:rPr lang="zh-TW"/>
            </a:br>
            <a:br>
              <a:rPr lang="zh-TW"/>
            </a:br>
            <a:r>
              <a:rPr lang="zh-TW"/>
              <a:t>Action (A)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選擇哪一位專家 (0, 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actions = m.sample()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從 Temporal, Semantic, Stealth 三個專家模型中，硬性選擇一個 (Discrete Choice) 來處理當前的 Event Sequence。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(S)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三位專家的「預估失誤率」(NLL Loss)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state = torch.stack(nll_per_expert, dim=1)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一個維度為 [Batch, 3] 的向量。例如 [2.5, 0.1, 5.0]，代表專家 1 做錯的 Loss 是 2.5，專家 2 是 0.1。Agent 根據這個「信賴度評估」來做決定。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(R)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相對優勢 (Baseline - Selected)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reward = (uniform_nll - nll_total).detach()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計算「平均專家的 Loss」減去「你選中專家的 Loss」。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正分： 你選的專家比平均水準好。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負分： 你選的專家比平均水準差。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51fde0f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51fde0f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Log2vec 維度size100是表現比較好的時候</a:t>
            </a:r>
            <a:br>
              <a:rPr lang="zh-TW"/>
            </a:br>
            <a:r>
              <a:rPr lang="zh-TW"/>
              <a:t>100+768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nn.CrossEntropyLoss()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State：每個序列的平均 embedding (pooled = x.mean(dim=1)) → 表示這個事件序列的全局信息。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Action：從 policy network output 的概率分布中 sampling，選擇哪個 Expert 處理整個序列。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Reward：CRF 的負 NLL，代表選的 Expert 對序列的 label 預測正確程度。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Policy 更新：使用 REINFORCE 搭配 reward 計算 policy_loss，和 CRF 的 NLL 搭配訓練。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目標：讓 gating policy 學會「面對不同序列，選對 Expert 以提升 NLL 表現」。</a:t>
            </a:r>
            <a:br>
              <a:rPr lang="zh-TW"/>
            </a:br>
            <a:br>
              <a:rPr lang="zh-TW"/>
            </a:br>
            <a:r>
              <a:rPr lang="zh-TW"/>
              <a:t>CRF 負責接收 Expert 算出的 emissions，利用它內部學到的轉移規則，透過 decode 函數，幫你把可能不連貫的預測修正成一條合理的攻擊路徑。</a:t>
            </a:r>
            <a:br>
              <a:rPr lang="zh-TW"/>
            </a:br>
            <a:r>
              <a:rPr lang="zh-TW"/>
              <a:t>這裡它使用了 維特比演算法 (Viterbi Algorithm)。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它不會貪心地選每一個時間點最高的 Expert 分數，而是會考慮整條 Event Sequence，找出總分最高的那一條路徑。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這確保了你輸出的攻擊階段序列是連貫的。</a:t>
            </a:r>
            <a:br>
              <a:rPr lang="zh-TW"/>
            </a:br>
            <a:br>
              <a:rPr lang="zh-TW"/>
            </a:br>
            <a:r>
              <a:rPr lang="zh-TW"/>
              <a:t>Action (A)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選擇哪一位專家 (0, 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actions = m.sample()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從 Temporal, Semantic, Stealth 三個專家模型中，硬性選擇一個 (Discrete Choice) 來處理當前的 Event Sequence。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State (S)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三位專家的「預估失誤率」(NLL Loss)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state = torch.stack(nll_per_expert, dim=1)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一個維度為 [Batch, 3] 的向量。例如 [2.5, 0.1, 5.0]，代表專家 1 做錯的 Loss 是 2.5，專家 2 是 0.1。Agent 根據這個「信賴度評估」來做決定。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Reward (R)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相對優勢 (Baseline - Selected)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程式碼： reward = (uniform_nll - nll_total).detach()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定義： 計算「平均專家的 Loss」減去「你選中專家的 Loss」。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正分： 你選的專家比平均水準好。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• 負分： 你選的專家比平均水準差。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51fde0fa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51fde0fa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e69885a2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be69885a2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e69885a2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be69885a2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e69885a2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e69885a2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512比較好不然會很久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隱藏層 256 經雙向後會回到 512。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 + LayerNorm</a:t>
            </a:r>
            <a:br>
              <a:rPr lang="zh-TW"/>
            </a:br>
            <a:r>
              <a:rPr lang="zh-TW">
                <a:solidFill>
                  <a:schemeClr val="dk1"/>
                </a:solidFill>
              </a:rPr>
              <a:t>(input: 512, hidden: 256, num_layers: 2, batch_first=True, dropout=0.2)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Linear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e69885a2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be69885a2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用Multi-head去關注不同面向的特徵</a:t>
            </a:r>
            <a:br>
              <a:rPr lang="zh-TW"/>
            </a:br>
            <a:br>
              <a:rPr lang="zh-TW"/>
            </a:br>
            <a:r>
              <a:rPr lang="zh-TW">
                <a:solidFill>
                  <a:schemeClr val="dk1"/>
                </a:solidFill>
              </a:rPr>
              <a:t>Positional Encoding + Linear(868, 512)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{Multi-Head Attention(8-head)  (B, L, 512) + Add &amp; Norm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Feed Forward (B, L, 512) + Add &amp; Norm}*4 layers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Global Avg Pooling (B, 512)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Classification Head(num_classes)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e69885a26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e69885a26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利用重建誤差找出異常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e69885a2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be69885a2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444746"/>
                </a:solidFill>
                <a:highlight>
                  <a:srgbClr val="E9EEF6"/>
                </a:highlight>
              </a:rPr>
              <a:t>process.name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xclip, xsel, wl-clipboard...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這些是可以讀取/修改剪貼簿的</a:t>
            </a:r>
            <a:r>
              <a:rPr b="1" lang="zh-TW">
                <a:solidFill>
                  <a:srgbClr val="1F1F1F"/>
                </a:solidFill>
              </a:rPr>
              <a:t>工具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444746"/>
                </a:solidFill>
                <a:highlight>
                  <a:srgbClr val="E9EEF6"/>
                </a:highlight>
              </a:rPr>
              <a:t>event.type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start / exec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只要這些工具被</a:t>
            </a:r>
            <a:r>
              <a:rPr b="1" lang="zh-TW">
                <a:solidFill>
                  <a:srgbClr val="1F1F1F"/>
                </a:solidFill>
              </a:rPr>
              <a:t>執行</a:t>
            </a:r>
            <a:r>
              <a:rPr lang="zh-TW">
                <a:solidFill>
                  <a:srgbClr val="1F1F1F"/>
                </a:solidFill>
              </a:rPr>
              <a:t>就抓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444746"/>
                </a:solidFill>
                <a:highlight>
                  <a:srgbClr val="E9EEF6"/>
                </a:highlight>
              </a:rPr>
              <a:t>not parent.name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micro, bwrap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除非是這兩個</a:t>
            </a:r>
            <a:r>
              <a:rPr b="1" lang="zh-TW">
                <a:solidFill>
                  <a:srgbClr val="1F1F1F"/>
                </a:solidFill>
              </a:rPr>
              <a:t>合法軟體</a:t>
            </a:r>
            <a:r>
              <a:rPr lang="zh-TW">
                <a:solidFill>
                  <a:srgbClr val="1F1F1F"/>
                </a:solidFill>
              </a:rPr>
              <a:t>叫起來的，否則報警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06166300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06166300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T1543:Create or Modify System Process</a:t>
            </a:r>
            <a:br>
              <a:rPr lang="zh-TW"/>
            </a:br>
            <a:r>
              <a:rPr lang="zh-TW"/>
              <a:t>T1563:Remote Service Session Hijacking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077becd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c077becd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T1543:Create or Modify System Process - systemd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T1563:Remote Service Session Hijacking - sshd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zh-TW"/>
            </a:b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06166300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c06166300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T1203:Exploitation for Client Execution - winword.exe 或 excel.exe 啟動了 cmd.exe、powershell.exe、wscript.exe 或 calc.exe。</a:t>
            </a:r>
            <a:br>
              <a:rPr lang="zh-TW"/>
            </a:br>
            <a:r>
              <a:rPr lang="zh-TW"/>
              <a:t>T1115:Clipboard Data</a:t>
            </a:r>
            <a:br>
              <a:rPr lang="zh-TW"/>
            </a:b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be69885a26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be69885a26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759d565a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c759d565a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Module就是auditd裡面LOAD的node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c759d565a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c759d565a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1F1F1F"/>
                </a:solidFill>
              </a:rPr>
              <a:t>年分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Atlas用的Darpa好像不是E3和E5，是一個已失效的連結。並且他說: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the data released by DARPA’s Transparent Computing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program do not include audit logs generated during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1F1F1F"/>
                </a:solidFill>
              </a:rPr>
              <a:t>evaluation engagements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TransR: 用h和t去用所有與r相關的M去看他們的距離近不近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1F1F1F"/>
                </a:solidFill>
              </a:rPr>
              <a:t>Unicorn是用WL演算法算hash</a:t>
            </a:r>
            <a:br>
              <a:rPr lang="zh-TW">
                <a:solidFill>
                  <a:srgbClr val="1F1F1F"/>
                </a:solidFill>
              </a:rPr>
            </a:br>
            <a:r>
              <a:rPr lang="zh-TW">
                <a:solidFill>
                  <a:srgbClr val="1F1F1F"/>
                </a:solidFill>
              </a:rPr>
              <a:t>THREATRACE:GraphSage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FLASH:Word2vec</a:t>
            </a:r>
            <a:br>
              <a:rPr lang="zh-TW"/>
            </a:br>
            <a:br>
              <a:rPr lang="zh-TW"/>
            </a:b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請你準備表格比較input有哪些資訊，包含input(OS)、embedding的格式、開源的網址。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近期應該是考慮AirTag之後的相關研究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200">
                <a:solidFill>
                  <a:schemeClr val="dk1"/>
                </a:solidFill>
                <a:highlight>
                  <a:schemeClr val="accent4"/>
                </a:highlight>
              </a:rPr>
              <a:t>自動標TTP:業界標TTP的工具</a:t>
            </a:r>
            <a:endParaRPr sz="1200">
              <a:solidFill>
                <a:schemeClr val="dk1"/>
              </a:solidFill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priyankaranade1/CyBERT" TargetMode="External"/><Relationship Id="rId4" Type="http://schemas.openxmlformats.org/officeDocument/2006/relationships/hyperlink" Target="https://github.com/microsoft/CodeBERT" TargetMode="External"/><Relationship Id="rId10" Type="http://schemas.openxmlformats.org/officeDocument/2006/relationships/hyperlink" Target="https://huggingface.co/thenlper/gte-large" TargetMode="External"/><Relationship Id="rId9" Type="http://schemas.openxmlformats.org/officeDocument/2006/relationships/hyperlink" Target="https://huggingface.co/CyCraftAI/CmdCaliper-large" TargetMode="External"/><Relationship Id="rId5" Type="http://schemas.openxmlformats.org/officeDocument/2006/relationships/hyperlink" Target="https://github.com/HelenGuohx/logbert" TargetMode="External"/><Relationship Id="rId6" Type="http://schemas.openxmlformats.org/officeDocument/2006/relationships/hyperlink" Target="https://github.com/tigerFF/Log2vec" TargetMode="External"/><Relationship Id="rId7" Type="http://schemas.openxmlformats.org/officeDocument/2006/relationships/hyperlink" Target="https://github.com/lcd-dal/feature-extraction-for-CERT-insider-threat-test-datasets" TargetMode="External"/><Relationship Id="rId8" Type="http://schemas.openxmlformats.org/officeDocument/2006/relationships/hyperlink" Target="https://csr.lanl.gov/data/cyber1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github.com/HelenGuohx/logbert" TargetMode="External"/><Relationship Id="rId4" Type="http://schemas.openxmlformats.org/officeDocument/2006/relationships/hyperlink" Target="https://github.com/logpai/loghub/tree/master/HDFS" TargetMode="External"/><Relationship Id="rId11" Type="http://schemas.openxmlformats.org/officeDocument/2006/relationships/hyperlink" Target="https://github.com/Thijsvanede/DeepLog" TargetMode="External"/><Relationship Id="rId10" Type="http://schemas.openxmlformats.org/officeDocument/2006/relationships/hyperlink" Target="https://github.com/ubc-provenance/kairos" TargetMode="External"/><Relationship Id="rId9" Type="http://schemas.openxmlformats.org/officeDocument/2006/relationships/hyperlink" Target="https://github.com/jun-zeng/ShadeWatcher" TargetMode="External"/><Relationship Id="rId5" Type="http://schemas.openxmlformats.org/officeDocument/2006/relationships/hyperlink" Target="https://github.com/logpai/loghub/tree/master/BGL" TargetMode="External"/><Relationship Id="rId6" Type="http://schemas.openxmlformats.org/officeDocument/2006/relationships/hyperlink" Target="https://github.com/dhl123/Airtag-2023" TargetMode="External"/><Relationship Id="rId7" Type="http://schemas.openxmlformats.org/officeDocument/2006/relationships/hyperlink" Target="https://github.com/DART-Laboratory/Flash-IDS" TargetMode="External"/><Relationship Id="rId8" Type="http://schemas.openxmlformats.org/officeDocument/2006/relationships/hyperlink" Target="https://github.com/purseclab/ATL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TO-DO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node完整欄位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前處理，把event log轉換成provenance graph，定義清楚edge哪個欄位來的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embedding比較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有沒有已經預訓練過的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業界的TTP標法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方法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relation - Based on </a:t>
            </a:r>
            <a:r>
              <a:rPr lang="zh-TW"/>
              <a:t>Auditd logs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2800175" y="1219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1104100"/>
                <a:gridCol w="1407775"/>
                <a:gridCol w="103175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Src Node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Dst Node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i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Receive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Network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execute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Process</a:t>
                      </a:r>
                      <a:endParaRPr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3" name="Google Shape;63;p14"/>
          <p:cNvSpPr txBox="1"/>
          <p:nvPr/>
        </p:nvSpPr>
        <p:spPr>
          <a:xfrm>
            <a:off x="3066900" y="121125"/>
            <a:ext cx="57654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"type=SYSCALL msg=audit(1715974431.706:37679): </a:t>
            </a:r>
            <a:r>
              <a:rPr lang="zh-TW" sz="1200">
                <a:solidFill>
                  <a:schemeClr val="dk1"/>
                </a:solidFill>
                <a:highlight>
                  <a:schemeClr val="accent6"/>
                </a:highlight>
              </a:rPr>
              <a:t>syscall=59</a:t>
            </a:r>
            <a:r>
              <a:rPr lang="zh-TW" sz="1200">
                <a:solidFill>
                  <a:schemeClr val="dk1"/>
                </a:solidFill>
              </a:rPr>
              <a:t> success=yes …,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1295802" y="3171225"/>
            <a:ext cx="3107400" cy="1679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366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Casino - Process-&gt;File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1368975" y="116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612125"/>
                <a:gridCol w="924775"/>
                <a:gridCol w="14464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259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mknodat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mkdir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link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symlink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266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symlinkat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Create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Create 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,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264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renameat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Create 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,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Delete 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 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316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renameat2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Crea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te 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File</a:t>
                      </a:r>
                      <a:r>
                        <a:rPr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,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chemeClr val="accent6"/>
                          </a:highlight>
                        </a:rPr>
                        <a:t>Delete File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p15"/>
          <p:cNvGraphicFramePr/>
          <p:nvPr/>
        </p:nvGraphicFramePr>
        <p:xfrm>
          <a:off x="5118125" y="119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495300"/>
                <a:gridCol w="1162050"/>
                <a:gridCol w="12477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unlink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263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unlinkat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rmdir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Delete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openat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chmod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fchmod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268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fchmodat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92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chown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Open File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4852650" y="150700"/>
            <a:ext cx="2869200" cy="677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此syscall包含覆蓋檔案功能，所以可能有多個Relation</a:t>
            </a:r>
            <a:endParaRPr sz="1600"/>
          </a:p>
        </p:txBody>
      </p:sp>
      <p:cxnSp>
        <p:nvCxnSpPr>
          <p:cNvPr id="73" name="Google Shape;73;p15"/>
          <p:cNvCxnSpPr>
            <a:stCxn id="72" idx="1"/>
            <a:endCxn id="68" idx="3"/>
          </p:cNvCxnSpPr>
          <p:nvPr/>
        </p:nvCxnSpPr>
        <p:spPr>
          <a:xfrm flipH="1">
            <a:off x="4403250" y="489250"/>
            <a:ext cx="449400" cy="3521700"/>
          </a:xfrm>
          <a:prstGeom prst="curved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Process-&gt;Network</a:t>
            </a:r>
            <a:endParaRPr/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1086488" y="201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409575"/>
                <a:gridCol w="895350"/>
                <a:gridCol w="11811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socket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connect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sendto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" name="Google Shape;80;p16"/>
          <p:cNvGraphicFramePr/>
          <p:nvPr/>
        </p:nvGraphicFramePr>
        <p:xfrm>
          <a:off x="5271125" y="201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90575"/>
                <a:gridCol w="971550"/>
                <a:gridCol w="13430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 (x64)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recvfrom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Receive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recvmsg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Receive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sendmsg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Send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accept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288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accept4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bind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listen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Connect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" name="Google Shape;81;p16"/>
          <p:cNvSpPr txBox="1"/>
          <p:nvPr/>
        </p:nvSpPr>
        <p:spPr>
          <a:xfrm>
            <a:off x="4751150" y="1017725"/>
            <a:ext cx="41451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Casino dataset audit.log </a:t>
            </a:r>
            <a:r>
              <a:rPr lang="zh-TW" sz="1800">
                <a:solidFill>
                  <a:schemeClr val="dk1"/>
                </a:solidFill>
              </a:rPr>
              <a:t>缺失的syscall 需要結合Network Flow去定義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Process-&gt;</a:t>
            </a:r>
            <a:r>
              <a:rPr lang="zh-TW"/>
              <a:t>Process</a:t>
            </a:r>
            <a:endParaRPr/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1182300" y="222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409575"/>
                <a:gridCol w="838200"/>
                <a:gridCol w="11906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execve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execute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Google Shape;88;p17"/>
          <p:cNvGraphicFramePr/>
          <p:nvPr/>
        </p:nvGraphicFramePr>
        <p:xfrm>
          <a:off x="5364150" y="225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71525"/>
                <a:gridCol w="1066800"/>
                <a:gridCol w="12858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clone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fork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vfork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62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kill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231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exit_group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7"/>
          <p:cNvSpPr txBox="1"/>
          <p:nvPr/>
        </p:nvSpPr>
        <p:spPr>
          <a:xfrm>
            <a:off x="4860450" y="1307375"/>
            <a:ext cx="41316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由於Casino dataset只保留TTY event所以缺少的Syscall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Process-&gt;Process</a:t>
            </a:r>
            <a:endParaRPr/>
          </a:p>
        </p:txBody>
      </p:sp>
      <p:graphicFrame>
        <p:nvGraphicFramePr>
          <p:cNvPr id="95" name="Google Shape;95;p18"/>
          <p:cNvGraphicFramePr/>
          <p:nvPr/>
        </p:nvGraphicFramePr>
        <p:xfrm>
          <a:off x="33528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530050"/>
                <a:gridCol w="910450"/>
                <a:gridCol w="9979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Syscall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Relation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execve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execute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clone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clone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fork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vfork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fork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62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kill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231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exit_group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kill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281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Provenance graph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390600"/>
            <a:ext cx="8520600" cy="34164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    "type=SYSCALL msg=audit(1715983705.189:840792): arch=c000003e </a:t>
            </a:r>
            <a:r>
              <a:rPr lang="zh-TW">
                <a:highlight>
                  <a:schemeClr val="accent6"/>
                </a:highlight>
              </a:rPr>
              <a:t>syscall=42</a:t>
            </a:r>
            <a:r>
              <a:rPr lang="zh-TW"/>
              <a:t> success=yes exit=0 a0=3 a1=563385841380 a2=10 a3=0 items=0 ppid=25366 pid=25423 tty=pts0 ses=65 comm=\"ssh\" exe=\"/usr/bin/ssh\" subj=unconfined key=\"network_connect_4\"\u001dARCH=x86_64 SYSCALL=connect 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               "type=SOCKADDR msg=audit(1715983705.189:840792): saddr=020000160A23B4140000000000000000\u001dSADDR={ saddr_fam=inet laddr=10.35.180.20 lport=22 }",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                "type=PROCTITLE msg=audit(1715983705.189:840792): proctitle=737368007462656E65646963744031302E33352E3138302E3230"</a:t>
            </a:r>
            <a:endParaRPr/>
          </a:p>
        </p:txBody>
      </p:sp>
      <p:pic>
        <p:nvPicPr>
          <p:cNvPr id="108" name="Google Shape;108;p20" title="provenance_graph_filt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450" y="375787"/>
            <a:ext cx="5904550" cy="711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20"/>
          <p:cNvSpPr/>
          <p:nvPr/>
        </p:nvSpPr>
        <p:spPr>
          <a:xfrm>
            <a:off x="385725" y="4425350"/>
            <a:ext cx="77511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5910224" y="2113150"/>
            <a:ext cx="20478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1623975" y="2113150"/>
            <a:ext cx="11430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/>
          <p:nvPr/>
        </p:nvSpPr>
        <p:spPr>
          <a:xfrm>
            <a:off x="385725" y="3651450"/>
            <a:ext cx="2916900" cy="2598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 txBox="1"/>
          <p:nvPr>
            <p:ph type="title"/>
          </p:nvPr>
        </p:nvSpPr>
        <p:spPr>
          <a:xfrm>
            <a:off x="7201775" y="3621325"/>
            <a:ext cx="1630500" cy="599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紅色是src node</a:t>
            </a:r>
            <a:br>
              <a:rPr lang="zh-TW" sz="1600"/>
            </a:br>
            <a:r>
              <a:rPr lang="zh-TW" sz="1600"/>
              <a:t>藍色是dest node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250" y="4747326"/>
            <a:ext cx="8259501" cy="143612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21"/>
          <p:cNvSpPr txBox="1"/>
          <p:nvPr/>
        </p:nvSpPr>
        <p:spPr>
          <a:xfrm>
            <a:off x="0" y="0"/>
            <a:ext cx="79656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            "840790": [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"type=SYSCALL msg=audit(1715983705.185:840790): syscall=59 success=yes exit=0 a0=55fb6ed164c0 a1=55fb6ece4030 a2=55fb6ed6dc00 a3=10 ppid=25366 pid=25423 exe=\"/usr/bin/ssh\" SYSCALL=execve",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"type=PATH msg=audit(1715983705.185:840790): name=\"/usr/bin/ssh\" mode=0100755 nametype=NORMAL OUID=\"root\" OGID=\"root\"",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"type=PATH msg=audit(1715983705.185:840790): name=\"/lib64/ld-linux-x86-64.so.2\" mode=0100755 nametype=NORMAL OUID=\"root\" OGID=\"root\"",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"type=PROCTITLE msg=audit(1715983705.185:840790): proctitle=737368007462656E65646963744031302E33352E3138302E3230"</a:t>
            </a:r>
            <a:br>
              <a:rPr lang="zh-TW" sz="1800">
                <a:solidFill>
                  <a:schemeClr val="dk1"/>
                </a:solidFill>
              </a:rPr>
            </a:br>
            <a:r>
              <a:rPr lang="zh-TW" sz="1800">
                <a:solidFill>
                  <a:schemeClr val="dk1"/>
                </a:solidFill>
              </a:rPr>
              <a:t>            ],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2812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Provenance graph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390600"/>
            <a:ext cx="8520600" cy="30210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             "type=SYSCALL msg=audit(1715974431.706:37679): arch=c000003e </a:t>
            </a:r>
            <a:r>
              <a:rPr lang="zh-TW">
                <a:highlight>
                  <a:schemeClr val="accent6"/>
                </a:highlight>
              </a:rPr>
              <a:t>syscall=59</a:t>
            </a:r>
            <a:r>
              <a:rPr lang="zh-TW"/>
              <a:t> success=yes exit=0 a0=5608445845b0 a1=5608445850f0 a2=560844581e00 a3=8 items=3 ppid=11613 pid=11614 comm=\"id\" exe=\"/usr/bin/id\" 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    "type=EXECVE msg=audit(1715974431.706:37679): argc=2 a0=\"id\" a1=\"-u\"",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    "type=PATH msg=audit(1715974431.706:37679): item=0 name=\"/usr/bin/id\"",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    "type=PATH msg=audit(1715974431.706:37679): item=1 name=\"/usr/bin/id\",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                "type=PATH msg=audit(1715974431.706:37679): item=2 name=\"/lib64/ld-linux-x86-64.so.2\",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                "type=PROCTITLE msg=audit(1715974431.706:37679): proctitle=6964002D75"</a:t>
            </a:r>
            <a:endParaRPr/>
          </a:p>
        </p:txBody>
      </p:sp>
      <p:sp>
        <p:nvSpPr>
          <p:cNvPr id="127" name="Google Shape;127;p22"/>
          <p:cNvSpPr/>
          <p:nvPr/>
        </p:nvSpPr>
        <p:spPr>
          <a:xfrm>
            <a:off x="6119900" y="4020525"/>
            <a:ext cx="22431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/>
          <p:nvPr/>
        </p:nvSpPr>
        <p:spPr>
          <a:xfrm>
            <a:off x="3457550" y="1934550"/>
            <a:ext cx="17100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/>
          <p:nvPr/>
        </p:nvSpPr>
        <p:spPr>
          <a:xfrm>
            <a:off x="1445400" y="1934550"/>
            <a:ext cx="966300" cy="202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397631" y="1905900"/>
            <a:ext cx="1007400" cy="2598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2" title="provenance_graph_filter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850" y="128950"/>
            <a:ext cx="4361449" cy="10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>
            <p:ph type="title"/>
          </p:nvPr>
        </p:nvSpPr>
        <p:spPr>
          <a:xfrm>
            <a:off x="272400" y="4594600"/>
            <a:ext cx="83955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如果PATH內容只是執行指令本身的記憶體行為，就把node透過ppid往前畫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r>
              <a:rPr lang="zh-TW"/>
              <a:t>模型 比較 </a:t>
            </a:r>
            <a:endParaRPr/>
          </a:p>
        </p:txBody>
      </p:sp>
      <p:graphicFrame>
        <p:nvGraphicFramePr>
          <p:cNvPr id="138" name="Google Shape;138;p23"/>
          <p:cNvGraphicFramePr/>
          <p:nvPr/>
        </p:nvGraphicFramePr>
        <p:xfrm>
          <a:off x="2210375" y="1295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1853250"/>
                <a:gridCol w="1213775"/>
                <a:gridCol w="1656200"/>
              </a:tblGrid>
              <a:tr h="336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模型名稱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核心架構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預訓練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94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CyBERT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Krebs on Security, CVE, APT reports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CodeBERT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RoBERTa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GitHub Code (Python, Java, etc.)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LogBERT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Transformer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HDFS, BGL, Hadoop Logs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Log2Vec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(沒有給PTM)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CERT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LANL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Cmdcaliper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10"/>
                        </a:rPr>
                        <a:t>GTE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/>
                        <a:t>CmdDataset(用不同LLM生成的windows指令)</a:t>
                      </a:r>
                      <a:endParaRPr sz="1100"/>
                    </a:p>
                  </a:txBody>
                  <a:tcPr marT="76200" marB="76200" marR="114300" marL="114300">
                    <a:lnL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445025"/>
            <a:ext cx="280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切分狀況</a:t>
            </a:r>
            <a:endParaRPr/>
          </a:p>
        </p:txBody>
      </p:sp>
      <p:graphicFrame>
        <p:nvGraphicFramePr>
          <p:cNvPr id="144" name="Google Shape;144;p24"/>
          <p:cNvGraphicFramePr/>
          <p:nvPr/>
        </p:nvGraphicFramePr>
        <p:xfrm>
          <a:off x="12192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23900"/>
                <a:gridCol w="3009900"/>
                <a:gridCol w="952500"/>
                <a:gridCol w="885825"/>
                <a:gridCol w="113347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攻擊手法名稱 (Technique Name)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Train 數量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Test 數量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測試佔比 (%)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Archive Collected Data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10.0%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T1069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Permission Groups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7.2%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6.1%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T1098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Account Manipulation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5.0%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T1049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Network Connections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T1548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Abuse Elevation Control Mechanism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4.7%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4.6%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T1068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Exploitation for Privilege Escalation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Software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293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3.3%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Lateral Tool Transfer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3.1%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Ingress Tool Transfer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2.7%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Information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262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1206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672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Network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2.4%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T1005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Data from Local System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System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220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T1070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Indicator Removal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1.7%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T1654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Log Enumeration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1.6%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T1222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&amp; Directory Permissions Modification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0.9%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Network Configuration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T1114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Email Collection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388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0.8%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5" name="Google Shape;145;p24"/>
          <p:cNvSpPr txBox="1"/>
          <p:nvPr>
            <p:ph type="title"/>
          </p:nvPr>
        </p:nvSpPr>
        <p:spPr>
          <a:xfrm>
            <a:off x="6096000" y="90025"/>
            <a:ext cx="231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以隊伍為單位做切分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Casino 切分時只保留在Training set的TTPs</a:t>
            </a:r>
            <a:endParaRPr/>
          </a:p>
        </p:txBody>
      </p:sp>
      <p:graphicFrame>
        <p:nvGraphicFramePr>
          <p:cNvPr id="151" name="Google Shape;151;p25"/>
          <p:cNvGraphicFramePr/>
          <p:nvPr/>
        </p:nvGraphicFramePr>
        <p:xfrm>
          <a:off x="33338" y="1240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3086100"/>
                <a:gridCol w="3019425"/>
                <a:gridCol w="2971800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ID 與 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ID 與 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 ID 與 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OS Credential Dumping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T1006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Direct Volume Access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T1011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Exfiltration Over Network Medium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Network Sniffing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Exfiltration Over C2 Channel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Scheduled Task/Job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Command and Scripting Interpreter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Staged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Account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T1102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Web Service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Brute Force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T1120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Peripheral Device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T1124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System Time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T1125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Video Capture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T1132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Encoding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T1133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External 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T1136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Create Account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Exploitation of Remote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from Information Repositories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T1219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Remote Access Software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T1221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Template Injection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T1485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Destruction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T1526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Cloud Service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Use Alternate Auth Material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Unsecured Credentials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Credentials from Password Stores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T1556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Modify Authentication 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Impair Defenses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Manipulation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Exfiltration Over Web Service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T1569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System Services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Protocol Tunneling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T1580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Cloud Infrastructure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T1587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Develop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Gather Victim Network Info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Gather Victim Host Info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T1602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Data from Config Repository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T1608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Stage Capabilities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T1611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Escape to Host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T1613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Container and Resource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T1649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: Steal or Forge Auth Certificates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409825" y="3237400"/>
            <a:ext cx="3875700" cy="1272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系統流程圖</a:t>
            </a:r>
            <a:endParaRPr/>
          </a:p>
        </p:txBody>
      </p:sp>
      <p:sp>
        <p:nvSpPr>
          <p:cNvPr id="158" name="Google Shape;15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59" name="Google Shape;159;p26"/>
          <p:cNvSpPr/>
          <p:nvPr/>
        </p:nvSpPr>
        <p:spPr>
          <a:xfrm>
            <a:off x="505825" y="1744525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160" name="Google Shape;160;p26"/>
          <p:cNvSpPr/>
          <p:nvPr/>
        </p:nvSpPr>
        <p:spPr>
          <a:xfrm>
            <a:off x="3702125" y="1743800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161" name="Google Shape;161;p26"/>
          <p:cNvCxnSpPr>
            <a:stCxn id="160" idx="3"/>
          </p:cNvCxnSpPr>
          <p:nvPr/>
        </p:nvCxnSpPr>
        <p:spPr>
          <a:xfrm>
            <a:off x="5371325" y="1940600"/>
            <a:ext cx="1305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6"/>
          <p:cNvCxnSpPr>
            <a:stCxn id="159" idx="3"/>
            <a:endCxn id="160" idx="1"/>
          </p:cNvCxnSpPr>
          <p:nvPr/>
        </p:nvCxnSpPr>
        <p:spPr>
          <a:xfrm flipH="1" rot="10800000">
            <a:off x="2175025" y="1940725"/>
            <a:ext cx="1527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6"/>
          <p:cNvCxnSpPr>
            <a:stCxn id="164" idx="2"/>
            <a:endCxn id="165" idx="3"/>
          </p:cNvCxnSpPr>
          <p:nvPr/>
        </p:nvCxnSpPr>
        <p:spPr>
          <a:xfrm rot="5400000">
            <a:off x="6648950" y="3274525"/>
            <a:ext cx="496200" cy="14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6"/>
          <p:cNvSpPr/>
          <p:nvPr/>
        </p:nvSpPr>
        <p:spPr>
          <a:xfrm>
            <a:off x="4507900" y="40459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weighted Expert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25203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 Sequence Decoder</a:t>
            </a:r>
            <a:endParaRPr/>
          </a:p>
        </p:txBody>
      </p:sp>
      <p:cxnSp>
        <p:nvCxnSpPr>
          <p:cNvPr id="167" name="Google Shape;167;p26"/>
          <p:cNvCxnSpPr>
            <a:stCxn id="165" idx="1"/>
            <a:endCxn id="166" idx="3"/>
          </p:cNvCxnSpPr>
          <p:nvPr/>
        </p:nvCxnSpPr>
        <p:spPr>
          <a:xfrm rot="10800000">
            <a:off x="4189600" y="4241800"/>
            <a:ext cx="318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6"/>
          <p:cNvCxnSpPr>
            <a:stCxn id="166" idx="1"/>
            <a:endCxn id="169" idx="3"/>
          </p:cNvCxnSpPr>
          <p:nvPr/>
        </p:nvCxnSpPr>
        <p:spPr>
          <a:xfrm rot="10800000">
            <a:off x="2175025" y="4241825"/>
            <a:ext cx="34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26"/>
          <p:cNvSpPr/>
          <p:nvPr/>
        </p:nvSpPr>
        <p:spPr>
          <a:xfrm>
            <a:off x="6653600" y="1744525"/>
            <a:ext cx="1926900" cy="20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Gating Network</a:t>
            </a:r>
            <a:endParaRPr/>
          </a:p>
        </p:txBody>
      </p:sp>
      <p:sp>
        <p:nvSpPr>
          <p:cNvPr id="170" name="Google Shape;170;p26"/>
          <p:cNvSpPr/>
          <p:nvPr/>
        </p:nvSpPr>
        <p:spPr>
          <a:xfrm>
            <a:off x="6782450" y="21381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1</a:t>
            </a:r>
            <a:endParaRPr/>
          </a:p>
        </p:txBody>
      </p:sp>
      <p:sp>
        <p:nvSpPr>
          <p:cNvPr id="171" name="Google Shape;171;p26"/>
          <p:cNvSpPr/>
          <p:nvPr/>
        </p:nvSpPr>
        <p:spPr>
          <a:xfrm>
            <a:off x="6782450" y="26538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2</a:t>
            </a:r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6782450" y="31695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3</a:t>
            </a:r>
            <a:endParaRPr/>
          </a:p>
        </p:txBody>
      </p:sp>
      <p:sp>
        <p:nvSpPr>
          <p:cNvPr id="169" name="Google Shape;169;p26"/>
          <p:cNvSpPr/>
          <p:nvPr/>
        </p:nvSpPr>
        <p:spPr>
          <a:xfrm>
            <a:off x="505825" y="40450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TTP Sequence</a:t>
            </a:r>
            <a:endParaRPr/>
          </a:p>
        </p:txBody>
      </p:sp>
      <p:cxnSp>
        <p:nvCxnSpPr>
          <p:cNvPr id="173" name="Google Shape;173;p26"/>
          <p:cNvCxnSpPr>
            <a:stCxn id="165" idx="0"/>
          </p:cNvCxnSpPr>
          <p:nvPr/>
        </p:nvCxnSpPr>
        <p:spPr>
          <a:xfrm rot="10800000">
            <a:off x="5337100" y="3631000"/>
            <a:ext cx="54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174" name="Google Shape;174;p26"/>
          <p:cNvSpPr/>
          <p:nvPr/>
        </p:nvSpPr>
        <p:spPr>
          <a:xfrm>
            <a:off x="4412500" y="2632800"/>
            <a:ext cx="1842000" cy="111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4507900" y="2728476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Top-1</a:t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4498900" y="32374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Soft</a:t>
            </a:r>
            <a:endParaRPr/>
          </a:p>
        </p:txBody>
      </p:sp>
      <p:sp>
        <p:nvSpPr>
          <p:cNvPr id="177" name="Google Shape;177;p26"/>
          <p:cNvSpPr txBox="1"/>
          <p:nvPr/>
        </p:nvSpPr>
        <p:spPr>
          <a:xfrm>
            <a:off x="1180225" y="1302225"/>
            <a:ext cx="3516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把Audit log送進</a:t>
            </a:r>
            <a:r>
              <a:rPr lang="zh-TW" sz="1100">
                <a:highlight>
                  <a:schemeClr val="accent6"/>
                </a:highlight>
              </a:rPr>
              <a:t>Log2vec&amp;Cmdcaliper</a:t>
            </a:r>
            <a:r>
              <a:rPr lang="zh-TW" sz="1100"/>
              <a:t>產生embedding</a:t>
            </a:r>
            <a:endParaRPr/>
          </a:p>
        </p:txBody>
      </p:sp>
      <p:sp>
        <p:nvSpPr>
          <p:cNvPr id="178" name="Google Shape;178;p26"/>
          <p:cNvSpPr txBox="1"/>
          <p:nvPr/>
        </p:nvSpPr>
        <p:spPr>
          <a:xfrm>
            <a:off x="5060375" y="1277325"/>
            <a:ext cx="1926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把embedding送進MoE系統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1384225" y="3361550"/>
            <a:ext cx="19269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用CRF修正預測出的攻擊路徑</a:t>
            </a:r>
            <a:endParaRPr/>
          </a:p>
        </p:txBody>
      </p:sp>
      <p:sp>
        <p:nvSpPr>
          <p:cNvPr id="180" name="Google Shape;180;p26"/>
          <p:cNvSpPr txBox="1"/>
          <p:nvPr/>
        </p:nvSpPr>
        <p:spPr>
          <a:xfrm>
            <a:off x="3544450" y="4546700"/>
            <a:ext cx="1608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採用最終expert</a:t>
            </a:r>
            <a:endParaRPr/>
          </a:p>
        </p:txBody>
      </p:sp>
      <p:sp>
        <p:nvSpPr>
          <p:cNvPr id="181" name="Google Shape;181;p26"/>
          <p:cNvSpPr txBox="1"/>
          <p:nvPr/>
        </p:nvSpPr>
        <p:spPr>
          <a:xfrm>
            <a:off x="6812750" y="4439500"/>
            <a:ext cx="16086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用</a:t>
            </a:r>
            <a:r>
              <a:rPr lang="zh-TW" sz="1100">
                <a:solidFill>
                  <a:schemeClr val="dk1"/>
                </a:solidFill>
              </a:rPr>
              <a:t>CrossEntropyLoss</a:t>
            </a:r>
            <a:r>
              <a:rPr lang="zh-TW" sz="1100"/>
              <a:t>決定哪個expert最好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947275" y="2609105"/>
            <a:ext cx="28008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這部分是SFM輸出前做的處理，不確定在MoE的架構上適不適用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2132818" y="919550"/>
            <a:ext cx="144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100+</a:t>
            </a:r>
            <a:r>
              <a:rPr lang="zh-TW" sz="1100">
                <a:solidFill>
                  <a:schemeClr val="dk1"/>
                </a:solidFill>
              </a:rPr>
              <a:t>768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系統流程圖</a:t>
            </a:r>
            <a:endParaRPr/>
          </a:p>
        </p:txBody>
      </p:sp>
      <p:sp>
        <p:nvSpPr>
          <p:cNvPr id="189" name="Google Shape;18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0" name="Google Shape;190;p27"/>
          <p:cNvSpPr/>
          <p:nvPr/>
        </p:nvSpPr>
        <p:spPr>
          <a:xfrm>
            <a:off x="505825" y="1744525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Audit log</a:t>
            </a:r>
            <a:endParaRPr/>
          </a:p>
        </p:txBody>
      </p:sp>
      <p:sp>
        <p:nvSpPr>
          <p:cNvPr id="191" name="Google Shape;191;p27"/>
          <p:cNvSpPr/>
          <p:nvPr/>
        </p:nvSpPr>
        <p:spPr>
          <a:xfrm>
            <a:off x="3702125" y="1743800"/>
            <a:ext cx="16692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cxnSp>
        <p:nvCxnSpPr>
          <p:cNvPr id="192" name="Google Shape;192;p27"/>
          <p:cNvCxnSpPr>
            <a:stCxn id="191" idx="3"/>
          </p:cNvCxnSpPr>
          <p:nvPr/>
        </p:nvCxnSpPr>
        <p:spPr>
          <a:xfrm>
            <a:off x="5371325" y="1940600"/>
            <a:ext cx="13050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27"/>
          <p:cNvCxnSpPr>
            <a:stCxn id="190" idx="3"/>
            <a:endCxn id="191" idx="1"/>
          </p:cNvCxnSpPr>
          <p:nvPr/>
        </p:nvCxnSpPr>
        <p:spPr>
          <a:xfrm flipH="1" rot="10800000">
            <a:off x="2175025" y="1940725"/>
            <a:ext cx="15270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4" name="Google Shape;194;p27"/>
          <p:cNvCxnSpPr>
            <a:stCxn id="195" idx="2"/>
            <a:endCxn id="196" idx="3"/>
          </p:cNvCxnSpPr>
          <p:nvPr/>
        </p:nvCxnSpPr>
        <p:spPr>
          <a:xfrm rot="5400000">
            <a:off x="6648950" y="3274525"/>
            <a:ext cx="496200" cy="1440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7"/>
          <p:cNvSpPr/>
          <p:nvPr/>
        </p:nvSpPr>
        <p:spPr>
          <a:xfrm>
            <a:off x="4507900" y="40459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weighted Expert</a:t>
            </a:r>
            <a:endParaRPr/>
          </a:p>
        </p:txBody>
      </p:sp>
      <p:cxnSp>
        <p:nvCxnSpPr>
          <p:cNvPr id="197" name="Google Shape;197;p27"/>
          <p:cNvCxnSpPr>
            <a:stCxn id="196" idx="1"/>
            <a:endCxn id="198" idx="3"/>
          </p:cNvCxnSpPr>
          <p:nvPr/>
        </p:nvCxnSpPr>
        <p:spPr>
          <a:xfrm rot="10800000">
            <a:off x="4189600" y="4241800"/>
            <a:ext cx="318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" name="Google Shape;195;p27"/>
          <p:cNvSpPr/>
          <p:nvPr/>
        </p:nvSpPr>
        <p:spPr>
          <a:xfrm>
            <a:off x="6653600" y="1744525"/>
            <a:ext cx="1926900" cy="200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Gating Network</a:t>
            </a:r>
            <a:endParaRPr/>
          </a:p>
        </p:txBody>
      </p:sp>
      <p:sp>
        <p:nvSpPr>
          <p:cNvPr id="199" name="Google Shape;199;p27"/>
          <p:cNvSpPr/>
          <p:nvPr/>
        </p:nvSpPr>
        <p:spPr>
          <a:xfrm>
            <a:off x="6782450" y="21381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1</a:t>
            </a:r>
            <a:endParaRPr/>
          </a:p>
        </p:txBody>
      </p:sp>
      <p:sp>
        <p:nvSpPr>
          <p:cNvPr id="200" name="Google Shape;200;p27"/>
          <p:cNvSpPr/>
          <p:nvPr/>
        </p:nvSpPr>
        <p:spPr>
          <a:xfrm>
            <a:off x="6782450" y="26538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2</a:t>
            </a:r>
            <a:endParaRPr/>
          </a:p>
        </p:txBody>
      </p:sp>
      <p:sp>
        <p:nvSpPr>
          <p:cNvPr id="201" name="Google Shape;201;p27"/>
          <p:cNvSpPr/>
          <p:nvPr/>
        </p:nvSpPr>
        <p:spPr>
          <a:xfrm>
            <a:off x="6782450" y="3169525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 3</a:t>
            </a:r>
            <a:endParaRPr/>
          </a:p>
        </p:txBody>
      </p:sp>
      <p:cxnSp>
        <p:nvCxnSpPr>
          <p:cNvPr id="202" name="Google Shape;202;p27"/>
          <p:cNvCxnSpPr>
            <a:stCxn id="196" idx="0"/>
          </p:cNvCxnSpPr>
          <p:nvPr/>
        </p:nvCxnSpPr>
        <p:spPr>
          <a:xfrm rot="10800000">
            <a:off x="5337100" y="3631000"/>
            <a:ext cx="5400" cy="41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203" name="Google Shape;203;p27"/>
          <p:cNvSpPr/>
          <p:nvPr/>
        </p:nvSpPr>
        <p:spPr>
          <a:xfrm>
            <a:off x="4412500" y="2632800"/>
            <a:ext cx="1842000" cy="111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4507900" y="2728476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Top-1</a:t>
            </a:r>
            <a:endParaRPr/>
          </a:p>
        </p:txBody>
      </p:sp>
      <p:sp>
        <p:nvSpPr>
          <p:cNvPr id="205" name="Google Shape;205;p27"/>
          <p:cNvSpPr/>
          <p:nvPr/>
        </p:nvSpPr>
        <p:spPr>
          <a:xfrm>
            <a:off x="4498900" y="323740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Soft</a:t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1180225" y="1302225"/>
            <a:ext cx="3516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把Audit log送進</a:t>
            </a:r>
            <a:r>
              <a:rPr lang="zh-TW" sz="1100">
                <a:highlight>
                  <a:schemeClr val="accent6"/>
                </a:highlight>
              </a:rPr>
              <a:t>Log2vec&amp;Cmdcaliper</a:t>
            </a:r>
            <a:r>
              <a:rPr lang="zh-TW" sz="1100"/>
              <a:t>產生embedding</a:t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5060375" y="1277325"/>
            <a:ext cx="19269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把embedding送進MoE系統</a:t>
            </a:r>
            <a:endParaRPr/>
          </a:p>
        </p:txBody>
      </p:sp>
      <p:sp>
        <p:nvSpPr>
          <p:cNvPr id="208" name="Google Shape;208;p27"/>
          <p:cNvSpPr txBox="1"/>
          <p:nvPr/>
        </p:nvSpPr>
        <p:spPr>
          <a:xfrm>
            <a:off x="3544450" y="4546700"/>
            <a:ext cx="16086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採用最終expert</a:t>
            </a:r>
            <a:endParaRPr/>
          </a:p>
        </p:txBody>
      </p:sp>
      <p:sp>
        <p:nvSpPr>
          <p:cNvPr id="209" name="Google Shape;209;p27"/>
          <p:cNvSpPr txBox="1"/>
          <p:nvPr/>
        </p:nvSpPr>
        <p:spPr>
          <a:xfrm>
            <a:off x="6812750" y="4439500"/>
            <a:ext cx="1608600" cy="523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/>
              <a:t>用</a:t>
            </a:r>
            <a:r>
              <a:rPr lang="zh-TW" sz="1100">
                <a:solidFill>
                  <a:schemeClr val="dk1"/>
                </a:solidFill>
              </a:rPr>
              <a:t>CrossEntropyLoss</a:t>
            </a:r>
            <a:r>
              <a:rPr lang="zh-TW" sz="1100"/>
              <a:t>決定哪個expert最好</a:t>
            </a:r>
            <a:endParaRPr/>
          </a:p>
        </p:txBody>
      </p:sp>
      <p:sp>
        <p:nvSpPr>
          <p:cNvPr id="210" name="Google Shape;210;p27"/>
          <p:cNvSpPr txBox="1"/>
          <p:nvPr/>
        </p:nvSpPr>
        <p:spPr>
          <a:xfrm>
            <a:off x="2132818" y="919550"/>
            <a:ext cx="144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100+768</a:t>
            </a:r>
            <a:endParaRPr/>
          </a:p>
        </p:txBody>
      </p:sp>
      <p:sp>
        <p:nvSpPr>
          <p:cNvPr id="211" name="Google Shape;211;p27"/>
          <p:cNvSpPr/>
          <p:nvPr/>
        </p:nvSpPr>
        <p:spPr>
          <a:xfrm>
            <a:off x="2520400" y="4045450"/>
            <a:ext cx="1669200" cy="3936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TTP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2782207" y="1342050"/>
            <a:ext cx="12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lt1"/>
                </a:solidFill>
              </a:rPr>
              <a:t>Embedding</a:t>
            </a:r>
            <a:endParaRPr sz="1200">
              <a:solidFill>
                <a:schemeClr val="lt1"/>
              </a:solidFill>
            </a:endParaRPr>
          </a:p>
        </p:txBody>
      </p:sp>
      <p:grpSp>
        <p:nvGrpSpPr>
          <p:cNvPr id="217" name="Google Shape;217;p28"/>
          <p:cNvGrpSpPr/>
          <p:nvPr/>
        </p:nvGrpSpPr>
        <p:grpSpPr>
          <a:xfrm>
            <a:off x="2252082" y="2233800"/>
            <a:ext cx="1926900" cy="2001900"/>
            <a:chOff x="3389232" y="1479525"/>
            <a:chExt cx="1926900" cy="2001900"/>
          </a:xfrm>
        </p:grpSpPr>
        <p:pic>
          <p:nvPicPr>
            <p:cNvPr id="218" name="Google Shape;218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42657" y="1519175"/>
              <a:ext cx="369300" cy="36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28"/>
            <p:cNvSpPr/>
            <p:nvPr/>
          </p:nvSpPr>
          <p:spPr>
            <a:xfrm>
              <a:off x="3518088" y="1920400"/>
              <a:ext cx="7488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/>
                <a:t>Expert 1</a:t>
              </a:r>
              <a:endParaRPr sz="1000"/>
            </a:p>
          </p:txBody>
        </p:sp>
        <p:sp>
          <p:nvSpPr>
            <p:cNvPr id="220" name="Google Shape;220;p28"/>
            <p:cNvSpPr/>
            <p:nvPr/>
          </p:nvSpPr>
          <p:spPr>
            <a:xfrm>
              <a:off x="3518087" y="2436100"/>
              <a:ext cx="7488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/>
                <a:t>Expert 2</a:t>
              </a:r>
              <a:endParaRPr sz="1000"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3518087" y="2951800"/>
              <a:ext cx="748800" cy="393600"/>
            </a:xfrm>
            <a:prstGeom prst="rect">
              <a:avLst/>
            </a:prstGeom>
            <a:solidFill>
              <a:srgbClr val="F3F3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/>
                <a:t>Expert 3</a:t>
              </a:r>
              <a:endParaRPr sz="1000"/>
            </a:p>
          </p:txBody>
        </p:sp>
        <p:sp>
          <p:nvSpPr>
            <p:cNvPr id="222" name="Google Shape;222;p28"/>
            <p:cNvSpPr/>
            <p:nvPr/>
          </p:nvSpPr>
          <p:spPr>
            <a:xfrm>
              <a:off x="3389232" y="1479525"/>
              <a:ext cx="1926900" cy="20019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/>
                <a:t>Gating Network</a:t>
              </a:r>
              <a:endParaRPr sz="1200"/>
            </a:p>
          </p:txBody>
        </p:sp>
      </p:grpSp>
      <p:grpSp>
        <p:nvGrpSpPr>
          <p:cNvPr id="223" name="Google Shape;223;p28"/>
          <p:cNvGrpSpPr/>
          <p:nvPr/>
        </p:nvGrpSpPr>
        <p:grpSpPr>
          <a:xfrm>
            <a:off x="4810220" y="1215950"/>
            <a:ext cx="1976929" cy="2001900"/>
            <a:chOff x="4810220" y="1215950"/>
            <a:chExt cx="1976929" cy="2001900"/>
          </a:xfrm>
        </p:grpSpPr>
        <p:grpSp>
          <p:nvGrpSpPr>
            <p:cNvPr id="224" name="Google Shape;224;p28"/>
            <p:cNvGrpSpPr/>
            <p:nvPr/>
          </p:nvGrpSpPr>
          <p:grpSpPr>
            <a:xfrm>
              <a:off x="4810220" y="1215950"/>
              <a:ext cx="1926900" cy="2001900"/>
              <a:chOff x="3389232" y="1479525"/>
              <a:chExt cx="1926900" cy="2001900"/>
            </a:xfrm>
          </p:grpSpPr>
          <p:sp>
            <p:nvSpPr>
              <p:cNvPr id="225" name="Google Shape;225;p28"/>
              <p:cNvSpPr/>
              <p:nvPr/>
            </p:nvSpPr>
            <p:spPr>
              <a:xfrm>
                <a:off x="3389232" y="1479525"/>
                <a:ext cx="1926900" cy="20019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200"/>
                  <a:t>Gating Network</a:t>
                </a:r>
                <a:endParaRPr sz="1200"/>
              </a:p>
            </p:txBody>
          </p:sp>
          <p:pic>
            <p:nvPicPr>
              <p:cNvPr id="226" name="Google Shape;226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3442657" y="1519175"/>
                <a:ext cx="369300" cy="369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7" name="Google Shape;227;p28"/>
              <p:cNvSpPr/>
              <p:nvPr/>
            </p:nvSpPr>
            <p:spPr>
              <a:xfrm>
                <a:off x="3518088" y="1920400"/>
                <a:ext cx="748800" cy="393600"/>
              </a:xfrm>
              <a:prstGeom prst="rect">
                <a:avLst/>
              </a:prstGeom>
              <a:solidFill>
                <a:srgbClr val="F3F3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00"/>
                  <a:t>Expert 1</a:t>
                </a:r>
                <a:endParaRPr sz="1000"/>
              </a:p>
            </p:txBody>
          </p:sp>
          <p:sp>
            <p:nvSpPr>
              <p:cNvPr id="228" name="Google Shape;228;p28"/>
              <p:cNvSpPr/>
              <p:nvPr/>
            </p:nvSpPr>
            <p:spPr>
              <a:xfrm>
                <a:off x="3518087" y="2436100"/>
                <a:ext cx="748800" cy="393600"/>
              </a:xfrm>
              <a:prstGeom prst="rect">
                <a:avLst/>
              </a:prstGeom>
              <a:solidFill>
                <a:srgbClr val="F3F3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00"/>
                  <a:t>Expert 2</a:t>
                </a:r>
                <a:endParaRPr sz="1000"/>
              </a:p>
            </p:txBody>
          </p:sp>
          <p:sp>
            <p:nvSpPr>
              <p:cNvPr id="229" name="Google Shape;229;p28"/>
              <p:cNvSpPr/>
              <p:nvPr/>
            </p:nvSpPr>
            <p:spPr>
              <a:xfrm>
                <a:off x="3518087" y="2951800"/>
                <a:ext cx="748800" cy="393600"/>
              </a:xfrm>
              <a:prstGeom prst="rect">
                <a:avLst/>
              </a:prstGeom>
              <a:solidFill>
                <a:srgbClr val="F3F3F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000"/>
                  <a:t>Expert 3</a:t>
                </a:r>
                <a:endParaRPr sz="1000"/>
              </a:p>
            </p:txBody>
          </p:sp>
        </p:grpSp>
        <p:sp>
          <p:nvSpPr>
            <p:cNvPr id="230" name="Google Shape;230;p28"/>
            <p:cNvSpPr txBox="1"/>
            <p:nvPr/>
          </p:nvSpPr>
          <p:spPr>
            <a:xfrm>
              <a:off x="6001148" y="2106700"/>
              <a:ext cx="78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/>
                <a:t>weight</a:t>
              </a:r>
              <a:endParaRPr sz="1000"/>
            </a:p>
          </p:txBody>
        </p:sp>
        <p:pic>
          <p:nvPicPr>
            <p:cNvPr id="231" name="Google Shape;231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183212" y="1720950"/>
              <a:ext cx="421875" cy="4218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2" name="Google Shape;232;p28"/>
            <p:cNvCxnSpPr>
              <a:stCxn id="227" idx="3"/>
              <a:endCxn id="231" idx="0"/>
            </p:cNvCxnSpPr>
            <p:nvPr/>
          </p:nvCxnSpPr>
          <p:spPr>
            <a:xfrm flipH="1" rot="10800000">
              <a:off x="5687875" y="1721025"/>
              <a:ext cx="706200" cy="132600"/>
            </a:xfrm>
            <a:prstGeom prst="curvedConnector4">
              <a:avLst>
                <a:gd fmla="val 35071" name="adj1"/>
                <a:gd fmla="val 279638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p28"/>
            <p:cNvCxnSpPr>
              <a:stCxn id="228" idx="3"/>
              <a:endCxn id="231" idx="0"/>
            </p:cNvCxnSpPr>
            <p:nvPr/>
          </p:nvCxnSpPr>
          <p:spPr>
            <a:xfrm flipH="1" rot="10800000">
              <a:off x="5687875" y="1721025"/>
              <a:ext cx="706200" cy="648300"/>
            </a:xfrm>
            <a:prstGeom prst="curvedConnector4">
              <a:avLst>
                <a:gd fmla="val 35071" name="adj1"/>
                <a:gd fmla="val 136742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4" name="Google Shape;234;p28"/>
            <p:cNvCxnSpPr>
              <a:stCxn id="229" idx="3"/>
              <a:endCxn id="231" idx="0"/>
            </p:cNvCxnSpPr>
            <p:nvPr/>
          </p:nvCxnSpPr>
          <p:spPr>
            <a:xfrm flipH="1" rot="10800000">
              <a:off x="5687874" y="1721025"/>
              <a:ext cx="706200" cy="1164000"/>
            </a:xfrm>
            <a:prstGeom prst="curvedConnector4">
              <a:avLst>
                <a:gd fmla="val 35071" name="adj1"/>
                <a:gd fmla="val 120464" name="adj2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35" name="Google Shape;235;p28"/>
          <p:cNvSpPr txBox="1"/>
          <p:nvPr>
            <p:ph type="title"/>
          </p:nvPr>
        </p:nvSpPr>
        <p:spPr>
          <a:xfrm>
            <a:off x="311700" y="445025"/>
            <a:ext cx="220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系統流程圖</a:t>
            </a:r>
            <a:endParaRPr/>
          </a:p>
        </p:txBody>
      </p:sp>
      <p:pic>
        <p:nvPicPr>
          <p:cNvPr id="236" name="Google Shape;236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390" y="1215950"/>
            <a:ext cx="453650" cy="4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8"/>
          <p:cNvSpPr txBox="1"/>
          <p:nvPr/>
        </p:nvSpPr>
        <p:spPr>
          <a:xfrm>
            <a:off x="311707" y="1669600"/>
            <a:ext cx="12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Audit log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238" name="Google Shape;23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1273" y="1188352"/>
            <a:ext cx="57272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8"/>
          <p:cNvSpPr txBox="1"/>
          <p:nvPr/>
        </p:nvSpPr>
        <p:spPr>
          <a:xfrm>
            <a:off x="1519382" y="1669600"/>
            <a:ext cx="128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Provenance Graph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240" name="Google Shape;240;p28"/>
          <p:cNvCxnSpPr/>
          <p:nvPr/>
        </p:nvCxnSpPr>
        <p:spPr>
          <a:xfrm>
            <a:off x="1215176" y="1442775"/>
            <a:ext cx="587100" cy="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28"/>
          <p:cNvCxnSpPr/>
          <p:nvPr/>
        </p:nvCxnSpPr>
        <p:spPr>
          <a:xfrm>
            <a:off x="2605639" y="1474700"/>
            <a:ext cx="6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2" name="Google Shape;242;p28"/>
          <p:cNvCxnSpPr/>
          <p:nvPr/>
        </p:nvCxnSpPr>
        <p:spPr>
          <a:xfrm>
            <a:off x="4063952" y="1474700"/>
            <a:ext cx="6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43" name="Google Shape;243;p28"/>
          <p:cNvGrpSpPr/>
          <p:nvPr/>
        </p:nvGrpSpPr>
        <p:grpSpPr>
          <a:xfrm>
            <a:off x="493092" y="2972647"/>
            <a:ext cx="918171" cy="961842"/>
            <a:chOff x="7567207" y="174028"/>
            <a:chExt cx="1576800" cy="1651797"/>
          </a:xfrm>
        </p:grpSpPr>
        <p:pic>
          <p:nvPicPr>
            <p:cNvPr id="244" name="Google Shape;244;p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920259" y="174028"/>
              <a:ext cx="870685" cy="870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8"/>
            <p:cNvSpPr txBox="1"/>
            <p:nvPr/>
          </p:nvSpPr>
          <p:spPr>
            <a:xfrm>
              <a:off x="7567207" y="1006825"/>
              <a:ext cx="1576800" cy="8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250" lIns="53250" spcFirstLastPara="1" rIns="53250" wrap="square" tIns="532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/>
                <a:t>TTP Prediction</a:t>
              </a:r>
              <a:endParaRPr sz="1200"/>
            </a:p>
          </p:txBody>
        </p:sp>
      </p:grpSp>
      <p:pic>
        <p:nvPicPr>
          <p:cNvPr id="246" name="Google Shape;24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-9299497">
            <a:off x="1872788" y="1186993"/>
            <a:ext cx="428626" cy="428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27679">
            <a:off x="2121076" y="1266416"/>
            <a:ext cx="428626" cy="42861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8"/>
          <p:cNvSpPr txBox="1"/>
          <p:nvPr/>
        </p:nvSpPr>
        <p:spPr>
          <a:xfrm>
            <a:off x="3037132" y="1669600"/>
            <a:ext cx="128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Embedding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249" name="Google Shape;249;p28"/>
          <p:cNvCxnSpPr/>
          <p:nvPr/>
        </p:nvCxnSpPr>
        <p:spPr>
          <a:xfrm>
            <a:off x="1215187" y="1556200"/>
            <a:ext cx="587100" cy="7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" name="Google Shape;250;p28"/>
          <p:cNvCxnSpPr/>
          <p:nvPr/>
        </p:nvCxnSpPr>
        <p:spPr>
          <a:xfrm>
            <a:off x="2605639" y="1566875"/>
            <a:ext cx="694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8"/>
          <p:cNvCxnSpPr>
            <a:stCxn id="216" idx="3"/>
            <a:endCxn id="252" idx="3"/>
          </p:cNvCxnSpPr>
          <p:nvPr/>
        </p:nvCxnSpPr>
        <p:spPr>
          <a:xfrm>
            <a:off x="4063207" y="1526700"/>
            <a:ext cx="600" cy="1497300"/>
          </a:xfrm>
          <a:prstGeom prst="curvedConnector3">
            <a:avLst>
              <a:gd fmla="val 396875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3" name="Google Shape;253;p28"/>
          <p:cNvGrpSpPr/>
          <p:nvPr/>
        </p:nvGrpSpPr>
        <p:grpSpPr>
          <a:xfrm>
            <a:off x="4943975" y="3726675"/>
            <a:ext cx="1709400" cy="554100"/>
            <a:chOff x="7110400" y="1526900"/>
            <a:chExt cx="1709400" cy="554100"/>
          </a:xfrm>
        </p:grpSpPr>
        <p:sp>
          <p:nvSpPr>
            <p:cNvPr id="254" name="Google Shape;254;p28"/>
            <p:cNvSpPr/>
            <p:nvPr/>
          </p:nvSpPr>
          <p:spPr>
            <a:xfrm>
              <a:off x="7110400" y="1564700"/>
              <a:ext cx="1709400" cy="4785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cxnSp>
          <p:nvCxnSpPr>
            <p:cNvPr id="255" name="Google Shape;255;p28"/>
            <p:cNvCxnSpPr/>
            <p:nvPr/>
          </p:nvCxnSpPr>
          <p:spPr>
            <a:xfrm>
              <a:off x="7988789" y="1739800"/>
              <a:ext cx="694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6" name="Google Shape;256;p28"/>
            <p:cNvCxnSpPr/>
            <p:nvPr/>
          </p:nvCxnSpPr>
          <p:spPr>
            <a:xfrm>
              <a:off x="7988789" y="1868100"/>
              <a:ext cx="694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57" name="Google Shape;257;p28"/>
            <p:cNvSpPr txBox="1"/>
            <p:nvPr/>
          </p:nvSpPr>
          <p:spPr>
            <a:xfrm>
              <a:off x="7110400" y="1526900"/>
              <a:ext cx="87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1"/>
                  </a:solidFill>
                </a:rPr>
                <a:t>Train</a:t>
              </a:r>
              <a:endParaRPr sz="12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200">
                  <a:solidFill>
                    <a:schemeClr val="dk1"/>
                  </a:solidFill>
                </a:rPr>
                <a:t>Inference</a:t>
              </a:r>
              <a:endParaRPr sz="1200">
                <a:solidFill>
                  <a:schemeClr val="dk1"/>
                </a:solidFill>
              </a:endParaRPr>
            </a:p>
          </p:txBody>
        </p:sp>
      </p:grpSp>
      <p:sp>
        <p:nvSpPr>
          <p:cNvPr id="258" name="Google Shape;258;p28"/>
          <p:cNvSpPr txBox="1"/>
          <p:nvPr/>
        </p:nvSpPr>
        <p:spPr>
          <a:xfrm>
            <a:off x="4566137" y="3268925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Mixture of Expert Module</a:t>
            </a:r>
            <a:endParaRPr sz="1200"/>
          </a:p>
        </p:txBody>
      </p:sp>
      <p:sp>
        <p:nvSpPr>
          <p:cNvPr id="259" name="Google Shape;259;p28"/>
          <p:cNvSpPr txBox="1"/>
          <p:nvPr/>
        </p:nvSpPr>
        <p:spPr>
          <a:xfrm>
            <a:off x="3459261" y="3304475"/>
            <a:ext cx="7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weight</a:t>
            </a:r>
            <a:endParaRPr sz="1000"/>
          </a:p>
        </p:txBody>
      </p:sp>
      <p:pic>
        <p:nvPicPr>
          <p:cNvPr id="252" name="Google Shape;2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1325" y="2813137"/>
            <a:ext cx="421875" cy="421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0" name="Google Shape;260;p28"/>
          <p:cNvCxnSpPr>
            <a:stCxn id="252" idx="0"/>
            <a:endCxn id="219" idx="3"/>
          </p:cNvCxnSpPr>
          <p:nvPr/>
        </p:nvCxnSpPr>
        <p:spPr>
          <a:xfrm rot="5400000">
            <a:off x="3461963" y="2481037"/>
            <a:ext cx="58200" cy="722400"/>
          </a:xfrm>
          <a:prstGeom prst="curvedConnector4">
            <a:avLst>
              <a:gd fmla="val -409149" name="adj1"/>
              <a:gd fmla="val 6460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8"/>
          <p:cNvCxnSpPr>
            <a:stCxn id="252" idx="0"/>
            <a:endCxn id="220" idx="3"/>
          </p:cNvCxnSpPr>
          <p:nvPr/>
        </p:nvCxnSpPr>
        <p:spPr>
          <a:xfrm rot="5400000">
            <a:off x="3204113" y="2738887"/>
            <a:ext cx="573900" cy="722400"/>
          </a:xfrm>
          <a:prstGeom prst="curvedConnector4">
            <a:avLst>
              <a:gd fmla="val -41492" name="adj1"/>
              <a:gd fmla="val 6460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8"/>
          <p:cNvCxnSpPr>
            <a:stCxn id="252" idx="0"/>
            <a:endCxn id="221" idx="3"/>
          </p:cNvCxnSpPr>
          <p:nvPr/>
        </p:nvCxnSpPr>
        <p:spPr>
          <a:xfrm rot="5400000">
            <a:off x="2946263" y="2996737"/>
            <a:ext cx="1089600" cy="722400"/>
          </a:xfrm>
          <a:prstGeom prst="curvedConnector4">
            <a:avLst>
              <a:gd fmla="val -21854" name="adj1"/>
              <a:gd fmla="val 6460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8"/>
          <p:cNvCxnSpPr>
            <a:stCxn id="222" idx="1"/>
            <a:endCxn id="244" idx="3"/>
          </p:cNvCxnSpPr>
          <p:nvPr/>
        </p:nvCxnSpPr>
        <p:spPr>
          <a:xfrm rot="10800000">
            <a:off x="1205682" y="3226050"/>
            <a:ext cx="1046400" cy="8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28"/>
          <p:cNvSpPr txBox="1"/>
          <p:nvPr/>
        </p:nvSpPr>
        <p:spPr>
          <a:xfrm>
            <a:off x="2016125" y="4336800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Mixture of Expert Module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MoE架構</a:t>
            </a:r>
            <a:endParaRPr/>
          </a:p>
        </p:txBody>
      </p:sp>
      <p:sp>
        <p:nvSpPr>
          <p:cNvPr id="270" name="Google Shape;2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271" name="Google Shape;271;p29"/>
          <p:cNvGraphicFramePr/>
          <p:nvPr/>
        </p:nvGraphicFramePr>
        <p:xfrm>
          <a:off x="828663" y="1341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1683225"/>
                <a:gridCol w="1822875"/>
                <a:gridCol w="1595650"/>
                <a:gridCol w="2384900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Expert name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Model Structure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Skill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Reason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Sequence Time Expert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BiGRU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針對具有時間序列的TTP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可以捕捉行為的時間依賴，例如 Process → Registry → Network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Separate</a:t>
                      </a:r>
                      <a:r>
                        <a:rPr b="1" lang="zh-TW" sz="1100"/>
                        <a:t> Time Expert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TransformerEncoder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針對沒有時間序列關係的TTP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可以全局注意事件間的關係，即使事件分散在不同時間點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/>
                        <a:t>Single Event Expert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Linear </a:t>
                      </a:r>
                      <a:r>
                        <a:rPr lang="zh-TW"/>
                        <a:t>AE + </a:t>
                      </a:r>
                      <a:r>
                        <a:rPr lang="zh-TW">
                          <a:highlight>
                            <a:schemeClr val="accent6"/>
                          </a:highlight>
                        </a:rPr>
                        <a:t>RAG</a:t>
                      </a:r>
                      <a:endParaRPr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針對只有少數event的TTP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將事件映射到低維潛在空間，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TTP 類型</a:t>
            </a:r>
            <a:endParaRPr/>
          </a:p>
        </p:txBody>
      </p:sp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3661500" y="92100"/>
            <a:ext cx="5170800" cy="86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x軸代表此TTP的sample 中 single event的含量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zh-TW" sz="1600">
                <a:solidFill>
                  <a:schemeClr val="dk1"/>
                </a:solidFill>
              </a:rPr>
              <a:t>y軸代表此TTP的sample 中 event的時間跨度大小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78" name="Google Shape;27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pSp>
        <p:nvGrpSpPr>
          <p:cNvPr id="279" name="Google Shape;279;p30"/>
          <p:cNvGrpSpPr/>
          <p:nvPr/>
        </p:nvGrpSpPr>
        <p:grpSpPr>
          <a:xfrm>
            <a:off x="2124225" y="959700"/>
            <a:ext cx="6065301" cy="3899151"/>
            <a:chOff x="1539350" y="1068550"/>
            <a:chExt cx="6065301" cy="3899151"/>
          </a:xfrm>
        </p:grpSpPr>
        <p:pic>
          <p:nvPicPr>
            <p:cNvPr id="280" name="Google Shape;280;p30" title="TTP_type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39350" y="1068550"/>
              <a:ext cx="6065301" cy="3899151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281" name="Google Shape;281;p30"/>
            <p:cNvSpPr/>
            <p:nvPr/>
          </p:nvSpPr>
          <p:spPr>
            <a:xfrm>
              <a:off x="1861150" y="1238525"/>
              <a:ext cx="3875700" cy="18441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0"/>
            <p:cNvSpPr/>
            <p:nvPr/>
          </p:nvSpPr>
          <p:spPr>
            <a:xfrm>
              <a:off x="1861150" y="3082625"/>
              <a:ext cx="3875700" cy="15807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30"/>
            <p:cNvSpPr/>
            <p:nvPr/>
          </p:nvSpPr>
          <p:spPr>
            <a:xfrm>
              <a:off x="5736850" y="3082625"/>
              <a:ext cx="1814100" cy="1580700"/>
            </a:xfrm>
            <a:prstGeom prst="rect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" name="Google Shape;284;p30"/>
          <p:cNvSpPr txBox="1"/>
          <p:nvPr/>
        </p:nvSpPr>
        <p:spPr>
          <a:xfrm>
            <a:off x="81636" y="1855375"/>
            <a:ext cx="18141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BiGRU + Linear</a:t>
            </a:r>
            <a:endParaRPr/>
          </a:p>
        </p:txBody>
      </p:sp>
      <p:cxnSp>
        <p:nvCxnSpPr>
          <p:cNvPr id="285" name="Google Shape;285;p30"/>
          <p:cNvCxnSpPr>
            <a:stCxn id="281" idx="1"/>
            <a:endCxn id="284" idx="3"/>
          </p:cNvCxnSpPr>
          <p:nvPr/>
        </p:nvCxnSpPr>
        <p:spPr>
          <a:xfrm flipH="1">
            <a:off x="1895825" y="2051725"/>
            <a:ext cx="5502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30"/>
          <p:cNvCxnSpPr>
            <a:stCxn id="282" idx="1"/>
            <a:endCxn id="287" idx="3"/>
          </p:cNvCxnSpPr>
          <p:nvPr/>
        </p:nvCxnSpPr>
        <p:spPr>
          <a:xfrm rot="10800000">
            <a:off x="1913825" y="3762625"/>
            <a:ext cx="532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30"/>
          <p:cNvSpPr txBox="1"/>
          <p:nvPr/>
        </p:nvSpPr>
        <p:spPr>
          <a:xfrm>
            <a:off x="99775" y="3454925"/>
            <a:ext cx="1814100" cy="61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TransformerEncoder + Linear</a:t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6409191" y="2371650"/>
            <a:ext cx="16395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Linear AE</a:t>
            </a:r>
            <a:r>
              <a:rPr lang="zh-TW"/>
              <a:t> + RAG</a:t>
            </a:r>
            <a:endParaRPr/>
          </a:p>
        </p:txBody>
      </p:sp>
      <p:cxnSp>
        <p:nvCxnSpPr>
          <p:cNvPr id="289" name="Google Shape;289;p30"/>
          <p:cNvCxnSpPr>
            <a:stCxn id="283" idx="0"/>
            <a:endCxn id="288" idx="2"/>
          </p:cNvCxnSpPr>
          <p:nvPr/>
        </p:nvCxnSpPr>
        <p:spPr>
          <a:xfrm flipH="1" rot="10800000">
            <a:off x="7228775" y="2771875"/>
            <a:ext cx="300" cy="20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Expert1: BiGRU</a:t>
            </a:r>
            <a:endParaRPr/>
          </a:p>
        </p:txBody>
      </p:sp>
      <p:sp>
        <p:nvSpPr>
          <p:cNvPr id="295" name="Google Shape;295;p31"/>
          <p:cNvSpPr/>
          <p:nvPr/>
        </p:nvSpPr>
        <p:spPr>
          <a:xfrm>
            <a:off x="2249700" y="2846718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(input: 512, hidden: 256, num_layers: 2, batch_first=True, dropout=0.2)</a:t>
            </a:r>
            <a:endParaRPr/>
          </a:p>
        </p:txBody>
      </p:sp>
      <p:sp>
        <p:nvSpPr>
          <p:cNvPr id="296" name="Google Shape;296;p31"/>
          <p:cNvSpPr/>
          <p:nvPr/>
        </p:nvSpPr>
        <p:spPr>
          <a:xfrm>
            <a:off x="2249700" y="2246193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Linear(868, 512) + LayerNorm</a:t>
            </a:r>
            <a:endParaRPr/>
          </a:p>
        </p:txBody>
      </p:sp>
      <p:sp>
        <p:nvSpPr>
          <p:cNvPr id="297" name="Google Shape;297;p31"/>
          <p:cNvSpPr/>
          <p:nvPr/>
        </p:nvSpPr>
        <p:spPr>
          <a:xfrm>
            <a:off x="2249700" y="3501743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Linear(512, num_classes)</a:t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2249700" y="1591243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Emebedding(1,868)</a:t>
            </a:r>
            <a:endParaRPr/>
          </a:p>
        </p:txBody>
      </p:sp>
      <p:cxnSp>
        <p:nvCxnSpPr>
          <p:cNvPr id="299" name="Google Shape;299;p31"/>
          <p:cNvCxnSpPr>
            <a:stCxn id="298" idx="2"/>
            <a:endCxn id="296" idx="0"/>
          </p:cNvCxnSpPr>
          <p:nvPr/>
        </p:nvCxnSpPr>
        <p:spPr>
          <a:xfrm>
            <a:off x="4572000" y="1966543"/>
            <a:ext cx="0" cy="2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1"/>
          <p:cNvCxnSpPr>
            <a:stCxn id="296" idx="2"/>
            <a:endCxn id="295" idx="0"/>
          </p:cNvCxnSpPr>
          <p:nvPr/>
        </p:nvCxnSpPr>
        <p:spPr>
          <a:xfrm>
            <a:off x="4572000" y="2621493"/>
            <a:ext cx="0" cy="2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31"/>
          <p:cNvCxnSpPr>
            <a:stCxn id="295" idx="2"/>
            <a:endCxn id="297" idx="0"/>
          </p:cNvCxnSpPr>
          <p:nvPr/>
        </p:nvCxnSpPr>
        <p:spPr>
          <a:xfrm>
            <a:off x="4572000" y="3222018"/>
            <a:ext cx="0" cy="2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31"/>
          <p:cNvSpPr txBox="1"/>
          <p:nvPr/>
        </p:nvSpPr>
        <p:spPr>
          <a:xfrm>
            <a:off x="5904875" y="4706275"/>
            <a:ext cx="30000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Casino: </a:t>
            </a:r>
            <a:r>
              <a:rPr lang="zh-TW" sz="1100">
                <a:solidFill>
                  <a:schemeClr val="dk1"/>
                </a:solidFill>
              </a:rPr>
              <a:t>num_classes</a:t>
            </a:r>
            <a:r>
              <a:rPr lang="zh-TW" sz="1100">
                <a:solidFill>
                  <a:schemeClr val="dk1"/>
                </a:solidFill>
              </a:rPr>
              <a:t> </a:t>
            </a:r>
            <a:r>
              <a:rPr lang="zh-TW" sz="1100">
                <a:solidFill>
                  <a:schemeClr val="dk1"/>
                </a:solidFill>
              </a:rPr>
              <a:t>=</a:t>
            </a:r>
            <a:r>
              <a:rPr lang="zh-TW" sz="1100">
                <a:solidFill>
                  <a:schemeClr val="dk1"/>
                </a:solidFill>
              </a:rPr>
              <a:t> </a:t>
            </a:r>
            <a:r>
              <a:rPr lang="zh-TW" sz="1100">
                <a:solidFill>
                  <a:schemeClr val="dk1"/>
                </a:solidFill>
              </a:rPr>
              <a:t>66+1</a:t>
            </a:r>
            <a:endParaRPr/>
          </a:p>
        </p:txBody>
      </p:sp>
      <p:cxnSp>
        <p:nvCxnSpPr>
          <p:cNvPr id="303" name="Google Shape;303;p31"/>
          <p:cNvCxnSpPr>
            <a:stCxn id="296" idx="3"/>
          </p:cNvCxnSpPr>
          <p:nvPr/>
        </p:nvCxnSpPr>
        <p:spPr>
          <a:xfrm>
            <a:off x="6894300" y="2433843"/>
            <a:ext cx="3303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31"/>
          <p:cNvSpPr txBox="1"/>
          <p:nvPr/>
        </p:nvSpPr>
        <p:spPr>
          <a:xfrm>
            <a:off x="7224600" y="2256850"/>
            <a:ext cx="1179300" cy="354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or PCA降維</a:t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7224600" y="2851939"/>
            <a:ext cx="1179300" cy="36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/>
              <a:t>BiGRU Layer</a:t>
            </a:r>
            <a:endParaRPr sz="1200"/>
          </a:p>
        </p:txBody>
      </p:sp>
      <p:cxnSp>
        <p:nvCxnSpPr>
          <p:cNvPr id="306" name="Google Shape;306;p31"/>
          <p:cNvCxnSpPr>
            <a:stCxn id="295" idx="3"/>
            <a:endCxn id="305" idx="1"/>
          </p:cNvCxnSpPr>
          <p:nvPr/>
        </p:nvCxnSpPr>
        <p:spPr>
          <a:xfrm>
            <a:off x="6894300" y="3034368"/>
            <a:ext cx="3303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"/>
          <p:cNvSpPr/>
          <p:nvPr/>
        </p:nvSpPr>
        <p:spPr>
          <a:xfrm>
            <a:off x="1890000" y="2046409"/>
            <a:ext cx="5364000" cy="2363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Expert2: </a:t>
            </a:r>
            <a:r>
              <a:rPr lang="zh-TW"/>
              <a:t>Transformer</a:t>
            </a:r>
            <a:endParaRPr/>
          </a:p>
        </p:txBody>
      </p:sp>
      <p:sp>
        <p:nvSpPr>
          <p:cNvPr id="313" name="Google Shape;313;p32"/>
          <p:cNvSpPr/>
          <p:nvPr/>
        </p:nvSpPr>
        <p:spPr>
          <a:xfrm>
            <a:off x="2249700" y="2255964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Multi-Head Attention(8-head)  (B, L, 512)</a:t>
            </a:r>
            <a:endParaRPr/>
          </a:p>
        </p:txBody>
      </p:sp>
      <p:sp>
        <p:nvSpPr>
          <p:cNvPr id="314" name="Google Shape;314;p32"/>
          <p:cNvSpPr/>
          <p:nvPr/>
        </p:nvSpPr>
        <p:spPr>
          <a:xfrm>
            <a:off x="2249700" y="1600302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zh-TW" sz="1100">
                <a:solidFill>
                  <a:schemeClr val="dk1"/>
                </a:solidFill>
              </a:rPr>
              <a:t>Linear(868, 512)  </a:t>
            </a:r>
            <a:endParaRPr/>
          </a:p>
        </p:txBody>
      </p:sp>
      <p:sp>
        <p:nvSpPr>
          <p:cNvPr id="315" name="Google Shape;315;p32"/>
          <p:cNvSpPr/>
          <p:nvPr/>
        </p:nvSpPr>
        <p:spPr>
          <a:xfrm>
            <a:off x="2249700" y="945352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Emebedding(1,868)</a:t>
            </a:r>
            <a:endParaRPr/>
          </a:p>
        </p:txBody>
      </p:sp>
      <p:cxnSp>
        <p:nvCxnSpPr>
          <p:cNvPr id="316" name="Google Shape;316;p32"/>
          <p:cNvCxnSpPr>
            <a:stCxn id="315" idx="2"/>
            <a:endCxn id="314" idx="0"/>
          </p:cNvCxnSpPr>
          <p:nvPr/>
        </p:nvCxnSpPr>
        <p:spPr>
          <a:xfrm>
            <a:off x="4572000" y="1320652"/>
            <a:ext cx="0" cy="2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32"/>
          <p:cNvCxnSpPr>
            <a:stCxn id="314" idx="2"/>
            <a:endCxn id="313" idx="0"/>
          </p:cNvCxnSpPr>
          <p:nvPr/>
        </p:nvCxnSpPr>
        <p:spPr>
          <a:xfrm>
            <a:off x="4572000" y="1975602"/>
            <a:ext cx="0" cy="28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8" name="Google Shape;318;p32"/>
          <p:cNvCxnSpPr>
            <a:stCxn id="313" idx="2"/>
            <a:endCxn id="319" idx="0"/>
          </p:cNvCxnSpPr>
          <p:nvPr/>
        </p:nvCxnSpPr>
        <p:spPr>
          <a:xfrm>
            <a:off x="4572000" y="2631264"/>
            <a:ext cx="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0" name="Google Shape;320;p32"/>
          <p:cNvSpPr/>
          <p:nvPr/>
        </p:nvSpPr>
        <p:spPr>
          <a:xfrm>
            <a:off x="2249700" y="3362680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Feed Forward </a:t>
            </a:r>
            <a:r>
              <a:rPr lang="zh-TW" sz="1100">
                <a:solidFill>
                  <a:schemeClr val="dk1"/>
                </a:solidFill>
              </a:rPr>
              <a:t>(B, L, 512)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321" name="Google Shape;321;p32"/>
          <p:cNvCxnSpPr>
            <a:stCxn id="320" idx="2"/>
            <a:endCxn id="322" idx="0"/>
          </p:cNvCxnSpPr>
          <p:nvPr/>
        </p:nvCxnSpPr>
        <p:spPr>
          <a:xfrm>
            <a:off x="4572000" y="3737980"/>
            <a:ext cx="0" cy="1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32"/>
          <p:cNvSpPr txBox="1"/>
          <p:nvPr/>
        </p:nvSpPr>
        <p:spPr>
          <a:xfrm>
            <a:off x="149650" y="1610959"/>
            <a:ext cx="1499700" cy="35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Positional Encoding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324" name="Google Shape;324;p32"/>
          <p:cNvCxnSpPr>
            <a:stCxn id="323" idx="3"/>
            <a:endCxn id="314" idx="1"/>
          </p:cNvCxnSpPr>
          <p:nvPr/>
        </p:nvCxnSpPr>
        <p:spPr>
          <a:xfrm>
            <a:off x="1649350" y="1787959"/>
            <a:ext cx="60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5" name="Google Shape;325;p32"/>
          <p:cNvSpPr txBox="1"/>
          <p:nvPr/>
        </p:nvSpPr>
        <p:spPr>
          <a:xfrm>
            <a:off x="1732695" y="1513179"/>
            <a:ext cx="3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+</a:t>
            </a:r>
            <a:endParaRPr sz="1200"/>
          </a:p>
        </p:txBody>
      </p:sp>
      <p:sp>
        <p:nvSpPr>
          <p:cNvPr id="326" name="Google Shape;326;p32"/>
          <p:cNvSpPr txBox="1"/>
          <p:nvPr/>
        </p:nvSpPr>
        <p:spPr>
          <a:xfrm>
            <a:off x="7498650" y="1964959"/>
            <a:ext cx="105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 4 Layers</a:t>
            </a: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2249700" y="2794240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Add &amp; Norm</a:t>
            </a:r>
            <a:endParaRPr/>
          </a:p>
        </p:txBody>
      </p:sp>
      <p:cxnSp>
        <p:nvCxnSpPr>
          <p:cNvPr id="327" name="Google Shape;327;p32"/>
          <p:cNvCxnSpPr>
            <a:endCxn id="319" idx="1"/>
          </p:cNvCxnSpPr>
          <p:nvPr/>
        </p:nvCxnSpPr>
        <p:spPr>
          <a:xfrm flipH="1">
            <a:off x="2249700" y="2104690"/>
            <a:ext cx="2322300" cy="877200"/>
          </a:xfrm>
          <a:prstGeom prst="bentConnector3">
            <a:avLst>
              <a:gd fmla="val 1102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32"/>
          <p:cNvSpPr/>
          <p:nvPr/>
        </p:nvSpPr>
        <p:spPr>
          <a:xfrm>
            <a:off x="2249700" y="3896131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Add &amp; Norm</a:t>
            </a:r>
            <a:endParaRPr/>
          </a:p>
        </p:txBody>
      </p:sp>
      <p:cxnSp>
        <p:nvCxnSpPr>
          <p:cNvPr id="328" name="Google Shape;328;p32"/>
          <p:cNvCxnSpPr>
            <a:stCxn id="319" idx="2"/>
            <a:endCxn id="320" idx="0"/>
          </p:cNvCxnSpPr>
          <p:nvPr/>
        </p:nvCxnSpPr>
        <p:spPr>
          <a:xfrm>
            <a:off x="4572000" y="3169540"/>
            <a:ext cx="0" cy="19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2"/>
          <p:cNvCxnSpPr/>
          <p:nvPr/>
        </p:nvCxnSpPr>
        <p:spPr>
          <a:xfrm flipH="1">
            <a:off x="2244561" y="3242137"/>
            <a:ext cx="2322300" cy="877200"/>
          </a:xfrm>
          <a:prstGeom prst="bentConnector3">
            <a:avLst>
              <a:gd fmla="val 11025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0" name="Google Shape;330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2"/>
          <p:cNvSpPr/>
          <p:nvPr/>
        </p:nvSpPr>
        <p:spPr>
          <a:xfrm>
            <a:off x="2006425" y="4573425"/>
            <a:ext cx="2400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Global Avg Pooling </a:t>
            </a:r>
            <a:r>
              <a:rPr lang="zh-TW" sz="1100">
                <a:solidFill>
                  <a:schemeClr val="dk1"/>
                </a:solidFill>
              </a:rPr>
              <a:t>(B, 512)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332" name="Google Shape;332;p32"/>
          <p:cNvCxnSpPr>
            <a:stCxn id="322" idx="2"/>
            <a:endCxn id="331" idx="0"/>
          </p:cNvCxnSpPr>
          <p:nvPr/>
        </p:nvCxnSpPr>
        <p:spPr>
          <a:xfrm rot="5400000">
            <a:off x="3738300" y="3739831"/>
            <a:ext cx="302100" cy="1365300"/>
          </a:xfrm>
          <a:prstGeom prst="curvedConnector3">
            <a:avLst>
              <a:gd fmla="val 4998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2"/>
          <p:cNvCxnSpPr>
            <a:stCxn id="331" idx="3"/>
            <a:endCxn id="334" idx="1"/>
          </p:cNvCxnSpPr>
          <p:nvPr/>
        </p:nvCxnSpPr>
        <p:spPr>
          <a:xfrm>
            <a:off x="4407025" y="4761075"/>
            <a:ext cx="480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4" name="Google Shape;334;p32"/>
          <p:cNvSpPr/>
          <p:nvPr/>
        </p:nvSpPr>
        <p:spPr>
          <a:xfrm>
            <a:off x="4887600" y="4573425"/>
            <a:ext cx="2400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Classification Head(num_classes)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Expert3: </a:t>
            </a:r>
            <a:r>
              <a:rPr lang="zh-TW"/>
              <a:t>Autoencoder</a:t>
            </a:r>
            <a:endParaRPr/>
          </a:p>
        </p:txBody>
      </p:sp>
      <p:sp>
        <p:nvSpPr>
          <p:cNvPr id="340" name="Google Shape;340;p33"/>
          <p:cNvSpPr/>
          <p:nvPr/>
        </p:nvSpPr>
        <p:spPr>
          <a:xfrm>
            <a:off x="2249700" y="1518671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Emebedding(1,8</a:t>
            </a:r>
            <a:r>
              <a:rPr lang="zh-TW" sz="1100">
                <a:solidFill>
                  <a:schemeClr val="dk1"/>
                </a:solidFill>
              </a:rPr>
              <a:t>68</a:t>
            </a:r>
            <a:r>
              <a:rPr lang="zh-TW" sz="1100">
                <a:solidFill>
                  <a:schemeClr val="dk1"/>
                </a:solidFill>
              </a:rPr>
              <a:t>)</a:t>
            </a:r>
            <a:endParaRPr/>
          </a:p>
        </p:txBody>
      </p:sp>
      <p:sp>
        <p:nvSpPr>
          <p:cNvPr id="341" name="Google Shape;341;p33"/>
          <p:cNvSpPr/>
          <p:nvPr/>
        </p:nvSpPr>
        <p:spPr>
          <a:xfrm>
            <a:off x="2249700" y="2133718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Linear(868, 256) + ReLU</a:t>
            </a:r>
            <a:endParaRPr/>
          </a:p>
        </p:txBody>
      </p:sp>
      <p:sp>
        <p:nvSpPr>
          <p:cNvPr id="342" name="Google Shape;342;p33"/>
          <p:cNvSpPr/>
          <p:nvPr/>
        </p:nvSpPr>
        <p:spPr>
          <a:xfrm>
            <a:off x="2249700" y="2748768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Linear(256, 64) + ReLU</a:t>
            </a:r>
            <a:endParaRPr/>
          </a:p>
        </p:txBody>
      </p:sp>
      <p:sp>
        <p:nvSpPr>
          <p:cNvPr id="343" name="Google Shape;343;p33"/>
          <p:cNvSpPr/>
          <p:nvPr/>
        </p:nvSpPr>
        <p:spPr>
          <a:xfrm>
            <a:off x="2249700" y="3336605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Linear(64, 256) + ReLU</a:t>
            </a:r>
            <a:endParaRPr/>
          </a:p>
        </p:txBody>
      </p:sp>
      <p:sp>
        <p:nvSpPr>
          <p:cNvPr id="344" name="Google Shape;344;p33"/>
          <p:cNvSpPr/>
          <p:nvPr/>
        </p:nvSpPr>
        <p:spPr>
          <a:xfrm>
            <a:off x="2249700" y="3924418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Linear(256, 868) + Sigmoid/Tanh</a:t>
            </a:r>
            <a:endParaRPr/>
          </a:p>
        </p:txBody>
      </p:sp>
      <p:sp>
        <p:nvSpPr>
          <p:cNvPr id="345" name="Google Shape;345;p33"/>
          <p:cNvSpPr/>
          <p:nvPr/>
        </p:nvSpPr>
        <p:spPr>
          <a:xfrm>
            <a:off x="2249700" y="4448793"/>
            <a:ext cx="4644600" cy="37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100">
                <a:solidFill>
                  <a:schemeClr val="dk1"/>
                </a:solidFill>
              </a:rPr>
              <a:t>Linear(64, num_classes)。</a:t>
            </a:r>
            <a:endParaRPr/>
          </a:p>
        </p:txBody>
      </p:sp>
      <p:sp>
        <p:nvSpPr>
          <p:cNvPr id="346" name="Google Shape;346;p33"/>
          <p:cNvSpPr txBox="1"/>
          <p:nvPr/>
        </p:nvSpPr>
        <p:spPr>
          <a:xfrm>
            <a:off x="235850" y="2446000"/>
            <a:ext cx="15003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Encoder Layer</a:t>
            </a:r>
            <a:endParaRPr/>
          </a:p>
        </p:txBody>
      </p:sp>
      <p:sp>
        <p:nvSpPr>
          <p:cNvPr id="347" name="Google Shape;347;p33"/>
          <p:cNvSpPr txBox="1"/>
          <p:nvPr/>
        </p:nvSpPr>
        <p:spPr>
          <a:xfrm>
            <a:off x="235850" y="3639500"/>
            <a:ext cx="15003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Decoder Layer</a:t>
            </a:r>
            <a:endParaRPr/>
          </a:p>
        </p:txBody>
      </p:sp>
      <p:cxnSp>
        <p:nvCxnSpPr>
          <p:cNvPr id="348" name="Google Shape;348;p33"/>
          <p:cNvCxnSpPr>
            <a:stCxn id="346" idx="3"/>
            <a:endCxn id="341" idx="1"/>
          </p:cNvCxnSpPr>
          <p:nvPr/>
        </p:nvCxnSpPr>
        <p:spPr>
          <a:xfrm flipH="1" rot="10800000">
            <a:off x="1736150" y="2321500"/>
            <a:ext cx="513600" cy="32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3"/>
          <p:cNvCxnSpPr>
            <a:stCxn id="346" idx="3"/>
            <a:endCxn id="342" idx="1"/>
          </p:cNvCxnSpPr>
          <p:nvPr/>
        </p:nvCxnSpPr>
        <p:spPr>
          <a:xfrm>
            <a:off x="1736150" y="2646100"/>
            <a:ext cx="5136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3"/>
          <p:cNvCxnSpPr>
            <a:stCxn id="347" idx="3"/>
            <a:endCxn id="343" idx="1"/>
          </p:cNvCxnSpPr>
          <p:nvPr/>
        </p:nvCxnSpPr>
        <p:spPr>
          <a:xfrm flipH="1" rot="10800000">
            <a:off x="1736150" y="3524300"/>
            <a:ext cx="5136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3"/>
          <p:cNvCxnSpPr>
            <a:stCxn id="347" idx="3"/>
            <a:endCxn id="344" idx="1"/>
          </p:cNvCxnSpPr>
          <p:nvPr/>
        </p:nvCxnSpPr>
        <p:spPr>
          <a:xfrm>
            <a:off x="1736150" y="3839600"/>
            <a:ext cx="513600" cy="2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3"/>
          <p:cNvCxnSpPr>
            <a:stCxn id="340" idx="2"/>
            <a:endCxn id="341" idx="0"/>
          </p:cNvCxnSpPr>
          <p:nvPr/>
        </p:nvCxnSpPr>
        <p:spPr>
          <a:xfrm>
            <a:off x="4572000" y="1893971"/>
            <a:ext cx="0" cy="2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33"/>
          <p:cNvCxnSpPr>
            <a:stCxn id="341" idx="2"/>
            <a:endCxn id="342" idx="0"/>
          </p:cNvCxnSpPr>
          <p:nvPr/>
        </p:nvCxnSpPr>
        <p:spPr>
          <a:xfrm>
            <a:off x="4572000" y="2509018"/>
            <a:ext cx="0" cy="23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33"/>
          <p:cNvCxnSpPr>
            <a:stCxn id="342" idx="2"/>
            <a:endCxn id="343" idx="0"/>
          </p:cNvCxnSpPr>
          <p:nvPr/>
        </p:nvCxnSpPr>
        <p:spPr>
          <a:xfrm>
            <a:off x="4572000" y="3124068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33"/>
          <p:cNvCxnSpPr>
            <a:stCxn id="343" idx="2"/>
            <a:endCxn id="344" idx="0"/>
          </p:cNvCxnSpPr>
          <p:nvPr/>
        </p:nvCxnSpPr>
        <p:spPr>
          <a:xfrm>
            <a:off x="4572000" y="3711905"/>
            <a:ext cx="0" cy="21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6" name="Google Shape;356;p33"/>
          <p:cNvCxnSpPr>
            <a:stCxn id="344" idx="2"/>
            <a:endCxn id="345" idx="0"/>
          </p:cNvCxnSpPr>
          <p:nvPr/>
        </p:nvCxnSpPr>
        <p:spPr>
          <a:xfrm>
            <a:off x="4572000" y="4299718"/>
            <a:ext cx="0" cy="14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"/>
          <p:cNvSpPr/>
          <p:nvPr/>
        </p:nvSpPr>
        <p:spPr>
          <a:xfrm>
            <a:off x="751225" y="1017725"/>
            <a:ext cx="4440000" cy="377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elastic rules 標記方法</a:t>
            </a:r>
            <a:endParaRPr/>
          </a:p>
        </p:txBody>
      </p:sp>
      <p:sp>
        <p:nvSpPr>
          <p:cNvPr id="363" name="Google Shape;363;p34"/>
          <p:cNvSpPr txBox="1"/>
          <p:nvPr>
            <p:ph idx="1" type="body"/>
          </p:nvPr>
        </p:nvSpPr>
        <p:spPr>
          <a:xfrm>
            <a:off x="764575" y="1444645"/>
            <a:ext cx="4413300" cy="3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…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query = '''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event.category:process and host.os.type:"linux" and event.type:"start" and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event.action:("exec" or "exec_event" or "executed" or "process_started" or "start") and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process.name:("xclip" or "xsel" or "wl-clipboard" or "clipman" or "copyq") and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not process.parent.name:("bwrap" or "micro")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'''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zh-TW" sz="1600"/>
              <a:t>…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4" name="Google Shape;364;p34"/>
          <p:cNvSpPr txBox="1"/>
          <p:nvPr/>
        </p:nvSpPr>
        <p:spPr>
          <a:xfrm>
            <a:off x="2439850" y="1068825"/>
            <a:ext cx="10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Rule</a:t>
            </a:r>
            <a:endParaRPr sz="1800"/>
          </a:p>
        </p:txBody>
      </p:sp>
      <p:sp>
        <p:nvSpPr>
          <p:cNvPr id="365" name="Google Shape;365;p34"/>
          <p:cNvSpPr txBox="1"/>
          <p:nvPr/>
        </p:nvSpPr>
        <p:spPr>
          <a:xfrm>
            <a:off x="5832300" y="1754075"/>
            <a:ext cx="3000000" cy="23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process.name</a:t>
            </a:r>
            <a:endParaRPr b="1"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xclip, xsel, wl-clipboard...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這些是可以讀取/修改剪貼簿的</a:t>
            </a:r>
            <a:r>
              <a:rPr b="1" lang="zh-TW" sz="1100">
                <a:solidFill>
                  <a:srgbClr val="1F1F1F"/>
                </a:solidFill>
              </a:rPr>
              <a:t>工具</a:t>
            </a:r>
            <a:endParaRPr b="1"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event.type</a:t>
            </a:r>
            <a:endParaRPr b="1"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start / exec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只要這些工具被</a:t>
            </a:r>
            <a:r>
              <a:rPr b="1" lang="zh-TW" sz="1100">
                <a:solidFill>
                  <a:srgbClr val="1F1F1F"/>
                </a:solidFill>
              </a:rPr>
              <a:t>執行</a:t>
            </a:r>
            <a:r>
              <a:rPr lang="zh-TW" sz="1100">
                <a:solidFill>
                  <a:srgbClr val="1F1F1F"/>
                </a:solidFill>
              </a:rPr>
              <a:t>就抓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not parent.name</a:t>
            </a:r>
            <a:endParaRPr b="1"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micro, bwrap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是這兩個</a:t>
            </a:r>
            <a:r>
              <a:rPr b="1" lang="zh-TW" sz="1100">
                <a:solidFill>
                  <a:srgbClr val="1F1F1F"/>
                </a:solidFill>
              </a:rPr>
              <a:t>合法軟體</a:t>
            </a:r>
            <a:r>
              <a:rPr lang="zh-TW" sz="1100">
                <a:solidFill>
                  <a:srgbClr val="1F1F1F"/>
                </a:solidFill>
              </a:rPr>
              <a:t>就沒關係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/>
          <p:nvPr>
            <p:ph type="title"/>
          </p:nvPr>
        </p:nvSpPr>
        <p:spPr>
          <a:xfrm>
            <a:off x="311700" y="445025"/>
            <a:ext cx="460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rule </a:t>
            </a:r>
            <a:r>
              <a:rPr lang="zh-TW"/>
              <a:t>標記 casino dataset</a:t>
            </a:r>
            <a:endParaRPr/>
          </a:p>
        </p:txBody>
      </p:sp>
      <p:graphicFrame>
        <p:nvGraphicFramePr>
          <p:cNvPr id="371" name="Google Shape;371;p35"/>
          <p:cNvGraphicFramePr/>
          <p:nvPr/>
        </p:nvGraphicFramePr>
        <p:xfrm>
          <a:off x="4749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23,434,595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23,303,769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23,303,769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22,302,746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18,953,528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18,793,287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18,391,830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18,297,923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17,991,703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16,558,294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14,200,033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2" name="Google Shape;372;p35"/>
          <p:cNvGraphicFramePr/>
          <p:nvPr/>
        </p:nvGraphicFramePr>
        <p:xfrm>
          <a:off x="2416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12,481,468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12,265,466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T1098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11,591,737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10,969,929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10,449,288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9,819,530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T1496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8,443,249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8,200,052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7,823,401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5,567,815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T1580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5,266,491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3" name="Google Shape;373;p35"/>
          <p:cNvGraphicFramePr/>
          <p:nvPr/>
        </p:nvGraphicFramePr>
        <p:xfrm>
          <a:off x="43586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5,152,671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T1082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4,302,317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3,783,342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3,780,274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3,780,274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2,015,107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T1014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1,490,328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1,351,494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T1136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1,335,323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1,112,809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1,098,024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4" name="Google Shape;374;p35"/>
          <p:cNvGraphicFramePr/>
          <p:nvPr/>
        </p:nvGraphicFramePr>
        <p:xfrm>
          <a:off x="9569550" y="38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56,024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51,410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40,290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18,554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5,023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1,237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1,161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820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367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5" name="Google Shape;375;p35"/>
          <p:cNvGraphicFramePr/>
          <p:nvPr/>
        </p:nvGraphicFramePr>
        <p:xfrm>
          <a:off x="12200625" y="410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438,399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432,361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303,589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212,886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185,737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T1140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134,078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132,039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71,060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76" name="Google Shape;376;p35"/>
          <p:cNvGraphicFramePr/>
          <p:nvPr/>
        </p:nvGraphicFramePr>
        <p:xfrm>
          <a:off x="63741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1,094,950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1,019,428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910,150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849,560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849,560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794,411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767,894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613,050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609,331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608,766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608,681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35"/>
          <p:cNvSpPr txBox="1"/>
          <p:nvPr/>
        </p:nvSpPr>
        <p:spPr>
          <a:xfrm>
            <a:off x="5495975" y="156100"/>
            <a:ext cx="344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Count單位是sample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rule數量有linux(320)+network(29)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title"/>
          </p:nvPr>
        </p:nvSpPr>
        <p:spPr>
          <a:xfrm>
            <a:off x="311700" y="499889"/>
            <a:ext cx="460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/>
              <a:t>elastic rule 標記 casino dataset</a:t>
            </a:r>
            <a:endParaRPr sz="2400"/>
          </a:p>
        </p:txBody>
      </p:sp>
      <p:graphicFrame>
        <p:nvGraphicFramePr>
          <p:cNvPr id="383" name="Google Shape;383;p36"/>
          <p:cNvGraphicFramePr/>
          <p:nvPr/>
        </p:nvGraphicFramePr>
        <p:xfrm>
          <a:off x="4749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23,434,595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23,303,769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23,303,769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22,302,746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18,953,528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18,793,287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18,391,830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18,297,923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17,991,703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16,558,294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14,200,033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4" name="Google Shape;384;p36"/>
          <p:cNvGraphicFramePr/>
          <p:nvPr/>
        </p:nvGraphicFramePr>
        <p:xfrm>
          <a:off x="24168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12,481,468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12,265,466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T1098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11,591,737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10,969,929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T1222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10,449,288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9,819,530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T1496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8,443,249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8,200,052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7,823,401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5,567,815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T1580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5,266,491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5" name="Google Shape;385;p36"/>
          <p:cNvGraphicFramePr/>
          <p:nvPr/>
        </p:nvGraphicFramePr>
        <p:xfrm>
          <a:off x="43586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5,152,671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T1082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4,302,317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3,783,342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3,780,274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3,780,274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2,015,107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T1014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1,490,328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1,351,494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T1136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1,335,323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1,112,809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1,098,024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6" name="Google Shape;386;p36"/>
          <p:cNvGraphicFramePr/>
          <p:nvPr/>
        </p:nvGraphicFramePr>
        <p:xfrm>
          <a:off x="9569550" y="384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56,024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51,410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40,290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18,554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5,023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1,237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1,161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820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367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7" name="Google Shape;387;p36"/>
          <p:cNvGraphicFramePr/>
          <p:nvPr/>
        </p:nvGraphicFramePr>
        <p:xfrm>
          <a:off x="12200625" y="410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438,399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432,361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303,589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212,886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185,737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T1140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134,078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132,039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71,060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88" name="Google Shape;388;p36"/>
          <p:cNvGraphicFramePr/>
          <p:nvPr/>
        </p:nvGraphicFramePr>
        <p:xfrm>
          <a:off x="637417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1,094,950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1,019,428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910,150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T1113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849,560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849,560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794,411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767,894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613,050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609,331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608,766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608,681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9" name="Google Shape;389;p36"/>
          <p:cNvSpPr txBox="1"/>
          <p:nvPr/>
        </p:nvSpPr>
        <p:spPr>
          <a:xfrm>
            <a:off x="5688675" y="156100"/>
            <a:ext cx="344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Count單位是sample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rule數量有linux(320)+network(29)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90" name="Google Shape;390;p36"/>
          <p:cNvSpPr txBox="1"/>
          <p:nvPr/>
        </p:nvSpPr>
        <p:spPr>
          <a:xfrm>
            <a:off x="579550" y="0"/>
            <a:ext cx="42999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T1543:Create or Modify System Process - systemd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T1563:Remote Service Session Hijacking</a:t>
            </a:r>
            <a:r>
              <a:rPr lang="zh-TW">
                <a:solidFill>
                  <a:schemeClr val="dk1"/>
                </a:solidFill>
              </a:rPr>
              <a:t> - sshd</a:t>
            </a:r>
            <a:endParaRPr/>
          </a:p>
        </p:txBody>
      </p:sp>
      <p:sp>
        <p:nvSpPr>
          <p:cNvPr id="391" name="Google Shape;391;p36"/>
          <p:cNvSpPr/>
          <p:nvPr/>
        </p:nvSpPr>
        <p:spPr>
          <a:xfrm>
            <a:off x="482750" y="1363400"/>
            <a:ext cx="1762200" cy="6771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rule 標記</a:t>
            </a:r>
            <a:endParaRPr/>
          </a:p>
        </p:txBody>
      </p:sp>
      <p:graphicFrame>
        <p:nvGraphicFramePr>
          <p:cNvPr id="397" name="Google Shape;397;p37"/>
          <p:cNvGraphicFramePr/>
          <p:nvPr/>
        </p:nvGraphicFramePr>
        <p:xfrm>
          <a:off x="4076575" y="58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56,024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51,410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40,290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18,554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5,023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1,237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T1123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1,161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T1601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820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725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T1570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524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367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T1115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98" name="Google Shape;398;p37"/>
          <p:cNvGraphicFramePr/>
          <p:nvPr/>
        </p:nvGraphicFramePr>
        <p:xfrm>
          <a:off x="1902850" y="111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762000"/>
                <a:gridCol w="1000125"/>
              </a:tblGrid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TTP_ID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Count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438,399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432,361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303,589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T1486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212,886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T1195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185,737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T1027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T1140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174,353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T1204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134,078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132,039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T1542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71,060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9" name="Google Shape;399;p37"/>
          <p:cNvSpPr txBox="1"/>
          <p:nvPr/>
        </p:nvSpPr>
        <p:spPr>
          <a:xfrm>
            <a:off x="4871875" y="0"/>
            <a:ext cx="3960300" cy="615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T1203:Exploitation for Client Execution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T1115:Clipboard Data - clip.exe …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"/>
          <p:cNvSpPr/>
          <p:nvPr/>
        </p:nvSpPr>
        <p:spPr>
          <a:xfrm>
            <a:off x="751225" y="1017725"/>
            <a:ext cx="4440000" cy="37737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Casino - elastic rules 標記方法</a:t>
            </a:r>
            <a:endParaRPr/>
          </a:p>
        </p:txBody>
      </p:sp>
      <p:sp>
        <p:nvSpPr>
          <p:cNvPr id="406" name="Google Shape;406;p38"/>
          <p:cNvSpPr txBox="1"/>
          <p:nvPr>
            <p:ph idx="1" type="body"/>
          </p:nvPr>
        </p:nvSpPr>
        <p:spPr>
          <a:xfrm>
            <a:off x="764575" y="1444645"/>
            <a:ext cx="4413300" cy="36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…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query = '''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sequence by host.id, process.entity_id with maxspan=3s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[process where host.os.type == "linux" and event.type == "start" and event.action == "exec" and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process.args == "client" and process.args : ("R*", "*:*", "*socks*") and process.args_count &gt;= 4 and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process.parent.name in ("bash", "dash", "ash", "sh", "tcsh", "csh", "zsh", "ksh", "fish") and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not process.name in ("velociraptor", "nbemmcmd", "redis-cli", "ipa")]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[network where host.os.type == "linux" and event.action == "connection_attempted" and event.type == "start" and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destination.ip != null and destination.ip != "127.0.0.1" and destination.ip != "::1" and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not process.name : (     "python*", "php*", "perl", "ruby", "lua*", "openssl", "nc", "netcat", "ncat", "telnet", "awk", "java", "telnet",     "ftp", "socat", "curl", "wget", "dpkg", "docker", "dockerd", yum", "apt", "rpm", "dnf", "ssh", "sshd", "kubectl*",     "clickhouse"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   )] '''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…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07" name="Google Shape;407;p38"/>
          <p:cNvSpPr txBox="1"/>
          <p:nvPr/>
        </p:nvSpPr>
        <p:spPr>
          <a:xfrm>
            <a:off x="2439850" y="1068825"/>
            <a:ext cx="108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Rule</a:t>
            </a:r>
            <a:endParaRPr sz="1800"/>
          </a:p>
        </p:txBody>
      </p:sp>
      <p:sp>
        <p:nvSpPr>
          <p:cNvPr id="408" name="Google Shape;408;p38"/>
          <p:cNvSpPr txBox="1"/>
          <p:nvPr/>
        </p:nvSpPr>
        <p:spPr>
          <a:xfrm>
            <a:off x="5530875" y="764525"/>
            <a:ext cx="3000000" cy="3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process.args</a:t>
            </a:r>
            <a:endParaRPr b="1"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包含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client</a:t>
            </a:r>
            <a:r>
              <a:rPr lang="zh-TW" sz="1100">
                <a:solidFill>
                  <a:srgbClr val="1F1F1F"/>
                </a:solidFill>
              </a:rPr>
              <a:t> 且匹配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R*</a:t>
            </a:r>
            <a:r>
              <a:rPr lang="zh-TW" sz="1100">
                <a:solidFill>
                  <a:srgbClr val="1F1F1F"/>
                </a:solidFill>
              </a:rPr>
              <a:t>,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*:*</a:t>
            </a:r>
            <a:r>
              <a:rPr lang="zh-TW" sz="1100">
                <a:solidFill>
                  <a:srgbClr val="1F1F1F"/>
                </a:solidFill>
              </a:rPr>
              <a:t>, 或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*socks*</a:t>
            </a:r>
            <a:endParaRPr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抓取反向轉發、連接埠映射或 SOCKS 代理的參數特徵。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process.args_count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&gt;= 4</a:t>
            </a:r>
            <a:endParaRPr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排除簡單指令，鎖定包含 IP、Port 等詳細設定的複雜攻擊指令。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process.parent.name</a:t>
            </a:r>
            <a:endParaRPr b="1"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bash</a:t>
            </a:r>
            <a:r>
              <a:rPr lang="zh-TW" sz="1100">
                <a:solidFill>
                  <a:srgbClr val="1F1F1F"/>
                </a:solidFill>
              </a:rPr>
              <a:t>,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sh</a:t>
            </a:r>
            <a:r>
              <a:rPr lang="zh-TW" sz="1100">
                <a:solidFill>
                  <a:srgbClr val="1F1F1F"/>
                </a:solidFill>
              </a:rPr>
              <a:t>,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zsh</a:t>
            </a:r>
            <a:r>
              <a:rPr lang="zh-TW" sz="1100">
                <a:solidFill>
                  <a:srgbClr val="1F1F1F"/>
                </a:solidFill>
              </a:rPr>
              <a:t>... (各種 Shell)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確認指令是從終端機介面直接執行的（人為或腳本觸發）。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destination.ip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not 127.0.0.1</a:t>
            </a:r>
            <a:r>
              <a:rPr lang="zh-TW" sz="1100">
                <a:solidFill>
                  <a:srgbClr val="1F1F1F"/>
                </a:solidFill>
              </a:rPr>
              <a:t> 且 </a:t>
            </a:r>
            <a:r>
              <a:rPr lang="zh-TW" sz="1100">
                <a:solidFill>
                  <a:srgbClr val="444746"/>
                </a:solidFill>
                <a:highlight>
                  <a:srgbClr val="E9EEF6"/>
                </a:highlight>
              </a:rPr>
              <a:t>not ::1</a:t>
            </a:r>
            <a:endParaRPr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排除連向自己的連線</a:t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100">
                <a:solidFill>
                  <a:srgbClr val="444746"/>
                </a:solidFill>
                <a:highlight>
                  <a:srgbClr val="E9EEF6"/>
                </a:highlight>
              </a:rPr>
              <a:t>not process.name</a:t>
            </a:r>
            <a:endParaRPr b="1" sz="1100">
              <a:solidFill>
                <a:srgbClr val="444746"/>
              </a:solidFill>
              <a:highlight>
                <a:srgbClr val="E9EEF6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白名單</a:t>
            </a:r>
            <a:endParaRPr sz="1100">
              <a:solidFill>
                <a:srgbClr val="444746"/>
              </a:solidFill>
              <a:highlight>
                <a:srgbClr val="E9EEF6"/>
              </a:highlight>
            </a:endParaRPr>
          </a:p>
        </p:txBody>
      </p:sp>
      <p:sp>
        <p:nvSpPr>
          <p:cNvPr id="409" name="Google Shape;409;p38"/>
          <p:cNvSpPr txBox="1"/>
          <p:nvPr/>
        </p:nvSpPr>
        <p:spPr>
          <a:xfrm>
            <a:off x="5615225" y="4623425"/>
            <a:ext cx="330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>
                <a:solidFill>
                  <a:srgbClr val="1F1F1F"/>
                </a:solidFill>
              </a:rPr>
              <a:t>目的是尋找 frp、Chisel、nps 之類的後門連線工具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其他作品處理log的方式</a:t>
            </a:r>
            <a:endParaRPr/>
          </a:p>
        </p:txBody>
      </p:sp>
      <p:sp>
        <p:nvSpPr>
          <p:cNvPr id="415" name="Google Shape;415;p39"/>
          <p:cNvSpPr txBox="1"/>
          <p:nvPr>
            <p:ph idx="1" type="body"/>
          </p:nvPr>
        </p:nvSpPr>
        <p:spPr>
          <a:xfrm>
            <a:off x="311700" y="1152475"/>
            <a:ext cx="5395500" cy="3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Slot:沒有刪減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NoDoze: 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Process只留PATH、Cmdline和gid(判斷是否提權)。 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File移除了 inode 和 timestamp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Socket根據連線方向刪除內部地址的資訊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	對外連接移除Source IP和port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	對內連線移除Destination IP和port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Kairos: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Process 只留 Image pathname。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 只留 File pathname。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 只留 SrcIP,Dst IP,port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FLASH: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	Process：只提取 Process Name和 Command Line Arguments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File ：只提取Path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Socket ：只提取 IP Address和 Port。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	Module ：只提取 Module Name 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6" name="Google Shape;4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417" name="Google Shape;417;p39"/>
          <p:cNvSpPr txBox="1"/>
          <p:nvPr/>
        </p:nvSpPr>
        <p:spPr>
          <a:xfrm>
            <a:off x="5267250" y="1243125"/>
            <a:ext cx="3205200" cy="15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Shade watcher: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Process：pid, ppid , exe(path), args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File：name, path, version </a:t>
            </a:r>
            <a:endParaRPr sz="125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250">
                <a:solidFill>
                  <a:schemeClr val="dk1"/>
                </a:solidFill>
              </a:rPr>
              <a:t>Socket：ip,port</a:t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0"/>
          <p:cNvSpPr txBox="1"/>
          <p:nvPr>
            <p:ph type="title"/>
          </p:nvPr>
        </p:nvSpPr>
        <p:spPr>
          <a:xfrm>
            <a:off x="311713" y="92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其他文獻的比較</a:t>
            </a:r>
            <a:endParaRPr/>
          </a:p>
        </p:txBody>
      </p:sp>
      <p:sp>
        <p:nvSpPr>
          <p:cNvPr id="423" name="Google Shape;42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graphicFrame>
        <p:nvGraphicFramePr>
          <p:cNvPr id="424" name="Google Shape;424;p40"/>
          <p:cNvGraphicFramePr/>
          <p:nvPr/>
        </p:nvGraphicFramePr>
        <p:xfrm>
          <a:off x="661988" y="66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{8AAB712E-4870-43BD-85F5-BA58B447F1C7}</a:tableStyleId>
              </a:tblPr>
              <a:tblGrid>
                <a:gridCol w="1295400"/>
                <a:gridCol w="3028950"/>
                <a:gridCol w="2002525"/>
                <a:gridCol w="17290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文獻名稱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Input Log 處理簡述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Dataset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Embedding 格式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7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3"/>
                        </a:rPr>
                        <a:t>LogBERT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。移除動態參數（如 IP、數值）。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chemeClr val="hlink"/>
                          </a:solidFill>
                          <a:hlinkClick r:id="rId4"/>
                        </a:rPr>
                        <a:t>HDFS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, </a:t>
                      </a:r>
                      <a:r>
                        <a:rPr lang="zh-TW" sz="1100" u="sng">
                          <a:solidFill>
                            <a:schemeClr val="hlink"/>
                          </a:solidFill>
                          <a:hlinkClick r:id="rId5"/>
                        </a:rPr>
                        <a:t>BGL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6"/>
                        </a:rPr>
                        <a:t>AirTag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。移除日誌雜訊，保留並強化 Textual Semantic，轉為自然語言描述。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ATLAS ,DEPIMPACT ,自己的dataset(Linux)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Bert - 768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Slot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。基於 Provenance Graph，過濾與攻擊無關的Edges。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(Linux/FreeBSD)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7"/>
                        </a:rPr>
                        <a:t>FLASH</a:t>
                      </a:r>
                      <a:endParaRPr b="1" sz="1100"/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。只留特定欄位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OpTC, E3, StreamSpot, Unicorn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Word2Vec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8"/>
                        </a:rPr>
                        <a:t>ATLAS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。僅保留與Kill Chain相關的Syscalls。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word-representations embedding - 128-256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9"/>
                        </a:rPr>
                        <a:t>ShadeWatcher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有刪減。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只留特定欄位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chemeClr val="accent6"/>
                        </a:highlight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 E3 &amp; E5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TransR 64-128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0"/>
                        </a:rPr>
                        <a:t>Kairos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有篩選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。只留特定欄位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DARPA TC, THEIA (Linux)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Hierarchical Feature Hashing - 128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 u="sng">
                          <a:solidFill>
                            <a:schemeClr val="hlink"/>
                          </a:solidFill>
                          <a:hlinkClick r:id="rId11"/>
                        </a:rPr>
                        <a:t>DeepLog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有刪減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。僅提取 Event ID（模板索引），忽略所有參數內容。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HDFS (Linux) OpenStack 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One-Hot Encoding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7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