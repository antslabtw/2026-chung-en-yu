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F518DF-9C0A-470D-B825-1D9968816B08}">
  <a:tblStyle styleId="{D5F518DF-9C0A-470D-B825-1D9968816B0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79110d6c0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79110d6c0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79110d6c0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79110d6c0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7a794db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7a794db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79110d6c0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79110d6c0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79110d6c0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79110d6c0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79110d6c0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79110d6c0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79110d6c0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79110d6c0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79110d6c0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79110d6c0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kellect.org/#/kellect-4-aptdataset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1842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Kellect4APT Dataset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4225425"/>
            <a:ext cx="8520600" cy="6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/>
              <a:t>Zhejiang Innovation center of Cyberspace Security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Kellect4APT Dataset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20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Kellect4APT uses the open-source collector Kellect for data collection.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Kellect is a real-time, non-invasive, efficient Windows kernel log collector that can provide rich kernel behavior data as the basis for user and application behavior.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The dataset involves 9 tactics with 43 sub-techniques and 304 sample files, totaling 18.5GB.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975" y="3251875"/>
            <a:ext cx="779150" cy="7791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2035750" y="3320725"/>
            <a:ext cx="20136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Txxxx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Txxxx-1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Txxxx-2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Txxxx</a:t>
            </a:r>
            <a:br>
              <a:rPr lang="zh-TW" sz="1800">
                <a:solidFill>
                  <a:schemeClr val="dk1"/>
                </a:solidFill>
              </a:rPr>
            </a:br>
            <a:r>
              <a:rPr lang="zh-TW" sz="1800">
                <a:solidFill>
                  <a:schemeClr val="dk1"/>
                </a:solidFill>
              </a:rPr>
              <a:t>…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4349600" y="2938000"/>
            <a:ext cx="4428600" cy="205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Every sample contains only 1 TTP.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Each sample includes only 1 script.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The ETW formatted log has no label</a:t>
            </a:r>
            <a:br>
              <a:rPr lang="zh-TW" sz="1800">
                <a:solidFill>
                  <a:schemeClr val="dk1"/>
                </a:solidFill>
              </a:rPr>
            </a:br>
            <a:r>
              <a:rPr lang="zh-TW" sz="1800">
                <a:solidFill>
                  <a:schemeClr val="dk1"/>
                </a:solidFill>
              </a:rPr>
              <a:t>but they provided a csv file specified every TTP events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The size for each sample is not large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3010225" y="3718600"/>
            <a:ext cx="898500" cy="312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" name="Google Shape;67;p14"/>
          <p:cNvCxnSpPr>
            <a:stCxn id="66" idx="3"/>
            <a:endCxn id="65" idx="1"/>
          </p:cNvCxnSpPr>
          <p:nvPr/>
        </p:nvCxnSpPr>
        <p:spPr>
          <a:xfrm>
            <a:off x="3908725" y="3874750"/>
            <a:ext cx="441000" cy="9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Data collection environment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12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Based on Windows 10, the CPU of the host is i5-10400F, the GPU is 1050ti, the memory is 16GB.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Data was collected with specified noise and scripts running.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75" name="Google Shape;75;p15"/>
          <p:cNvGraphicFramePr/>
          <p:nvPr/>
        </p:nvGraphicFramePr>
        <p:xfrm>
          <a:off x="723900" y="263592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{D5F518DF-9C0A-470D-B825-1D9968816B08}</a:tableStyleId>
              </a:tblPr>
              <a:tblGrid>
                <a:gridCol w="1105725"/>
                <a:gridCol w="6433475"/>
              </a:tblGrid>
              <a:tr h="457200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Noise 1</a:t>
                      </a:r>
                      <a:endParaRPr sz="16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Video live streaming and common office software</a:t>
                      </a:r>
                      <a:endParaRPr sz="16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Noise 2</a:t>
                      </a:r>
                      <a:endParaRPr sz="16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Gaming and file downloading</a:t>
                      </a:r>
                      <a:endParaRPr sz="16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688" y="109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log example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617225"/>
            <a:ext cx="8520600" cy="15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{"Event": "RegistryQuery", "PID": 7928, "PName": "conhost.exe", "PPID": 2412, "PPName": "powershell.exe", "TID": 7868, "TimeStamp": 133341559560493051, "Host-UUID": "FBFFA15C-FEDE-4f96-9AF8-398294758A2A", "args": {"Index": 7, "InitialTime": 593909697, "KeyHandle": 784855216, "KeyName": "", "Status": 0}}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82" name="Google Shape;82;p16"/>
          <p:cNvGraphicFramePr/>
          <p:nvPr/>
        </p:nvGraphicFramePr>
        <p:xfrm>
          <a:off x="137663" y="1932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{D5F518DF-9C0A-470D-B825-1D9968816B08}</a:tableStyleId>
              </a:tblPr>
              <a:tblGrid>
                <a:gridCol w="1291075"/>
                <a:gridCol w="1316075"/>
                <a:gridCol w="6261525"/>
              </a:tblGrid>
              <a:tr h="394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欄位名稱 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範例值 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欄位說明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1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Event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"RegistryQuery"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事件類型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：標示當前系統呼叫的具體動作。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KeyName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""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(空字串)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目標對象路徑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：這裡指被操作的登錄檔鍵值。空字串通常代表正在列舉子鍵或查詢預設值。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7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Status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0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執行狀態碼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0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代表成功 (STATUS_SUCCESS)。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KeyHandle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784855216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作業系統分配給該登錄檔的記憶體指標，用於追蹤同一行程對同一物件的連續操作。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5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Index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/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InitialTime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7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/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593909697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OS 底層遍歷登錄檔時的索引與初始化時間，通常用於極深度的系統狀態取證。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Collection content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480875"/>
            <a:ext cx="8520600" cy="9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Referring to the events provided by Windows, we collect and analyze a total of the following seven events, which are included as follows: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90" name="Google Shape;90;p17"/>
          <p:cNvGraphicFramePr/>
          <p:nvPr/>
        </p:nvGraphicFramePr>
        <p:xfrm>
          <a:off x="270875" y="120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{D5F518DF-9C0A-470D-B825-1D9968816B08}</a:tableStyleId>
              </a:tblPr>
              <a:tblGrid>
                <a:gridCol w="1059175"/>
                <a:gridCol w="7543050"/>
              </a:tblGrid>
              <a:tr h="819350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TCP/IP</a:t>
                      </a:r>
                      <a:endParaRPr b="1"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TcpIpSendIPV4, TcpIpSendIPV6, TcpIpRetransmitIPV4, TcpIpRetransmitIPV6, TcpIpRecvIPV4, TcpIpRecvIPV6, TcpIpConnectIPV4, TcpIpReconnectIPV6, TcpIpConnectIPV6, TcpIpReconnectIPV4, TcpIpAcceptIPV4, TcpIpAcceptIPV6, TcpIpDisconnectIPV4, TcpIpDisconnectIPV6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600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FileIO</a:t>
                      </a:r>
                      <a:endParaRPr b="1"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FileIOWrite, FileIORead, FileIOFileCreate, FileIORename, FileIOCreate, FileIOCleanup, FileIOFlush, FileIOClose, FileIODelete, FileIOFileDelete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475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Registry</a:t>
                      </a:r>
                      <a:endParaRPr b="1"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RegistryCreate, RegistrySetValue, RegistryDeleteValue, RegistryOpen, RegistryDelete, RegistryFlush, RegistryClose, , RegistrySetInformation, RegistryQuery, RegistryQueryValue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1" name="Google Shape;91;p17"/>
          <p:cNvGraphicFramePr/>
          <p:nvPr/>
        </p:nvGraphicFramePr>
        <p:xfrm>
          <a:off x="270875" y="38349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{D5F518DF-9C0A-470D-B825-1D9968816B08}</a:tableStyleId>
              </a:tblPr>
              <a:tblGrid>
                <a:gridCol w="1059175"/>
                <a:gridCol w="3840050"/>
                <a:gridCol w="845500"/>
                <a:gridCol w="2163475"/>
              </a:tblGrid>
              <a:tr h="332000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Process</a:t>
                      </a:r>
                      <a:endParaRPr b="1"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ProcessStart, ProcessEnd, ProcessDCStart, ProcessDCEnd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Image</a:t>
                      </a:r>
                      <a:endParaRPr b="1"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ImageDCStart, ImageLoad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Thread</a:t>
                      </a:r>
                      <a:endParaRPr b="1"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ThreadStart, ThreadEnd, ThreadDCStart, ThreadDCEnd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DiskIO</a:t>
                      </a:r>
                      <a:endParaRPr b="1"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DiskIOWrite, DiskIORead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0450" y="3053250"/>
            <a:ext cx="3467924" cy="209025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471175"/>
            <a:ext cx="8520600" cy="8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In this case, each event has two parts of attributes: </a:t>
            </a:r>
            <a:r>
              <a:rPr lang="zh-TW">
                <a:solidFill>
                  <a:schemeClr val="dk1"/>
                </a:solidFill>
                <a:highlight>
                  <a:schemeClr val="accent6"/>
                </a:highlight>
              </a:rPr>
              <a:t>public</a:t>
            </a:r>
            <a:r>
              <a:rPr lang="zh-TW">
                <a:solidFill>
                  <a:schemeClr val="dk1"/>
                </a:solidFill>
              </a:rPr>
              <a:t> and private attributes. Each public is described as follows: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Collection content - Common properties</a:t>
            </a:r>
            <a:endParaRPr/>
          </a:p>
        </p:txBody>
      </p:sp>
      <p:graphicFrame>
        <p:nvGraphicFramePr>
          <p:cNvPr id="100" name="Google Shape;100;p18"/>
          <p:cNvGraphicFramePr/>
          <p:nvPr/>
        </p:nvGraphicFramePr>
        <p:xfrm>
          <a:off x="785125" y="138912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{D5F518DF-9C0A-470D-B825-1D9968816B08}</a:tableStyleId>
              </a:tblPr>
              <a:tblGrid>
                <a:gridCol w="1330775"/>
                <a:gridCol w="6242975"/>
              </a:tblGrid>
              <a:tr h="457200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Event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corresponding event name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TID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ID of the thread that generated the event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PID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ID of the process that generated the event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PName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name of the process that generated the event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PPID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parent ID of the process that generated the event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471175"/>
            <a:ext cx="8520600" cy="8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In this case, each event has two parts of attributes: </a:t>
            </a:r>
            <a:r>
              <a:rPr lang="zh-TW">
                <a:solidFill>
                  <a:schemeClr val="dk1"/>
                </a:solidFill>
                <a:highlight>
                  <a:schemeClr val="accent6"/>
                </a:highlight>
              </a:rPr>
              <a:t>public</a:t>
            </a:r>
            <a:r>
              <a:rPr lang="zh-TW">
                <a:solidFill>
                  <a:schemeClr val="dk1"/>
                </a:solidFill>
              </a:rPr>
              <a:t> and private attributes. Each public is described as follows: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Collection content - Common properties</a:t>
            </a:r>
            <a:endParaRPr/>
          </a:p>
        </p:txBody>
      </p:sp>
      <p:graphicFrame>
        <p:nvGraphicFramePr>
          <p:cNvPr id="108" name="Google Shape;108;p19"/>
          <p:cNvGraphicFramePr/>
          <p:nvPr/>
        </p:nvGraphicFramePr>
        <p:xfrm>
          <a:off x="785125" y="135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{D5F518DF-9C0A-470D-B825-1D9968816B08}</a:tableStyleId>
              </a:tblPr>
              <a:tblGrid>
                <a:gridCol w="1426025"/>
                <a:gridCol w="6147725"/>
              </a:tblGrid>
              <a:tr h="457200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PPName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parent name of the process that generated the event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TimeStamp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time of the event occurred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7800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Host-UUID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the host ID that generated the event, distinguish the specific log source in the joint analysis of multi-host logs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Args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private property pairs for specific event types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Collection content - Private properties - file_create event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311700" y="335100"/>
            <a:ext cx="8520600" cy="13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In this case, each event has two parts of attributes: public and </a:t>
            </a:r>
            <a:r>
              <a:rPr lang="zh-TW">
                <a:solidFill>
                  <a:schemeClr val="dk1"/>
                </a:solidFill>
                <a:highlight>
                  <a:schemeClr val="accent6"/>
                </a:highlight>
              </a:rPr>
              <a:t>private</a:t>
            </a:r>
            <a:r>
              <a:rPr lang="zh-TW">
                <a:solidFill>
                  <a:schemeClr val="dk1"/>
                </a:solidFill>
              </a:rPr>
              <a:t> attributes. Each public is described as follows: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This type properties is various depends on the BaseEvent types.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16" name="Google Shape;116;p20"/>
          <p:cNvGraphicFramePr/>
          <p:nvPr/>
        </p:nvGraphicFramePr>
        <p:xfrm>
          <a:off x="589213" y="1409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{D5F518DF-9C0A-470D-B825-1D9968816B08}</a:tableStyleId>
              </a:tblPr>
              <a:tblGrid>
                <a:gridCol w="1475225"/>
                <a:gridCol w="6490350"/>
              </a:tblGrid>
              <a:tr h="318775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IrpPtr</a:t>
                      </a:r>
                      <a:endParaRPr b="1"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IO request packet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600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TTID</a:t>
                      </a:r>
                      <a:endParaRPr b="1"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Thread identifier of the thread that is creating the file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950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FileObject</a:t>
                      </a:r>
                      <a:endParaRPr b="1"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Identifier that can be used for correlating operations to the same opened file object instance between file create and close events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CreateOptions</a:t>
                      </a:r>
                      <a:endParaRPr b="1"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Values passed in the CreateOptions and CreateDispositions parameters to the NtCreateFile function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150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FileAttributes</a:t>
                      </a:r>
                      <a:endParaRPr b="1"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Value passed in the FileAttributes parameter to the NtCreateFile function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2325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ShareAccess</a:t>
                      </a:r>
                      <a:endParaRPr b="1"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Value passed in the ShareAccess parameter to the NtCreateFile function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975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OpenPath</a:t>
                      </a:r>
                      <a:endParaRPr b="1"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5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Path to the file</a:t>
                      </a:r>
                      <a:endParaRPr sz="105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Collection content - Private properties - FileIo_Name event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634450"/>
            <a:ext cx="8520600" cy="13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In this case, each event has two parts of attributes: public and </a:t>
            </a:r>
            <a:r>
              <a:rPr lang="zh-TW">
                <a:solidFill>
                  <a:schemeClr val="dk1"/>
                </a:solidFill>
                <a:highlight>
                  <a:schemeClr val="accent6"/>
                </a:highlight>
              </a:rPr>
              <a:t>private</a:t>
            </a:r>
            <a:r>
              <a:rPr lang="zh-TW">
                <a:solidFill>
                  <a:schemeClr val="dk1"/>
                </a:solidFill>
              </a:rPr>
              <a:t> attributes. Each public is described as follows: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This type properties is various depends on the BaseEvent types.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24" name="Google Shape;124;p21"/>
          <p:cNvGraphicFramePr/>
          <p:nvPr/>
        </p:nvGraphicFramePr>
        <p:xfrm>
          <a:off x="723900" y="213737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{D5F518DF-9C0A-470D-B825-1D9968816B08}</a:tableStyleId>
              </a:tblPr>
              <a:tblGrid>
                <a:gridCol w="1325550"/>
                <a:gridCol w="6370650"/>
              </a:tblGrid>
              <a:tr h="681200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FileObject</a:t>
                      </a:r>
                      <a:endParaRPr b="1" sz="12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Match the value of this pointer to the FileObject pointer value in a DiskIo_TypeGroup1 event to determine the type of I/O operation</a:t>
                      </a:r>
                      <a:endParaRPr sz="12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FileName</a:t>
                      </a:r>
                      <a:endParaRPr b="1" sz="12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6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Full path to the file, not including the drive letter</a:t>
                      </a:r>
                      <a:endParaRPr sz="12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14300" marB="114300" marR="91425" marL="91425" anchor="ctr">
                    <a:lnL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