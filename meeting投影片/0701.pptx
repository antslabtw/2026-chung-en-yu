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 Mon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13" Type="http://schemas.openxmlformats.org/officeDocument/2006/relationships/font" Target="fonts/RobotoMono-italic.fntdata"/><Relationship Id="rId12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274ca17f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274ca17f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2761083c8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2761083c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完整流程圖(得弄得很細) 456整合 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protorype encoder分層 V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Transformer和GT插在哪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Graph的來源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設計好幾個model，去比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Graph-Self attention讓每個節點只與其前後 K 個時間步的節點進行注意力運算，大幅降低了計算複雜度 $O(N^2) \rightarrow O(N \times K)$，並保留了時序距離的特徵 (</a:t>
            </a:r>
            <a:r>
              <a:rPr lang="zh-TW">
                <a:solidFill>
                  <a:srgbClr val="188038"/>
                </a:solidFill>
              </a:rPr>
              <a:t>edge_attr</a:t>
            </a:r>
            <a:r>
              <a:rPr lang="zh-TW">
                <a:solidFill>
                  <a:schemeClr val="dk1"/>
                </a:solidFill>
              </a:rPr>
              <a:t>)。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為每一個 TTP 類別宣告了一個專屬的可學習向量（長度為 256 維）。 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座標會看資料：代表「執行 (Execution)」或「防禦規避 (Evasion)」的類別座標，會先去掃描這段日誌。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座標會微調位置：如果它發現這段日誌的上下文跟自己很搭，這個類別座標就會在 256 維空間中，微微向這段特徵「靠攏」，並吸收這段特徵的上下文資訊。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資料再找座標：最後，日誌特徵再去對照這些「已經針對當下情境微調過」的類別座標，決定自己的歸屬。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程式碼邏輯</a:t>
            </a:r>
            <a:r>
              <a:rPr lang="zh-TW">
                <a:solidFill>
                  <a:schemeClr val="dk1"/>
                </a:solidFill>
              </a:rPr>
              <a:t>：拿「日誌 (h1)」當 Query 去算跟所有「類別 (h3)」的相似度，然後把最像的那個「類別特徵 (h3)」當作 Value 抽出來，附加到日誌身上，變成 </a:t>
            </a: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h1_enriched</a:t>
            </a:r>
            <a:r>
              <a:rPr lang="zh-TW">
                <a:solidFill>
                  <a:schemeClr val="dk1"/>
                </a:solidFill>
              </a:rPr>
              <a:t>，最後送進 </a:t>
            </a: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self.classifier</a:t>
            </a:r>
            <a:r>
              <a:rPr lang="zh-TW">
                <a:solidFill>
                  <a:schemeClr val="dk1"/>
                </a:solidFill>
              </a:rPr>
              <a:t> 輸出 Logits。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Loss = crf_loss(為了順序) + w(為了讓CRF和Focal平衡) * focal_loss(為了長尾)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Loss = crf_loss + w * focal_loss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bd342b923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bd342b923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完整流程圖(得弄得很細) 456整合 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protorype encoder分層 V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Transformer和GT插在哪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Graph的來源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設計好幾個model，去比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Graph-Self attention</a:t>
            </a:r>
            <a:r>
              <a:rPr lang="zh-TW">
                <a:solidFill>
                  <a:schemeClr val="dk1"/>
                </a:solidFill>
              </a:rPr>
              <a:t>讓每個節點只與其前後 K 個時間步的節點進行注意力運算，大幅降低了計算複雜度 $O(N^2) \rightarrow O(N \times K)$，並保留了時序距離的特徵 (</a:t>
            </a:r>
            <a:r>
              <a:rPr lang="zh-TW">
                <a:solidFill>
                  <a:srgbClr val="188038"/>
                </a:solidFill>
              </a:rPr>
              <a:t>edge_attr</a:t>
            </a:r>
            <a:r>
              <a:rPr lang="zh-TW">
                <a:solidFill>
                  <a:schemeClr val="dk1"/>
                </a:solidFill>
              </a:rPr>
              <a:t>)。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為每一個 TTP 類別宣告了一個專屬的可學習向量（長度為 256 維）。 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座標會看資料：代表「執行 (Execution)」或「防禦規避 (Evasion)」的類別座標，會先去掃描這段日誌。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座標會微調位置：如果它發現這段日誌的上下文跟自己很搭，這個類別座標就會在 256 維空間中，微微向這段特徵「靠攏」，並吸收這段特徵的上下文資訊。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資料再找座標：最後，日誌特徵再去對照這些「已經針對當下情境微調過」的類別座標，決定自己的歸屬。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程式碼邏輯</a:t>
            </a:r>
            <a:r>
              <a:rPr lang="zh-TW">
                <a:solidFill>
                  <a:schemeClr val="dk1"/>
                </a:solidFill>
              </a:rPr>
              <a:t>：拿「日誌 (h1)」當 Query 去算跟所有「類別 (h3)」的相似度，然後把最像的那個「類別特徵 (h3)」當作 Value 抽出來，附加到日誌身上，變成 </a:t>
            </a: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h1_enriched</a:t>
            </a:r>
            <a:r>
              <a:rPr lang="zh-TW">
                <a:solidFill>
                  <a:schemeClr val="dk1"/>
                </a:solidFill>
              </a:rPr>
              <a:t>，最後送進 </a:t>
            </a: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self.classifier</a:t>
            </a:r>
            <a:r>
              <a:rPr lang="zh-TW">
                <a:solidFill>
                  <a:schemeClr val="dk1"/>
                </a:solidFill>
              </a:rPr>
              <a:t> 輸出 Logits。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Loss = crf_loss(為了順序) + w(為了讓CRF和Focal平衡) * focal_loss(為了長尾)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Loss = crf_loss + w * focal_loss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2761083c8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f2761083c8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完整流程圖(得弄得很細) 456整合 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protorype encoder分層 V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Transformer和GT插在哪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Graph的來源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設計好幾個model，去比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Graph-Self attention讓每個節點只與其前後 K 個時間步的節點進行注意力運算，大幅降低了計算複雜度 $O(N^2) \rightarrow O(N \times K)$，並保留了時序距離的特徵 (</a:t>
            </a:r>
            <a:r>
              <a:rPr lang="zh-TW">
                <a:solidFill>
                  <a:srgbClr val="188038"/>
                </a:solidFill>
              </a:rPr>
              <a:t>edge_attr</a:t>
            </a:r>
            <a:r>
              <a:rPr lang="zh-TW">
                <a:solidFill>
                  <a:schemeClr val="dk1"/>
                </a:solidFill>
              </a:rPr>
              <a:t>)。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為每一個 TTP 類別宣告了一個專屬的可學習向量（長度為 256 維）。 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座標會看資料：代表「執行 (Execution)」或「防禦規避 (Evasion)」的類別座標，會先去掃描這段日誌。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座標會微調位置：如果它發現這段日誌的上下文跟自己很搭，這個類別座標就會在 256 維空間中，微微向這段特徵「靠攏」，並吸收這段特徵的上下文資訊。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資料再找座標：最後，日誌特徵再去對照這些「已經針對當下情境微調過」的類別座標，決定自己的歸屬。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程式碼邏輯</a:t>
            </a:r>
            <a:r>
              <a:rPr lang="zh-TW">
                <a:solidFill>
                  <a:schemeClr val="dk1"/>
                </a:solidFill>
              </a:rPr>
              <a:t>：拿「日誌 (h1)」當 Query 去算跟所有「類別 (h3)」的相似度，然後把最像的那個「類別特徵 (h3)」當作 Value 抽出來，附加到日誌身上，變成 </a:t>
            </a: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h1_enriched</a:t>
            </a:r>
            <a:r>
              <a:rPr lang="zh-TW">
                <a:solidFill>
                  <a:schemeClr val="dk1"/>
                </a:solidFill>
              </a:rPr>
              <a:t>，最後送進 </a:t>
            </a: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self.classifier</a:t>
            </a:r>
            <a:r>
              <a:rPr lang="zh-TW">
                <a:solidFill>
                  <a:schemeClr val="dk1"/>
                </a:solidFill>
              </a:rPr>
              <a:t> 輸出 Logits。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Loss = crf_loss(為了順序) + w(為了讓CRF和Focal平衡) * focal_loss(為了長尾)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Loss = crf_loss + w * focal_loss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01aa18a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f01aa18a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完整流程圖(得弄得很細) 456整合 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protorype encoder分層 V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Transformer和GT插在哪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Graph的來源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設計好幾個model，去比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Graph-Self attention讓每個節點只與其前後 K 個時間步的節點進行注意力運算，大幅降低了計算複雜度 $O(N^2) \rightarrow O(N \times K)$，並保留了時序距離的特徵 (</a:t>
            </a:r>
            <a:r>
              <a:rPr lang="zh-TW">
                <a:solidFill>
                  <a:srgbClr val="188038"/>
                </a:solidFill>
              </a:rPr>
              <a:t>edge_attr</a:t>
            </a:r>
            <a:r>
              <a:rPr lang="zh-TW">
                <a:solidFill>
                  <a:schemeClr val="dk1"/>
                </a:solidFill>
              </a:rPr>
              <a:t>)。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為每一個 TTP 類別宣告了一個專屬的可學習向量（長度為 256 維）。 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座標會看資料：代表「執行 (Execution)」或「防禦規避 (Evasion)」的類別座標，會先去掃描這段日誌。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座標會微調位置：如果它發現這段日誌的上下文跟自己很搭，這個類別座標就會在 256 維空間中，微微向這段特徵「靠攏」，並吸收這段特徵的上下文資訊。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資料再找座標：最後，日誌特徵再去對照這些「已經針對當下情境微調過」的類別座標，決定自己的歸屬。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程式碼邏輯</a:t>
            </a:r>
            <a:r>
              <a:rPr lang="zh-TW">
                <a:solidFill>
                  <a:schemeClr val="dk1"/>
                </a:solidFill>
              </a:rPr>
              <a:t>：拿「日誌 (h1)」當 Query 去算跟所有「類別 (h3)」的相似度，然後把最像的那個「類別特徵 (h3)」當作 Value 抽出來，附加到日誌身上，變成 </a:t>
            </a: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h1_enriched</a:t>
            </a:r>
            <a:r>
              <a:rPr lang="zh-TW">
                <a:solidFill>
                  <a:schemeClr val="dk1"/>
                </a:solidFill>
              </a:rPr>
              <a:t>，最後送進 </a:t>
            </a: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self.classifier</a:t>
            </a:r>
            <a:r>
              <a:rPr lang="zh-TW">
                <a:solidFill>
                  <a:schemeClr val="dk1"/>
                </a:solidFill>
              </a:rPr>
              <a:t> 輸出 Logits。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Loss = crf_loss(為了順序) + w(為了讓CRF和Focal平衡) * focal_loss(為了長尾)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Loss = crf_loss + w * focal_loss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Graph Transformer 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245125" y="1128375"/>
            <a:ext cx="8315100" cy="26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Graph Transformer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Attention: 只計算與自身有edge相連的鄰居節點(k-hop)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Positional Encoding:用edge的特徵和時間</a:t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Graph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每條Audit log都可以表示成 (Source Node,Relation,Destination Node)</a:t>
            </a:r>
            <a:br>
              <a:rPr lang="zh-TW" sz="1600">
                <a:solidFill>
                  <a:schemeClr val="dk1"/>
                </a:solidFill>
              </a:rPr>
            </a:br>
            <a:r>
              <a:rPr lang="zh-TW" sz="1600">
                <a:solidFill>
                  <a:schemeClr val="dk1"/>
                </a:solidFill>
              </a:rPr>
              <a:t>Relation就是node之間的edge。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e.g. ( powershell.exe(</a:t>
            </a:r>
            <a:r>
              <a:rPr lang="zh-TW" sz="1600">
                <a:solidFill>
                  <a:schemeClr val="dk1"/>
                </a:solidFill>
              </a:rPr>
              <a:t>Process</a:t>
            </a:r>
            <a:r>
              <a:rPr lang="zh-TW" sz="1600">
                <a:solidFill>
                  <a:schemeClr val="dk1"/>
                </a:solidFill>
              </a:rPr>
              <a:t>), CreateFile, script.ps1(</a:t>
            </a:r>
            <a:r>
              <a:rPr lang="zh-TW" sz="1600">
                <a:solidFill>
                  <a:schemeClr val="dk1"/>
                </a:solidFill>
              </a:rPr>
              <a:t>File</a:t>
            </a:r>
            <a:r>
              <a:rPr lang="zh-TW" sz="1600">
                <a:solidFill>
                  <a:schemeClr val="dk1"/>
                </a:solidFill>
              </a:rPr>
              <a:t>) )</a:t>
            </a:r>
            <a:br>
              <a:rPr lang="zh-TW" sz="1600">
                <a:solidFill>
                  <a:schemeClr val="dk1"/>
                </a:solidFill>
              </a:rPr>
            </a:br>
            <a:r>
              <a:rPr lang="zh-TW" sz="1600">
                <a:solidFill>
                  <a:schemeClr val="dk1"/>
                </a:solidFill>
              </a:rPr>
              <a:t>CreateFile就是這條event的edge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3365881" y="4026695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h3</a:t>
            </a:r>
            <a:endParaRPr/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33073" y="19025"/>
            <a:ext cx="527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TTP detection - Siamese Network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1531679" y="605425"/>
            <a:ext cx="1538100" cy="4581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</a:t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974725" y="1274825"/>
            <a:ext cx="2626200" cy="2206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Siamese Network</a:t>
            </a:r>
            <a:endParaRPr/>
          </a:p>
        </p:txBody>
      </p:sp>
      <p:cxnSp>
        <p:nvCxnSpPr>
          <p:cNvPr id="66" name="Google Shape;66;p14"/>
          <p:cNvCxnSpPr>
            <a:stCxn id="67" idx="1"/>
            <a:endCxn id="68" idx="1"/>
          </p:cNvCxnSpPr>
          <p:nvPr/>
        </p:nvCxnSpPr>
        <p:spPr>
          <a:xfrm flipH="1">
            <a:off x="931667" y="3156338"/>
            <a:ext cx="805500" cy="912600"/>
          </a:xfrm>
          <a:prstGeom prst="curvedConnector3">
            <a:avLst>
              <a:gd fmla="val 12957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9" name="Google Shape;69;p14"/>
          <p:cNvGrpSpPr/>
          <p:nvPr/>
        </p:nvGrpSpPr>
        <p:grpSpPr>
          <a:xfrm>
            <a:off x="5773125" y="1394875"/>
            <a:ext cx="3159300" cy="1778400"/>
            <a:chOff x="513899" y="3066238"/>
            <a:chExt cx="3159300" cy="1778400"/>
          </a:xfrm>
        </p:grpSpPr>
        <p:sp>
          <p:nvSpPr>
            <p:cNvPr id="70" name="Google Shape;70;p14"/>
            <p:cNvSpPr/>
            <p:nvPr/>
          </p:nvSpPr>
          <p:spPr>
            <a:xfrm>
              <a:off x="513899" y="3066238"/>
              <a:ext cx="3159300" cy="1778400"/>
            </a:xfrm>
            <a:prstGeom prst="rect">
              <a:avLst/>
            </a:prstGeom>
            <a:solidFill>
              <a:srgbClr val="FCE5C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Graph Transformer</a:t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732645" y="3382738"/>
              <a:ext cx="12984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Multi-head attention</a:t>
              </a:r>
              <a:endParaRPr/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770299" y="4147813"/>
              <a:ext cx="12231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Residual + LayerNorm</a:t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2483723" y="3382738"/>
              <a:ext cx="7911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FFN</a:t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2289624" y="4147813"/>
              <a:ext cx="11355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Residual + LayerNorm</a:t>
              </a:r>
              <a:endParaRPr/>
            </a:p>
          </p:txBody>
        </p:sp>
        <p:cxnSp>
          <p:nvCxnSpPr>
            <p:cNvPr id="75" name="Google Shape;75;p14"/>
            <p:cNvCxnSpPr>
              <a:stCxn id="71" idx="2"/>
              <a:endCxn id="72" idx="0"/>
            </p:cNvCxnSpPr>
            <p:nvPr/>
          </p:nvCxnSpPr>
          <p:spPr>
            <a:xfrm>
              <a:off x="1381845" y="3955438"/>
              <a:ext cx="0" cy="19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6" name="Google Shape;76;p14"/>
            <p:cNvCxnSpPr>
              <a:stCxn id="72" idx="3"/>
              <a:endCxn id="73" idx="1"/>
            </p:cNvCxnSpPr>
            <p:nvPr/>
          </p:nvCxnSpPr>
          <p:spPr>
            <a:xfrm flipH="1" rot="10800000">
              <a:off x="1993399" y="3669163"/>
              <a:ext cx="490200" cy="765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7" name="Google Shape;77;p14"/>
            <p:cNvCxnSpPr>
              <a:stCxn id="73" idx="2"/>
              <a:endCxn id="74" idx="0"/>
            </p:cNvCxnSpPr>
            <p:nvPr/>
          </p:nvCxnSpPr>
          <p:spPr>
            <a:xfrm flipH="1">
              <a:off x="2857373" y="3955438"/>
              <a:ext cx="21900" cy="19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78" name="Google Shape;78;p14"/>
          <p:cNvSpPr/>
          <p:nvPr/>
        </p:nvSpPr>
        <p:spPr>
          <a:xfrm>
            <a:off x="1355875" y="1700675"/>
            <a:ext cx="18768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Graph Self-Attention</a:t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931575" y="3839975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sp>
        <p:nvSpPr>
          <p:cNvPr id="79" name="Google Shape;79;p14"/>
          <p:cNvSpPr/>
          <p:nvPr/>
        </p:nvSpPr>
        <p:spPr>
          <a:xfrm>
            <a:off x="4064325" y="3839963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cxnSp>
        <p:nvCxnSpPr>
          <p:cNvPr id="80" name="Google Shape;80;p14"/>
          <p:cNvCxnSpPr>
            <a:stCxn id="68" idx="3"/>
            <a:endCxn id="81" idx="1"/>
          </p:cNvCxnSpPr>
          <p:nvPr/>
        </p:nvCxnSpPr>
        <p:spPr>
          <a:xfrm>
            <a:off x="1722675" y="4069025"/>
            <a:ext cx="702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" name="Google Shape;82;p14"/>
          <p:cNvCxnSpPr>
            <a:stCxn id="79" idx="3"/>
            <a:endCxn id="83" idx="1"/>
          </p:cNvCxnSpPr>
          <p:nvPr/>
        </p:nvCxnSpPr>
        <p:spPr>
          <a:xfrm>
            <a:off x="4855425" y="4069013"/>
            <a:ext cx="31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" name="Google Shape;83;p14"/>
          <p:cNvSpPr/>
          <p:nvPr/>
        </p:nvSpPr>
        <p:spPr>
          <a:xfrm>
            <a:off x="5166900" y="3839975"/>
            <a:ext cx="7911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Linear</a:t>
            </a:r>
            <a:endParaRPr/>
          </a:p>
        </p:txBody>
      </p:sp>
      <p:cxnSp>
        <p:nvCxnSpPr>
          <p:cNvPr id="84" name="Google Shape;84;p14"/>
          <p:cNvCxnSpPr>
            <a:stCxn id="83" idx="3"/>
            <a:endCxn id="85" idx="1"/>
          </p:cNvCxnSpPr>
          <p:nvPr/>
        </p:nvCxnSpPr>
        <p:spPr>
          <a:xfrm>
            <a:off x="5958000" y="4069025"/>
            <a:ext cx="31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" name="Google Shape;85;p14"/>
          <p:cNvSpPr/>
          <p:nvPr/>
        </p:nvSpPr>
        <p:spPr>
          <a:xfrm>
            <a:off x="6269413" y="3839975"/>
            <a:ext cx="9276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Sigmoid</a:t>
            </a:r>
            <a:endParaRPr/>
          </a:p>
        </p:txBody>
      </p:sp>
      <p:sp>
        <p:nvSpPr>
          <p:cNvPr id="86" name="Google Shape;86;p14"/>
          <p:cNvSpPr/>
          <p:nvPr/>
        </p:nvSpPr>
        <p:spPr>
          <a:xfrm>
            <a:off x="7508450" y="3839981"/>
            <a:ext cx="14715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Predicted label</a:t>
            </a:r>
            <a:endParaRPr/>
          </a:p>
        </p:txBody>
      </p:sp>
      <p:cxnSp>
        <p:nvCxnSpPr>
          <p:cNvPr id="87" name="Google Shape;87;p14"/>
          <p:cNvCxnSpPr>
            <a:stCxn id="85" idx="3"/>
            <a:endCxn id="86" idx="1"/>
          </p:cNvCxnSpPr>
          <p:nvPr/>
        </p:nvCxnSpPr>
        <p:spPr>
          <a:xfrm>
            <a:off x="7197013" y="4069025"/>
            <a:ext cx="31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" name="Google Shape;88;p14"/>
          <p:cNvSpPr txBox="1"/>
          <p:nvPr/>
        </p:nvSpPr>
        <p:spPr>
          <a:xfrm>
            <a:off x="-167725" y="4305725"/>
            <a:ext cx="285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(Q:proto, K:h1, V:h1)</a:t>
            </a:r>
            <a:endParaRPr sz="1600"/>
          </a:p>
        </p:txBody>
      </p:sp>
      <p:sp>
        <p:nvSpPr>
          <p:cNvPr id="89" name="Google Shape;89;p14"/>
          <p:cNvSpPr txBox="1"/>
          <p:nvPr/>
        </p:nvSpPr>
        <p:spPr>
          <a:xfrm>
            <a:off x="4225900" y="2816250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h1</a:t>
            </a:r>
            <a:endParaRPr/>
          </a:p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3299800" y="2068537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h1</a:t>
            </a: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2425050" y="3839973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cxnSp>
        <p:nvCxnSpPr>
          <p:cNvPr id="92" name="Google Shape;92;p14"/>
          <p:cNvCxnSpPr>
            <a:stCxn id="81" idx="3"/>
            <a:endCxn id="79" idx="1"/>
          </p:cNvCxnSpPr>
          <p:nvPr/>
        </p:nvCxnSpPr>
        <p:spPr>
          <a:xfrm>
            <a:off x="3216150" y="4069023"/>
            <a:ext cx="848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" name="Google Shape;93;p14"/>
          <p:cNvSpPr txBox="1"/>
          <p:nvPr/>
        </p:nvSpPr>
        <p:spPr>
          <a:xfrm>
            <a:off x="1393050" y="4644475"/>
            <a:ext cx="285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(Q:h2, K:h2, V:h2)</a:t>
            </a:r>
            <a:endParaRPr sz="1600"/>
          </a:p>
        </p:txBody>
      </p:sp>
      <p:sp>
        <p:nvSpPr>
          <p:cNvPr id="94" name="Google Shape;94;p14"/>
          <p:cNvSpPr txBox="1"/>
          <p:nvPr/>
        </p:nvSpPr>
        <p:spPr>
          <a:xfrm>
            <a:off x="1799505" y="4026695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h2</a:t>
            </a:r>
            <a:endParaRPr/>
          </a:p>
        </p:txBody>
      </p:sp>
      <p:cxnSp>
        <p:nvCxnSpPr>
          <p:cNvPr id="95" name="Google Shape;95;p14"/>
          <p:cNvCxnSpPr>
            <a:stCxn id="68" idx="2"/>
            <a:endCxn id="88" idx="0"/>
          </p:cNvCxnSpPr>
          <p:nvPr/>
        </p:nvCxnSpPr>
        <p:spPr>
          <a:xfrm flipH="1">
            <a:off x="1259925" y="4298075"/>
            <a:ext cx="67200" cy="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14"/>
          <p:cNvCxnSpPr>
            <a:stCxn id="81" idx="2"/>
            <a:endCxn id="93" idx="0"/>
          </p:cNvCxnSpPr>
          <p:nvPr/>
        </p:nvCxnSpPr>
        <p:spPr>
          <a:xfrm>
            <a:off x="2820600" y="4298073"/>
            <a:ext cx="0" cy="34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" name="Google Shape;97;p14"/>
          <p:cNvSpPr txBox="1"/>
          <p:nvPr/>
        </p:nvSpPr>
        <p:spPr>
          <a:xfrm>
            <a:off x="3578075" y="4644475"/>
            <a:ext cx="238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(Q:h1, K:h3, V:h3)</a:t>
            </a:r>
            <a:endParaRPr sz="1600"/>
          </a:p>
        </p:txBody>
      </p:sp>
      <p:cxnSp>
        <p:nvCxnSpPr>
          <p:cNvPr id="98" name="Google Shape;98;p14"/>
          <p:cNvCxnSpPr>
            <a:stCxn id="79" idx="2"/>
            <a:endCxn id="97" idx="0"/>
          </p:cNvCxnSpPr>
          <p:nvPr/>
        </p:nvCxnSpPr>
        <p:spPr>
          <a:xfrm>
            <a:off x="4459875" y="4298063"/>
            <a:ext cx="309300" cy="34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4"/>
          <p:cNvCxnSpPr>
            <a:stCxn id="91" idx="3"/>
            <a:endCxn id="79" idx="0"/>
          </p:cNvCxnSpPr>
          <p:nvPr/>
        </p:nvCxnSpPr>
        <p:spPr>
          <a:xfrm>
            <a:off x="3848500" y="2284087"/>
            <a:ext cx="611400" cy="15558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" name="Google Shape;100;p14"/>
          <p:cNvSpPr txBox="1"/>
          <p:nvPr/>
        </p:nvSpPr>
        <p:spPr>
          <a:xfrm>
            <a:off x="33075" y="3662562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proto</a:t>
            </a:r>
            <a:endParaRPr/>
          </a:p>
        </p:txBody>
      </p:sp>
      <p:cxnSp>
        <p:nvCxnSpPr>
          <p:cNvPr id="101" name="Google Shape;101;p14"/>
          <p:cNvCxnSpPr>
            <a:stCxn id="91" idx="3"/>
            <a:endCxn id="68" idx="0"/>
          </p:cNvCxnSpPr>
          <p:nvPr/>
        </p:nvCxnSpPr>
        <p:spPr>
          <a:xfrm flipH="1">
            <a:off x="1327000" y="2284087"/>
            <a:ext cx="2521500" cy="1555800"/>
          </a:xfrm>
          <a:prstGeom prst="curvedConnector4">
            <a:avLst>
              <a:gd fmla="val -11084" name="adj1"/>
              <a:gd fmla="val 85879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" name="Google Shape;102;p14"/>
          <p:cNvSpPr txBox="1"/>
          <p:nvPr/>
        </p:nvSpPr>
        <p:spPr>
          <a:xfrm>
            <a:off x="5960375" y="46032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Loss = crf_loss + w * focal_loss</a:t>
            </a:r>
            <a:endParaRPr/>
          </a:p>
        </p:txBody>
      </p:sp>
      <p:cxnSp>
        <p:nvCxnSpPr>
          <p:cNvPr id="103" name="Google Shape;103;p14"/>
          <p:cNvCxnSpPr>
            <a:stCxn id="78" idx="2"/>
            <a:endCxn id="104" idx="0"/>
          </p:cNvCxnSpPr>
          <p:nvPr/>
        </p:nvCxnSpPr>
        <p:spPr>
          <a:xfrm flipH="1">
            <a:off x="2287675" y="2158775"/>
            <a:ext cx="6600" cy="14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" name="Google Shape;105;p14"/>
          <p:cNvSpPr txBox="1"/>
          <p:nvPr/>
        </p:nvSpPr>
        <p:spPr>
          <a:xfrm>
            <a:off x="1229063" y="3553775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h1</a:t>
            </a:r>
            <a:endParaRPr/>
          </a:p>
        </p:txBody>
      </p:sp>
      <p:grpSp>
        <p:nvGrpSpPr>
          <p:cNvPr id="106" name="Google Shape;106;p14"/>
          <p:cNvGrpSpPr/>
          <p:nvPr/>
        </p:nvGrpSpPr>
        <p:grpSpPr>
          <a:xfrm>
            <a:off x="9729625" y="3662550"/>
            <a:ext cx="1761900" cy="615600"/>
            <a:chOff x="6591025" y="4184550"/>
            <a:chExt cx="1761900" cy="615600"/>
          </a:xfrm>
        </p:grpSpPr>
        <p:sp>
          <p:nvSpPr>
            <p:cNvPr id="107" name="Google Shape;107;p14"/>
            <p:cNvSpPr txBox="1"/>
            <p:nvPr/>
          </p:nvSpPr>
          <p:spPr>
            <a:xfrm>
              <a:off x="6591025" y="4184550"/>
              <a:ext cx="1761900" cy="615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Train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Inference</a:t>
              </a:r>
              <a:endParaRPr>
                <a:solidFill>
                  <a:schemeClr val="dk1"/>
                </a:solidFill>
              </a:endParaRPr>
            </a:p>
          </p:txBody>
        </p:sp>
        <p:cxnSp>
          <p:nvCxnSpPr>
            <p:cNvPr id="108" name="Google Shape;108;p14"/>
            <p:cNvCxnSpPr/>
            <p:nvPr/>
          </p:nvCxnSpPr>
          <p:spPr>
            <a:xfrm>
              <a:off x="7602450" y="4384661"/>
              <a:ext cx="589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9" name="Google Shape;109;p14"/>
            <p:cNvCxnSpPr/>
            <p:nvPr/>
          </p:nvCxnSpPr>
          <p:spPr>
            <a:xfrm>
              <a:off x="7602450" y="4600211"/>
              <a:ext cx="589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04" name="Google Shape;104;p14"/>
          <p:cNvSpPr/>
          <p:nvPr/>
        </p:nvSpPr>
        <p:spPr>
          <a:xfrm>
            <a:off x="1349413" y="2300788"/>
            <a:ext cx="18768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Contrastive loss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10" name="Google Shape;110;p14"/>
          <p:cNvCxnSpPr>
            <a:stCxn id="64" idx="2"/>
            <a:endCxn id="65" idx="0"/>
          </p:cNvCxnSpPr>
          <p:nvPr/>
        </p:nvCxnSpPr>
        <p:spPr>
          <a:xfrm flipH="1">
            <a:off x="2287829" y="1063525"/>
            <a:ext cx="12900" cy="2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11" name="Google Shape;111;p14"/>
          <p:cNvGrpSpPr/>
          <p:nvPr/>
        </p:nvGrpSpPr>
        <p:grpSpPr>
          <a:xfrm>
            <a:off x="5672456" y="116150"/>
            <a:ext cx="3360646" cy="1151100"/>
            <a:chOff x="4666256" y="19025"/>
            <a:chExt cx="3360646" cy="1151100"/>
          </a:xfrm>
        </p:grpSpPr>
        <p:sp>
          <p:nvSpPr>
            <p:cNvPr id="112" name="Google Shape;112;p14"/>
            <p:cNvSpPr txBox="1"/>
            <p:nvPr/>
          </p:nvSpPr>
          <p:spPr>
            <a:xfrm>
              <a:off x="5877750" y="141951"/>
              <a:ext cx="1711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Chunk1</a:t>
              </a:r>
              <a:br>
                <a:rPr lang="zh-TW">
                  <a:solidFill>
                    <a:schemeClr val="dk1"/>
                  </a:solidFill>
                </a:rPr>
              </a:br>
              <a:r>
                <a:rPr lang="zh-TW">
                  <a:solidFill>
                    <a:schemeClr val="dk1"/>
                  </a:solidFill>
                </a:rPr>
                <a:t>window:256</a:t>
              </a:r>
              <a:endParaRPr/>
            </a:p>
          </p:txBody>
        </p:sp>
        <p:grpSp>
          <p:nvGrpSpPr>
            <p:cNvPr id="113" name="Google Shape;113;p14"/>
            <p:cNvGrpSpPr/>
            <p:nvPr/>
          </p:nvGrpSpPr>
          <p:grpSpPr>
            <a:xfrm>
              <a:off x="4666256" y="19025"/>
              <a:ext cx="3360646" cy="1151100"/>
              <a:chOff x="6117013" y="141950"/>
              <a:chExt cx="3281881" cy="1151100"/>
            </a:xfrm>
          </p:grpSpPr>
          <p:grpSp>
            <p:nvGrpSpPr>
              <p:cNvPr id="114" name="Google Shape;114;p14"/>
              <p:cNvGrpSpPr/>
              <p:nvPr/>
            </p:nvGrpSpPr>
            <p:grpSpPr>
              <a:xfrm>
                <a:off x="6117013" y="141950"/>
                <a:ext cx="3281881" cy="1151100"/>
                <a:chOff x="513899" y="3066238"/>
                <a:chExt cx="3159300" cy="1151100"/>
              </a:xfrm>
            </p:grpSpPr>
            <p:sp>
              <p:nvSpPr>
                <p:cNvPr id="115" name="Google Shape;115;p14"/>
                <p:cNvSpPr/>
                <p:nvPr/>
              </p:nvSpPr>
              <p:spPr>
                <a:xfrm>
                  <a:off x="513899" y="3066238"/>
                  <a:ext cx="3159300" cy="1151100"/>
                </a:xfrm>
                <a:prstGeom prst="rect">
                  <a:avLst/>
                </a:prstGeom>
                <a:solidFill>
                  <a:srgbClr val="B6D7A8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/>
                    <a:t>Multi-Chunk Module</a:t>
                  </a:r>
                  <a:endParaRPr/>
                </a:p>
              </p:txBody>
            </p:sp>
            <p:sp>
              <p:nvSpPr>
                <p:cNvPr id="116" name="Google Shape;116;p14"/>
                <p:cNvSpPr/>
                <p:nvPr/>
              </p:nvSpPr>
              <p:spPr>
                <a:xfrm>
                  <a:off x="610652" y="3460938"/>
                  <a:ext cx="889200" cy="572700"/>
                </a:xfrm>
                <a:prstGeom prst="rect">
                  <a:avLst/>
                </a:prstGeom>
                <a:solidFill>
                  <a:srgbClr val="EFEFEF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/>
                    <a:t>Chunk1</a:t>
                  </a:r>
                  <a:endParaRPr/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/>
                    <a:t>scale:256</a:t>
                  </a:r>
                  <a:endParaRPr/>
                </a:p>
              </p:txBody>
            </p:sp>
          </p:grpSp>
          <p:sp>
            <p:nvSpPr>
              <p:cNvPr id="117" name="Google Shape;117;p14"/>
              <p:cNvSpPr/>
              <p:nvPr/>
            </p:nvSpPr>
            <p:spPr>
              <a:xfrm>
                <a:off x="7339528" y="536650"/>
                <a:ext cx="828300" cy="572700"/>
              </a:xfrm>
              <a:prstGeom prst="rect">
                <a:avLst/>
              </a:prstGeom>
              <a:solidFill>
                <a:srgbClr val="EFEFE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Chunk2</a:t>
                </a:r>
                <a:endParaRPr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scale:64</a:t>
                </a:r>
                <a:endParaRPr/>
              </a:p>
            </p:txBody>
          </p:sp>
          <p:sp>
            <p:nvSpPr>
              <p:cNvPr id="118" name="Google Shape;118;p14"/>
              <p:cNvSpPr/>
              <p:nvPr/>
            </p:nvSpPr>
            <p:spPr>
              <a:xfrm>
                <a:off x="8366128" y="536650"/>
                <a:ext cx="828300" cy="572700"/>
              </a:xfrm>
              <a:prstGeom prst="rect">
                <a:avLst/>
              </a:prstGeom>
              <a:solidFill>
                <a:srgbClr val="EFEFE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Chunk3</a:t>
                </a:r>
                <a:endParaRPr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scale:16</a:t>
                </a:r>
                <a:endParaRPr/>
              </a:p>
            </p:txBody>
          </p:sp>
        </p:grpSp>
        <p:sp>
          <p:nvSpPr>
            <p:cNvPr id="119" name="Google Shape;119;p14"/>
            <p:cNvSpPr txBox="1"/>
            <p:nvPr/>
          </p:nvSpPr>
          <p:spPr>
            <a:xfrm>
              <a:off x="5536419" y="492006"/>
              <a:ext cx="548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+</a:t>
              </a:r>
              <a:endParaRPr/>
            </a:p>
          </p:txBody>
        </p:sp>
        <p:sp>
          <p:nvSpPr>
            <p:cNvPr id="120" name="Google Shape;120;p14"/>
            <p:cNvSpPr txBox="1"/>
            <p:nvPr/>
          </p:nvSpPr>
          <p:spPr>
            <a:xfrm>
              <a:off x="6589063" y="492006"/>
              <a:ext cx="548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+</a:t>
              </a:r>
              <a:endParaRPr/>
            </a:p>
          </p:txBody>
        </p:sp>
        <p:sp>
          <p:nvSpPr>
            <p:cNvPr id="121" name="Google Shape;121;p14"/>
            <p:cNvSpPr/>
            <p:nvPr/>
          </p:nvSpPr>
          <p:spPr>
            <a:xfrm>
              <a:off x="5729281" y="623875"/>
              <a:ext cx="178500" cy="154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4"/>
            <p:cNvSpPr/>
            <p:nvPr/>
          </p:nvSpPr>
          <p:spPr>
            <a:xfrm>
              <a:off x="6774650" y="621494"/>
              <a:ext cx="178500" cy="154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" name="Google Shape;67;p14"/>
          <p:cNvSpPr/>
          <p:nvPr/>
        </p:nvSpPr>
        <p:spPr>
          <a:xfrm>
            <a:off x="1737167" y="2927288"/>
            <a:ext cx="11076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Prototypes</a:t>
            </a:r>
            <a:endParaRPr/>
          </a:p>
        </p:txBody>
      </p:sp>
      <p:cxnSp>
        <p:nvCxnSpPr>
          <p:cNvPr id="123" name="Google Shape;123;p14"/>
          <p:cNvCxnSpPr>
            <a:stCxn id="104" idx="2"/>
            <a:endCxn id="67" idx="0"/>
          </p:cNvCxnSpPr>
          <p:nvPr/>
        </p:nvCxnSpPr>
        <p:spPr>
          <a:xfrm>
            <a:off x="2287813" y="2758888"/>
            <a:ext cx="3300" cy="16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/>
        </p:nvSpPr>
        <p:spPr>
          <a:xfrm>
            <a:off x="3365881" y="4026695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h3</a:t>
            </a:r>
            <a:endParaRPr/>
          </a:p>
        </p:txBody>
      </p:sp>
      <p:sp>
        <p:nvSpPr>
          <p:cNvPr id="129" name="Google Shape;129;p15"/>
          <p:cNvSpPr txBox="1"/>
          <p:nvPr>
            <p:ph type="title"/>
          </p:nvPr>
        </p:nvSpPr>
        <p:spPr>
          <a:xfrm>
            <a:off x="33081" y="19019"/>
            <a:ext cx="424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TTP detection - Prototype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253904" y="651250"/>
            <a:ext cx="1538100" cy="4581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974725" y="1274825"/>
            <a:ext cx="2626200" cy="2206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Prototype Encoder</a:t>
            </a:r>
            <a:endParaRPr/>
          </a:p>
        </p:txBody>
      </p:sp>
      <p:cxnSp>
        <p:nvCxnSpPr>
          <p:cNvPr id="132" name="Google Shape;132;p15"/>
          <p:cNvCxnSpPr>
            <a:stCxn id="133" idx="1"/>
            <a:endCxn id="134" idx="1"/>
          </p:cNvCxnSpPr>
          <p:nvPr/>
        </p:nvCxnSpPr>
        <p:spPr>
          <a:xfrm flipH="1">
            <a:off x="931675" y="2893825"/>
            <a:ext cx="177900" cy="1175100"/>
          </a:xfrm>
          <a:prstGeom prst="curvedConnector3">
            <a:avLst>
              <a:gd fmla="val 23390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35" name="Google Shape;135;p15"/>
          <p:cNvGrpSpPr/>
          <p:nvPr/>
        </p:nvGrpSpPr>
        <p:grpSpPr>
          <a:xfrm>
            <a:off x="5773125" y="1394875"/>
            <a:ext cx="3159300" cy="1778400"/>
            <a:chOff x="513899" y="3066238"/>
            <a:chExt cx="3159300" cy="1778400"/>
          </a:xfrm>
        </p:grpSpPr>
        <p:sp>
          <p:nvSpPr>
            <p:cNvPr id="136" name="Google Shape;136;p15"/>
            <p:cNvSpPr/>
            <p:nvPr/>
          </p:nvSpPr>
          <p:spPr>
            <a:xfrm>
              <a:off x="513899" y="3066238"/>
              <a:ext cx="3159300" cy="1778400"/>
            </a:xfrm>
            <a:prstGeom prst="rect">
              <a:avLst/>
            </a:prstGeom>
            <a:solidFill>
              <a:srgbClr val="FCE5C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Graph Transformer</a:t>
              </a:r>
              <a:endParaRPr/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732645" y="3382738"/>
              <a:ext cx="12984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Multi-head attention</a:t>
              </a:r>
              <a:endParaRPr/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770299" y="4147813"/>
              <a:ext cx="12231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Residual + LayerNorm</a:t>
              </a:r>
              <a:endParaRPr/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2483723" y="3382738"/>
              <a:ext cx="7911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FFN</a:t>
              </a:r>
              <a:endParaRPr/>
            </a:p>
          </p:txBody>
        </p:sp>
        <p:sp>
          <p:nvSpPr>
            <p:cNvPr id="140" name="Google Shape;140;p15"/>
            <p:cNvSpPr/>
            <p:nvPr/>
          </p:nvSpPr>
          <p:spPr>
            <a:xfrm>
              <a:off x="2289624" y="4147813"/>
              <a:ext cx="11355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Residual + LayerNorm</a:t>
              </a:r>
              <a:endParaRPr/>
            </a:p>
          </p:txBody>
        </p:sp>
        <p:cxnSp>
          <p:nvCxnSpPr>
            <p:cNvPr id="141" name="Google Shape;141;p15"/>
            <p:cNvCxnSpPr>
              <a:stCxn id="137" idx="2"/>
              <a:endCxn id="138" idx="0"/>
            </p:cNvCxnSpPr>
            <p:nvPr/>
          </p:nvCxnSpPr>
          <p:spPr>
            <a:xfrm>
              <a:off x="1381845" y="3955438"/>
              <a:ext cx="0" cy="19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2" name="Google Shape;142;p15"/>
            <p:cNvCxnSpPr>
              <a:stCxn id="138" idx="3"/>
              <a:endCxn id="139" idx="1"/>
            </p:cNvCxnSpPr>
            <p:nvPr/>
          </p:nvCxnSpPr>
          <p:spPr>
            <a:xfrm flipH="1" rot="10800000">
              <a:off x="1993399" y="3669163"/>
              <a:ext cx="490200" cy="765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3" name="Google Shape;143;p15"/>
            <p:cNvCxnSpPr>
              <a:stCxn id="139" idx="2"/>
              <a:endCxn id="140" idx="0"/>
            </p:cNvCxnSpPr>
            <p:nvPr/>
          </p:nvCxnSpPr>
          <p:spPr>
            <a:xfrm flipH="1">
              <a:off x="2857373" y="3955438"/>
              <a:ext cx="21900" cy="19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44" name="Google Shape;144;p15"/>
          <p:cNvSpPr/>
          <p:nvPr/>
        </p:nvSpPr>
        <p:spPr>
          <a:xfrm>
            <a:off x="1349425" y="1700675"/>
            <a:ext cx="18768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Graph Self-Attention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931575" y="3839975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4064325" y="3839963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cxnSp>
        <p:nvCxnSpPr>
          <p:cNvPr id="146" name="Google Shape;146;p15"/>
          <p:cNvCxnSpPr>
            <a:stCxn id="134" idx="3"/>
            <a:endCxn id="147" idx="1"/>
          </p:cNvCxnSpPr>
          <p:nvPr/>
        </p:nvCxnSpPr>
        <p:spPr>
          <a:xfrm>
            <a:off x="1722675" y="4069025"/>
            <a:ext cx="702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15"/>
          <p:cNvCxnSpPr>
            <a:stCxn id="145" idx="3"/>
            <a:endCxn id="149" idx="1"/>
          </p:cNvCxnSpPr>
          <p:nvPr/>
        </p:nvCxnSpPr>
        <p:spPr>
          <a:xfrm>
            <a:off x="4855425" y="4069013"/>
            <a:ext cx="31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" name="Google Shape;149;p15"/>
          <p:cNvSpPr/>
          <p:nvPr/>
        </p:nvSpPr>
        <p:spPr>
          <a:xfrm>
            <a:off x="5166900" y="3839975"/>
            <a:ext cx="7911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Linear</a:t>
            </a:r>
            <a:endParaRPr/>
          </a:p>
        </p:txBody>
      </p:sp>
      <p:cxnSp>
        <p:nvCxnSpPr>
          <p:cNvPr id="150" name="Google Shape;150;p15"/>
          <p:cNvCxnSpPr>
            <a:stCxn id="149" idx="3"/>
            <a:endCxn id="151" idx="1"/>
          </p:cNvCxnSpPr>
          <p:nvPr/>
        </p:nvCxnSpPr>
        <p:spPr>
          <a:xfrm>
            <a:off x="5958000" y="4069025"/>
            <a:ext cx="31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" name="Google Shape;151;p15"/>
          <p:cNvSpPr/>
          <p:nvPr/>
        </p:nvSpPr>
        <p:spPr>
          <a:xfrm>
            <a:off x="6269413" y="3839975"/>
            <a:ext cx="9276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Sigmoid</a:t>
            </a:r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7508450" y="3839981"/>
            <a:ext cx="14715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Predicted label</a:t>
            </a:r>
            <a:endParaRPr/>
          </a:p>
        </p:txBody>
      </p:sp>
      <p:cxnSp>
        <p:nvCxnSpPr>
          <p:cNvPr id="153" name="Google Shape;153;p15"/>
          <p:cNvCxnSpPr>
            <a:stCxn id="151" idx="3"/>
            <a:endCxn id="152" idx="1"/>
          </p:cNvCxnSpPr>
          <p:nvPr/>
        </p:nvCxnSpPr>
        <p:spPr>
          <a:xfrm>
            <a:off x="7197013" y="4069025"/>
            <a:ext cx="31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" name="Google Shape;154;p15"/>
          <p:cNvSpPr txBox="1"/>
          <p:nvPr/>
        </p:nvSpPr>
        <p:spPr>
          <a:xfrm>
            <a:off x="-167725" y="4305725"/>
            <a:ext cx="285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(Q</a:t>
            </a:r>
            <a:r>
              <a:rPr lang="zh-TW" sz="1600">
                <a:solidFill>
                  <a:schemeClr val="dk1"/>
                </a:solidFill>
              </a:rPr>
              <a:t>:</a:t>
            </a:r>
            <a:r>
              <a:rPr lang="zh-TW" sz="1600">
                <a:solidFill>
                  <a:schemeClr val="dk1"/>
                </a:solidFill>
              </a:rPr>
              <a:t>proto,</a:t>
            </a:r>
            <a:r>
              <a:rPr lang="zh-TW" sz="1600">
                <a:solidFill>
                  <a:schemeClr val="dk1"/>
                </a:solidFill>
              </a:rPr>
              <a:t> </a:t>
            </a:r>
            <a:r>
              <a:rPr lang="zh-TW" sz="1600">
                <a:solidFill>
                  <a:schemeClr val="dk1"/>
                </a:solidFill>
              </a:rPr>
              <a:t>K</a:t>
            </a:r>
            <a:r>
              <a:rPr lang="zh-TW" sz="1600">
                <a:solidFill>
                  <a:schemeClr val="dk1"/>
                </a:solidFill>
              </a:rPr>
              <a:t>:</a:t>
            </a:r>
            <a:r>
              <a:rPr lang="zh-TW" sz="1600">
                <a:solidFill>
                  <a:schemeClr val="dk1"/>
                </a:solidFill>
              </a:rPr>
              <a:t>h1,</a:t>
            </a:r>
            <a:r>
              <a:rPr lang="zh-TW" sz="1600">
                <a:solidFill>
                  <a:schemeClr val="dk1"/>
                </a:solidFill>
              </a:rPr>
              <a:t> </a:t>
            </a:r>
            <a:r>
              <a:rPr lang="zh-TW" sz="1600">
                <a:solidFill>
                  <a:schemeClr val="dk1"/>
                </a:solidFill>
              </a:rPr>
              <a:t>V</a:t>
            </a:r>
            <a:r>
              <a:rPr lang="zh-TW" sz="1600">
                <a:solidFill>
                  <a:schemeClr val="dk1"/>
                </a:solidFill>
              </a:rPr>
              <a:t>:</a:t>
            </a:r>
            <a:r>
              <a:rPr lang="zh-TW" sz="1600">
                <a:solidFill>
                  <a:schemeClr val="dk1"/>
                </a:solidFill>
              </a:rPr>
              <a:t>h1)</a:t>
            </a:r>
            <a:endParaRPr sz="1600"/>
          </a:p>
        </p:txBody>
      </p:sp>
      <p:sp>
        <p:nvSpPr>
          <p:cNvPr id="155" name="Google Shape;155;p15"/>
          <p:cNvSpPr txBox="1"/>
          <p:nvPr/>
        </p:nvSpPr>
        <p:spPr>
          <a:xfrm>
            <a:off x="4225900" y="2816250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h1</a:t>
            </a:r>
            <a:endParaRPr/>
          </a:p>
        </p:txBody>
      </p:sp>
      <p:sp>
        <p:nvSpPr>
          <p:cNvPr id="156" name="Google Shape;15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3299800" y="2068537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h1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2425050" y="3839973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cxnSp>
        <p:nvCxnSpPr>
          <p:cNvPr id="158" name="Google Shape;158;p15"/>
          <p:cNvCxnSpPr>
            <a:stCxn id="147" idx="3"/>
            <a:endCxn id="145" idx="1"/>
          </p:cNvCxnSpPr>
          <p:nvPr/>
        </p:nvCxnSpPr>
        <p:spPr>
          <a:xfrm>
            <a:off x="3216150" y="4069023"/>
            <a:ext cx="848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" name="Google Shape;159;p15"/>
          <p:cNvSpPr txBox="1"/>
          <p:nvPr/>
        </p:nvSpPr>
        <p:spPr>
          <a:xfrm>
            <a:off x="1393050" y="4644475"/>
            <a:ext cx="285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(Q:h2, K:h2, V:h2)</a:t>
            </a:r>
            <a:endParaRPr sz="1600"/>
          </a:p>
        </p:txBody>
      </p:sp>
      <p:sp>
        <p:nvSpPr>
          <p:cNvPr id="160" name="Google Shape;160;p15"/>
          <p:cNvSpPr txBox="1"/>
          <p:nvPr/>
        </p:nvSpPr>
        <p:spPr>
          <a:xfrm>
            <a:off x="1799505" y="4026695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h2</a:t>
            </a:r>
            <a:endParaRPr/>
          </a:p>
        </p:txBody>
      </p:sp>
      <p:cxnSp>
        <p:nvCxnSpPr>
          <p:cNvPr id="161" name="Google Shape;161;p15"/>
          <p:cNvCxnSpPr>
            <a:stCxn id="134" idx="2"/>
            <a:endCxn id="154" idx="0"/>
          </p:cNvCxnSpPr>
          <p:nvPr/>
        </p:nvCxnSpPr>
        <p:spPr>
          <a:xfrm flipH="1">
            <a:off x="1259925" y="4298075"/>
            <a:ext cx="67200" cy="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15"/>
          <p:cNvCxnSpPr>
            <a:stCxn id="147" idx="2"/>
            <a:endCxn id="159" idx="0"/>
          </p:cNvCxnSpPr>
          <p:nvPr/>
        </p:nvCxnSpPr>
        <p:spPr>
          <a:xfrm>
            <a:off x="2820600" y="4298073"/>
            <a:ext cx="0" cy="34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" name="Google Shape;163;p15"/>
          <p:cNvSpPr txBox="1"/>
          <p:nvPr/>
        </p:nvSpPr>
        <p:spPr>
          <a:xfrm>
            <a:off x="3578075" y="4644475"/>
            <a:ext cx="238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(Q:h1, K:h3, V:h3)</a:t>
            </a:r>
            <a:endParaRPr sz="1600"/>
          </a:p>
        </p:txBody>
      </p:sp>
      <p:cxnSp>
        <p:nvCxnSpPr>
          <p:cNvPr id="164" name="Google Shape;164;p15"/>
          <p:cNvCxnSpPr>
            <a:stCxn id="145" idx="2"/>
            <a:endCxn id="163" idx="0"/>
          </p:cNvCxnSpPr>
          <p:nvPr/>
        </p:nvCxnSpPr>
        <p:spPr>
          <a:xfrm>
            <a:off x="4459875" y="4298063"/>
            <a:ext cx="309300" cy="34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15"/>
          <p:cNvCxnSpPr>
            <a:stCxn id="157" idx="3"/>
            <a:endCxn id="145" idx="0"/>
          </p:cNvCxnSpPr>
          <p:nvPr/>
        </p:nvCxnSpPr>
        <p:spPr>
          <a:xfrm>
            <a:off x="3848500" y="2284087"/>
            <a:ext cx="611400" cy="15558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" name="Google Shape;166;p15"/>
          <p:cNvSpPr txBox="1"/>
          <p:nvPr/>
        </p:nvSpPr>
        <p:spPr>
          <a:xfrm>
            <a:off x="33075" y="3662562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proto</a:t>
            </a:r>
            <a:endParaRPr/>
          </a:p>
        </p:txBody>
      </p:sp>
      <p:cxnSp>
        <p:nvCxnSpPr>
          <p:cNvPr id="167" name="Google Shape;167;p15"/>
          <p:cNvCxnSpPr>
            <a:stCxn id="157" idx="3"/>
            <a:endCxn id="134" idx="0"/>
          </p:cNvCxnSpPr>
          <p:nvPr/>
        </p:nvCxnSpPr>
        <p:spPr>
          <a:xfrm flipH="1">
            <a:off x="1327000" y="2284087"/>
            <a:ext cx="2521500" cy="1555800"/>
          </a:xfrm>
          <a:prstGeom prst="curvedConnector4">
            <a:avLst>
              <a:gd fmla="val -11084" name="adj1"/>
              <a:gd fmla="val 85879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" name="Google Shape;168;p15"/>
          <p:cNvSpPr txBox="1"/>
          <p:nvPr/>
        </p:nvSpPr>
        <p:spPr>
          <a:xfrm>
            <a:off x="5960375" y="46032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Loss = crf_loss + w * focal_loss</a:t>
            </a:r>
            <a:endParaRPr/>
          </a:p>
        </p:txBody>
      </p:sp>
      <p:cxnSp>
        <p:nvCxnSpPr>
          <p:cNvPr id="169" name="Google Shape;169;p15"/>
          <p:cNvCxnSpPr/>
          <p:nvPr/>
        </p:nvCxnSpPr>
        <p:spPr>
          <a:xfrm>
            <a:off x="2287829" y="2158775"/>
            <a:ext cx="0" cy="25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" name="Google Shape;170;p15"/>
          <p:cNvSpPr txBox="1"/>
          <p:nvPr/>
        </p:nvSpPr>
        <p:spPr>
          <a:xfrm>
            <a:off x="1229063" y="3553775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h1</a:t>
            </a:r>
            <a:endParaRPr/>
          </a:p>
        </p:txBody>
      </p:sp>
      <p:grpSp>
        <p:nvGrpSpPr>
          <p:cNvPr id="171" name="Google Shape;171;p15"/>
          <p:cNvGrpSpPr/>
          <p:nvPr/>
        </p:nvGrpSpPr>
        <p:grpSpPr>
          <a:xfrm>
            <a:off x="9729625" y="3662550"/>
            <a:ext cx="1761900" cy="615600"/>
            <a:chOff x="6591025" y="4184550"/>
            <a:chExt cx="1761900" cy="615600"/>
          </a:xfrm>
        </p:grpSpPr>
        <p:sp>
          <p:nvSpPr>
            <p:cNvPr id="172" name="Google Shape;172;p15"/>
            <p:cNvSpPr txBox="1"/>
            <p:nvPr/>
          </p:nvSpPr>
          <p:spPr>
            <a:xfrm>
              <a:off x="6591025" y="4184550"/>
              <a:ext cx="1761900" cy="615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Train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Inference</a:t>
              </a:r>
              <a:endParaRPr>
                <a:solidFill>
                  <a:schemeClr val="dk1"/>
                </a:solidFill>
              </a:endParaRPr>
            </a:p>
          </p:txBody>
        </p:sp>
        <p:cxnSp>
          <p:nvCxnSpPr>
            <p:cNvPr id="173" name="Google Shape;173;p15"/>
            <p:cNvCxnSpPr/>
            <p:nvPr/>
          </p:nvCxnSpPr>
          <p:spPr>
            <a:xfrm>
              <a:off x="7602450" y="4384661"/>
              <a:ext cx="589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4" name="Google Shape;174;p15"/>
            <p:cNvCxnSpPr/>
            <p:nvPr/>
          </p:nvCxnSpPr>
          <p:spPr>
            <a:xfrm>
              <a:off x="7602450" y="4600211"/>
              <a:ext cx="589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33" name="Google Shape;133;p15"/>
          <p:cNvSpPr/>
          <p:nvPr/>
        </p:nvSpPr>
        <p:spPr>
          <a:xfrm>
            <a:off x="1109575" y="2382925"/>
            <a:ext cx="2382300" cy="1021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PrototypeEncoder </a:t>
            </a:r>
            <a:endParaRPr/>
          </a:p>
        </p:txBody>
      </p:sp>
      <p:cxnSp>
        <p:nvCxnSpPr>
          <p:cNvPr id="175" name="Google Shape;175;p15"/>
          <p:cNvCxnSpPr>
            <a:stCxn id="130" idx="3"/>
            <a:endCxn id="176" idx="1"/>
          </p:cNvCxnSpPr>
          <p:nvPr/>
        </p:nvCxnSpPr>
        <p:spPr>
          <a:xfrm>
            <a:off x="1792004" y="880300"/>
            <a:ext cx="29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77" name="Google Shape;177;p15"/>
          <p:cNvGrpSpPr/>
          <p:nvPr/>
        </p:nvGrpSpPr>
        <p:grpSpPr>
          <a:xfrm>
            <a:off x="5672456" y="116150"/>
            <a:ext cx="3360646" cy="1151100"/>
            <a:chOff x="4666256" y="19025"/>
            <a:chExt cx="3360646" cy="1151100"/>
          </a:xfrm>
        </p:grpSpPr>
        <p:sp>
          <p:nvSpPr>
            <p:cNvPr id="178" name="Google Shape;178;p15"/>
            <p:cNvSpPr txBox="1"/>
            <p:nvPr/>
          </p:nvSpPr>
          <p:spPr>
            <a:xfrm>
              <a:off x="5877750" y="141951"/>
              <a:ext cx="1711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Chunk1</a:t>
              </a:r>
              <a:br>
                <a:rPr lang="zh-TW">
                  <a:solidFill>
                    <a:schemeClr val="dk1"/>
                  </a:solidFill>
                </a:rPr>
              </a:br>
              <a:r>
                <a:rPr lang="zh-TW">
                  <a:solidFill>
                    <a:schemeClr val="dk1"/>
                  </a:solidFill>
                </a:rPr>
                <a:t>window:256</a:t>
              </a:r>
              <a:endParaRPr/>
            </a:p>
          </p:txBody>
        </p:sp>
        <p:grpSp>
          <p:nvGrpSpPr>
            <p:cNvPr id="179" name="Google Shape;179;p15"/>
            <p:cNvGrpSpPr/>
            <p:nvPr/>
          </p:nvGrpSpPr>
          <p:grpSpPr>
            <a:xfrm>
              <a:off x="4666256" y="19025"/>
              <a:ext cx="3360646" cy="1151100"/>
              <a:chOff x="6117013" y="141950"/>
              <a:chExt cx="3281881" cy="1151100"/>
            </a:xfrm>
          </p:grpSpPr>
          <p:grpSp>
            <p:nvGrpSpPr>
              <p:cNvPr id="180" name="Google Shape;180;p15"/>
              <p:cNvGrpSpPr/>
              <p:nvPr/>
            </p:nvGrpSpPr>
            <p:grpSpPr>
              <a:xfrm>
                <a:off x="6117013" y="141950"/>
                <a:ext cx="3281881" cy="1151100"/>
                <a:chOff x="513899" y="3066238"/>
                <a:chExt cx="3159300" cy="1151100"/>
              </a:xfrm>
            </p:grpSpPr>
            <p:sp>
              <p:nvSpPr>
                <p:cNvPr id="181" name="Google Shape;181;p15"/>
                <p:cNvSpPr/>
                <p:nvPr/>
              </p:nvSpPr>
              <p:spPr>
                <a:xfrm>
                  <a:off x="513899" y="3066238"/>
                  <a:ext cx="3159300" cy="1151100"/>
                </a:xfrm>
                <a:prstGeom prst="rect">
                  <a:avLst/>
                </a:prstGeom>
                <a:solidFill>
                  <a:srgbClr val="B6D7A8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/>
                    <a:t>Multi-Chunk Module</a:t>
                  </a:r>
                  <a:endParaRPr/>
                </a:p>
              </p:txBody>
            </p:sp>
            <p:sp>
              <p:nvSpPr>
                <p:cNvPr id="182" name="Google Shape;182;p15"/>
                <p:cNvSpPr/>
                <p:nvPr/>
              </p:nvSpPr>
              <p:spPr>
                <a:xfrm>
                  <a:off x="610652" y="3460938"/>
                  <a:ext cx="889200" cy="572700"/>
                </a:xfrm>
                <a:prstGeom prst="rect">
                  <a:avLst/>
                </a:prstGeom>
                <a:solidFill>
                  <a:srgbClr val="EFEFEF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/>
                    <a:t>Chunk1</a:t>
                  </a:r>
                  <a:endParaRPr/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/>
                    <a:t>scale:256</a:t>
                  </a:r>
                  <a:endParaRPr/>
                </a:p>
              </p:txBody>
            </p:sp>
          </p:grpSp>
          <p:sp>
            <p:nvSpPr>
              <p:cNvPr id="183" name="Google Shape;183;p15"/>
              <p:cNvSpPr/>
              <p:nvPr/>
            </p:nvSpPr>
            <p:spPr>
              <a:xfrm>
                <a:off x="7339528" y="536650"/>
                <a:ext cx="828300" cy="572700"/>
              </a:xfrm>
              <a:prstGeom prst="rect">
                <a:avLst/>
              </a:prstGeom>
              <a:solidFill>
                <a:srgbClr val="EFEFE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Chunk2</a:t>
                </a:r>
                <a:endParaRPr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scale:64</a:t>
                </a:r>
                <a:endParaRPr/>
              </a:p>
            </p:txBody>
          </p:sp>
          <p:sp>
            <p:nvSpPr>
              <p:cNvPr id="184" name="Google Shape;184;p15"/>
              <p:cNvSpPr/>
              <p:nvPr/>
            </p:nvSpPr>
            <p:spPr>
              <a:xfrm>
                <a:off x="8366128" y="536650"/>
                <a:ext cx="828300" cy="572700"/>
              </a:xfrm>
              <a:prstGeom prst="rect">
                <a:avLst/>
              </a:prstGeom>
              <a:solidFill>
                <a:srgbClr val="EFEFE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Chunk</a:t>
                </a:r>
                <a:r>
                  <a:rPr lang="zh-TW"/>
                  <a:t>3</a:t>
                </a:r>
                <a:endParaRPr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scale:</a:t>
                </a:r>
                <a:r>
                  <a:rPr lang="zh-TW"/>
                  <a:t>16</a:t>
                </a:r>
                <a:endParaRPr/>
              </a:p>
            </p:txBody>
          </p:sp>
        </p:grpSp>
        <p:sp>
          <p:nvSpPr>
            <p:cNvPr id="185" name="Google Shape;185;p15"/>
            <p:cNvSpPr txBox="1"/>
            <p:nvPr/>
          </p:nvSpPr>
          <p:spPr>
            <a:xfrm>
              <a:off x="5536419" y="492006"/>
              <a:ext cx="548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+</a:t>
              </a:r>
              <a:endParaRPr/>
            </a:p>
          </p:txBody>
        </p:sp>
        <p:sp>
          <p:nvSpPr>
            <p:cNvPr id="186" name="Google Shape;186;p15"/>
            <p:cNvSpPr txBox="1"/>
            <p:nvPr/>
          </p:nvSpPr>
          <p:spPr>
            <a:xfrm>
              <a:off x="6589063" y="492006"/>
              <a:ext cx="548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+</a:t>
              </a:r>
              <a:endParaRPr/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5729281" y="623875"/>
              <a:ext cx="178500" cy="154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5"/>
            <p:cNvSpPr/>
            <p:nvPr/>
          </p:nvSpPr>
          <p:spPr>
            <a:xfrm>
              <a:off x="6774650" y="621494"/>
              <a:ext cx="178500" cy="154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6" name="Google Shape;176;p15"/>
          <p:cNvSpPr/>
          <p:nvPr/>
        </p:nvSpPr>
        <p:spPr>
          <a:xfrm>
            <a:off x="2087575" y="651250"/>
            <a:ext cx="1043400" cy="4581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MCM</a:t>
            </a:r>
            <a:endParaRPr/>
          </a:p>
        </p:txBody>
      </p:sp>
      <p:sp>
        <p:nvSpPr>
          <p:cNvPr id="189" name="Google Shape;189;p15"/>
          <p:cNvSpPr/>
          <p:nvPr/>
        </p:nvSpPr>
        <p:spPr>
          <a:xfrm>
            <a:off x="3400438" y="651250"/>
            <a:ext cx="10434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MLP</a:t>
            </a:r>
            <a:endParaRPr/>
          </a:p>
        </p:txBody>
      </p:sp>
      <p:cxnSp>
        <p:nvCxnSpPr>
          <p:cNvPr id="190" name="Google Shape;190;p15"/>
          <p:cNvCxnSpPr>
            <a:stCxn id="176" idx="3"/>
            <a:endCxn id="189" idx="1"/>
          </p:cNvCxnSpPr>
          <p:nvPr/>
        </p:nvCxnSpPr>
        <p:spPr>
          <a:xfrm>
            <a:off x="3130975" y="880300"/>
            <a:ext cx="26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" name="Google Shape;191;p15"/>
          <p:cNvCxnSpPr>
            <a:stCxn id="189" idx="2"/>
            <a:endCxn id="144" idx="3"/>
          </p:cNvCxnSpPr>
          <p:nvPr/>
        </p:nvCxnSpPr>
        <p:spPr>
          <a:xfrm rot="5400000">
            <a:off x="3163888" y="1171600"/>
            <a:ext cx="820500" cy="696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2" name="Google Shape;192;p15"/>
          <p:cNvSpPr txBox="1"/>
          <p:nvPr/>
        </p:nvSpPr>
        <p:spPr>
          <a:xfrm>
            <a:off x="1276850" y="2703844"/>
            <a:ext cx="1043400" cy="554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/>
              <a:t>Transformer Encoder</a:t>
            </a:r>
            <a:endParaRPr sz="1200"/>
          </a:p>
        </p:txBody>
      </p:sp>
      <p:sp>
        <p:nvSpPr>
          <p:cNvPr id="193" name="Google Shape;193;p15"/>
          <p:cNvSpPr txBox="1"/>
          <p:nvPr/>
        </p:nvSpPr>
        <p:spPr>
          <a:xfrm>
            <a:off x="2493163" y="2795919"/>
            <a:ext cx="791100" cy="369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GELU </a:t>
            </a:r>
            <a:endParaRPr/>
          </a:p>
        </p:txBody>
      </p:sp>
      <p:cxnSp>
        <p:nvCxnSpPr>
          <p:cNvPr id="194" name="Google Shape;194;p15"/>
          <p:cNvCxnSpPr>
            <a:stCxn id="192" idx="3"/>
            <a:endCxn id="193" idx="1"/>
          </p:cNvCxnSpPr>
          <p:nvPr/>
        </p:nvCxnSpPr>
        <p:spPr>
          <a:xfrm flipH="1" rot="10800000">
            <a:off x="2320250" y="2980594"/>
            <a:ext cx="1728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5" name="Google Shape;195;p15"/>
          <p:cNvSpPr txBox="1"/>
          <p:nvPr/>
        </p:nvSpPr>
        <p:spPr>
          <a:xfrm>
            <a:off x="1730169" y="3118469"/>
            <a:ext cx="220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/>
              <a:t>(num_classes, d_model) 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"/>
          <p:cNvSpPr txBox="1"/>
          <p:nvPr/>
        </p:nvSpPr>
        <p:spPr>
          <a:xfrm>
            <a:off x="3261018" y="4026620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h3</a:t>
            </a:r>
            <a:endParaRPr/>
          </a:p>
        </p:txBody>
      </p:sp>
      <p:sp>
        <p:nvSpPr>
          <p:cNvPr id="201" name="Google Shape;201;p16"/>
          <p:cNvSpPr txBox="1"/>
          <p:nvPr>
            <p:ph type="title"/>
          </p:nvPr>
        </p:nvSpPr>
        <p:spPr>
          <a:xfrm>
            <a:off x="33075" y="19025"/>
            <a:ext cx="8988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420"/>
              <a:t>TTP detection - Prototype with </a:t>
            </a:r>
            <a:r>
              <a:rPr lang="zh-TW" sz="2420"/>
              <a:t>Hierarchical loss</a:t>
            </a:r>
            <a:endParaRPr sz="2420"/>
          </a:p>
        </p:txBody>
      </p:sp>
      <p:sp>
        <p:nvSpPr>
          <p:cNvPr id="202" name="Google Shape;202;p16"/>
          <p:cNvSpPr/>
          <p:nvPr/>
        </p:nvSpPr>
        <p:spPr>
          <a:xfrm>
            <a:off x="253904" y="651250"/>
            <a:ext cx="1538100" cy="4581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</a:t>
            </a:r>
            <a:endParaRPr/>
          </a:p>
        </p:txBody>
      </p:sp>
      <p:sp>
        <p:nvSpPr>
          <p:cNvPr id="203" name="Google Shape;203;p16"/>
          <p:cNvSpPr/>
          <p:nvPr/>
        </p:nvSpPr>
        <p:spPr>
          <a:xfrm>
            <a:off x="974725" y="1274825"/>
            <a:ext cx="2626200" cy="2206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Prototype Encoder</a:t>
            </a:r>
            <a:endParaRPr/>
          </a:p>
        </p:txBody>
      </p:sp>
      <p:cxnSp>
        <p:nvCxnSpPr>
          <p:cNvPr id="204" name="Google Shape;204;p16"/>
          <p:cNvCxnSpPr>
            <a:stCxn id="205" idx="1"/>
            <a:endCxn id="206" idx="1"/>
          </p:cNvCxnSpPr>
          <p:nvPr/>
        </p:nvCxnSpPr>
        <p:spPr>
          <a:xfrm flipH="1">
            <a:off x="931675" y="2893825"/>
            <a:ext cx="177900" cy="1175100"/>
          </a:xfrm>
          <a:prstGeom prst="curvedConnector3">
            <a:avLst>
              <a:gd fmla="val 23390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07" name="Google Shape;207;p16"/>
          <p:cNvGrpSpPr/>
          <p:nvPr/>
        </p:nvGrpSpPr>
        <p:grpSpPr>
          <a:xfrm>
            <a:off x="5945125" y="793350"/>
            <a:ext cx="3159300" cy="1778400"/>
            <a:chOff x="513899" y="3066238"/>
            <a:chExt cx="3159300" cy="1778400"/>
          </a:xfrm>
        </p:grpSpPr>
        <p:sp>
          <p:nvSpPr>
            <p:cNvPr id="208" name="Google Shape;208;p16"/>
            <p:cNvSpPr/>
            <p:nvPr/>
          </p:nvSpPr>
          <p:spPr>
            <a:xfrm>
              <a:off x="513899" y="3066238"/>
              <a:ext cx="3159300" cy="1778400"/>
            </a:xfrm>
            <a:prstGeom prst="rect">
              <a:avLst/>
            </a:prstGeom>
            <a:solidFill>
              <a:srgbClr val="FCE5C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Graph Transformer</a:t>
              </a:r>
              <a:endParaRPr/>
            </a:p>
          </p:txBody>
        </p:sp>
        <p:sp>
          <p:nvSpPr>
            <p:cNvPr id="209" name="Google Shape;209;p16"/>
            <p:cNvSpPr/>
            <p:nvPr/>
          </p:nvSpPr>
          <p:spPr>
            <a:xfrm>
              <a:off x="732645" y="3382738"/>
              <a:ext cx="12984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Multi-head attention</a:t>
              </a:r>
              <a:endParaRPr/>
            </a:p>
          </p:txBody>
        </p:sp>
        <p:sp>
          <p:nvSpPr>
            <p:cNvPr id="210" name="Google Shape;210;p16"/>
            <p:cNvSpPr/>
            <p:nvPr/>
          </p:nvSpPr>
          <p:spPr>
            <a:xfrm>
              <a:off x="770299" y="4147813"/>
              <a:ext cx="12231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Residual + LayerNorm</a:t>
              </a:r>
              <a:endParaRPr/>
            </a:p>
          </p:txBody>
        </p:sp>
        <p:sp>
          <p:nvSpPr>
            <p:cNvPr id="211" name="Google Shape;211;p16"/>
            <p:cNvSpPr/>
            <p:nvPr/>
          </p:nvSpPr>
          <p:spPr>
            <a:xfrm>
              <a:off x="2483723" y="3382738"/>
              <a:ext cx="7911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FFN</a:t>
              </a:r>
              <a:endParaRPr/>
            </a:p>
          </p:txBody>
        </p:sp>
        <p:sp>
          <p:nvSpPr>
            <p:cNvPr id="212" name="Google Shape;212;p16"/>
            <p:cNvSpPr/>
            <p:nvPr/>
          </p:nvSpPr>
          <p:spPr>
            <a:xfrm>
              <a:off x="2289624" y="4147813"/>
              <a:ext cx="11355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Residual + LayerNorm</a:t>
              </a:r>
              <a:endParaRPr/>
            </a:p>
          </p:txBody>
        </p:sp>
        <p:cxnSp>
          <p:nvCxnSpPr>
            <p:cNvPr id="213" name="Google Shape;213;p16"/>
            <p:cNvCxnSpPr>
              <a:stCxn id="209" idx="2"/>
              <a:endCxn id="210" idx="0"/>
            </p:cNvCxnSpPr>
            <p:nvPr/>
          </p:nvCxnSpPr>
          <p:spPr>
            <a:xfrm>
              <a:off x="1381845" y="3955438"/>
              <a:ext cx="0" cy="19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4" name="Google Shape;214;p16"/>
            <p:cNvCxnSpPr>
              <a:stCxn id="210" idx="3"/>
              <a:endCxn id="211" idx="1"/>
            </p:cNvCxnSpPr>
            <p:nvPr/>
          </p:nvCxnSpPr>
          <p:spPr>
            <a:xfrm flipH="1" rot="10800000">
              <a:off x="1993399" y="3669163"/>
              <a:ext cx="490200" cy="765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5" name="Google Shape;215;p16"/>
            <p:cNvCxnSpPr>
              <a:stCxn id="211" idx="2"/>
              <a:endCxn id="212" idx="0"/>
            </p:cNvCxnSpPr>
            <p:nvPr/>
          </p:nvCxnSpPr>
          <p:spPr>
            <a:xfrm flipH="1">
              <a:off x="2857373" y="3955438"/>
              <a:ext cx="21900" cy="19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16" name="Google Shape;216;p16"/>
          <p:cNvSpPr/>
          <p:nvPr/>
        </p:nvSpPr>
        <p:spPr>
          <a:xfrm>
            <a:off x="1349425" y="1700675"/>
            <a:ext cx="18768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Graph Self-Attention</a:t>
            </a:r>
            <a:endParaRPr/>
          </a:p>
        </p:txBody>
      </p:sp>
      <p:sp>
        <p:nvSpPr>
          <p:cNvPr id="206" name="Google Shape;206;p16"/>
          <p:cNvSpPr/>
          <p:nvPr/>
        </p:nvSpPr>
        <p:spPr>
          <a:xfrm>
            <a:off x="931575" y="3839975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sp>
        <p:nvSpPr>
          <p:cNvPr id="217" name="Google Shape;217;p16"/>
          <p:cNvSpPr/>
          <p:nvPr/>
        </p:nvSpPr>
        <p:spPr>
          <a:xfrm>
            <a:off x="3879050" y="3837063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cxnSp>
        <p:nvCxnSpPr>
          <p:cNvPr id="218" name="Google Shape;218;p16"/>
          <p:cNvCxnSpPr>
            <a:stCxn id="206" idx="3"/>
            <a:endCxn id="219" idx="1"/>
          </p:cNvCxnSpPr>
          <p:nvPr/>
        </p:nvCxnSpPr>
        <p:spPr>
          <a:xfrm>
            <a:off x="1722675" y="4069025"/>
            <a:ext cx="608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" name="Google Shape;220;p16"/>
          <p:cNvCxnSpPr>
            <a:stCxn id="217" idx="3"/>
            <a:endCxn id="221" idx="1"/>
          </p:cNvCxnSpPr>
          <p:nvPr/>
        </p:nvCxnSpPr>
        <p:spPr>
          <a:xfrm flipH="1" rot="10800000">
            <a:off x="4670150" y="3062013"/>
            <a:ext cx="535500" cy="100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1" name="Google Shape;221;p16"/>
          <p:cNvSpPr/>
          <p:nvPr/>
        </p:nvSpPr>
        <p:spPr>
          <a:xfrm>
            <a:off x="5205675" y="2832913"/>
            <a:ext cx="7911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Linear</a:t>
            </a:r>
            <a:br>
              <a:rPr lang="zh-TW"/>
            </a:br>
            <a:r>
              <a:rPr lang="zh-TW"/>
              <a:t>(tactic)</a:t>
            </a:r>
            <a:endParaRPr/>
          </a:p>
        </p:txBody>
      </p:sp>
      <p:cxnSp>
        <p:nvCxnSpPr>
          <p:cNvPr id="222" name="Google Shape;222;p16"/>
          <p:cNvCxnSpPr>
            <a:stCxn id="221" idx="3"/>
            <a:endCxn id="223" idx="1"/>
          </p:cNvCxnSpPr>
          <p:nvPr/>
        </p:nvCxnSpPr>
        <p:spPr>
          <a:xfrm>
            <a:off x="5996775" y="3061963"/>
            <a:ext cx="489000" cy="60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" name="Google Shape;223;p16"/>
          <p:cNvSpPr/>
          <p:nvPr/>
        </p:nvSpPr>
        <p:spPr>
          <a:xfrm>
            <a:off x="6485875" y="3432975"/>
            <a:ext cx="9276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Sigmoid</a:t>
            </a:r>
            <a:endParaRPr/>
          </a:p>
        </p:txBody>
      </p:sp>
      <p:sp>
        <p:nvSpPr>
          <p:cNvPr id="224" name="Google Shape;224;p16"/>
          <p:cNvSpPr/>
          <p:nvPr/>
        </p:nvSpPr>
        <p:spPr>
          <a:xfrm>
            <a:off x="7636125" y="3432981"/>
            <a:ext cx="14715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Predicted label</a:t>
            </a:r>
            <a:endParaRPr/>
          </a:p>
        </p:txBody>
      </p:sp>
      <p:cxnSp>
        <p:nvCxnSpPr>
          <p:cNvPr id="225" name="Google Shape;225;p16"/>
          <p:cNvCxnSpPr>
            <a:stCxn id="223" idx="3"/>
            <a:endCxn id="224" idx="1"/>
          </p:cNvCxnSpPr>
          <p:nvPr/>
        </p:nvCxnSpPr>
        <p:spPr>
          <a:xfrm>
            <a:off x="7413475" y="3662025"/>
            <a:ext cx="22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6" name="Google Shape;226;p16"/>
          <p:cNvSpPr txBox="1"/>
          <p:nvPr/>
        </p:nvSpPr>
        <p:spPr>
          <a:xfrm>
            <a:off x="-167725" y="4305725"/>
            <a:ext cx="285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(Q:proto, K:h1, V:h1)</a:t>
            </a:r>
            <a:endParaRPr sz="1600"/>
          </a:p>
        </p:txBody>
      </p:sp>
      <p:sp>
        <p:nvSpPr>
          <p:cNvPr id="227" name="Google Shape;227;p16"/>
          <p:cNvSpPr txBox="1"/>
          <p:nvPr/>
        </p:nvSpPr>
        <p:spPr>
          <a:xfrm>
            <a:off x="4225900" y="2816250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h1</a:t>
            </a:r>
            <a:endParaRPr/>
          </a:p>
        </p:txBody>
      </p:sp>
      <p:sp>
        <p:nvSpPr>
          <p:cNvPr id="228" name="Google Shape;22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29" name="Google Shape;229;p16"/>
          <p:cNvSpPr txBox="1"/>
          <p:nvPr/>
        </p:nvSpPr>
        <p:spPr>
          <a:xfrm>
            <a:off x="3299800" y="2068537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h1</a:t>
            </a:r>
            <a:endParaRPr/>
          </a:p>
        </p:txBody>
      </p:sp>
      <p:sp>
        <p:nvSpPr>
          <p:cNvPr id="219" name="Google Shape;219;p16"/>
          <p:cNvSpPr/>
          <p:nvPr/>
        </p:nvSpPr>
        <p:spPr>
          <a:xfrm>
            <a:off x="2331213" y="3843748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cxnSp>
        <p:nvCxnSpPr>
          <p:cNvPr id="230" name="Google Shape;230;p16"/>
          <p:cNvCxnSpPr>
            <a:stCxn id="219" idx="3"/>
            <a:endCxn id="217" idx="1"/>
          </p:cNvCxnSpPr>
          <p:nvPr/>
        </p:nvCxnSpPr>
        <p:spPr>
          <a:xfrm flipH="1" rot="10800000">
            <a:off x="3122313" y="4066198"/>
            <a:ext cx="7566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1" name="Google Shape;231;p16"/>
          <p:cNvSpPr txBox="1"/>
          <p:nvPr/>
        </p:nvSpPr>
        <p:spPr>
          <a:xfrm>
            <a:off x="1393050" y="4644475"/>
            <a:ext cx="285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(Q:h2, K:h2, V:h2)</a:t>
            </a:r>
            <a:endParaRPr sz="1600"/>
          </a:p>
        </p:txBody>
      </p:sp>
      <p:sp>
        <p:nvSpPr>
          <p:cNvPr id="232" name="Google Shape;232;p16"/>
          <p:cNvSpPr txBox="1"/>
          <p:nvPr/>
        </p:nvSpPr>
        <p:spPr>
          <a:xfrm>
            <a:off x="1799505" y="4026695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h2</a:t>
            </a:r>
            <a:endParaRPr/>
          </a:p>
        </p:txBody>
      </p:sp>
      <p:cxnSp>
        <p:nvCxnSpPr>
          <p:cNvPr id="233" name="Google Shape;233;p16"/>
          <p:cNvCxnSpPr>
            <a:stCxn id="206" idx="2"/>
            <a:endCxn id="226" idx="0"/>
          </p:cNvCxnSpPr>
          <p:nvPr/>
        </p:nvCxnSpPr>
        <p:spPr>
          <a:xfrm flipH="1">
            <a:off x="1259925" y="4298075"/>
            <a:ext cx="67200" cy="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16"/>
          <p:cNvCxnSpPr>
            <a:stCxn id="219" idx="2"/>
            <a:endCxn id="231" idx="0"/>
          </p:cNvCxnSpPr>
          <p:nvPr/>
        </p:nvCxnSpPr>
        <p:spPr>
          <a:xfrm>
            <a:off x="2726763" y="4301848"/>
            <a:ext cx="93900" cy="34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" name="Google Shape;235;p16"/>
          <p:cNvSpPr txBox="1"/>
          <p:nvPr/>
        </p:nvSpPr>
        <p:spPr>
          <a:xfrm>
            <a:off x="3578075" y="4644475"/>
            <a:ext cx="238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(Q:h1, K:h3, V:h3)</a:t>
            </a:r>
            <a:endParaRPr sz="1600"/>
          </a:p>
        </p:txBody>
      </p:sp>
      <p:cxnSp>
        <p:nvCxnSpPr>
          <p:cNvPr id="236" name="Google Shape;236;p16"/>
          <p:cNvCxnSpPr>
            <a:stCxn id="217" idx="2"/>
            <a:endCxn id="235" idx="0"/>
          </p:cNvCxnSpPr>
          <p:nvPr/>
        </p:nvCxnSpPr>
        <p:spPr>
          <a:xfrm>
            <a:off x="4274600" y="4295163"/>
            <a:ext cx="494700" cy="34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16"/>
          <p:cNvCxnSpPr>
            <a:stCxn id="229" idx="3"/>
            <a:endCxn id="217" idx="0"/>
          </p:cNvCxnSpPr>
          <p:nvPr/>
        </p:nvCxnSpPr>
        <p:spPr>
          <a:xfrm>
            <a:off x="3848500" y="2284087"/>
            <a:ext cx="426000" cy="15531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8" name="Google Shape;238;p16"/>
          <p:cNvSpPr txBox="1"/>
          <p:nvPr/>
        </p:nvSpPr>
        <p:spPr>
          <a:xfrm>
            <a:off x="33075" y="3662562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proto</a:t>
            </a:r>
            <a:endParaRPr/>
          </a:p>
        </p:txBody>
      </p:sp>
      <p:cxnSp>
        <p:nvCxnSpPr>
          <p:cNvPr id="239" name="Google Shape;239;p16"/>
          <p:cNvCxnSpPr>
            <a:stCxn id="229" idx="3"/>
            <a:endCxn id="206" idx="0"/>
          </p:cNvCxnSpPr>
          <p:nvPr/>
        </p:nvCxnSpPr>
        <p:spPr>
          <a:xfrm flipH="1">
            <a:off x="1327000" y="2284087"/>
            <a:ext cx="2521500" cy="1555800"/>
          </a:xfrm>
          <a:prstGeom prst="curvedConnector4">
            <a:avLst>
              <a:gd fmla="val -11084" name="adj1"/>
              <a:gd fmla="val 85879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0" name="Google Shape;240;p16"/>
          <p:cNvSpPr txBox="1"/>
          <p:nvPr/>
        </p:nvSpPr>
        <p:spPr>
          <a:xfrm>
            <a:off x="6153700" y="3994163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Loss = crf_loss + w * focal_loss + loss_Tac + loss_Tech + loss_Sub</a:t>
            </a:r>
            <a:endParaRPr/>
          </a:p>
        </p:txBody>
      </p:sp>
      <p:cxnSp>
        <p:nvCxnSpPr>
          <p:cNvPr id="241" name="Google Shape;241;p16"/>
          <p:cNvCxnSpPr/>
          <p:nvPr/>
        </p:nvCxnSpPr>
        <p:spPr>
          <a:xfrm>
            <a:off x="2287829" y="2158775"/>
            <a:ext cx="0" cy="25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2" name="Google Shape;242;p16"/>
          <p:cNvSpPr txBox="1"/>
          <p:nvPr/>
        </p:nvSpPr>
        <p:spPr>
          <a:xfrm>
            <a:off x="1229063" y="3553775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h1</a:t>
            </a:r>
            <a:endParaRPr/>
          </a:p>
        </p:txBody>
      </p:sp>
      <p:grpSp>
        <p:nvGrpSpPr>
          <p:cNvPr id="243" name="Google Shape;243;p16"/>
          <p:cNvGrpSpPr/>
          <p:nvPr/>
        </p:nvGrpSpPr>
        <p:grpSpPr>
          <a:xfrm>
            <a:off x="9729625" y="3662550"/>
            <a:ext cx="1761900" cy="615600"/>
            <a:chOff x="6591025" y="4184550"/>
            <a:chExt cx="1761900" cy="615600"/>
          </a:xfrm>
        </p:grpSpPr>
        <p:sp>
          <p:nvSpPr>
            <p:cNvPr id="244" name="Google Shape;244;p16"/>
            <p:cNvSpPr txBox="1"/>
            <p:nvPr/>
          </p:nvSpPr>
          <p:spPr>
            <a:xfrm>
              <a:off x="6591025" y="4184550"/>
              <a:ext cx="1761900" cy="615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Train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Inference</a:t>
              </a:r>
              <a:endParaRPr>
                <a:solidFill>
                  <a:schemeClr val="dk1"/>
                </a:solidFill>
              </a:endParaRPr>
            </a:p>
          </p:txBody>
        </p:sp>
        <p:cxnSp>
          <p:nvCxnSpPr>
            <p:cNvPr id="245" name="Google Shape;245;p16"/>
            <p:cNvCxnSpPr/>
            <p:nvPr/>
          </p:nvCxnSpPr>
          <p:spPr>
            <a:xfrm>
              <a:off x="7602450" y="4384661"/>
              <a:ext cx="589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46" name="Google Shape;246;p16"/>
            <p:cNvCxnSpPr/>
            <p:nvPr/>
          </p:nvCxnSpPr>
          <p:spPr>
            <a:xfrm>
              <a:off x="7602450" y="4600211"/>
              <a:ext cx="589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05" name="Google Shape;205;p16"/>
          <p:cNvSpPr/>
          <p:nvPr/>
        </p:nvSpPr>
        <p:spPr>
          <a:xfrm>
            <a:off x="1109575" y="2382925"/>
            <a:ext cx="2382300" cy="1021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PrototypeEncoder </a:t>
            </a:r>
            <a:endParaRPr/>
          </a:p>
        </p:txBody>
      </p:sp>
      <p:cxnSp>
        <p:nvCxnSpPr>
          <p:cNvPr id="247" name="Google Shape;247;p16"/>
          <p:cNvCxnSpPr>
            <a:stCxn id="202" idx="3"/>
            <a:endCxn id="248" idx="1"/>
          </p:cNvCxnSpPr>
          <p:nvPr/>
        </p:nvCxnSpPr>
        <p:spPr>
          <a:xfrm>
            <a:off x="1792004" y="880300"/>
            <a:ext cx="29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8" name="Google Shape;248;p16"/>
          <p:cNvSpPr/>
          <p:nvPr/>
        </p:nvSpPr>
        <p:spPr>
          <a:xfrm>
            <a:off x="2087575" y="651250"/>
            <a:ext cx="1043400" cy="4581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MCM</a:t>
            </a:r>
            <a:endParaRPr/>
          </a:p>
        </p:txBody>
      </p:sp>
      <p:sp>
        <p:nvSpPr>
          <p:cNvPr id="249" name="Google Shape;249;p16"/>
          <p:cNvSpPr/>
          <p:nvPr/>
        </p:nvSpPr>
        <p:spPr>
          <a:xfrm>
            <a:off x="3400438" y="651250"/>
            <a:ext cx="10434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MLP</a:t>
            </a:r>
            <a:endParaRPr/>
          </a:p>
        </p:txBody>
      </p:sp>
      <p:cxnSp>
        <p:nvCxnSpPr>
          <p:cNvPr id="250" name="Google Shape;250;p16"/>
          <p:cNvCxnSpPr>
            <a:stCxn id="248" idx="3"/>
            <a:endCxn id="249" idx="1"/>
          </p:cNvCxnSpPr>
          <p:nvPr/>
        </p:nvCxnSpPr>
        <p:spPr>
          <a:xfrm>
            <a:off x="3130975" y="880300"/>
            <a:ext cx="26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" name="Google Shape;251;p16"/>
          <p:cNvCxnSpPr>
            <a:stCxn id="249" idx="2"/>
            <a:endCxn id="216" idx="3"/>
          </p:cNvCxnSpPr>
          <p:nvPr/>
        </p:nvCxnSpPr>
        <p:spPr>
          <a:xfrm rot="5400000">
            <a:off x="3163888" y="1171600"/>
            <a:ext cx="820500" cy="696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2" name="Google Shape;252;p16"/>
          <p:cNvSpPr txBox="1"/>
          <p:nvPr/>
        </p:nvSpPr>
        <p:spPr>
          <a:xfrm>
            <a:off x="1276850" y="2703844"/>
            <a:ext cx="1043400" cy="554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/>
              <a:t>Transformer Encoder</a:t>
            </a:r>
            <a:endParaRPr sz="1200"/>
          </a:p>
        </p:txBody>
      </p:sp>
      <p:sp>
        <p:nvSpPr>
          <p:cNvPr id="253" name="Google Shape;253;p16"/>
          <p:cNvSpPr txBox="1"/>
          <p:nvPr/>
        </p:nvSpPr>
        <p:spPr>
          <a:xfrm>
            <a:off x="2493163" y="2795919"/>
            <a:ext cx="791100" cy="369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GELU </a:t>
            </a:r>
            <a:endParaRPr/>
          </a:p>
        </p:txBody>
      </p:sp>
      <p:cxnSp>
        <p:nvCxnSpPr>
          <p:cNvPr id="254" name="Google Shape;254;p16"/>
          <p:cNvCxnSpPr>
            <a:stCxn id="252" idx="3"/>
            <a:endCxn id="253" idx="1"/>
          </p:cNvCxnSpPr>
          <p:nvPr/>
        </p:nvCxnSpPr>
        <p:spPr>
          <a:xfrm flipH="1" rot="10800000">
            <a:off x="2320250" y="2980594"/>
            <a:ext cx="1728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5" name="Google Shape;255;p16"/>
          <p:cNvSpPr txBox="1"/>
          <p:nvPr/>
        </p:nvSpPr>
        <p:spPr>
          <a:xfrm>
            <a:off x="1730169" y="3118469"/>
            <a:ext cx="220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/>
              <a:t>(num_classes, d_model) </a:t>
            </a:r>
            <a:endParaRPr sz="1200"/>
          </a:p>
        </p:txBody>
      </p:sp>
      <p:sp>
        <p:nvSpPr>
          <p:cNvPr id="256" name="Google Shape;256;p16"/>
          <p:cNvSpPr/>
          <p:nvPr/>
        </p:nvSpPr>
        <p:spPr>
          <a:xfrm>
            <a:off x="5048625" y="3432975"/>
            <a:ext cx="11052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Linear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(technique)</a:t>
            </a:r>
            <a:endParaRPr/>
          </a:p>
        </p:txBody>
      </p:sp>
      <p:cxnSp>
        <p:nvCxnSpPr>
          <p:cNvPr id="257" name="Google Shape;257;p16"/>
          <p:cNvCxnSpPr>
            <a:stCxn id="217" idx="3"/>
            <a:endCxn id="256" idx="1"/>
          </p:cNvCxnSpPr>
          <p:nvPr/>
        </p:nvCxnSpPr>
        <p:spPr>
          <a:xfrm flipH="1" rot="10800000">
            <a:off x="4670150" y="3662013"/>
            <a:ext cx="378600" cy="40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8" name="Google Shape;258;p16"/>
          <p:cNvSpPr/>
          <p:nvPr/>
        </p:nvSpPr>
        <p:spPr>
          <a:xfrm>
            <a:off x="5106975" y="4015375"/>
            <a:ext cx="988500" cy="47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Linear</a:t>
            </a:r>
            <a:br>
              <a:rPr lang="zh-TW"/>
            </a:br>
            <a:r>
              <a:rPr lang="zh-TW"/>
              <a:t>(sub-tech)</a:t>
            </a:r>
            <a:endParaRPr/>
          </a:p>
        </p:txBody>
      </p:sp>
      <p:cxnSp>
        <p:nvCxnSpPr>
          <p:cNvPr id="259" name="Google Shape;259;p16"/>
          <p:cNvCxnSpPr>
            <a:stCxn id="217" idx="3"/>
            <a:endCxn id="258" idx="1"/>
          </p:cNvCxnSpPr>
          <p:nvPr/>
        </p:nvCxnSpPr>
        <p:spPr>
          <a:xfrm>
            <a:off x="4670150" y="4066113"/>
            <a:ext cx="436800" cy="18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" name="Google Shape;260;p16"/>
          <p:cNvCxnSpPr>
            <a:stCxn id="256" idx="3"/>
            <a:endCxn id="223" idx="1"/>
          </p:cNvCxnSpPr>
          <p:nvPr/>
        </p:nvCxnSpPr>
        <p:spPr>
          <a:xfrm>
            <a:off x="6153825" y="3662025"/>
            <a:ext cx="33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" name="Google Shape;261;p16"/>
          <p:cNvCxnSpPr>
            <a:stCxn id="258" idx="3"/>
            <a:endCxn id="223" idx="1"/>
          </p:cNvCxnSpPr>
          <p:nvPr/>
        </p:nvCxnSpPr>
        <p:spPr>
          <a:xfrm flipH="1" rot="10800000">
            <a:off x="6095475" y="3662125"/>
            <a:ext cx="390300" cy="59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7997" y="1274825"/>
            <a:ext cx="1788352" cy="4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7"/>
          <p:cNvSpPr txBox="1"/>
          <p:nvPr/>
        </p:nvSpPr>
        <p:spPr>
          <a:xfrm>
            <a:off x="3261018" y="4026620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h3</a:t>
            </a:r>
            <a:endParaRPr/>
          </a:p>
        </p:txBody>
      </p:sp>
      <p:sp>
        <p:nvSpPr>
          <p:cNvPr id="268" name="Google Shape;268;p17"/>
          <p:cNvSpPr txBox="1"/>
          <p:nvPr>
            <p:ph type="title"/>
          </p:nvPr>
        </p:nvSpPr>
        <p:spPr>
          <a:xfrm>
            <a:off x="33075" y="19025"/>
            <a:ext cx="8988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420"/>
              <a:t>TTP detection - </a:t>
            </a:r>
            <a:r>
              <a:rPr lang="zh-TW" sz="2420"/>
              <a:t>ALiBi transformer</a:t>
            </a:r>
            <a:endParaRPr sz="2420"/>
          </a:p>
        </p:txBody>
      </p:sp>
      <p:sp>
        <p:nvSpPr>
          <p:cNvPr id="269" name="Google Shape;269;p17"/>
          <p:cNvSpPr/>
          <p:nvPr/>
        </p:nvSpPr>
        <p:spPr>
          <a:xfrm>
            <a:off x="253904" y="651250"/>
            <a:ext cx="1538100" cy="4581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</a:t>
            </a:r>
            <a:endParaRPr/>
          </a:p>
        </p:txBody>
      </p:sp>
      <p:sp>
        <p:nvSpPr>
          <p:cNvPr id="270" name="Google Shape;270;p17"/>
          <p:cNvSpPr/>
          <p:nvPr/>
        </p:nvSpPr>
        <p:spPr>
          <a:xfrm>
            <a:off x="974725" y="1274825"/>
            <a:ext cx="2626200" cy="2206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Prototype Encoder</a:t>
            </a:r>
            <a:endParaRPr/>
          </a:p>
        </p:txBody>
      </p:sp>
      <p:cxnSp>
        <p:nvCxnSpPr>
          <p:cNvPr id="271" name="Google Shape;271;p17"/>
          <p:cNvCxnSpPr>
            <a:stCxn id="272" idx="1"/>
            <a:endCxn id="273" idx="1"/>
          </p:cNvCxnSpPr>
          <p:nvPr/>
        </p:nvCxnSpPr>
        <p:spPr>
          <a:xfrm flipH="1">
            <a:off x="931675" y="2893825"/>
            <a:ext cx="177900" cy="1175100"/>
          </a:xfrm>
          <a:prstGeom prst="curvedConnector3">
            <a:avLst>
              <a:gd fmla="val 23390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74" name="Google Shape;274;p17"/>
          <p:cNvGrpSpPr/>
          <p:nvPr/>
        </p:nvGrpSpPr>
        <p:grpSpPr>
          <a:xfrm>
            <a:off x="5373825" y="1775375"/>
            <a:ext cx="3159300" cy="1778400"/>
            <a:chOff x="513899" y="3066238"/>
            <a:chExt cx="3159300" cy="1778400"/>
          </a:xfrm>
        </p:grpSpPr>
        <p:sp>
          <p:nvSpPr>
            <p:cNvPr id="275" name="Google Shape;275;p17"/>
            <p:cNvSpPr/>
            <p:nvPr/>
          </p:nvSpPr>
          <p:spPr>
            <a:xfrm>
              <a:off x="513899" y="3066238"/>
              <a:ext cx="3159300" cy="1778400"/>
            </a:xfrm>
            <a:prstGeom prst="rect">
              <a:avLst/>
            </a:prstGeom>
            <a:solidFill>
              <a:srgbClr val="FCE5C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ALiBi Graph Transformer</a:t>
              </a:r>
              <a:endParaRPr/>
            </a:p>
          </p:txBody>
        </p:sp>
        <p:sp>
          <p:nvSpPr>
            <p:cNvPr id="276" name="Google Shape;276;p17"/>
            <p:cNvSpPr/>
            <p:nvPr/>
          </p:nvSpPr>
          <p:spPr>
            <a:xfrm>
              <a:off x="732645" y="3382738"/>
              <a:ext cx="12984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Multi-head attention</a:t>
              </a:r>
              <a:endParaRPr/>
            </a:p>
          </p:txBody>
        </p:sp>
        <p:sp>
          <p:nvSpPr>
            <p:cNvPr id="277" name="Google Shape;277;p17"/>
            <p:cNvSpPr/>
            <p:nvPr/>
          </p:nvSpPr>
          <p:spPr>
            <a:xfrm>
              <a:off x="770299" y="4147813"/>
              <a:ext cx="12231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Residual + LayerNorm</a:t>
              </a:r>
              <a:endParaRPr/>
            </a:p>
          </p:txBody>
        </p:sp>
        <p:sp>
          <p:nvSpPr>
            <p:cNvPr id="278" name="Google Shape;278;p17"/>
            <p:cNvSpPr/>
            <p:nvPr/>
          </p:nvSpPr>
          <p:spPr>
            <a:xfrm>
              <a:off x="2483723" y="3382738"/>
              <a:ext cx="7911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FFN</a:t>
              </a:r>
              <a:endParaRPr/>
            </a:p>
          </p:txBody>
        </p:sp>
        <p:sp>
          <p:nvSpPr>
            <p:cNvPr id="279" name="Google Shape;279;p17"/>
            <p:cNvSpPr/>
            <p:nvPr/>
          </p:nvSpPr>
          <p:spPr>
            <a:xfrm>
              <a:off x="2289624" y="4147813"/>
              <a:ext cx="11355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Residual + LayerNorm</a:t>
              </a:r>
              <a:endParaRPr/>
            </a:p>
          </p:txBody>
        </p:sp>
        <p:cxnSp>
          <p:nvCxnSpPr>
            <p:cNvPr id="280" name="Google Shape;280;p17"/>
            <p:cNvCxnSpPr>
              <a:stCxn id="276" idx="2"/>
              <a:endCxn id="277" idx="0"/>
            </p:cNvCxnSpPr>
            <p:nvPr/>
          </p:nvCxnSpPr>
          <p:spPr>
            <a:xfrm>
              <a:off x="1381845" y="3955438"/>
              <a:ext cx="0" cy="19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1" name="Google Shape;281;p17"/>
            <p:cNvCxnSpPr>
              <a:stCxn id="277" idx="3"/>
              <a:endCxn id="278" idx="1"/>
            </p:cNvCxnSpPr>
            <p:nvPr/>
          </p:nvCxnSpPr>
          <p:spPr>
            <a:xfrm flipH="1" rot="10800000">
              <a:off x="1993399" y="3669163"/>
              <a:ext cx="490200" cy="765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2" name="Google Shape;282;p17"/>
            <p:cNvCxnSpPr>
              <a:stCxn id="278" idx="2"/>
              <a:endCxn id="279" idx="0"/>
            </p:cNvCxnSpPr>
            <p:nvPr/>
          </p:nvCxnSpPr>
          <p:spPr>
            <a:xfrm flipH="1">
              <a:off x="2857373" y="3955438"/>
              <a:ext cx="21900" cy="19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83" name="Google Shape;283;p17"/>
          <p:cNvSpPr/>
          <p:nvPr/>
        </p:nvSpPr>
        <p:spPr>
          <a:xfrm>
            <a:off x="1349425" y="1700675"/>
            <a:ext cx="18768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Graph Self-Attention</a:t>
            </a:r>
            <a:endParaRPr/>
          </a:p>
        </p:txBody>
      </p:sp>
      <p:sp>
        <p:nvSpPr>
          <p:cNvPr id="273" name="Google Shape;273;p17"/>
          <p:cNvSpPr/>
          <p:nvPr/>
        </p:nvSpPr>
        <p:spPr>
          <a:xfrm>
            <a:off x="931575" y="3839975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ALiBi </a:t>
            </a:r>
            <a:r>
              <a:rPr lang="zh-TW"/>
              <a:t>GT</a:t>
            </a:r>
            <a:endParaRPr/>
          </a:p>
        </p:txBody>
      </p:sp>
      <p:sp>
        <p:nvSpPr>
          <p:cNvPr id="284" name="Google Shape;284;p17"/>
          <p:cNvSpPr/>
          <p:nvPr/>
        </p:nvSpPr>
        <p:spPr>
          <a:xfrm>
            <a:off x="3879050" y="3837063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ALiBi </a:t>
            </a:r>
            <a:r>
              <a:rPr lang="zh-TW"/>
              <a:t>GT</a:t>
            </a:r>
            <a:endParaRPr/>
          </a:p>
        </p:txBody>
      </p:sp>
      <p:cxnSp>
        <p:nvCxnSpPr>
          <p:cNvPr id="285" name="Google Shape;285;p17"/>
          <p:cNvCxnSpPr>
            <a:stCxn id="273" idx="3"/>
            <a:endCxn id="286" idx="1"/>
          </p:cNvCxnSpPr>
          <p:nvPr/>
        </p:nvCxnSpPr>
        <p:spPr>
          <a:xfrm>
            <a:off x="1722675" y="4069025"/>
            <a:ext cx="608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7" name="Google Shape;287;p17"/>
          <p:cNvSpPr/>
          <p:nvPr/>
        </p:nvSpPr>
        <p:spPr>
          <a:xfrm>
            <a:off x="6339275" y="3837075"/>
            <a:ext cx="9276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Sigmoid</a:t>
            </a:r>
            <a:endParaRPr/>
          </a:p>
        </p:txBody>
      </p:sp>
      <p:sp>
        <p:nvSpPr>
          <p:cNvPr id="288" name="Google Shape;288;p17"/>
          <p:cNvSpPr/>
          <p:nvPr/>
        </p:nvSpPr>
        <p:spPr>
          <a:xfrm>
            <a:off x="7627139" y="3837081"/>
            <a:ext cx="14715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Predicted label</a:t>
            </a:r>
            <a:endParaRPr/>
          </a:p>
        </p:txBody>
      </p:sp>
      <p:cxnSp>
        <p:nvCxnSpPr>
          <p:cNvPr id="289" name="Google Shape;289;p17"/>
          <p:cNvCxnSpPr>
            <a:stCxn id="287" idx="3"/>
            <a:endCxn id="288" idx="1"/>
          </p:cNvCxnSpPr>
          <p:nvPr/>
        </p:nvCxnSpPr>
        <p:spPr>
          <a:xfrm>
            <a:off x="7266875" y="4066125"/>
            <a:ext cx="360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0" name="Google Shape;290;p17"/>
          <p:cNvSpPr txBox="1"/>
          <p:nvPr/>
        </p:nvSpPr>
        <p:spPr>
          <a:xfrm>
            <a:off x="-167725" y="4305725"/>
            <a:ext cx="285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(Q:proto, K:h1, V:h1)</a:t>
            </a:r>
            <a:endParaRPr sz="1600"/>
          </a:p>
        </p:txBody>
      </p:sp>
      <p:sp>
        <p:nvSpPr>
          <p:cNvPr id="291" name="Google Shape;291;p17"/>
          <p:cNvSpPr txBox="1"/>
          <p:nvPr/>
        </p:nvSpPr>
        <p:spPr>
          <a:xfrm>
            <a:off x="4225900" y="2816250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h1</a:t>
            </a:r>
            <a:endParaRPr/>
          </a:p>
        </p:txBody>
      </p:sp>
      <p:sp>
        <p:nvSpPr>
          <p:cNvPr id="292" name="Google Shape;29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93" name="Google Shape;293;p17"/>
          <p:cNvSpPr txBox="1"/>
          <p:nvPr/>
        </p:nvSpPr>
        <p:spPr>
          <a:xfrm>
            <a:off x="3299800" y="2068537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h1</a:t>
            </a:r>
            <a:endParaRPr/>
          </a:p>
        </p:txBody>
      </p:sp>
      <p:sp>
        <p:nvSpPr>
          <p:cNvPr id="286" name="Google Shape;286;p17"/>
          <p:cNvSpPr/>
          <p:nvPr/>
        </p:nvSpPr>
        <p:spPr>
          <a:xfrm>
            <a:off x="2331213" y="3843748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ALiBi </a:t>
            </a:r>
            <a:r>
              <a:rPr lang="zh-TW"/>
              <a:t>GT</a:t>
            </a:r>
            <a:endParaRPr/>
          </a:p>
        </p:txBody>
      </p:sp>
      <p:cxnSp>
        <p:nvCxnSpPr>
          <p:cNvPr id="294" name="Google Shape;294;p17"/>
          <p:cNvCxnSpPr>
            <a:stCxn id="286" idx="3"/>
            <a:endCxn id="284" idx="1"/>
          </p:cNvCxnSpPr>
          <p:nvPr/>
        </p:nvCxnSpPr>
        <p:spPr>
          <a:xfrm flipH="1" rot="10800000">
            <a:off x="3122313" y="4066198"/>
            <a:ext cx="7566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5" name="Google Shape;295;p17"/>
          <p:cNvSpPr txBox="1"/>
          <p:nvPr/>
        </p:nvSpPr>
        <p:spPr>
          <a:xfrm>
            <a:off x="1393050" y="4644475"/>
            <a:ext cx="285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(Q:h2, K:h2, V:h2)</a:t>
            </a:r>
            <a:endParaRPr sz="1600"/>
          </a:p>
        </p:txBody>
      </p:sp>
      <p:sp>
        <p:nvSpPr>
          <p:cNvPr id="296" name="Google Shape;296;p17"/>
          <p:cNvSpPr txBox="1"/>
          <p:nvPr/>
        </p:nvSpPr>
        <p:spPr>
          <a:xfrm>
            <a:off x="1799505" y="4026695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h2</a:t>
            </a:r>
            <a:endParaRPr/>
          </a:p>
        </p:txBody>
      </p:sp>
      <p:cxnSp>
        <p:nvCxnSpPr>
          <p:cNvPr id="297" name="Google Shape;297;p17"/>
          <p:cNvCxnSpPr>
            <a:stCxn id="273" idx="2"/>
            <a:endCxn id="290" idx="0"/>
          </p:cNvCxnSpPr>
          <p:nvPr/>
        </p:nvCxnSpPr>
        <p:spPr>
          <a:xfrm flipH="1">
            <a:off x="1259925" y="4298075"/>
            <a:ext cx="67200" cy="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" name="Google Shape;298;p17"/>
          <p:cNvCxnSpPr>
            <a:stCxn id="286" idx="2"/>
            <a:endCxn id="295" idx="0"/>
          </p:cNvCxnSpPr>
          <p:nvPr/>
        </p:nvCxnSpPr>
        <p:spPr>
          <a:xfrm>
            <a:off x="2726763" y="4301848"/>
            <a:ext cx="93900" cy="34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17"/>
          <p:cNvSpPr txBox="1"/>
          <p:nvPr/>
        </p:nvSpPr>
        <p:spPr>
          <a:xfrm>
            <a:off x="3578075" y="4644475"/>
            <a:ext cx="238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(Q:h1, K:h3, V:h3)</a:t>
            </a:r>
            <a:endParaRPr sz="1600"/>
          </a:p>
        </p:txBody>
      </p:sp>
      <p:cxnSp>
        <p:nvCxnSpPr>
          <p:cNvPr id="300" name="Google Shape;300;p17"/>
          <p:cNvCxnSpPr>
            <a:stCxn id="284" idx="2"/>
            <a:endCxn id="299" idx="0"/>
          </p:cNvCxnSpPr>
          <p:nvPr/>
        </p:nvCxnSpPr>
        <p:spPr>
          <a:xfrm>
            <a:off x="4274600" y="4295163"/>
            <a:ext cx="494700" cy="34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17"/>
          <p:cNvCxnSpPr>
            <a:stCxn id="293" idx="3"/>
            <a:endCxn id="284" idx="0"/>
          </p:cNvCxnSpPr>
          <p:nvPr/>
        </p:nvCxnSpPr>
        <p:spPr>
          <a:xfrm>
            <a:off x="3848500" y="2284087"/>
            <a:ext cx="426000" cy="15531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2" name="Google Shape;302;p17"/>
          <p:cNvSpPr txBox="1"/>
          <p:nvPr/>
        </p:nvSpPr>
        <p:spPr>
          <a:xfrm>
            <a:off x="33075" y="3662562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proto</a:t>
            </a:r>
            <a:endParaRPr/>
          </a:p>
        </p:txBody>
      </p:sp>
      <p:cxnSp>
        <p:nvCxnSpPr>
          <p:cNvPr id="303" name="Google Shape;303;p17"/>
          <p:cNvCxnSpPr>
            <a:stCxn id="293" idx="3"/>
            <a:endCxn id="273" idx="0"/>
          </p:cNvCxnSpPr>
          <p:nvPr/>
        </p:nvCxnSpPr>
        <p:spPr>
          <a:xfrm flipH="1">
            <a:off x="1327000" y="2284087"/>
            <a:ext cx="2521500" cy="1555800"/>
          </a:xfrm>
          <a:prstGeom prst="curvedConnector4">
            <a:avLst>
              <a:gd fmla="val -11084" name="adj1"/>
              <a:gd fmla="val 85879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" name="Google Shape;304;p17"/>
          <p:cNvCxnSpPr/>
          <p:nvPr/>
        </p:nvCxnSpPr>
        <p:spPr>
          <a:xfrm>
            <a:off x="2287829" y="2158775"/>
            <a:ext cx="0" cy="25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5" name="Google Shape;305;p17"/>
          <p:cNvSpPr txBox="1"/>
          <p:nvPr/>
        </p:nvSpPr>
        <p:spPr>
          <a:xfrm>
            <a:off x="1229063" y="3553775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h1</a:t>
            </a:r>
            <a:endParaRPr/>
          </a:p>
        </p:txBody>
      </p:sp>
      <p:grpSp>
        <p:nvGrpSpPr>
          <p:cNvPr id="306" name="Google Shape;306;p17"/>
          <p:cNvGrpSpPr/>
          <p:nvPr/>
        </p:nvGrpSpPr>
        <p:grpSpPr>
          <a:xfrm>
            <a:off x="9729625" y="3662550"/>
            <a:ext cx="1761900" cy="615600"/>
            <a:chOff x="6591025" y="4184550"/>
            <a:chExt cx="1761900" cy="615600"/>
          </a:xfrm>
        </p:grpSpPr>
        <p:sp>
          <p:nvSpPr>
            <p:cNvPr id="307" name="Google Shape;307;p17"/>
            <p:cNvSpPr txBox="1"/>
            <p:nvPr/>
          </p:nvSpPr>
          <p:spPr>
            <a:xfrm>
              <a:off x="6591025" y="4184550"/>
              <a:ext cx="1761900" cy="615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Train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Inference</a:t>
              </a:r>
              <a:endParaRPr>
                <a:solidFill>
                  <a:schemeClr val="dk1"/>
                </a:solidFill>
              </a:endParaRPr>
            </a:p>
          </p:txBody>
        </p:sp>
        <p:cxnSp>
          <p:nvCxnSpPr>
            <p:cNvPr id="308" name="Google Shape;308;p17"/>
            <p:cNvCxnSpPr/>
            <p:nvPr/>
          </p:nvCxnSpPr>
          <p:spPr>
            <a:xfrm>
              <a:off x="7602450" y="4384661"/>
              <a:ext cx="589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09" name="Google Shape;309;p17"/>
            <p:cNvCxnSpPr/>
            <p:nvPr/>
          </p:nvCxnSpPr>
          <p:spPr>
            <a:xfrm>
              <a:off x="7602450" y="4600211"/>
              <a:ext cx="589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72" name="Google Shape;272;p17"/>
          <p:cNvSpPr/>
          <p:nvPr/>
        </p:nvSpPr>
        <p:spPr>
          <a:xfrm>
            <a:off x="1109575" y="2382925"/>
            <a:ext cx="2382300" cy="1021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PrototypeEncoder </a:t>
            </a:r>
            <a:endParaRPr/>
          </a:p>
        </p:txBody>
      </p:sp>
      <p:cxnSp>
        <p:nvCxnSpPr>
          <p:cNvPr id="310" name="Google Shape;310;p17"/>
          <p:cNvCxnSpPr>
            <a:stCxn id="269" idx="3"/>
            <a:endCxn id="311" idx="1"/>
          </p:cNvCxnSpPr>
          <p:nvPr/>
        </p:nvCxnSpPr>
        <p:spPr>
          <a:xfrm>
            <a:off x="1792004" y="880300"/>
            <a:ext cx="29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1" name="Google Shape;311;p17"/>
          <p:cNvSpPr/>
          <p:nvPr/>
        </p:nvSpPr>
        <p:spPr>
          <a:xfrm>
            <a:off x="2087575" y="651250"/>
            <a:ext cx="1043400" cy="4581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MCM</a:t>
            </a:r>
            <a:endParaRPr/>
          </a:p>
        </p:txBody>
      </p:sp>
      <p:sp>
        <p:nvSpPr>
          <p:cNvPr id="312" name="Google Shape;312;p17"/>
          <p:cNvSpPr/>
          <p:nvPr/>
        </p:nvSpPr>
        <p:spPr>
          <a:xfrm>
            <a:off x="3400438" y="651250"/>
            <a:ext cx="10434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MLP</a:t>
            </a:r>
            <a:endParaRPr/>
          </a:p>
        </p:txBody>
      </p:sp>
      <p:cxnSp>
        <p:nvCxnSpPr>
          <p:cNvPr id="313" name="Google Shape;313;p17"/>
          <p:cNvCxnSpPr>
            <a:stCxn id="311" idx="3"/>
            <a:endCxn id="312" idx="1"/>
          </p:cNvCxnSpPr>
          <p:nvPr/>
        </p:nvCxnSpPr>
        <p:spPr>
          <a:xfrm>
            <a:off x="3130975" y="880300"/>
            <a:ext cx="26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" name="Google Shape;314;p17"/>
          <p:cNvCxnSpPr>
            <a:stCxn id="312" idx="2"/>
            <a:endCxn id="283" idx="3"/>
          </p:cNvCxnSpPr>
          <p:nvPr/>
        </p:nvCxnSpPr>
        <p:spPr>
          <a:xfrm rot="5400000">
            <a:off x="3163888" y="1171600"/>
            <a:ext cx="820500" cy="696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5" name="Google Shape;315;p17"/>
          <p:cNvSpPr txBox="1"/>
          <p:nvPr/>
        </p:nvSpPr>
        <p:spPr>
          <a:xfrm>
            <a:off x="1276850" y="2703844"/>
            <a:ext cx="1043400" cy="554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/>
              <a:t>Transformer Encoder</a:t>
            </a:r>
            <a:endParaRPr sz="1200"/>
          </a:p>
        </p:txBody>
      </p:sp>
      <p:sp>
        <p:nvSpPr>
          <p:cNvPr id="316" name="Google Shape;316;p17"/>
          <p:cNvSpPr txBox="1"/>
          <p:nvPr/>
        </p:nvSpPr>
        <p:spPr>
          <a:xfrm>
            <a:off x="2493163" y="2795919"/>
            <a:ext cx="791100" cy="369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GELU </a:t>
            </a:r>
            <a:endParaRPr/>
          </a:p>
        </p:txBody>
      </p:sp>
      <p:cxnSp>
        <p:nvCxnSpPr>
          <p:cNvPr id="317" name="Google Shape;317;p17"/>
          <p:cNvCxnSpPr>
            <a:stCxn id="315" idx="3"/>
            <a:endCxn id="316" idx="1"/>
          </p:cNvCxnSpPr>
          <p:nvPr/>
        </p:nvCxnSpPr>
        <p:spPr>
          <a:xfrm flipH="1" rot="10800000">
            <a:off x="2320250" y="2980594"/>
            <a:ext cx="1728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8" name="Google Shape;318;p17"/>
          <p:cNvSpPr txBox="1"/>
          <p:nvPr/>
        </p:nvSpPr>
        <p:spPr>
          <a:xfrm>
            <a:off x="1730169" y="3118469"/>
            <a:ext cx="220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/>
              <a:t>(num_classes, d_model) </a:t>
            </a:r>
            <a:endParaRPr sz="1200"/>
          </a:p>
        </p:txBody>
      </p:sp>
      <p:cxnSp>
        <p:nvCxnSpPr>
          <p:cNvPr id="319" name="Google Shape;319;p17"/>
          <p:cNvCxnSpPr>
            <a:stCxn id="284" idx="3"/>
            <a:endCxn id="320" idx="1"/>
          </p:cNvCxnSpPr>
          <p:nvPr/>
        </p:nvCxnSpPr>
        <p:spPr>
          <a:xfrm>
            <a:off x="4670150" y="4066113"/>
            <a:ext cx="4968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" name="Google Shape;321;p17"/>
          <p:cNvCxnSpPr>
            <a:stCxn id="320" idx="3"/>
            <a:endCxn id="287" idx="1"/>
          </p:cNvCxnSpPr>
          <p:nvPr/>
        </p:nvCxnSpPr>
        <p:spPr>
          <a:xfrm flipH="1" rot="10800000">
            <a:off x="5958000" y="4066025"/>
            <a:ext cx="3813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2" name="Google Shape;322;p17"/>
          <p:cNvSpPr txBox="1"/>
          <p:nvPr/>
        </p:nvSpPr>
        <p:spPr>
          <a:xfrm>
            <a:off x="5205325" y="1052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Score = QK^T + m*distance_bias</a:t>
            </a:r>
            <a:endParaRPr/>
          </a:p>
        </p:txBody>
      </p:sp>
      <p:sp>
        <p:nvSpPr>
          <p:cNvPr id="320" name="Google Shape;320;p17"/>
          <p:cNvSpPr/>
          <p:nvPr/>
        </p:nvSpPr>
        <p:spPr>
          <a:xfrm>
            <a:off x="5166900" y="3839975"/>
            <a:ext cx="7911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Linear</a:t>
            </a:r>
            <a:endParaRPr/>
          </a:p>
        </p:txBody>
      </p:sp>
      <p:sp>
        <p:nvSpPr>
          <p:cNvPr id="323" name="Google Shape;323;p17"/>
          <p:cNvSpPr txBox="1"/>
          <p:nvPr/>
        </p:nvSpPr>
        <p:spPr>
          <a:xfrm>
            <a:off x="5205325" y="411250"/>
            <a:ext cx="38934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00">
                <a:solidFill>
                  <a:schemeClr val="dk1"/>
                </a:solidFill>
              </a:rPr>
              <a:t>distance_bias</a:t>
            </a:r>
            <a:r>
              <a:rPr b="1" lang="zh-TW" sz="1100">
                <a:solidFill>
                  <a:schemeClr val="dk1"/>
                </a:solidFill>
              </a:rPr>
              <a:t>：</a:t>
            </a:r>
            <a:r>
              <a:rPr lang="zh-TW" sz="1100">
                <a:solidFill>
                  <a:schemeClr val="dk1"/>
                </a:solidFill>
              </a:rPr>
              <a:t> 記錄 Token 間的相對距離 |i - j|。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00">
                <a:solidFill>
                  <a:schemeClr val="dk1"/>
                </a:solidFill>
              </a:rPr>
              <a:t>m</a:t>
            </a:r>
            <a:r>
              <a:rPr b="1" lang="zh-TW" sz="1100">
                <a:solidFill>
                  <a:schemeClr val="dk1"/>
                </a:solidFill>
              </a:rPr>
              <a:t>(Slope)：</a:t>
            </a:r>
            <a:r>
              <a:rPr lang="zh-TW" sz="1100">
                <a:solidFill>
                  <a:schemeClr val="dk1"/>
                </a:solidFill>
              </a:rPr>
              <a:t> 每個 attention Head 設定不同懲罰係數m。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graph中的距離越遠對模型的影響要變小，反之變大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