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99CD99-2564-4A34-9085-D5C54544B23B}">
  <a:tblStyle styleId="{B499CD99-2564-4A34-9085-D5C54544B23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5d726596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5d726596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d5e896e5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d5e896e5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highlight>
                  <a:srgbClr val="FFFF00"/>
                </a:highlight>
              </a:rPr>
              <a:t>show sample</a:t>
            </a:r>
            <a:r>
              <a:rPr lang="zh-TW">
                <a:highlight>
                  <a:srgbClr val="FFFF00"/>
                </a:highlight>
              </a:rPr>
              <a:t>算法</a:t>
            </a:r>
            <a:endParaRPr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哪些TTP兩個機器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哪些TTP會跟網路連結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6060391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6060391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d5e896e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d5e896e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ed6bebb2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ed6bebb2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ed568eb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ed568eb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看T1011</a:t>
            </a:r>
            <a:br>
              <a:rPr lang="zh-TW"/>
            </a:br>
            <a:r>
              <a:rPr lang="zh-TW"/>
              <a:t>了解一下audit -&gt; network的過程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是否要看network log才能觀察attack	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Sample算法 - </a:t>
            </a:r>
            <a:r>
              <a:rPr lang="zh-TW" sz="2400"/>
              <a:t>system_labels</a:t>
            </a:r>
            <a:endParaRPr sz="2400"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47100" y="1017725"/>
            <a:ext cx="8520600" cy="4039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"e16ea6a3c00b40cdbd5899b735ce71e4": {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     "id": "e16ea6a3c00b40cdbd5899b735ce71e4",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     "auditd_events": {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         "start": [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             "360240",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             "360241",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             "360242",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             "360243"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         ]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     },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     "technique": "T1018: Remote System Discovery"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 },</a:t>
            </a:r>
            <a:endParaRPr sz="128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4631725" y="1353575"/>
            <a:ext cx="10863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Sample的id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739225" y="1428725"/>
            <a:ext cx="3424500" cy="203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" name="Google Shape;59;p13"/>
          <p:cNvCxnSpPr>
            <a:stCxn id="58" idx="3"/>
            <a:endCxn id="57" idx="1"/>
          </p:cNvCxnSpPr>
          <p:nvPr/>
        </p:nvCxnSpPr>
        <p:spPr>
          <a:xfrm>
            <a:off x="4163725" y="1530575"/>
            <a:ext cx="46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" name="Google Shape;60;p13"/>
          <p:cNvSpPr txBox="1"/>
          <p:nvPr/>
        </p:nvSpPr>
        <p:spPr>
          <a:xfrm>
            <a:off x="4411825" y="2043425"/>
            <a:ext cx="15261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Sample所在的機器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961070" y="2123650"/>
            <a:ext cx="501900" cy="203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" name="Google Shape;62;p13"/>
          <p:cNvCxnSpPr>
            <a:stCxn id="61" idx="3"/>
            <a:endCxn id="60" idx="1"/>
          </p:cNvCxnSpPr>
          <p:nvPr/>
        </p:nvCxnSpPr>
        <p:spPr>
          <a:xfrm flipH="1" rot="10800000">
            <a:off x="1462970" y="2220400"/>
            <a:ext cx="29490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" name="Google Shape;63;p13"/>
          <p:cNvSpPr/>
          <p:nvPr/>
        </p:nvSpPr>
        <p:spPr>
          <a:xfrm>
            <a:off x="1133500" y="2449670"/>
            <a:ext cx="718800" cy="203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" name="Google Shape;64;p13"/>
          <p:cNvCxnSpPr>
            <a:stCxn id="63" idx="3"/>
            <a:endCxn id="65" idx="1"/>
          </p:cNvCxnSpPr>
          <p:nvPr/>
        </p:nvCxnSpPr>
        <p:spPr>
          <a:xfrm>
            <a:off x="1852300" y="2551520"/>
            <a:ext cx="2559600" cy="13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" name="Google Shape;65;p13"/>
          <p:cNvSpPr txBox="1"/>
          <p:nvPr/>
        </p:nvSpPr>
        <p:spPr>
          <a:xfrm>
            <a:off x="4411800" y="2509400"/>
            <a:ext cx="37059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Event的id 內容存放在 Cache/Syslogs/"team"/audit.log 裡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739225" y="4486850"/>
            <a:ext cx="3561000" cy="203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" name="Google Shape;67;p13"/>
          <p:cNvCxnSpPr>
            <a:stCxn id="66" idx="3"/>
            <a:endCxn id="68" idx="1"/>
          </p:cNvCxnSpPr>
          <p:nvPr/>
        </p:nvCxnSpPr>
        <p:spPr>
          <a:xfrm>
            <a:off x="4300225" y="4588700"/>
            <a:ext cx="46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" name="Google Shape;68;p13"/>
          <p:cNvSpPr txBox="1"/>
          <p:nvPr/>
        </p:nvSpPr>
        <p:spPr>
          <a:xfrm>
            <a:off x="4766425" y="4411700"/>
            <a:ext cx="15261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該Sample所屬的TTP</a:t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69" name="Google Shape;69;p13"/>
          <p:cNvCxnSpPr>
            <a:stCxn id="55" idx="0"/>
            <a:endCxn id="70" idx="1"/>
          </p:cNvCxnSpPr>
          <p:nvPr/>
        </p:nvCxnSpPr>
        <p:spPr>
          <a:xfrm rot="-5400000">
            <a:off x="5508150" y="-278725"/>
            <a:ext cx="395700" cy="2197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" name="Google Shape;70;p13"/>
          <p:cNvSpPr txBox="1"/>
          <p:nvPr/>
        </p:nvSpPr>
        <p:spPr>
          <a:xfrm>
            <a:off x="6804450" y="445025"/>
            <a:ext cx="16680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以下內容為一個sample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78" name="Google Shape;78;p14" title="Machine_TTP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5291"/>
            <a:ext cx="9144003" cy="4772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跨機器的TTP</a:t>
            </a:r>
            <a:endParaRPr/>
          </a:p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85" name="Google Shape;85;p15"/>
          <p:cNvGraphicFramePr/>
          <p:nvPr/>
        </p:nvGraphicFramePr>
        <p:xfrm>
          <a:off x="311700" y="1491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{B499CD99-2564-4A34-9085-D5C54544B23B}</a:tableStyleId>
              </a:tblPr>
              <a:tblGrid>
                <a:gridCol w="935350"/>
                <a:gridCol w="2880175"/>
                <a:gridCol w="660200"/>
              </a:tblGrid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TTP 編號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描述 (參考)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出現次數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T1033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System Owner/User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T1021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Remote Services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T1572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Protocol Tunneling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T1082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System Information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T1049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System Network Connections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T1046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Network Service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T1110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Brute Force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T1083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File and Directory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6" name="Google Shape;86;p15"/>
          <p:cNvGraphicFramePr/>
          <p:nvPr/>
        </p:nvGraphicFramePr>
        <p:xfrm>
          <a:off x="5136875" y="202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{B499CD99-2564-4A34-9085-D5C54544B23B}</a:tableStyleId>
              </a:tblPr>
              <a:tblGrid>
                <a:gridCol w="655750"/>
                <a:gridCol w="2172050"/>
                <a:gridCol w="616050"/>
              </a:tblGrid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T1057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Process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T1592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Gather Victim Host Information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T1018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Remote System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T1595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Active Scanning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T1587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Develop Capabilities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T1003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OS Credential Dumping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T1556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Modify Authentication Process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94" name="Google Shape;94;p16" title="TTP_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5291"/>
            <a:ext cx="9144003" cy="4772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00" name="Google Shape;100;p17" title="sample_typ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492"/>
            <a:ext cx="9144000" cy="4506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6" name="Google Shape;10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Statistic of TTPs - 66TTPs</a:t>
            </a:r>
            <a:endParaRPr/>
          </a:p>
        </p:txBody>
      </p:sp>
      <p:grpSp>
        <p:nvGrpSpPr>
          <p:cNvPr id="107" name="Google Shape;107;p18"/>
          <p:cNvGrpSpPr/>
          <p:nvPr/>
        </p:nvGrpSpPr>
        <p:grpSpPr>
          <a:xfrm>
            <a:off x="564025" y="990266"/>
            <a:ext cx="8024953" cy="3490524"/>
            <a:chOff x="564025" y="1115412"/>
            <a:chExt cx="8024953" cy="3490524"/>
          </a:xfrm>
        </p:grpSpPr>
        <p:pic>
          <p:nvPicPr>
            <p:cNvPr id="108" name="Google Shape;108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4025" y="1115412"/>
              <a:ext cx="3581926" cy="3490524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09" name="Google Shape;109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80978" y="1183162"/>
              <a:ext cx="2608000" cy="3355025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110" name="Google Shape;110;p18"/>
            <p:cNvCxnSpPr>
              <a:stCxn id="108" idx="3"/>
              <a:endCxn id="109" idx="1"/>
            </p:cNvCxnSpPr>
            <p:nvPr/>
          </p:nvCxnSpPr>
          <p:spPr>
            <a:xfrm>
              <a:off x="4145951" y="2860674"/>
              <a:ext cx="1835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1" name="Google Shape;111;p18"/>
            <p:cNvSpPr txBox="1"/>
            <p:nvPr/>
          </p:nvSpPr>
          <p:spPr>
            <a:xfrm>
              <a:off x="4242063" y="2349900"/>
              <a:ext cx="1642800" cy="44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1"/>
                  </a:solidFill>
                </a:rPr>
                <a:t>Linked events</a:t>
              </a:r>
              <a:endParaRPr sz="1800">
                <a:solidFill>
                  <a:schemeClr val="dk1"/>
                </a:solidFill>
              </a:endParaRPr>
            </a:p>
          </p:txBody>
        </p:sp>
      </p:grpSp>
      <p:sp>
        <p:nvSpPr>
          <p:cNvPr id="112" name="Google Shape;112;p18"/>
          <p:cNvSpPr txBox="1"/>
          <p:nvPr/>
        </p:nvSpPr>
        <p:spPr>
          <a:xfrm>
            <a:off x="5772460" y="4477137"/>
            <a:ext cx="30000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Total benign events: 32,365,532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Total malicious events: 62,609,868</a:t>
            </a:r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842860" y="4527912"/>
            <a:ext cx="30000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Total benign processes: 404,637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Total malicious processes: </a:t>
            </a:r>
            <a:r>
              <a:rPr lang="zh-TW">
                <a:solidFill>
                  <a:schemeClr val="dk1"/>
                </a:solidFill>
              </a:rPr>
              <a:t>9,243</a:t>
            </a:r>
            <a:endParaRPr b="1"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